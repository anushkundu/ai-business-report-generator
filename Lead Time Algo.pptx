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353" r:id="rId2"/>
    <p:sldId id="354" r:id="rId3"/>
    <p:sldId id="355" r:id="rId4"/>
    <p:sldId id="356" r:id="rId5"/>
    <p:sldId id="357" r:id="rId6"/>
    <p:sldId id="370" r:id="rId7"/>
    <p:sldId id="358" r:id="rId8"/>
    <p:sldId id="359" r:id="rId9"/>
    <p:sldId id="360" r:id="rId10"/>
    <p:sldId id="361" r:id="rId11"/>
    <p:sldId id="363" r:id="rId12"/>
    <p:sldId id="364" r:id="rId13"/>
    <p:sldId id="366" r:id="rId14"/>
    <p:sldId id="415" r:id="rId15"/>
    <p:sldId id="408" r:id="rId16"/>
    <p:sldId id="409" r:id="rId17"/>
    <p:sldId id="410" r:id="rId18"/>
    <p:sldId id="411" r:id="rId19"/>
    <p:sldId id="412" r:id="rId20"/>
    <p:sldId id="413" r:id="rId21"/>
    <p:sldId id="414" r:id="rId22"/>
    <p:sldId id="416" r:id="rId23"/>
    <p:sldId id="418" r:id="rId24"/>
    <p:sldId id="417" r:id="rId25"/>
    <p:sldId id="419" r:id="rId26"/>
    <p:sldId id="420" r:id="rId27"/>
    <p:sldId id="421" r:id="rId28"/>
    <p:sldId id="422" r:id="rId29"/>
    <p:sldId id="423" r:id="rId30"/>
    <p:sldId id="424" r:id="rId31"/>
    <p:sldId id="425" r:id="rId32"/>
    <p:sldId id="426" r:id="rId33"/>
    <p:sldId id="427" r:id="rId34"/>
    <p:sldId id="428" r:id="rId35"/>
    <p:sldId id="429" r:id="rId36"/>
    <p:sldId id="430" r:id="rId37"/>
    <p:sldId id="431" r:id="rId38"/>
    <p:sldId id="432" r:id="rId39"/>
    <p:sldId id="365" r:id="rId40"/>
    <p:sldId id="433" r:id="rId41"/>
    <p:sldId id="368" r:id="rId42"/>
    <p:sldId id="434" r:id="rId43"/>
    <p:sldId id="407" r:id="rId44"/>
    <p:sldId id="362" r:id="rId45"/>
    <p:sldId id="402" r:id="rId46"/>
    <p:sldId id="406" r:id="rId47"/>
    <p:sldId id="405" r:id="rId48"/>
    <p:sldId id="404" r:id="rId49"/>
    <p:sldId id="395" r:id="rId50"/>
    <p:sldId id="400" r:id="rId51"/>
    <p:sldId id="399" r:id="rId52"/>
    <p:sldId id="401" r:id="rId53"/>
    <p:sldId id="396" r:id="rId54"/>
    <p:sldId id="398" r:id="rId55"/>
    <p:sldId id="397" r:id="rId56"/>
    <p:sldId id="367" r:id="rId57"/>
    <p:sldId id="394" r:id="rId58"/>
    <p:sldId id="369" r:id="rId59"/>
    <p:sldId id="371" r:id="rId60"/>
    <p:sldId id="372" r:id="rId61"/>
    <p:sldId id="373" r:id="rId62"/>
    <p:sldId id="374" r:id="rId63"/>
    <p:sldId id="382" r:id="rId64"/>
    <p:sldId id="375" r:id="rId65"/>
    <p:sldId id="377" r:id="rId66"/>
    <p:sldId id="379" r:id="rId67"/>
    <p:sldId id="380" r:id="rId68"/>
    <p:sldId id="381" r:id="rId69"/>
    <p:sldId id="378" r:id="rId70"/>
    <p:sldId id="376" r:id="rId71"/>
    <p:sldId id="383" r:id="rId72"/>
    <p:sldId id="384" r:id="rId73"/>
    <p:sldId id="385" r:id="rId74"/>
    <p:sldId id="386" r:id="rId75"/>
    <p:sldId id="387" r:id="rId76"/>
    <p:sldId id="389" r:id="rId77"/>
    <p:sldId id="391" r:id="rId78"/>
    <p:sldId id="393" r:id="rId79"/>
    <p:sldId id="392" r:id="rId80"/>
    <p:sldId id="334" r:id="rId81"/>
  </p:sldIdLst>
  <p:sldSz cx="12192000" cy="6858000"/>
  <p:notesSz cx="6858000" cy="9144000"/>
  <p:custDataLst>
    <p:tags r:id="rId8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2359541-BF54-B542-8BA5-3CAD2E9FF5FE}" v="6552" dt="2026-10-19T12:46:04.57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microsoft.com/office/2015/10/relationships/revisionInfo" Target="revisionInfo.xml"/><Relationship Id="rId61" Type="http://schemas.openxmlformats.org/officeDocument/2006/relationships/slide" Target="slides/slide60.xml"/><Relationship Id="rId82" Type="http://schemas.openxmlformats.org/officeDocument/2006/relationships/tags" Target="tags/tag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10/19/2026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10/19/2026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10/19/2026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10/19/2026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5.jpeg"/></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5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7.jpeg"/></Relationships>
</file>

<file path=ppt/slides/_rels/slide6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6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6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6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32.png"/><Relationship Id="rId4" Type="http://schemas.openxmlformats.org/officeDocument/2006/relationships/image" Target="../media/image31.png"/></Relationships>
</file>

<file path=ppt/slides/_rels/slide6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6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4.png"/></Relationships>
</file>

<file path=ppt/slides/_rels/slide6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5.png"/></Relationships>
</file>

<file path=ppt/slides/_rels/slide7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6.png"/></Relationships>
</file>

<file path=ppt/slides/_rels/slide7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7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8.png"/></Relationships>
</file>

<file path=ppt/slides/_rels/slide7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9.png"/></Relationships>
</file>

<file path=ppt/slides/_rels/slide7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40.png"/></Relationships>
</file>

<file path=ppt/slides/_rels/slide8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8" descr="Shape, rectangle&#10;&#10;Description automatically generated"/>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p:cNvPicPr>
            <a:picLocks noChangeAspect="1"/>
          </p:cNvPicPr>
          <p:nvPr/>
        </p:nvPicPr>
        <p:blipFill>
          <a:blip r:embed="rId3"/>
          <a:stretch>
            <a:fillRect/>
          </a:stretch>
        </p:blipFill>
        <p:spPr>
          <a:xfrm>
            <a:off x="9181381" y="65406"/>
            <a:ext cx="2743200" cy="717452"/>
          </a:xfrm>
          <a:prstGeom prst="rect">
            <a:avLst/>
          </a:prstGeom>
        </p:spPr>
      </p:pic>
      <p:graphicFrame>
        <p:nvGraphicFramePr>
          <p:cNvPr id="3" name="Table 2">
            <a:extLst>
              <a:ext uri="{FF2B5EF4-FFF2-40B4-BE49-F238E27FC236}">
                <a16:creationId xmlns:a16="http://schemas.microsoft.com/office/drawing/2014/main" id="{0107E56C-8EA1-15F1-05DC-BFE7EF8C1514}"/>
              </a:ext>
            </a:extLst>
          </p:cNvPr>
          <p:cNvGraphicFramePr>
            <a:graphicFrameLocks noGrp="1"/>
          </p:cNvGraphicFramePr>
          <p:nvPr>
            <p:extLst>
              <p:ext uri="{D42A27DB-BD31-4B8C-83A1-F6EECF244321}">
                <p14:modId xmlns:p14="http://schemas.microsoft.com/office/powerpoint/2010/main" val="3812773018"/>
              </p:ext>
            </p:extLst>
          </p:nvPr>
        </p:nvGraphicFramePr>
        <p:xfrm>
          <a:off x="2011680" y="722376"/>
          <a:ext cx="8168640" cy="1112520"/>
        </p:xfrm>
        <a:graphic>
          <a:graphicData uri="http://schemas.openxmlformats.org/drawingml/2006/table">
            <a:tbl>
              <a:tblPr firstRow="1" bandRow="1">
                <a:tableStyleId>{5C22544A-7EE6-4342-B048-85BDC9FD1C3A}</a:tableStyleId>
              </a:tblPr>
              <a:tblGrid>
                <a:gridCol w="2722880">
                  <a:extLst>
                    <a:ext uri="{9D8B030D-6E8A-4147-A177-3AD203B41FA5}">
                      <a16:colId xmlns:a16="http://schemas.microsoft.com/office/drawing/2014/main" val="413554297"/>
                    </a:ext>
                  </a:extLst>
                </a:gridCol>
                <a:gridCol w="2722880">
                  <a:extLst>
                    <a:ext uri="{9D8B030D-6E8A-4147-A177-3AD203B41FA5}">
                      <a16:colId xmlns:a16="http://schemas.microsoft.com/office/drawing/2014/main" val="1605408169"/>
                    </a:ext>
                  </a:extLst>
                </a:gridCol>
                <a:gridCol w="2722880">
                  <a:extLst>
                    <a:ext uri="{9D8B030D-6E8A-4147-A177-3AD203B41FA5}">
                      <a16:colId xmlns:a16="http://schemas.microsoft.com/office/drawing/2014/main" val="3640672364"/>
                    </a:ext>
                  </a:extLst>
                </a:gridCol>
              </a:tblGrid>
              <a:tr h="370840">
                <a:tc>
                  <a:txBody>
                    <a:bodyPr/>
                    <a:lstStyle/>
                    <a:p>
                      <a:pPr lvl="0">
                        <a:buNone/>
                      </a:pPr>
                      <a:r>
                        <a:rPr lang="en-US"/>
                        <a:t>Effective In Date</a:t>
                      </a:r>
                    </a:p>
                  </a:txBody>
                  <a:tcPr/>
                </a:tc>
                <a:tc>
                  <a:txBody>
                    <a:bodyPr/>
                    <a:lstStyle/>
                    <a:p>
                      <a:pPr lvl="0">
                        <a:buNone/>
                      </a:pPr>
                      <a:r>
                        <a:rPr lang="en-US"/>
                        <a:t>Fixed Lead Time </a:t>
                      </a:r>
                      <a:endParaRPr lang="en-US" dirty="0"/>
                    </a:p>
                  </a:txBody>
                  <a:tcPr/>
                </a:tc>
                <a:tc>
                  <a:txBody>
                    <a:bodyPr/>
                    <a:lstStyle/>
                    <a:p>
                      <a:r>
                        <a:rPr lang="en-US"/>
                        <a:t>Dock To Stock</a:t>
                      </a:r>
                      <a:endParaRPr lang="en-US" dirty="0"/>
                    </a:p>
                  </a:txBody>
                  <a:tcPr/>
                </a:tc>
                <a:extLst>
                  <a:ext uri="{0D108BD9-81ED-4DB2-BD59-A6C34878D82A}">
                    <a16:rowId xmlns:a16="http://schemas.microsoft.com/office/drawing/2014/main" val="3601882625"/>
                  </a:ext>
                </a:extLst>
              </a:tr>
              <a:tr h="370840">
                <a:tc>
                  <a:txBody>
                    <a:bodyPr/>
                    <a:lstStyle/>
                    <a:p>
                      <a:r>
                        <a:rPr lang="en-US"/>
                        <a:t>10/01/2026</a:t>
                      </a:r>
                    </a:p>
                  </a:txBody>
                  <a:tcPr/>
                </a:tc>
                <a:tc>
                  <a:txBody>
                    <a:bodyPr/>
                    <a:lstStyle/>
                    <a:p>
                      <a:r>
                        <a:rPr lang="en-US"/>
                        <a:t>5</a:t>
                      </a:r>
                    </a:p>
                  </a:txBody>
                  <a:tcPr/>
                </a:tc>
                <a:tc>
                  <a:txBody>
                    <a:bodyPr/>
                    <a:lstStyle/>
                    <a:p>
                      <a:r>
                        <a:rPr lang="en-US"/>
                        <a:t>1</a:t>
                      </a:r>
                    </a:p>
                  </a:txBody>
                  <a:tcPr/>
                </a:tc>
                <a:extLst>
                  <a:ext uri="{0D108BD9-81ED-4DB2-BD59-A6C34878D82A}">
                    <a16:rowId xmlns:a16="http://schemas.microsoft.com/office/drawing/2014/main" val="2691909748"/>
                  </a:ext>
                </a:extLst>
              </a:tr>
              <a:tr h="370840">
                <a:tc>
                  <a:txBody>
                    <a:bodyPr/>
                    <a:lstStyle/>
                    <a:p>
                      <a:r>
                        <a:rPr lang="en-US"/>
                        <a:t>10/19/2026</a:t>
                      </a:r>
                    </a:p>
                  </a:txBody>
                  <a:tcPr/>
                </a:tc>
                <a:tc>
                  <a:txBody>
                    <a:bodyPr/>
                    <a:lstStyle/>
                    <a:p>
                      <a:r>
                        <a:rPr lang="en-US"/>
                        <a:t>6</a:t>
                      </a:r>
                    </a:p>
                  </a:txBody>
                  <a:tcPr/>
                </a:tc>
                <a:tc>
                  <a:txBody>
                    <a:bodyPr/>
                    <a:lstStyle/>
                    <a:p>
                      <a:r>
                        <a:rPr lang="en-US"/>
                        <a:t>-1</a:t>
                      </a:r>
                    </a:p>
                  </a:txBody>
                  <a:tcPr/>
                </a:tc>
                <a:extLst>
                  <a:ext uri="{0D108BD9-81ED-4DB2-BD59-A6C34878D82A}">
                    <a16:rowId xmlns:a16="http://schemas.microsoft.com/office/drawing/2014/main" val="236563895"/>
                  </a:ext>
                </a:extLst>
              </a:tr>
            </a:tbl>
          </a:graphicData>
        </a:graphic>
      </p:graphicFrame>
      <p:graphicFrame>
        <p:nvGraphicFramePr>
          <p:cNvPr id="7" name="Table 6">
            <a:extLst>
              <a:ext uri="{FF2B5EF4-FFF2-40B4-BE49-F238E27FC236}">
                <a16:creationId xmlns:a16="http://schemas.microsoft.com/office/drawing/2014/main" id="{16FC7A66-115F-EEB3-44C2-CB5A80A1FBCC}"/>
              </a:ext>
            </a:extLst>
          </p:cNvPr>
          <p:cNvGraphicFramePr>
            <a:graphicFrameLocks noGrp="1"/>
          </p:cNvGraphicFramePr>
          <p:nvPr>
            <p:extLst>
              <p:ext uri="{D42A27DB-BD31-4B8C-83A1-F6EECF244321}">
                <p14:modId xmlns:p14="http://schemas.microsoft.com/office/powerpoint/2010/main" val="3494206837"/>
              </p:ext>
            </p:extLst>
          </p:nvPr>
        </p:nvGraphicFramePr>
        <p:xfrm>
          <a:off x="2011680" y="2317496"/>
          <a:ext cx="8168640" cy="1112520"/>
        </p:xfrm>
        <a:graphic>
          <a:graphicData uri="http://schemas.openxmlformats.org/drawingml/2006/table">
            <a:tbl>
              <a:tblPr firstRow="1" bandRow="1">
                <a:tableStyleId>{5C22544A-7EE6-4342-B048-85BDC9FD1C3A}</a:tableStyleId>
              </a:tblPr>
              <a:tblGrid>
                <a:gridCol w="2722880">
                  <a:extLst>
                    <a:ext uri="{9D8B030D-6E8A-4147-A177-3AD203B41FA5}">
                      <a16:colId xmlns:a16="http://schemas.microsoft.com/office/drawing/2014/main" val="413554297"/>
                    </a:ext>
                  </a:extLst>
                </a:gridCol>
                <a:gridCol w="2722880">
                  <a:extLst>
                    <a:ext uri="{9D8B030D-6E8A-4147-A177-3AD203B41FA5}">
                      <a16:colId xmlns:a16="http://schemas.microsoft.com/office/drawing/2014/main" val="1605408169"/>
                    </a:ext>
                  </a:extLst>
                </a:gridCol>
                <a:gridCol w="2722880">
                  <a:extLst>
                    <a:ext uri="{9D8B030D-6E8A-4147-A177-3AD203B41FA5}">
                      <a16:colId xmlns:a16="http://schemas.microsoft.com/office/drawing/2014/main" val="3640672364"/>
                    </a:ext>
                  </a:extLst>
                </a:gridCol>
              </a:tblGrid>
              <a:tr h="370840">
                <a:tc>
                  <a:txBody>
                    <a:bodyPr/>
                    <a:lstStyle/>
                    <a:p>
                      <a:pPr lvl="0" algn="l">
                        <a:lnSpc>
                          <a:spcPct val="100000"/>
                        </a:lnSpc>
                        <a:spcBef>
                          <a:spcPts val="0"/>
                        </a:spcBef>
                        <a:spcAft>
                          <a:spcPts val="0"/>
                        </a:spcAft>
                        <a:buNone/>
                      </a:pPr>
                      <a:r>
                        <a:rPr lang="en-US" sz="1800" b="1" i="0" u="none" strike="noStrike" noProof="0">
                          <a:solidFill>
                            <a:srgbClr val="FFFFFF"/>
                          </a:solidFill>
                          <a:latin typeface="Aptos"/>
                        </a:rPr>
                        <a:t>Effective In Date</a:t>
                      </a:r>
                    </a:p>
                  </a:txBody>
                  <a:tcPr/>
                </a:tc>
                <a:tc>
                  <a:txBody>
                    <a:bodyPr/>
                    <a:lstStyle/>
                    <a:p>
                      <a:pPr lvl="0">
                        <a:buNone/>
                      </a:pPr>
                      <a:r>
                        <a:rPr lang="en-US"/>
                        <a:t>Pre-Ship Lead Time</a:t>
                      </a:r>
                      <a:endParaRPr lang="en-US" dirty="0"/>
                    </a:p>
                  </a:txBody>
                  <a:tcPr/>
                </a:tc>
                <a:tc>
                  <a:txBody>
                    <a:bodyPr/>
                    <a:lstStyle/>
                    <a:p>
                      <a:r>
                        <a:rPr lang="en-US"/>
                        <a:t>Transit Time</a:t>
                      </a:r>
                    </a:p>
                  </a:txBody>
                  <a:tcPr/>
                </a:tc>
                <a:extLst>
                  <a:ext uri="{0D108BD9-81ED-4DB2-BD59-A6C34878D82A}">
                    <a16:rowId xmlns:a16="http://schemas.microsoft.com/office/drawing/2014/main" val="3601882625"/>
                  </a:ext>
                </a:extLst>
              </a:tr>
              <a:tr h="370840">
                <a:tc>
                  <a:txBody>
                    <a:bodyPr/>
                    <a:lstStyle/>
                    <a:p>
                      <a:pPr lvl="0">
                        <a:buNone/>
                      </a:pPr>
                      <a:r>
                        <a:rPr lang="en-US"/>
                        <a:t>10/01/2026</a:t>
                      </a:r>
                    </a:p>
                  </a:txBody>
                  <a:tcPr/>
                </a:tc>
                <a:tc>
                  <a:txBody>
                    <a:bodyPr/>
                    <a:lstStyle/>
                    <a:p>
                      <a:r>
                        <a:rPr lang="en-US"/>
                        <a:t>2</a:t>
                      </a:r>
                    </a:p>
                  </a:txBody>
                  <a:tcPr/>
                </a:tc>
                <a:tc>
                  <a:txBody>
                    <a:bodyPr/>
                    <a:lstStyle/>
                    <a:p>
                      <a:r>
                        <a:rPr lang="en-US"/>
                        <a:t>8</a:t>
                      </a:r>
                    </a:p>
                  </a:txBody>
                  <a:tcPr/>
                </a:tc>
                <a:extLst>
                  <a:ext uri="{0D108BD9-81ED-4DB2-BD59-A6C34878D82A}">
                    <a16:rowId xmlns:a16="http://schemas.microsoft.com/office/drawing/2014/main" val="2691909748"/>
                  </a:ext>
                </a:extLst>
              </a:tr>
              <a:tr h="370840">
                <a:tc>
                  <a:txBody>
                    <a:bodyPr/>
                    <a:lstStyle/>
                    <a:p>
                      <a:pPr lvl="0">
                        <a:buNone/>
                      </a:pPr>
                      <a:r>
                        <a:rPr lang="en-US"/>
                        <a:t>10/19/2026</a:t>
                      </a:r>
                    </a:p>
                  </a:txBody>
                  <a:tcPr/>
                </a:tc>
                <a:tc>
                  <a:txBody>
                    <a:bodyPr/>
                    <a:lstStyle/>
                    <a:p>
                      <a:r>
                        <a:rPr lang="en-US"/>
                        <a:t>-1</a:t>
                      </a:r>
                    </a:p>
                  </a:txBody>
                  <a:tcPr/>
                </a:tc>
                <a:tc>
                  <a:txBody>
                    <a:bodyPr/>
                    <a:lstStyle/>
                    <a:p>
                      <a:r>
                        <a:rPr lang="en-US"/>
                        <a:t>2</a:t>
                      </a:r>
                    </a:p>
                  </a:txBody>
                  <a:tcPr/>
                </a:tc>
                <a:extLst>
                  <a:ext uri="{0D108BD9-81ED-4DB2-BD59-A6C34878D82A}">
                    <a16:rowId xmlns:a16="http://schemas.microsoft.com/office/drawing/2014/main" val="236563895"/>
                  </a:ext>
                </a:extLst>
              </a:tr>
            </a:tbl>
          </a:graphicData>
        </a:graphic>
      </p:graphicFrame>
      <p:sp>
        <p:nvSpPr>
          <p:cNvPr id="8" name="TextBox 7">
            <a:extLst>
              <a:ext uri="{FF2B5EF4-FFF2-40B4-BE49-F238E27FC236}">
                <a16:creationId xmlns:a16="http://schemas.microsoft.com/office/drawing/2014/main" id="{6F314DB9-CE9E-467F-F64B-63DBA75DEB97}"/>
              </a:ext>
            </a:extLst>
          </p:cNvPr>
          <p:cNvSpPr txBox="1"/>
          <p:nvPr/>
        </p:nvSpPr>
        <p:spPr>
          <a:xfrm>
            <a:off x="457200" y="3840480"/>
            <a:ext cx="316992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Rule: Cumulative,</a:t>
            </a:r>
          </a:p>
          <a:p>
            <a:r>
              <a:rPr lang="en-US"/>
              <a:t>Type: Make</a:t>
            </a:r>
            <a:endParaRPr lang="en-US" dirty="0"/>
          </a:p>
          <a:p>
            <a:r>
              <a:rPr lang="en-US"/>
              <a:t>Site C1001</a:t>
            </a:r>
            <a:endParaRPr lang="en-US" dirty="0"/>
          </a:p>
        </p:txBody>
      </p:sp>
      <p:graphicFrame>
        <p:nvGraphicFramePr>
          <p:cNvPr id="11" name="Table 10">
            <a:extLst>
              <a:ext uri="{FF2B5EF4-FFF2-40B4-BE49-F238E27FC236}">
                <a16:creationId xmlns:a16="http://schemas.microsoft.com/office/drawing/2014/main" id="{F33B5FC3-D1FB-D777-F7DB-0ED7AEE9408D}"/>
              </a:ext>
            </a:extLst>
          </p:cNvPr>
          <p:cNvGraphicFramePr>
            <a:graphicFrameLocks noGrp="1"/>
          </p:cNvGraphicFramePr>
          <p:nvPr/>
        </p:nvGraphicFramePr>
        <p:xfrm>
          <a:off x="2011680" y="722376"/>
          <a:ext cx="8168640" cy="1483360"/>
        </p:xfrm>
        <a:graphic>
          <a:graphicData uri="http://schemas.openxmlformats.org/drawingml/2006/table">
            <a:tbl>
              <a:tblPr firstRow="1" bandRow="1">
                <a:tableStyleId>{5C22544A-7EE6-4342-B048-85BDC9FD1C3A}</a:tableStyleId>
              </a:tblPr>
              <a:tblGrid>
                <a:gridCol w="1361440">
                  <a:extLst>
                    <a:ext uri="{9D8B030D-6E8A-4147-A177-3AD203B41FA5}">
                      <a16:colId xmlns:a16="http://schemas.microsoft.com/office/drawing/2014/main" val="1424632819"/>
                    </a:ext>
                  </a:extLst>
                </a:gridCol>
                <a:gridCol w="1361440">
                  <a:extLst>
                    <a:ext uri="{9D8B030D-6E8A-4147-A177-3AD203B41FA5}">
                      <a16:colId xmlns:a16="http://schemas.microsoft.com/office/drawing/2014/main" val="722678079"/>
                    </a:ext>
                  </a:extLst>
                </a:gridCol>
                <a:gridCol w="1361440">
                  <a:extLst>
                    <a:ext uri="{9D8B030D-6E8A-4147-A177-3AD203B41FA5}">
                      <a16:colId xmlns:a16="http://schemas.microsoft.com/office/drawing/2014/main" val="2038448905"/>
                    </a:ext>
                  </a:extLst>
                </a:gridCol>
                <a:gridCol w="1361440">
                  <a:extLst>
                    <a:ext uri="{9D8B030D-6E8A-4147-A177-3AD203B41FA5}">
                      <a16:colId xmlns:a16="http://schemas.microsoft.com/office/drawing/2014/main" val="1396086443"/>
                    </a:ext>
                  </a:extLst>
                </a:gridCol>
                <a:gridCol w="1361440">
                  <a:extLst>
                    <a:ext uri="{9D8B030D-6E8A-4147-A177-3AD203B41FA5}">
                      <a16:colId xmlns:a16="http://schemas.microsoft.com/office/drawing/2014/main" val="1289418717"/>
                    </a:ext>
                  </a:extLst>
                </a:gridCol>
                <a:gridCol w="1361440">
                  <a:extLst>
                    <a:ext uri="{9D8B030D-6E8A-4147-A177-3AD203B41FA5}">
                      <a16:colId xmlns:a16="http://schemas.microsoft.com/office/drawing/2014/main" val="2591576246"/>
                    </a:ext>
                  </a:extLst>
                </a:gridCol>
              </a:tblGrid>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470139781"/>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531116425"/>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274251945"/>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7111454"/>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8" descr="Shape, rectangle&#10;&#10;Description automatically generated"/>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p:cNvPicPr>
            <a:picLocks noChangeAspect="1"/>
          </p:cNvPicPr>
          <p:nvPr/>
        </p:nvPicPr>
        <p:blipFill>
          <a:blip r:embed="rId3"/>
          <a:stretch>
            <a:fillRect/>
          </a:stretch>
        </p:blipFill>
        <p:spPr>
          <a:xfrm>
            <a:off x="9181381" y="65406"/>
            <a:ext cx="2743200" cy="717452"/>
          </a:xfrm>
          <a:prstGeom prst="rect">
            <a:avLst/>
          </a:prstGeom>
        </p:spPr>
      </p:pic>
      <p:graphicFrame>
        <p:nvGraphicFramePr>
          <p:cNvPr id="2" name="Table 1">
            <a:extLst>
              <a:ext uri="{FF2B5EF4-FFF2-40B4-BE49-F238E27FC236}">
                <a16:creationId xmlns:a16="http://schemas.microsoft.com/office/drawing/2014/main" id="{5743550E-6EA4-DDBE-6E2A-0376D99C6F26}"/>
              </a:ext>
            </a:extLst>
          </p:cNvPr>
          <p:cNvGraphicFramePr>
            <a:graphicFrameLocks noGrp="1"/>
          </p:cNvGraphicFramePr>
          <p:nvPr>
            <p:extLst>
              <p:ext uri="{D42A27DB-BD31-4B8C-83A1-F6EECF244321}">
                <p14:modId xmlns:p14="http://schemas.microsoft.com/office/powerpoint/2010/main" val="497608906"/>
              </p:ext>
            </p:extLst>
          </p:nvPr>
        </p:nvGraphicFramePr>
        <p:xfrm>
          <a:off x="416560" y="2804160"/>
          <a:ext cx="11369172" cy="1483359"/>
        </p:xfrm>
        <a:graphic>
          <a:graphicData uri="http://schemas.openxmlformats.org/drawingml/2006/table">
            <a:tbl>
              <a:tblPr firstRow="1" bandRow="1">
                <a:tableStyleId>{5C22544A-7EE6-4342-B048-85BDC9FD1C3A}</a:tableStyleId>
              </a:tblPr>
              <a:tblGrid>
                <a:gridCol w="1894862">
                  <a:extLst>
                    <a:ext uri="{9D8B030D-6E8A-4147-A177-3AD203B41FA5}">
                      <a16:colId xmlns:a16="http://schemas.microsoft.com/office/drawing/2014/main" val="3360966526"/>
                    </a:ext>
                  </a:extLst>
                </a:gridCol>
                <a:gridCol w="1894862">
                  <a:extLst>
                    <a:ext uri="{9D8B030D-6E8A-4147-A177-3AD203B41FA5}">
                      <a16:colId xmlns:a16="http://schemas.microsoft.com/office/drawing/2014/main" val="2124009587"/>
                    </a:ext>
                  </a:extLst>
                </a:gridCol>
                <a:gridCol w="1894862">
                  <a:extLst>
                    <a:ext uri="{9D8B030D-6E8A-4147-A177-3AD203B41FA5}">
                      <a16:colId xmlns:a16="http://schemas.microsoft.com/office/drawing/2014/main" val="1717059220"/>
                    </a:ext>
                  </a:extLst>
                </a:gridCol>
                <a:gridCol w="1894862">
                  <a:extLst>
                    <a:ext uri="{9D8B030D-6E8A-4147-A177-3AD203B41FA5}">
                      <a16:colId xmlns:a16="http://schemas.microsoft.com/office/drawing/2014/main" val="2827923830"/>
                    </a:ext>
                  </a:extLst>
                </a:gridCol>
                <a:gridCol w="1894862">
                  <a:extLst>
                    <a:ext uri="{9D8B030D-6E8A-4147-A177-3AD203B41FA5}">
                      <a16:colId xmlns:a16="http://schemas.microsoft.com/office/drawing/2014/main" val="2691817167"/>
                    </a:ext>
                  </a:extLst>
                </a:gridCol>
                <a:gridCol w="1894862">
                  <a:extLst>
                    <a:ext uri="{9D8B030D-6E8A-4147-A177-3AD203B41FA5}">
                      <a16:colId xmlns:a16="http://schemas.microsoft.com/office/drawing/2014/main" val="1953319606"/>
                    </a:ext>
                  </a:extLst>
                </a:gridCol>
              </a:tblGrid>
              <a:tr h="370840">
                <a:tc>
                  <a:txBody>
                    <a:bodyPr/>
                    <a:lstStyle/>
                    <a:p>
                      <a:r>
                        <a:rPr lang="en-US"/>
                        <a:t>Demand Date</a:t>
                      </a:r>
                      <a:endParaRPr lang="en-US" dirty="0"/>
                    </a:p>
                  </a:txBody>
                  <a:tcPr/>
                </a:tc>
                <a:tc>
                  <a:txBody>
                    <a:bodyPr/>
                    <a:lstStyle/>
                    <a:p>
                      <a:r>
                        <a:rPr lang="en-US"/>
                        <a:t>Due Date</a:t>
                      </a:r>
                    </a:p>
                  </a:txBody>
                  <a:tcPr/>
                </a:tc>
                <a:tc>
                  <a:txBody>
                    <a:bodyPr/>
                    <a:lstStyle/>
                    <a:p>
                      <a:r>
                        <a:rPr lang="en-US"/>
                        <a:t>Dock Date</a:t>
                      </a:r>
                    </a:p>
                  </a:txBody>
                  <a:tcPr/>
                </a:tc>
                <a:tc>
                  <a:txBody>
                    <a:bodyPr/>
                    <a:lstStyle/>
                    <a:p>
                      <a:r>
                        <a:rPr lang="en-US"/>
                        <a:t>Ship Date</a:t>
                      </a:r>
                    </a:p>
                  </a:txBody>
                  <a:tcPr/>
                </a:tc>
                <a:tc>
                  <a:txBody>
                    <a:bodyPr/>
                    <a:lstStyle/>
                    <a:p>
                      <a:r>
                        <a:rPr lang="en-US"/>
                        <a:t>Build Date</a:t>
                      </a:r>
                    </a:p>
                  </a:txBody>
                  <a:tcPr/>
                </a:tc>
                <a:tc>
                  <a:txBody>
                    <a:bodyPr/>
                    <a:lstStyle/>
                    <a:p>
                      <a:r>
                        <a:rPr lang="en-US"/>
                        <a:t>Start Date</a:t>
                      </a:r>
                    </a:p>
                  </a:txBody>
                  <a:tcPr/>
                </a:tc>
                <a:extLst>
                  <a:ext uri="{0D108BD9-81ED-4DB2-BD59-A6C34878D82A}">
                    <a16:rowId xmlns:a16="http://schemas.microsoft.com/office/drawing/2014/main" val="1230228740"/>
                  </a:ext>
                </a:extLst>
              </a:tr>
              <a:tr h="370839">
                <a:tc>
                  <a:txBody>
                    <a:bodyPr/>
                    <a:lstStyle/>
                    <a:p>
                      <a:pPr lvl="0">
                        <a:buNone/>
                      </a:pPr>
                      <a:r>
                        <a:rPr lang="en-US"/>
                        <a:t>09/25/2026</a:t>
                      </a:r>
                      <a:endParaRPr lang="en-US" dirty="0"/>
                    </a:p>
                  </a:txBody>
                  <a:tcPr/>
                </a:tc>
                <a:tc>
                  <a:txBody>
                    <a:bodyPr/>
                    <a:lstStyle/>
                    <a:p>
                      <a:pPr lvl="0">
                        <a:buNone/>
                      </a:pPr>
                      <a:r>
                        <a:rPr lang="en-US"/>
                        <a:t>09/24/2026</a:t>
                      </a:r>
                      <a:endParaRPr lang="en-US" dirty="0"/>
                    </a:p>
                  </a:txBody>
                  <a:tcPr/>
                </a:tc>
                <a:tc>
                  <a:txBody>
                    <a:bodyPr/>
                    <a:lstStyle/>
                    <a:p>
                      <a:pPr lvl="0">
                        <a:buNone/>
                      </a:pPr>
                      <a:r>
                        <a:rPr lang="en-US"/>
                        <a:t>09/22/2026</a:t>
                      </a:r>
                      <a:endParaRPr lang="en-US" dirty="0"/>
                    </a:p>
                  </a:txBody>
                  <a:tcPr/>
                </a:tc>
                <a:tc>
                  <a:txBody>
                    <a:bodyPr/>
                    <a:lstStyle/>
                    <a:p>
                      <a:pPr lvl="0">
                        <a:buNone/>
                      </a:pPr>
                      <a:r>
                        <a:rPr lang="en-US"/>
                        <a:t>09/20/2026</a:t>
                      </a:r>
                      <a:endParaRPr lang="en-US" dirty="0"/>
                    </a:p>
                  </a:txBody>
                  <a:tcPr/>
                </a:tc>
                <a:tc>
                  <a:txBody>
                    <a:bodyPr/>
                    <a:lstStyle/>
                    <a:p>
                      <a:pPr lvl="0">
                        <a:buNone/>
                      </a:pPr>
                      <a:r>
                        <a:rPr lang="en-US"/>
                        <a:t>09/19/2026</a:t>
                      </a:r>
                      <a:endParaRPr lang="en-US" dirty="0"/>
                    </a:p>
                  </a:txBody>
                  <a:tcPr/>
                </a:tc>
                <a:tc>
                  <a:txBody>
                    <a:bodyPr/>
                    <a:lstStyle/>
                    <a:p>
                      <a:pPr lvl="0">
                        <a:buNone/>
                      </a:pPr>
                      <a:r>
                        <a:rPr lang="en-US"/>
                        <a:t>09/13/2026</a:t>
                      </a:r>
                      <a:endParaRPr lang="en-US" dirty="0"/>
                    </a:p>
                  </a:txBody>
                  <a:tcPr/>
                </a:tc>
                <a:extLst>
                  <a:ext uri="{0D108BD9-81ED-4DB2-BD59-A6C34878D82A}">
                    <a16:rowId xmlns:a16="http://schemas.microsoft.com/office/drawing/2014/main" val="322219961"/>
                  </a:ext>
                </a:extLst>
              </a:tr>
              <a:tr h="370840">
                <a:tc>
                  <a:txBody>
                    <a:bodyPr/>
                    <a:lstStyle/>
                    <a:p>
                      <a:r>
                        <a:rPr lang="en-US"/>
                        <a:t>10/15/2026</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565191867"/>
                  </a:ext>
                </a:extLst>
              </a:tr>
              <a:tr h="370840">
                <a:tc>
                  <a:txBody>
                    <a:bodyPr/>
                    <a:lstStyle/>
                    <a:p>
                      <a:r>
                        <a:rPr lang="en-US"/>
                        <a:t>10/19/2026</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999118261"/>
                  </a:ext>
                </a:extLst>
              </a:tr>
            </a:tbl>
          </a:graphicData>
        </a:graphic>
      </p:graphicFrame>
      <p:sp>
        <p:nvSpPr>
          <p:cNvPr id="7" name="TextBox 6">
            <a:extLst>
              <a:ext uri="{FF2B5EF4-FFF2-40B4-BE49-F238E27FC236}">
                <a16:creationId xmlns:a16="http://schemas.microsoft.com/office/drawing/2014/main" id="{B7FF0516-825B-0417-51E5-C0CEE53A9CBB}"/>
              </a:ext>
            </a:extLst>
          </p:cNvPr>
          <p:cNvSpPr txBox="1"/>
          <p:nvPr/>
        </p:nvSpPr>
        <p:spPr>
          <a:xfrm>
            <a:off x="457200" y="228600"/>
            <a:ext cx="2346960"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Safety = 1</a:t>
            </a:r>
          </a:p>
          <a:p>
            <a:r>
              <a:rPr lang="en-US"/>
              <a:t>DTS = 2</a:t>
            </a:r>
          </a:p>
          <a:p>
            <a:r>
              <a:rPr lang="en-US"/>
              <a:t>Transit = 2</a:t>
            </a:r>
          </a:p>
          <a:p>
            <a:r>
              <a:rPr lang="en-US"/>
              <a:t>Pre-ship =1</a:t>
            </a:r>
          </a:p>
          <a:p>
            <a:r>
              <a:rPr lang="en-US"/>
              <a:t>LTA = 2</a:t>
            </a:r>
            <a:endParaRPr lang="en-US" dirty="0"/>
          </a:p>
          <a:p>
            <a:r>
              <a:rPr lang="en-US"/>
              <a:t>Fixed = 2</a:t>
            </a:r>
            <a:endParaRPr lang="en-US" dirty="0"/>
          </a:p>
          <a:p>
            <a:r>
              <a:rPr lang="en-US"/>
              <a:t>Variable = 0.2*10 =2</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8" descr="Shape, rectangle&#10;&#10;Description automatically generated"/>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p:cNvPicPr>
            <a:picLocks noChangeAspect="1"/>
          </p:cNvPicPr>
          <p:nvPr/>
        </p:nvPicPr>
        <p:blipFill>
          <a:blip r:embed="rId3"/>
          <a:stretch>
            <a:fillRect/>
          </a:stretch>
        </p:blipFill>
        <p:spPr>
          <a:xfrm>
            <a:off x="9181381" y="65406"/>
            <a:ext cx="2743200" cy="717452"/>
          </a:xfrm>
          <a:prstGeom prst="rect">
            <a:avLst/>
          </a:prstGeom>
        </p:spPr>
      </p:pic>
      <p:sp>
        <p:nvSpPr>
          <p:cNvPr id="3" name="TextBox 2">
            <a:extLst>
              <a:ext uri="{FF2B5EF4-FFF2-40B4-BE49-F238E27FC236}">
                <a16:creationId xmlns:a16="http://schemas.microsoft.com/office/drawing/2014/main" id="{81027C5D-7C17-DCB6-762E-97A2FA8B492A}"/>
              </a:ext>
            </a:extLst>
          </p:cNvPr>
          <p:cNvSpPr txBox="1"/>
          <p:nvPr/>
        </p:nvSpPr>
        <p:spPr>
          <a:xfrm>
            <a:off x="414068" y="1004977"/>
            <a:ext cx="2346960" cy="39703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Time Phased Lead Time </a:t>
            </a:r>
            <a:endParaRPr lang="en-US" dirty="0"/>
          </a:p>
          <a:p>
            <a:endParaRPr lang="en-US" dirty="0"/>
          </a:p>
          <a:p>
            <a:r>
              <a:rPr lang="en-US"/>
              <a:t>Transit Rule: Inclusive</a:t>
            </a:r>
            <a:endParaRPr lang="en-US" dirty="0"/>
          </a:p>
          <a:p>
            <a:r>
              <a:rPr lang="en-US"/>
              <a:t>Type: Make </a:t>
            </a:r>
            <a:endParaRPr lang="en-US" dirty="0"/>
          </a:p>
          <a:p>
            <a:r>
              <a:rPr lang="en-US"/>
              <a:t>Site: C1001</a:t>
            </a:r>
            <a:endParaRPr lang="en-US" dirty="0"/>
          </a:p>
          <a:p>
            <a:endParaRPr lang="en-US" dirty="0"/>
          </a:p>
          <a:p>
            <a:r>
              <a:rPr lang="en-US"/>
              <a:t>Safety = 1</a:t>
            </a:r>
          </a:p>
          <a:p>
            <a:r>
              <a:rPr lang="en-US"/>
              <a:t>DTS = 2</a:t>
            </a:r>
          </a:p>
          <a:p>
            <a:r>
              <a:rPr lang="en-US"/>
              <a:t>Transit = 2</a:t>
            </a:r>
          </a:p>
          <a:p>
            <a:r>
              <a:rPr lang="en-US"/>
              <a:t>Pre-ship =1</a:t>
            </a:r>
          </a:p>
          <a:p>
            <a:r>
              <a:rPr lang="en-US"/>
              <a:t>LTA = 2</a:t>
            </a:r>
            <a:endParaRPr lang="en-US" dirty="0"/>
          </a:p>
          <a:p>
            <a:r>
              <a:rPr lang="en-US"/>
              <a:t>Fixed = 2</a:t>
            </a:r>
            <a:endParaRPr lang="en-US" dirty="0"/>
          </a:p>
          <a:p>
            <a:r>
              <a:rPr lang="en-US"/>
              <a:t>Variable = 0.2*10 =2</a:t>
            </a:r>
            <a:endParaRPr lang="en-US" dirty="0"/>
          </a:p>
        </p:txBody>
      </p:sp>
      <p:sp>
        <p:nvSpPr>
          <p:cNvPr id="6" name="TextBox 5">
            <a:extLst>
              <a:ext uri="{FF2B5EF4-FFF2-40B4-BE49-F238E27FC236}">
                <a16:creationId xmlns:a16="http://schemas.microsoft.com/office/drawing/2014/main" id="{2311D1AB-2819-44A2-5F68-5CEAF76FCFD8}"/>
              </a:ext>
            </a:extLst>
          </p:cNvPr>
          <p:cNvSpPr txBox="1"/>
          <p:nvPr/>
        </p:nvSpPr>
        <p:spPr>
          <a:xfrm>
            <a:off x="4799162" y="1004976"/>
            <a:ext cx="2346960"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Finding: the values are taken from the a day after effective In date for the demand date as same as effective In date it uses the previous values listed for the demand not the current time phased dates.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8" descr="Shape, rectangle&#10;&#10;Description automatically generated"/>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p:cNvPicPr>
            <a:picLocks noChangeAspect="1"/>
          </p:cNvPicPr>
          <p:nvPr/>
        </p:nvPicPr>
        <p:blipFill>
          <a:blip r:embed="rId3"/>
          <a:stretch>
            <a:fillRect/>
          </a:stretch>
        </p:blipFill>
        <p:spPr>
          <a:xfrm>
            <a:off x="9181381" y="65406"/>
            <a:ext cx="2743200" cy="717452"/>
          </a:xfrm>
          <a:prstGeom prst="rect">
            <a:avLst/>
          </a:prstGeom>
        </p:spPr>
      </p:pic>
      <p:graphicFrame>
        <p:nvGraphicFramePr>
          <p:cNvPr id="3" name="Table 2">
            <a:extLst>
              <a:ext uri="{FF2B5EF4-FFF2-40B4-BE49-F238E27FC236}">
                <a16:creationId xmlns:a16="http://schemas.microsoft.com/office/drawing/2014/main" id="{5791AC5F-C22B-64C8-755C-5D0265EE6DAE}"/>
              </a:ext>
            </a:extLst>
          </p:cNvPr>
          <p:cNvGraphicFramePr>
            <a:graphicFrameLocks noGrp="1"/>
          </p:cNvGraphicFramePr>
          <p:nvPr>
            <p:extLst>
              <p:ext uri="{D42A27DB-BD31-4B8C-83A1-F6EECF244321}">
                <p14:modId xmlns:p14="http://schemas.microsoft.com/office/powerpoint/2010/main" val="1058974457"/>
              </p:ext>
            </p:extLst>
          </p:nvPr>
        </p:nvGraphicFramePr>
        <p:xfrm>
          <a:off x="402183" y="4413849"/>
          <a:ext cx="11369172" cy="1483359"/>
        </p:xfrm>
        <a:graphic>
          <a:graphicData uri="http://schemas.openxmlformats.org/drawingml/2006/table">
            <a:tbl>
              <a:tblPr firstRow="1" bandRow="1">
                <a:tableStyleId>{5C22544A-7EE6-4342-B048-85BDC9FD1C3A}</a:tableStyleId>
              </a:tblPr>
              <a:tblGrid>
                <a:gridCol w="1894862">
                  <a:extLst>
                    <a:ext uri="{9D8B030D-6E8A-4147-A177-3AD203B41FA5}">
                      <a16:colId xmlns:a16="http://schemas.microsoft.com/office/drawing/2014/main" val="3360966526"/>
                    </a:ext>
                  </a:extLst>
                </a:gridCol>
                <a:gridCol w="1894862">
                  <a:extLst>
                    <a:ext uri="{9D8B030D-6E8A-4147-A177-3AD203B41FA5}">
                      <a16:colId xmlns:a16="http://schemas.microsoft.com/office/drawing/2014/main" val="2124009587"/>
                    </a:ext>
                  </a:extLst>
                </a:gridCol>
                <a:gridCol w="1894862">
                  <a:extLst>
                    <a:ext uri="{9D8B030D-6E8A-4147-A177-3AD203B41FA5}">
                      <a16:colId xmlns:a16="http://schemas.microsoft.com/office/drawing/2014/main" val="1717059220"/>
                    </a:ext>
                  </a:extLst>
                </a:gridCol>
                <a:gridCol w="1894862">
                  <a:extLst>
                    <a:ext uri="{9D8B030D-6E8A-4147-A177-3AD203B41FA5}">
                      <a16:colId xmlns:a16="http://schemas.microsoft.com/office/drawing/2014/main" val="2827923830"/>
                    </a:ext>
                  </a:extLst>
                </a:gridCol>
                <a:gridCol w="1894862">
                  <a:extLst>
                    <a:ext uri="{9D8B030D-6E8A-4147-A177-3AD203B41FA5}">
                      <a16:colId xmlns:a16="http://schemas.microsoft.com/office/drawing/2014/main" val="2691817167"/>
                    </a:ext>
                  </a:extLst>
                </a:gridCol>
                <a:gridCol w="1894862">
                  <a:extLst>
                    <a:ext uri="{9D8B030D-6E8A-4147-A177-3AD203B41FA5}">
                      <a16:colId xmlns:a16="http://schemas.microsoft.com/office/drawing/2014/main" val="1953319606"/>
                    </a:ext>
                  </a:extLst>
                </a:gridCol>
              </a:tblGrid>
              <a:tr h="370840">
                <a:tc>
                  <a:txBody>
                    <a:bodyPr/>
                    <a:lstStyle/>
                    <a:p>
                      <a:r>
                        <a:rPr lang="en-US"/>
                        <a:t>Demand Date</a:t>
                      </a:r>
                      <a:endParaRPr lang="en-US" dirty="0"/>
                    </a:p>
                  </a:txBody>
                  <a:tcPr/>
                </a:tc>
                <a:tc>
                  <a:txBody>
                    <a:bodyPr/>
                    <a:lstStyle/>
                    <a:p>
                      <a:r>
                        <a:rPr lang="en-US"/>
                        <a:t>Due Date</a:t>
                      </a:r>
                    </a:p>
                  </a:txBody>
                  <a:tcPr/>
                </a:tc>
                <a:tc>
                  <a:txBody>
                    <a:bodyPr/>
                    <a:lstStyle/>
                    <a:p>
                      <a:r>
                        <a:rPr lang="en-US"/>
                        <a:t>Dock Date</a:t>
                      </a:r>
                    </a:p>
                  </a:txBody>
                  <a:tcPr/>
                </a:tc>
                <a:tc>
                  <a:txBody>
                    <a:bodyPr/>
                    <a:lstStyle/>
                    <a:p>
                      <a:r>
                        <a:rPr lang="en-US"/>
                        <a:t>Ship Date</a:t>
                      </a:r>
                    </a:p>
                  </a:txBody>
                  <a:tcPr/>
                </a:tc>
                <a:tc>
                  <a:txBody>
                    <a:bodyPr/>
                    <a:lstStyle/>
                    <a:p>
                      <a:r>
                        <a:rPr lang="en-US"/>
                        <a:t>Build Date</a:t>
                      </a:r>
                    </a:p>
                  </a:txBody>
                  <a:tcPr/>
                </a:tc>
                <a:tc>
                  <a:txBody>
                    <a:bodyPr/>
                    <a:lstStyle/>
                    <a:p>
                      <a:r>
                        <a:rPr lang="en-US"/>
                        <a:t>Start Date</a:t>
                      </a:r>
                    </a:p>
                  </a:txBody>
                  <a:tcPr/>
                </a:tc>
                <a:extLst>
                  <a:ext uri="{0D108BD9-81ED-4DB2-BD59-A6C34878D82A}">
                    <a16:rowId xmlns:a16="http://schemas.microsoft.com/office/drawing/2014/main" val="1230228740"/>
                  </a:ext>
                </a:extLst>
              </a:tr>
              <a:tr h="370839">
                <a:tc>
                  <a:txBody>
                    <a:bodyPr/>
                    <a:lstStyle/>
                    <a:p>
                      <a:pPr lvl="0">
                        <a:buNone/>
                      </a:pPr>
                      <a:r>
                        <a:rPr lang="en-US"/>
                        <a:t>09/25/2026</a:t>
                      </a:r>
                      <a:endParaRPr lang="en-US" dirty="0"/>
                    </a:p>
                  </a:txBody>
                  <a:tcPr/>
                </a:tc>
                <a:tc>
                  <a:txBody>
                    <a:bodyPr/>
                    <a:lstStyle/>
                    <a:p>
                      <a:pPr lvl="0">
                        <a:buNone/>
                      </a:pPr>
                      <a:r>
                        <a:rPr lang="en-US"/>
                        <a:t>09/24/2026</a:t>
                      </a:r>
                      <a:endParaRPr lang="en-US" dirty="0"/>
                    </a:p>
                  </a:txBody>
                  <a:tcPr/>
                </a:tc>
                <a:tc>
                  <a:txBody>
                    <a:bodyPr/>
                    <a:lstStyle/>
                    <a:p>
                      <a:pPr lvl="0">
                        <a:buNone/>
                      </a:pPr>
                      <a:r>
                        <a:rPr lang="en-US"/>
                        <a:t>09/22/2026</a:t>
                      </a:r>
                      <a:endParaRPr lang="en-US" dirty="0"/>
                    </a:p>
                  </a:txBody>
                  <a:tcPr/>
                </a:tc>
                <a:tc>
                  <a:txBody>
                    <a:bodyPr/>
                    <a:lstStyle/>
                    <a:p>
                      <a:pPr lvl="0">
                        <a:buNone/>
                      </a:pPr>
                      <a:r>
                        <a:rPr lang="en-US"/>
                        <a:t>09/20/2026</a:t>
                      </a:r>
                      <a:endParaRPr lang="en-US" dirty="0"/>
                    </a:p>
                  </a:txBody>
                  <a:tcPr/>
                </a:tc>
                <a:tc>
                  <a:txBody>
                    <a:bodyPr/>
                    <a:lstStyle/>
                    <a:p>
                      <a:pPr lvl="0">
                        <a:buNone/>
                      </a:pPr>
                      <a:r>
                        <a:rPr lang="en-US"/>
                        <a:t>09/19/2026</a:t>
                      </a:r>
                      <a:endParaRPr lang="en-US" dirty="0"/>
                    </a:p>
                  </a:txBody>
                  <a:tcPr/>
                </a:tc>
                <a:tc>
                  <a:txBody>
                    <a:bodyPr/>
                    <a:lstStyle/>
                    <a:p>
                      <a:pPr lvl="0">
                        <a:buNone/>
                      </a:pPr>
                      <a:r>
                        <a:rPr lang="en-US"/>
                        <a:t>09/13/2026</a:t>
                      </a:r>
                      <a:endParaRPr lang="en-US" dirty="0"/>
                    </a:p>
                  </a:txBody>
                  <a:tcPr/>
                </a:tc>
                <a:extLst>
                  <a:ext uri="{0D108BD9-81ED-4DB2-BD59-A6C34878D82A}">
                    <a16:rowId xmlns:a16="http://schemas.microsoft.com/office/drawing/2014/main" val="322219961"/>
                  </a:ext>
                </a:extLst>
              </a:tr>
              <a:tr h="370840">
                <a:tc>
                  <a:txBody>
                    <a:bodyPr/>
                    <a:lstStyle/>
                    <a:p>
                      <a:r>
                        <a:rPr lang="en-US"/>
                        <a:t>10/15/2026</a:t>
                      </a:r>
                    </a:p>
                  </a:txBody>
                  <a:tcPr/>
                </a:tc>
                <a:tc>
                  <a:txBody>
                    <a:bodyPr/>
                    <a:lstStyle/>
                    <a:p>
                      <a:r>
                        <a:rPr lang="en-US"/>
                        <a:t>10/14/2026</a:t>
                      </a:r>
                    </a:p>
                  </a:txBody>
                  <a:tcPr/>
                </a:tc>
                <a:tc>
                  <a:txBody>
                    <a:bodyPr/>
                    <a:lstStyle/>
                    <a:p>
                      <a:pPr lvl="0" algn="l">
                        <a:lnSpc>
                          <a:spcPct val="100000"/>
                        </a:lnSpc>
                        <a:spcBef>
                          <a:spcPts val="0"/>
                        </a:spcBef>
                        <a:spcAft>
                          <a:spcPts val="0"/>
                        </a:spcAft>
                        <a:buNone/>
                      </a:pPr>
                      <a:r>
                        <a:rPr lang="en-US" sz="1800" b="0" i="0" u="none" strike="noStrike" noProof="0">
                          <a:solidFill>
                            <a:srgbClr val="000000"/>
                          </a:solidFill>
                          <a:latin typeface="Aptos"/>
                        </a:rPr>
                        <a:t>10/14/2026</a:t>
                      </a:r>
                    </a:p>
                  </a:txBody>
                  <a:tcPr/>
                </a:tc>
                <a:tc>
                  <a:txBody>
                    <a:bodyPr/>
                    <a:lstStyle/>
                    <a:p>
                      <a:pPr lvl="0" algn="l">
                        <a:lnSpc>
                          <a:spcPct val="100000"/>
                        </a:lnSpc>
                        <a:spcBef>
                          <a:spcPts val="0"/>
                        </a:spcBef>
                        <a:spcAft>
                          <a:spcPts val="0"/>
                        </a:spcAft>
                        <a:buNone/>
                      </a:pPr>
                      <a:r>
                        <a:rPr lang="en-US" sz="1800" b="0" i="0" u="none" strike="noStrike" noProof="0">
                          <a:solidFill>
                            <a:srgbClr val="000000"/>
                          </a:solidFill>
                          <a:latin typeface="Aptos"/>
                        </a:rPr>
                        <a:t>10/14/2026</a:t>
                      </a:r>
                    </a:p>
                  </a:txBody>
                  <a:tcPr/>
                </a:tc>
                <a:tc>
                  <a:txBody>
                    <a:bodyPr/>
                    <a:lstStyle/>
                    <a:p>
                      <a:r>
                        <a:rPr lang="en-US"/>
                        <a:t>10/14/2026</a:t>
                      </a:r>
                    </a:p>
                  </a:txBody>
                  <a:tcPr/>
                </a:tc>
                <a:tc>
                  <a:txBody>
                    <a:bodyPr/>
                    <a:lstStyle/>
                    <a:p>
                      <a:r>
                        <a:rPr lang="en-US"/>
                        <a:t>10/05/2026</a:t>
                      </a:r>
                    </a:p>
                  </a:txBody>
                  <a:tcPr/>
                </a:tc>
                <a:extLst>
                  <a:ext uri="{0D108BD9-81ED-4DB2-BD59-A6C34878D82A}">
                    <a16:rowId xmlns:a16="http://schemas.microsoft.com/office/drawing/2014/main" val="565191867"/>
                  </a:ext>
                </a:extLst>
              </a:tr>
              <a:tr h="370840">
                <a:tc>
                  <a:txBody>
                    <a:bodyPr/>
                    <a:lstStyle/>
                    <a:p>
                      <a:r>
                        <a:rPr lang="en-US"/>
                        <a:t>10/20/2026</a:t>
                      </a:r>
                    </a:p>
                  </a:txBody>
                  <a:tcPr/>
                </a:tc>
                <a:tc>
                  <a:txBody>
                    <a:bodyPr/>
                    <a:lstStyle/>
                    <a:p>
                      <a:r>
                        <a:rPr lang="en-US"/>
                        <a:t>10/19/2026</a:t>
                      </a:r>
                    </a:p>
                  </a:txBody>
                  <a:tcPr/>
                </a:tc>
                <a:tc>
                  <a:txBody>
                    <a:bodyPr/>
                    <a:lstStyle/>
                    <a:p>
                      <a:pPr lvl="0" algn="l">
                        <a:lnSpc>
                          <a:spcPct val="100000"/>
                        </a:lnSpc>
                        <a:spcBef>
                          <a:spcPts val="0"/>
                        </a:spcBef>
                        <a:spcAft>
                          <a:spcPts val="0"/>
                        </a:spcAft>
                        <a:buNone/>
                      </a:pPr>
                      <a:r>
                        <a:rPr lang="en-US" sz="1800" b="0" i="0" u="none" strike="noStrike" noProof="0">
                          <a:solidFill>
                            <a:srgbClr val="000000"/>
                          </a:solidFill>
                          <a:latin typeface="Aptos"/>
                        </a:rPr>
                        <a:t>10/19/2026</a:t>
                      </a:r>
                    </a:p>
                  </a:txBody>
                  <a:tcPr/>
                </a:tc>
                <a:tc>
                  <a:txBody>
                    <a:bodyPr/>
                    <a:lstStyle/>
                    <a:p>
                      <a:pPr lvl="0" algn="l">
                        <a:lnSpc>
                          <a:spcPct val="100000"/>
                        </a:lnSpc>
                        <a:spcBef>
                          <a:spcPts val="0"/>
                        </a:spcBef>
                        <a:spcAft>
                          <a:spcPts val="0"/>
                        </a:spcAft>
                        <a:buNone/>
                      </a:pPr>
                      <a:r>
                        <a:rPr lang="en-US" sz="1800" b="0" i="0" u="none" strike="noStrike" noProof="0">
                          <a:solidFill>
                            <a:srgbClr val="000000"/>
                          </a:solidFill>
                          <a:latin typeface="Aptos"/>
                        </a:rPr>
                        <a:t>10/19/2026</a:t>
                      </a:r>
                    </a:p>
                  </a:txBody>
                  <a:tcPr/>
                </a:tc>
                <a:tc>
                  <a:txBody>
                    <a:bodyPr/>
                    <a:lstStyle/>
                    <a:p>
                      <a:r>
                        <a:rPr lang="en-US"/>
                        <a:t>10/19/2026</a:t>
                      </a:r>
                    </a:p>
                  </a:txBody>
                  <a:tcPr/>
                </a:tc>
                <a:tc>
                  <a:txBody>
                    <a:bodyPr/>
                    <a:lstStyle/>
                    <a:p>
                      <a:r>
                        <a:rPr lang="en-US"/>
                        <a:t>10/09/2026</a:t>
                      </a:r>
                    </a:p>
                  </a:txBody>
                  <a:tcPr/>
                </a:tc>
                <a:extLst>
                  <a:ext uri="{0D108BD9-81ED-4DB2-BD59-A6C34878D82A}">
                    <a16:rowId xmlns:a16="http://schemas.microsoft.com/office/drawing/2014/main" val="3999118261"/>
                  </a:ext>
                </a:extLst>
              </a:tr>
            </a:tbl>
          </a:graphicData>
        </a:graphic>
      </p:graphicFrame>
      <p:pic>
        <p:nvPicPr>
          <p:cNvPr id="6" name="Picture 5" descr="A screenshot of a computer&#10;&#10;AI-generated content may be incorrect.">
            <a:extLst>
              <a:ext uri="{FF2B5EF4-FFF2-40B4-BE49-F238E27FC236}">
                <a16:creationId xmlns:a16="http://schemas.microsoft.com/office/drawing/2014/main" id="{FB7684D4-4583-2A38-8BB6-4E5FF8A2B92C}"/>
              </a:ext>
            </a:extLst>
          </p:cNvPr>
          <p:cNvPicPr>
            <a:picLocks noChangeAspect="1"/>
          </p:cNvPicPr>
          <p:nvPr/>
        </p:nvPicPr>
        <p:blipFill>
          <a:blip r:embed="rId4"/>
          <a:stretch>
            <a:fillRect/>
          </a:stretch>
        </p:blipFill>
        <p:spPr>
          <a:xfrm>
            <a:off x="402566" y="1717534"/>
            <a:ext cx="11372491" cy="222961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8" descr="Shape, rectangle&#10;&#10;Description automatically generated"/>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p:cNvPicPr>
            <a:picLocks noChangeAspect="1"/>
          </p:cNvPicPr>
          <p:nvPr/>
        </p:nvPicPr>
        <p:blipFill>
          <a:blip r:embed="rId3"/>
          <a:stretch>
            <a:fillRect/>
          </a:stretch>
        </p:blipFill>
        <p:spPr>
          <a:xfrm>
            <a:off x="9181381" y="65406"/>
            <a:ext cx="2743200" cy="717452"/>
          </a:xfrm>
          <a:prstGeom prst="rect">
            <a:avLst/>
          </a:prstGeom>
        </p:spPr>
      </p:pic>
      <p:pic>
        <p:nvPicPr>
          <p:cNvPr id="2" name="Picture 1" descr="A screenshot of a computer&#10;&#10;AI-generated content may be incorrect.">
            <a:extLst>
              <a:ext uri="{FF2B5EF4-FFF2-40B4-BE49-F238E27FC236}">
                <a16:creationId xmlns:a16="http://schemas.microsoft.com/office/drawing/2014/main" id="{CE2A78FA-E530-D500-3A45-511D680BA7C0}"/>
              </a:ext>
            </a:extLst>
          </p:cNvPr>
          <p:cNvPicPr>
            <a:picLocks noChangeAspect="1"/>
          </p:cNvPicPr>
          <p:nvPr/>
        </p:nvPicPr>
        <p:blipFill>
          <a:blip r:embed="rId4"/>
          <a:stretch>
            <a:fillRect/>
          </a:stretch>
        </p:blipFill>
        <p:spPr>
          <a:xfrm>
            <a:off x="230037" y="1028454"/>
            <a:ext cx="11683426" cy="500333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6640499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8" descr="Shape, rectangle&#10;&#10;Description automatically generated"/>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p:cNvPicPr>
            <a:picLocks noChangeAspect="1"/>
          </p:cNvPicPr>
          <p:nvPr/>
        </p:nvPicPr>
        <p:blipFill>
          <a:blip r:embed="rId3"/>
          <a:stretch>
            <a:fillRect/>
          </a:stretch>
        </p:blipFill>
        <p:spPr>
          <a:xfrm>
            <a:off x="9181381" y="65406"/>
            <a:ext cx="2743200" cy="717452"/>
          </a:xfrm>
          <a:prstGeom prst="rect">
            <a:avLst/>
          </a:prstGeom>
        </p:spPr>
      </p:pic>
      <p:sp>
        <p:nvSpPr>
          <p:cNvPr id="3" name="TextBox 2">
            <a:extLst>
              <a:ext uri="{FF2B5EF4-FFF2-40B4-BE49-F238E27FC236}">
                <a16:creationId xmlns:a16="http://schemas.microsoft.com/office/drawing/2014/main" id="{9DC4E802-D765-31EC-0824-40DA10C8F1CD}"/>
              </a:ext>
            </a:extLst>
          </p:cNvPr>
          <p:cNvSpPr txBox="1"/>
          <p:nvPr/>
        </p:nvSpPr>
        <p:spPr>
          <a:xfrm>
            <a:off x="414068" y="1004977"/>
            <a:ext cx="2346960" cy="42473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Time Phased Lead Time </a:t>
            </a:r>
            <a:endParaRPr lang="en-US" dirty="0"/>
          </a:p>
          <a:p>
            <a:endParaRPr lang="en-US" dirty="0"/>
          </a:p>
          <a:p>
            <a:r>
              <a:rPr lang="en-US"/>
              <a:t>Transit Rule: Cumulative</a:t>
            </a:r>
            <a:endParaRPr lang="en-US" dirty="0"/>
          </a:p>
          <a:p>
            <a:r>
              <a:rPr lang="en-US"/>
              <a:t>Type: Make </a:t>
            </a:r>
            <a:endParaRPr lang="en-US" dirty="0"/>
          </a:p>
          <a:p>
            <a:r>
              <a:rPr lang="en-US"/>
              <a:t>Site: C1001</a:t>
            </a:r>
            <a:endParaRPr lang="en-US" dirty="0"/>
          </a:p>
          <a:p>
            <a:endParaRPr lang="en-US" dirty="0"/>
          </a:p>
          <a:p>
            <a:r>
              <a:rPr lang="en-US"/>
              <a:t>Safety = 1</a:t>
            </a:r>
          </a:p>
          <a:p>
            <a:r>
              <a:rPr lang="en-US"/>
              <a:t>DTS = 2</a:t>
            </a:r>
          </a:p>
          <a:p>
            <a:r>
              <a:rPr lang="en-US"/>
              <a:t>Transit = 2</a:t>
            </a:r>
          </a:p>
          <a:p>
            <a:r>
              <a:rPr lang="en-US"/>
              <a:t>Pre-ship =1</a:t>
            </a:r>
          </a:p>
          <a:p>
            <a:r>
              <a:rPr lang="en-US"/>
              <a:t>LTA = 2</a:t>
            </a:r>
            <a:endParaRPr lang="en-US" dirty="0"/>
          </a:p>
          <a:p>
            <a:r>
              <a:rPr lang="en-US"/>
              <a:t>Fixed = 2</a:t>
            </a:r>
            <a:endParaRPr lang="en-US" dirty="0"/>
          </a:p>
          <a:p>
            <a:r>
              <a:rPr lang="en-US"/>
              <a:t>Variable = 0.2*10 =2</a:t>
            </a:r>
            <a:endParaRPr lang="en-US" dirty="0"/>
          </a:p>
        </p:txBody>
      </p:sp>
      <p:sp>
        <p:nvSpPr>
          <p:cNvPr id="7" name="TextBox 6">
            <a:extLst>
              <a:ext uri="{FF2B5EF4-FFF2-40B4-BE49-F238E27FC236}">
                <a16:creationId xmlns:a16="http://schemas.microsoft.com/office/drawing/2014/main" id="{7ABA5155-1E7F-56C9-DFE6-B03935D7F9E9}"/>
              </a:ext>
            </a:extLst>
          </p:cNvPr>
          <p:cNvSpPr txBox="1"/>
          <p:nvPr/>
        </p:nvSpPr>
        <p:spPr>
          <a:xfrm>
            <a:off x="4799162" y="1004976"/>
            <a:ext cx="2346960"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Finding: the values are taken from </a:t>
            </a:r>
            <a:r>
              <a:rPr lang="en-US"/>
              <a:t>a</a:t>
            </a:r>
            <a:r>
              <a:rPr lang="en-US" dirty="0"/>
              <a:t> day after effective In date for the demand date as same as effective In date it uses the previous values listed for the demand not the current time phased dates.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8" descr="Shape, rectangle&#10;&#10;Description automatically generated"/>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p:cNvPicPr>
            <a:picLocks noChangeAspect="1"/>
          </p:cNvPicPr>
          <p:nvPr/>
        </p:nvPicPr>
        <p:blipFill>
          <a:blip r:embed="rId3"/>
          <a:stretch>
            <a:fillRect/>
          </a:stretch>
        </p:blipFill>
        <p:spPr>
          <a:xfrm>
            <a:off x="9181381" y="65406"/>
            <a:ext cx="2743200" cy="717452"/>
          </a:xfrm>
          <a:prstGeom prst="rect">
            <a:avLst/>
          </a:prstGeom>
        </p:spPr>
      </p:pic>
      <p:graphicFrame>
        <p:nvGraphicFramePr>
          <p:cNvPr id="3" name="Table 2">
            <a:extLst>
              <a:ext uri="{FF2B5EF4-FFF2-40B4-BE49-F238E27FC236}">
                <a16:creationId xmlns:a16="http://schemas.microsoft.com/office/drawing/2014/main" id="{7F02D167-9CDC-7CA2-D0A9-7BF525D8572A}"/>
              </a:ext>
            </a:extLst>
          </p:cNvPr>
          <p:cNvGraphicFramePr>
            <a:graphicFrameLocks noGrp="1"/>
          </p:cNvGraphicFramePr>
          <p:nvPr>
            <p:extLst>
              <p:ext uri="{D42A27DB-BD31-4B8C-83A1-F6EECF244321}">
                <p14:modId xmlns:p14="http://schemas.microsoft.com/office/powerpoint/2010/main" val="3505063590"/>
              </p:ext>
            </p:extLst>
          </p:nvPr>
        </p:nvGraphicFramePr>
        <p:xfrm>
          <a:off x="402183" y="3853132"/>
          <a:ext cx="11369172" cy="1854197"/>
        </p:xfrm>
        <a:graphic>
          <a:graphicData uri="http://schemas.openxmlformats.org/drawingml/2006/table">
            <a:tbl>
              <a:tblPr firstRow="1" bandRow="1">
                <a:tableStyleId>{5C22544A-7EE6-4342-B048-85BDC9FD1C3A}</a:tableStyleId>
              </a:tblPr>
              <a:tblGrid>
                <a:gridCol w="1894862">
                  <a:extLst>
                    <a:ext uri="{9D8B030D-6E8A-4147-A177-3AD203B41FA5}">
                      <a16:colId xmlns:a16="http://schemas.microsoft.com/office/drawing/2014/main" val="3360966526"/>
                    </a:ext>
                  </a:extLst>
                </a:gridCol>
                <a:gridCol w="1894862">
                  <a:extLst>
                    <a:ext uri="{9D8B030D-6E8A-4147-A177-3AD203B41FA5}">
                      <a16:colId xmlns:a16="http://schemas.microsoft.com/office/drawing/2014/main" val="2124009587"/>
                    </a:ext>
                  </a:extLst>
                </a:gridCol>
                <a:gridCol w="1894862">
                  <a:extLst>
                    <a:ext uri="{9D8B030D-6E8A-4147-A177-3AD203B41FA5}">
                      <a16:colId xmlns:a16="http://schemas.microsoft.com/office/drawing/2014/main" val="1717059220"/>
                    </a:ext>
                  </a:extLst>
                </a:gridCol>
                <a:gridCol w="1894862">
                  <a:extLst>
                    <a:ext uri="{9D8B030D-6E8A-4147-A177-3AD203B41FA5}">
                      <a16:colId xmlns:a16="http://schemas.microsoft.com/office/drawing/2014/main" val="2827923830"/>
                    </a:ext>
                  </a:extLst>
                </a:gridCol>
                <a:gridCol w="1894862">
                  <a:extLst>
                    <a:ext uri="{9D8B030D-6E8A-4147-A177-3AD203B41FA5}">
                      <a16:colId xmlns:a16="http://schemas.microsoft.com/office/drawing/2014/main" val="2691817167"/>
                    </a:ext>
                  </a:extLst>
                </a:gridCol>
                <a:gridCol w="1894862">
                  <a:extLst>
                    <a:ext uri="{9D8B030D-6E8A-4147-A177-3AD203B41FA5}">
                      <a16:colId xmlns:a16="http://schemas.microsoft.com/office/drawing/2014/main" val="1953319606"/>
                    </a:ext>
                  </a:extLst>
                </a:gridCol>
              </a:tblGrid>
              <a:tr h="370840">
                <a:tc>
                  <a:txBody>
                    <a:bodyPr/>
                    <a:lstStyle/>
                    <a:p>
                      <a:r>
                        <a:rPr lang="en-US"/>
                        <a:t>Demand Date</a:t>
                      </a:r>
                      <a:endParaRPr lang="en-US" dirty="0"/>
                    </a:p>
                  </a:txBody>
                  <a:tcPr/>
                </a:tc>
                <a:tc>
                  <a:txBody>
                    <a:bodyPr/>
                    <a:lstStyle/>
                    <a:p>
                      <a:r>
                        <a:rPr lang="en-US"/>
                        <a:t>Due Date</a:t>
                      </a:r>
                    </a:p>
                  </a:txBody>
                  <a:tcPr/>
                </a:tc>
                <a:tc>
                  <a:txBody>
                    <a:bodyPr/>
                    <a:lstStyle/>
                    <a:p>
                      <a:r>
                        <a:rPr lang="en-US"/>
                        <a:t>Dock Date</a:t>
                      </a:r>
                    </a:p>
                  </a:txBody>
                  <a:tcPr/>
                </a:tc>
                <a:tc>
                  <a:txBody>
                    <a:bodyPr/>
                    <a:lstStyle/>
                    <a:p>
                      <a:r>
                        <a:rPr lang="en-US"/>
                        <a:t>Ship Date</a:t>
                      </a:r>
                    </a:p>
                  </a:txBody>
                  <a:tcPr/>
                </a:tc>
                <a:tc>
                  <a:txBody>
                    <a:bodyPr/>
                    <a:lstStyle/>
                    <a:p>
                      <a:r>
                        <a:rPr lang="en-US"/>
                        <a:t>Build Date</a:t>
                      </a:r>
                    </a:p>
                  </a:txBody>
                  <a:tcPr/>
                </a:tc>
                <a:tc>
                  <a:txBody>
                    <a:bodyPr/>
                    <a:lstStyle/>
                    <a:p>
                      <a:r>
                        <a:rPr lang="en-US"/>
                        <a:t>Start Date</a:t>
                      </a:r>
                    </a:p>
                  </a:txBody>
                  <a:tcPr/>
                </a:tc>
                <a:extLst>
                  <a:ext uri="{0D108BD9-81ED-4DB2-BD59-A6C34878D82A}">
                    <a16:rowId xmlns:a16="http://schemas.microsoft.com/office/drawing/2014/main" val="1230228740"/>
                  </a:ext>
                </a:extLst>
              </a:tr>
              <a:tr h="370839">
                <a:tc>
                  <a:txBody>
                    <a:bodyPr/>
                    <a:lstStyle/>
                    <a:p>
                      <a:pPr lvl="0">
                        <a:buNone/>
                      </a:pPr>
                      <a:r>
                        <a:rPr lang="en-US"/>
                        <a:t>09/25/2026</a:t>
                      </a:r>
                      <a:endParaRPr lang="en-US" dirty="0"/>
                    </a:p>
                  </a:txBody>
                  <a:tcPr/>
                </a:tc>
                <a:tc>
                  <a:txBody>
                    <a:bodyPr/>
                    <a:lstStyle/>
                    <a:p>
                      <a:pPr lvl="0">
                        <a:buNone/>
                      </a:pPr>
                      <a:r>
                        <a:rPr lang="en-US"/>
                        <a:t>09/24/2026</a:t>
                      </a:r>
                      <a:endParaRPr lang="en-US" dirty="0"/>
                    </a:p>
                  </a:txBody>
                  <a:tcPr/>
                </a:tc>
                <a:tc>
                  <a:txBody>
                    <a:bodyPr/>
                    <a:lstStyle/>
                    <a:p>
                      <a:pPr lvl="0">
                        <a:buNone/>
                      </a:pPr>
                      <a:r>
                        <a:rPr lang="en-US"/>
                        <a:t>09/22/2026</a:t>
                      </a:r>
                      <a:endParaRPr lang="en-US" dirty="0"/>
                    </a:p>
                  </a:txBody>
                  <a:tcPr/>
                </a:tc>
                <a:tc>
                  <a:txBody>
                    <a:bodyPr/>
                    <a:lstStyle/>
                    <a:p>
                      <a:pPr lvl="0">
                        <a:buNone/>
                      </a:pPr>
                      <a:r>
                        <a:rPr lang="en-US"/>
                        <a:t>09/20/2026</a:t>
                      </a:r>
                      <a:endParaRPr lang="en-US" dirty="0"/>
                    </a:p>
                  </a:txBody>
                  <a:tcPr/>
                </a:tc>
                <a:tc>
                  <a:txBody>
                    <a:bodyPr/>
                    <a:lstStyle/>
                    <a:p>
                      <a:pPr lvl="0">
                        <a:buNone/>
                      </a:pPr>
                      <a:r>
                        <a:rPr lang="en-US"/>
                        <a:t>09/19/2026</a:t>
                      </a:r>
                      <a:endParaRPr lang="en-US" dirty="0"/>
                    </a:p>
                  </a:txBody>
                  <a:tcPr/>
                </a:tc>
                <a:tc>
                  <a:txBody>
                    <a:bodyPr/>
                    <a:lstStyle/>
                    <a:p>
                      <a:pPr lvl="0">
                        <a:buNone/>
                      </a:pPr>
                      <a:r>
                        <a:rPr lang="en-US"/>
                        <a:t>09/13/2026</a:t>
                      </a:r>
                      <a:endParaRPr lang="en-US" dirty="0"/>
                    </a:p>
                  </a:txBody>
                  <a:tcPr/>
                </a:tc>
                <a:extLst>
                  <a:ext uri="{0D108BD9-81ED-4DB2-BD59-A6C34878D82A}">
                    <a16:rowId xmlns:a16="http://schemas.microsoft.com/office/drawing/2014/main" val="322219961"/>
                  </a:ext>
                </a:extLst>
              </a:tr>
              <a:tr h="370838">
                <a:tc>
                  <a:txBody>
                    <a:bodyPr/>
                    <a:lstStyle/>
                    <a:p>
                      <a:pPr lvl="0">
                        <a:buNone/>
                      </a:pPr>
                      <a:r>
                        <a:rPr lang="en-US"/>
                        <a:t>10/01/2026</a:t>
                      </a:r>
                      <a:endParaRPr lang="en-US" dirty="0"/>
                    </a:p>
                  </a:txBody>
                  <a:tcPr/>
                </a:tc>
                <a:tc>
                  <a:txBody>
                    <a:bodyPr/>
                    <a:lstStyle/>
                    <a:p>
                      <a:pPr lvl="0">
                        <a:buNone/>
                      </a:pPr>
                      <a:r>
                        <a:rPr lang="en-US"/>
                        <a:t>09/30/2026</a:t>
                      </a:r>
                      <a:endParaRPr lang="en-US" dirty="0"/>
                    </a:p>
                  </a:txBody>
                  <a:tcPr/>
                </a:tc>
                <a:tc>
                  <a:txBody>
                    <a:bodyPr/>
                    <a:lstStyle/>
                    <a:p>
                      <a:pPr lvl="0">
                        <a:buNone/>
                      </a:pPr>
                      <a:r>
                        <a:rPr lang="en-US"/>
                        <a:t>09/28/2026</a:t>
                      </a:r>
                      <a:endParaRPr lang="en-US" dirty="0"/>
                    </a:p>
                  </a:txBody>
                  <a:tcPr/>
                </a:tc>
                <a:tc>
                  <a:txBody>
                    <a:bodyPr/>
                    <a:lstStyle/>
                    <a:p>
                      <a:pPr lvl="0">
                        <a:buNone/>
                      </a:pPr>
                      <a:r>
                        <a:rPr lang="en-US"/>
                        <a:t>09/26/2026</a:t>
                      </a:r>
                      <a:endParaRPr lang="en-US" dirty="0"/>
                    </a:p>
                  </a:txBody>
                  <a:tcPr/>
                </a:tc>
                <a:tc>
                  <a:txBody>
                    <a:bodyPr/>
                    <a:lstStyle/>
                    <a:p>
                      <a:pPr lvl="0">
                        <a:buNone/>
                      </a:pPr>
                      <a:r>
                        <a:rPr lang="en-US"/>
                        <a:t>09/25/2026</a:t>
                      </a:r>
                      <a:endParaRPr lang="en-US" dirty="0"/>
                    </a:p>
                  </a:txBody>
                  <a:tcPr/>
                </a:tc>
                <a:tc>
                  <a:txBody>
                    <a:bodyPr/>
                    <a:lstStyle/>
                    <a:p>
                      <a:pPr lvl="0">
                        <a:buNone/>
                      </a:pPr>
                      <a:r>
                        <a:rPr lang="en-US"/>
                        <a:t>09/19/2026</a:t>
                      </a:r>
                      <a:endParaRPr lang="en-US" dirty="0"/>
                    </a:p>
                  </a:txBody>
                  <a:tcPr/>
                </a:tc>
                <a:extLst>
                  <a:ext uri="{0D108BD9-81ED-4DB2-BD59-A6C34878D82A}">
                    <a16:rowId xmlns:a16="http://schemas.microsoft.com/office/drawing/2014/main" val="3047956776"/>
                  </a:ext>
                </a:extLst>
              </a:tr>
              <a:tr h="370840">
                <a:tc>
                  <a:txBody>
                    <a:bodyPr/>
                    <a:lstStyle/>
                    <a:p>
                      <a:r>
                        <a:rPr lang="en-US"/>
                        <a:t>10/15/2026</a:t>
                      </a:r>
                    </a:p>
                  </a:txBody>
                  <a:tcPr/>
                </a:tc>
                <a:tc>
                  <a:txBody>
                    <a:bodyPr/>
                    <a:lstStyle/>
                    <a:p>
                      <a:r>
                        <a:rPr lang="en-US"/>
                        <a:t>10/14/2026</a:t>
                      </a:r>
                    </a:p>
                  </a:txBody>
                  <a:tcPr/>
                </a:tc>
                <a:tc>
                  <a:txBody>
                    <a:bodyPr/>
                    <a:lstStyle/>
                    <a:p>
                      <a:pPr lvl="0" algn="l">
                        <a:lnSpc>
                          <a:spcPct val="100000"/>
                        </a:lnSpc>
                        <a:spcBef>
                          <a:spcPts val="0"/>
                        </a:spcBef>
                        <a:spcAft>
                          <a:spcPts val="0"/>
                        </a:spcAft>
                        <a:buNone/>
                      </a:pPr>
                      <a:r>
                        <a:rPr lang="en-US" sz="1800" b="0" i="0" u="none" strike="noStrike" noProof="0">
                          <a:solidFill>
                            <a:srgbClr val="000000"/>
                          </a:solidFill>
                          <a:latin typeface="Aptos"/>
                        </a:rPr>
                        <a:t>10/13/2026</a:t>
                      </a:r>
                    </a:p>
                  </a:txBody>
                  <a:tcPr/>
                </a:tc>
                <a:tc>
                  <a:txBody>
                    <a:bodyPr/>
                    <a:lstStyle/>
                    <a:p>
                      <a:pPr lvl="0" algn="l">
                        <a:lnSpc>
                          <a:spcPct val="100000"/>
                        </a:lnSpc>
                        <a:spcBef>
                          <a:spcPts val="0"/>
                        </a:spcBef>
                        <a:spcAft>
                          <a:spcPts val="0"/>
                        </a:spcAft>
                        <a:buNone/>
                      </a:pPr>
                      <a:r>
                        <a:rPr lang="en-US" sz="1800" b="0" i="0" u="none" strike="noStrike" noProof="0">
                          <a:solidFill>
                            <a:srgbClr val="000000"/>
                          </a:solidFill>
                          <a:latin typeface="Aptos"/>
                        </a:rPr>
                        <a:t>10/05/2026</a:t>
                      </a:r>
                    </a:p>
                  </a:txBody>
                  <a:tcPr/>
                </a:tc>
                <a:tc>
                  <a:txBody>
                    <a:bodyPr/>
                    <a:lstStyle/>
                    <a:p>
                      <a:r>
                        <a:rPr lang="en-US"/>
                        <a:t>10/03/2026</a:t>
                      </a:r>
                    </a:p>
                  </a:txBody>
                  <a:tcPr/>
                </a:tc>
                <a:tc>
                  <a:txBody>
                    <a:bodyPr/>
                    <a:lstStyle/>
                    <a:p>
                      <a:r>
                        <a:rPr lang="en-US"/>
                        <a:t>09/24/2026</a:t>
                      </a:r>
                    </a:p>
                  </a:txBody>
                  <a:tcPr/>
                </a:tc>
                <a:extLst>
                  <a:ext uri="{0D108BD9-81ED-4DB2-BD59-A6C34878D82A}">
                    <a16:rowId xmlns:a16="http://schemas.microsoft.com/office/drawing/2014/main" val="565191867"/>
                  </a:ext>
                </a:extLst>
              </a:tr>
              <a:tr h="370840">
                <a:tc>
                  <a:txBody>
                    <a:bodyPr/>
                    <a:lstStyle/>
                    <a:p>
                      <a:r>
                        <a:rPr lang="en-US"/>
                        <a:t>10/20/2026</a:t>
                      </a:r>
                    </a:p>
                  </a:txBody>
                  <a:tcPr/>
                </a:tc>
                <a:tc>
                  <a:txBody>
                    <a:bodyPr/>
                    <a:lstStyle/>
                    <a:p>
                      <a:r>
                        <a:rPr lang="en-US"/>
                        <a:t>10/19/2026</a:t>
                      </a:r>
                    </a:p>
                  </a:txBody>
                  <a:tcPr/>
                </a:tc>
                <a:tc>
                  <a:txBody>
                    <a:bodyPr/>
                    <a:lstStyle/>
                    <a:p>
                      <a:pPr lvl="0" algn="l">
                        <a:lnSpc>
                          <a:spcPct val="100000"/>
                        </a:lnSpc>
                        <a:spcBef>
                          <a:spcPts val="0"/>
                        </a:spcBef>
                        <a:spcAft>
                          <a:spcPts val="0"/>
                        </a:spcAft>
                        <a:buNone/>
                      </a:pPr>
                      <a:r>
                        <a:rPr lang="en-US" sz="1800" b="0" i="0" u="none" strike="noStrike" noProof="0">
                          <a:solidFill>
                            <a:srgbClr val="000000"/>
                          </a:solidFill>
                          <a:latin typeface="Aptos"/>
                        </a:rPr>
                        <a:t>10/17/2026</a:t>
                      </a:r>
                    </a:p>
                  </a:txBody>
                  <a:tcPr/>
                </a:tc>
                <a:tc>
                  <a:txBody>
                    <a:bodyPr/>
                    <a:lstStyle/>
                    <a:p>
                      <a:pPr lvl="0" algn="l">
                        <a:lnSpc>
                          <a:spcPct val="100000"/>
                        </a:lnSpc>
                        <a:spcBef>
                          <a:spcPts val="0"/>
                        </a:spcBef>
                        <a:spcAft>
                          <a:spcPts val="0"/>
                        </a:spcAft>
                        <a:buNone/>
                      </a:pPr>
                      <a:r>
                        <a:rPr lang="en-US" sz="1800" b="0" i="0" u="none" strike="noStrike" noProof="0">
                          <a:solidFill>
                            <a:srgbClr val="000000"/>
                          </a:solidFill>
                          <a:latin typeface="Aptos"/>
                        </a:rPr>
                        <a:t>10/15/2026</a:t>
                      </a:r>
                    </a:p>
                  </a:txBody>
                  <a:tcPr/>
                </a:tc>
                <a:tc>
                  <a:txBody>
                    <a:bodyPr/>
                    <a:lstStyle/>
                    <a:p>
                      <a:r>
                        <a:rPr lang="en-US"/>
                        <a:t>10/13/2026</a:t>
                      </a:r>
                    </a:p>
                  </a:txBody>
                  <a:tcPr/>
                </a:tc>
                <a:tc>
                  <a:txBody>
                    <a:bodyPr/>
                    <a:lstStyle/>
                    <a:p>
                      <a:r>
                        <a:rPr lang="en-US"/>
                        <a:t>10/09/2026</a:t>
                      </a:r>
                    </a:p>
                  </a:txBody>
                  <a:tcPr/>
                </a:tc>
                <a:extLst>
                  <a:ext uri="{0D108BD9-81ED-4DB2-BD59-A6C34878D82A}">
                    <a16:rowId xmlns:a16="http://schemas.microsoft.com/office/drawing/2014/main" val="3999118261"/>
                  </a:ext>
                </a:extLst>
              </a:tr>
            </a:tbl>
          </a:graphicData>
        </a:graphic>
      </p:graphicFrame>
      <p:pic>
        <p:nvPicPr>
          <p:cNvPr id="7" name="Picture 6" descr="A screenshot of a computer&#10;&#10;AI-generated content may be incorrect.">
            <a:extLst>
              <a:ext uri="{FF2B5EF4-FFF2-40B4-BE49-F238E27FC236}">
                <a16:creationId xmlns:a16="http://schemas.microsoft.com/office/drawing/2014/main" id="{81D36033-5857-64D5-6CCD-CA0464A77095}"/>
              </a:ext>
            </a:extLst>
          </p:cNvPr>
          <p:cNvPicPr>
            <a:picLocks noChangeAspect="1"/>
          </p:cNvPicPr>
          <p:nvPr/>
        </p:nvPicPr>
        <p:blipFill>
          <a:blip r:embed="rId4"/>
          <a:stretch>
            <a:fillRect/>
          </a:stretch>
        </p:blipFill>
        <p:spPr>
          <a:xfrm>
            <a:off x="402566" y="1185572"/>
            <a:ext cx="11372491" cy="222961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8" descr="Shape, rectangle&#10;&#10;Description automatically generated"/>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p:cNvPicPr>
            <a:picLocks noChangeAspect="1"/>
          </p:cNvPicPr>
          <p:nvPr/>
        </p:nvPicPr>
        <p:blipFill>
          <a:blip r:embed="rId3"/>
          <a:stretch>
            <a:fillRect/>
          </a:stretch>
        </p:blipFill>
        <p:spPr>
          <a:xfrm>
            <a:off x="9181381" y="65406"/>
            <a:ext cx="2743200" cy="717452"/>
          </a:xfrm>
          <a:prstGeom prst="rect">
            <a:avLst/>
          </a:prstGeom>
        </p:spPr>
      </p:pic>
      <p:pic>
        <p:nvPicPr>
          <p:cNvPr id="2" name="Picture 1" descr="A screenshot of a computer&#10;&#10;AI-generated content may be incorrect.">
            <a:extLst>
              <a:ext uri="{FF2B5EF4-FFF2-40B4-BE49-F238E27FC236}">
                <a16:creationId xmlns:a16="http://schemas.microsoft.com/office/drawing/2014/main" id="{CD861350-61DD-5A42-AD2C-8ED5FC46E1EC}"/>
              </a:ext>
            </a:extLst>
          </p:cNvPr>
          <p:cNvPicPr>
            <a:picLocks noChangeAspect="1"/>
          </p:cNvPicPr>
          <p:nvPr/>
        </p:nvPicPr>
        <p:blipFill>
          <a:blip r:embed="rId4"/>
          <a:stretch>
            <a:fillRect/>
          </a:stretch>
        </p:blipFill>
        <p:spPr>
          <a:xfrm>
            <a:off x="388188" y="1045081"/>
            <a:ext cx="11300605" cy="509851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8" descr="Shape, rectangle&#10;&#10;Description automatically generated"/>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p:cNvPicPr>
            <a:picLocks noChangeAspect="1"/>
          </p:cNvPicPr>
          <p:nvPr/>
        </p:nvPicPr>
        <p:blipFill>
          <a:blip r:embed="rId3"/>
          <a:stretch>
            <a:fillRect/>
          </a:stretch>
        </p:blipFill>
        <p:spPr>
          <a:xfrm>
            <a:off x="9181381" y="65406"/>
            <a:ext cx="2743200" cy="71745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8" descr="Shape, rectangle&#10;&#10;Description automatically generated"/>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p:cNvPicPr>
            <a:picLocks noChangeAspect="1"/>
          </p:cNvPicPr>
          <p:nvPr/>
        </p:nvPicPr>
        <p:blipFill>
          <a:blip r:embed="rId3"/>
          <a:stretch>
            <a:fillRect/>
          </a:stretch>
        </p:blipFill>
        <p:spPr>
          <a:xfrm>
            <a:off x="9181381" y="65406"/>
            <a:ext cx="2743200" cy="717452"/>
          </a:xfrm>
          <a:prstGeom prst="rect">
            <a:avLst/>
          </a:prstGeom>
        </p:spPr>
      </p:pic>
      <p:sp>
        <p:nvSpPr>
          <p:cNvPr id="7" name="TextBox 6">
            <a:extLst>
              <a:ext uri="{FF2B5EF4-FFF2-40B4-BE49-F238E27FC236}">
                <a16:creationId xmlns:a16="http://schemas.microsoft.com/office/drawing/2014/main" id="{C55F14A7-B84D-87BD-9B54-8B796FB09C99}"/>
              </a:ext>
            </a:extLst>
          </p:cNvPr>
          <p:cNvSpPr txBox="1"/>
          <p:nvPr/>
        </p:nvSpPr>
        <p:spPr>
          <a:xfrm>
            <a:off x="508096" y="232338"/>
            <a:ext cx="7489167"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Simulation </a:t>
            </a:r>
          </a:p>
          <a:p>
            <a:endParaRPr lang="en-US" dirty="0"/>
          </a:p>
          <a:p>
            <a:r>
              <a:rPr lang="en-US"/>
              <a:t>Transit Rule: Cumulative</a:t>
            </a:r>
            <a:endParaRPr lang="en-US" dirty="0"/>
          </a:p>
          <a:p>
            <a:r>
              <a:rPr lang="en-US"/>
              <a:t>Type: Transfer</a:t>
            </a:r>
          </a:p>
          <a:p>
            <a:r>
              <a:rPr lang="en-US"/>
              <a:t>Site C1001</a:t>
            </a:r>
            <a:endParaRPr lang="en-US" dirty="0"/>
          </a:p>
        </p:txBody>
      </p:sp>
      <p:graphicFrame>
        <p:nvGraphicFramePr>
          <p:cNvPr id="8" name="Table 7">
            <a:extLst>
              <a:ext uri="{FF2B5EF4-FFF2-40B4-BE49-F238E27FC236}">
                <a16:creationId xmlns:a16="http://schemas.microsoft.com/office/drawing/2014/main" id="{2A04BFA3-561F-BD62-5C4D-3210568E0C81}"/>
              </a:ext>
            </a:extLst>
          </p:cNvPr>
          <p:cNvGraphicFramePr>
            <a:graphicFrameLocks noGrp="1"/>
          </p:cNvGraphicFramePr>
          <p:nvPr>
            <p:extLst>
              <p:ext uri="{D42A27DB-BD31-4B8C-83A1-F6EECF244321}">
                <p14:modId xmlns:p14="http://schemas.microsoft.com/office/powerpoint/2010/main" val="4072583057"/>
              </p:ext>
            </p:extLst>
          </p:nvPr>
        </p:nvGraphicFramePr>
        <p:xfrm>
          <a:off x="474452" y="2142226"/>
          <a:ext cx="11247294" cy="3977638"/>
        </p:xfrm>
        <a:graphic>
          <a:graphicData uri="http://schemas.openxmlformats.org/drawingml/2006/table">
            <a:tbl>
              <a:tblPr firstRow="1" bandRow="1">
                <a:tableStyleId>{5C22544A-7EE6-4342-B048-85BDC9FD1C3A}</a:tableStyleId>
              </a:tblPr>
              <a:tblGrid>
                <a:gridCol w="1874549">
                  <a:extLst>
                    <a:ext uri="{9D8B030D-6E8A-4147-A177-3AD203B41FA5}">
                      <a16:colId xmlns:a16="http://schemas.microsoft.com/office/drawing/2014/main" val="2516356869"/>
                    </a:ext>
                  </a:extLst>
                </a:gridCol>
                <a:gridCol w="1874549">
                  <a:extLst>
                    <a:ext uri="{9D8B030D-6E8A-4147-A177-3AD203B41FA5}">
                      <a16:colId xmlns:a16="http://schemas.microsoft.com/office/drawing/2014/main" val="2685803324"/>
                    </a:ext>
                  </a:extLst>
                </a:gridCol>
                <a:gridCol w="1874549">
                  <a:extLst>
                    <a:ext uri="{9D8B030D-6E8A-4147-A177-3AD203B41FA5}">
                      <a16:colId xmlns:a16="http://schemas.microsoft.com/office/drawing/2014/main" val="3666996540"/>
                    </a:ext>
                  </a:extLst>
                </a:gridCol>
                <a:gridCol w="1874549">
                  <a:extLst>
                    <a:ext uri="{9D8B030D-6E8A-4147-A177-3AD203B41FA5}">
                      <a16:colId xmlns:a16="http://schemas.microsoft.com/office/drawing/2014/main" val="4025426188"/>
                    </a:ext>
                  </a:extLst>
                </a:gridCol>
                <a:gridCol w="1874549">
                  <a:extLst>
                    <a:ext uri="{9D8B030D-6E8A-4147-A177-3AD203B41FA5}">
                      <a16:colId xmlns:a16="http://schemas.microsoft.com/office/drawing/2014/main" val="608119132"/>
                    </a:ext>
                  </a:extLst>
                </a:gridCol>
                <a:gridCol w="1874549">
                  <a:extLst>
                    <a:ext uri="{9D8B030D-6E8A-4147-A177-3AD203B41FA5}">
                      <a16:colId xmlns:a16="http://schemas.microsoft.com/office/drawing/2014/main" val="1367674639"/>
                    </a:ext>
                  </a:extLst>
                </a:gridCol>
              </a:tblGrid>
              <a:tr h="370840">
                <a:tc>
                  <a:txBody>
                    <a:bodyPr/>
                    <a:lstStyle/>
                    <a:p>
                      <a:r>
                        <a:rPr lang="en-US"/>
                        <a:t>Dates</a:t>
                      </a:r>
                    </a:p>
                  </a:txBody>
                  <a:tcPr/>
                </a:tc>
                <a:tc>
                  <a:txBody>
                    <a:bodyPr/>
                    <a:lstStyle/>
                    <a:p>
                      <a:r>
                        <a:rPr lang="en-US"/>
                        <a:t>Elements</a:t>
                      </a:r>
                      <a:endParaRPr lang="en-US" dirty="0"/>
                    </a:p>
                  </a:txBody>
                  <a:tcPr/>
                </a:tc>
                <a:tc>
                  <a:txBody>
                    <a:bodyPr/>
                    <a:lstStyle/>
                    <a:p>
                      <a:pPr lvl="0">
                        <a:buNone/>
                      </a:pPr>
                      <a:r>
                        <a:rPr lang="en-US"/>
                        <a:t>Values (C1001)</a:t>
                      </a:r>
                      <a:endParaRPr lang="en-US" dirty="0"/>
                    </a:p>
                  </a:txBody>
                  <a:tcPr/>
                </a:tc>
                <a:tc>
                  <a:txBody>
                    <a:bodyPr/>
                    <a:lstStyle/>
                    <a:p>
                      <a:pPr lvl="0" algn="l">
                        <a:lnSpc>
                          <a:spcPct val="100000"/>
                        </a:lnSpc>
                        <a:spcBef>
                          <a:spcPts val="0"/>
                        </a:spcBef>
                        <a:spcAft>
                          <a:spcPts val="0"/>
                        </a:spcAft>
                        <a:buNone/>
                      </a:pPr>
                      <a:r>
                        <a:rPr lang="en-US" sz="1800" b="1" i="0" u="none" strike="noStrike" noProof="0">
                          <a:solidFill>
                            <a:srgbClr val="FFFFFF"/>
                          </a:solidFill>
                          <a:latin typeface="Aptos"/>
                        </a:rPr>
                        <a:t>C1001</a:t>
                      </a:r>
                    </a:p>
                  </a:txBody>
                  <a:tcPr/>
                </a:tc>
                <a:tc>
                  <a:txBody>
                    <a:bodyPr/>
                    <a:lstStyle/>
                    <a:p>
                      <a:pPr lvl="0">
                        <a:buNone/>
                      </a:pPr>
                      <a:r>
                        <a:rPr lang="en-US" sz="1800" b="1" i="0" u="none" strike="noStrike" noProof="0">
                          <a:solidFill>
                            <a:srgbClr val="FFFFFF"/>
                          </a:solidFill>
                          <a:latin typeface="Aptos"/>
                        </a:rPr>
                        <a:t>Values</a:t>
                      </a:r>
                    </a:p>
                    <a:p>
                      <a:pPr lvl="0">
                        <a:buNone/>
                      </a:pPr>
                      <a:r>
                        <a:rPr lang="en-US" sz="1800" b="1" i="0" u="none" strike="noStrike" noProof="0">
                          <a:solidFill>
                            <a:srgbClr val="FFFFFF"/>
                          </a:solidFill>
                          <a:latin typeface="Aptos"/>
                        </a:rPr>
                        <a:t>(C1001 + E3001)</a:t>
                      </a:r>
                    </a:p>
                  </a:txBody>
                  <a:tcPr/>
                </a:tc>
                <a:tc>
                  <a:txBody>
                    <a:bodyPr/>
                    <a:lstStyle/>
                    <a:p>
                      <a:r>
                        <a:rPr lang="en-US"/>
                        <a:t>E3001</a:t>
                      </a:r>
                      <a:endParaRPr lang="en-US" dirty="0"/>
                    </a:p>
                  </a:txBody>
                  <a:tcPr/>
                </a:tc>
                <a:extLst>
                  <a:ext uri="{0D108BD9-81ED-4DB2-BD59-A6C34878D82A}">
                    <a16:rowId xmlns:a16="http://schemas.microsoft.com/office/drawing/2014/main" val="1071926590"/>
                  </a:ext>
                </a:extLst>
              </a:tr>
              <a:tr h="370839">
                <a:tc>
                  <a:txBody>
                    <a:bodyPr/>
                    <a:lstStyle/>
                    <a:p>
                      <a:pPr lvl="0">
                        <a:buNone/>
                      </a:pPr>
                      <a:r>
                        <a:rPr lang="en-US"/>
                        <a:t>Demand Date</a:t>
                      </a:r>
                      <a:endParaRPr lang="en-US" dirty="0"/>
                    </a:p>
                  </a:txBody>
                  <a:tcPr/>
                </a:tc>
                <a:tc>
                  <a:txBody>
                    <a:bodyPr/>
                    <a:lstStyle/>
                    <a:p>
                      <a:pPr lvl="0">
                        <a:buNone/>
                      </a:pPr>
                      <a:endParaRPr lang="en-US" dirty="0"/>
                    </a:p>
                  </a:txBody>
                  <a:tcPr/>
                </a:tc>
                <a:tc>
                  <a:txBody>
                    <a:bodyPr/>
                    <a:lstStyle/>
                    <a:p>
                      <a:pPr lvl="0">
                        <a:buNone/>
                      </a:pPr>
                      <a:endParaRPr lang="en-US" dirty="0"/>
                    </a:p>
                  </a:txBody>
                  <a:tcPr/>
                </a:tc>
                <a:tc>
                  <a:txBody>
                    <a:bodyPr/>
                    <a:lstStyle/>
                    <a:p>
                      <a:pPr lvl="0">
                        <a:buNone/>
                      </a:pPr>
                      <a:r>
                        <a:rPr lang="en-US"/>
                        <a:t>10/15/2026</a:t>
                      </a:r>
                      <a:endParaRPr lang="en-US" dirty="0"/>
                    </a:p>
                  </a:txBody>
                  <a:tcPr/>
                </a:tc>
                <a:tc>
                  <a:txBody>
                    <a:bodyPr/>
                    <a:lstStyle/>
                    <a:p>
                      <a:pPr lvl="0">
                        <a:buNone/>
                      </a:pPr>
                      <a:endParaRPr lang="en-US" dirty="0"/>
                    </a:p>
                  </a:txBody>
                  <a:tcPr/>
                </a:tc>
                <a:tc>
                  <a:txBody>
                    <a:bodyPr/>
                    <a:lstStyle/>
                    <a:p>
                      <a:pPr lvl="0">
                        <a:buNone/>
                      </a:pPr>
                      <a:r>
                        <a:rPr lang="en-US"/>
                        <a:t>10/15/2026</a:t>
                      </a:r>
                      <a:endParaRPr lang="en-US" dirty="0"/>
                    </a:p>
                  </a:txBody>
                  <a:tcPr/>
                </a:tc>
                <a:extLst>
                  <a:ext uri="{0D108BD9-81ED-4DB2-BD59-A6C34878D82A}">
                    <a16:rowId xmlns:a16="http://schemas.microsoft.com/office/drawing/2014/main" val="419148149"/>
                  </a:ext>
                </a:extLst>
              </a:tr>
              <a:tr h="370840">
                <a:tc>
                  <a:txBody>
                    <a:bodyPr/>
                    <a:lstStyle/>
                    <a:p>
                      <a:pPr lvl="0" algn="l">
                        <a:lnSpc>
                          <a:spcPct val="100000"/>
                        </a:lnSpc>
                        <a:spcBef>
                          <a:spcPts val="0"/>
                        </a:spcBef>
                        <a:spcAft>
                          <a:spcPts val="0"/>
                        </a:spcAft>
                        <a:buNone/>
                      </a:pPr>
                      <a:r>
                        <a:rPr lang="en-US" sz="1800" b="0" i="0" u="none" strike="noStrike" noProof="0">
                          <a:solidFill>
                            <a:srgbClr val="000000"/>
                          </a:solidFill>
                          <a:latin typeface="Aptos"/>
                        </a:rPr>
                        <a:t>Due Date</a:t>
                      </a:r>
                    </a:p>
                  </a:txBody>
                  <a:tcPr/>
                </a:tc>
                <a:tc>
                  <a:txBody>
                    <a:bodyPr/>
                    <a:lstStyle/>
                    <a:p>
                      <a:r>
                        <a:rPr lang="en-US"/>
                        <a:t>Safety </a:t>
                      </a:r>
                    </a:p>
                  </a:txBody>
                  <a:tcPr/>
                </a:tc>
                <a:tc>
                  <a:txBody>
                    <a:bodyPr/>
                    <a:lstStyle/>
                    <a:p>
                      <a:pPr lvl="0">
                        <a:buNone/>
                      </a:pPr>
                      <a:r>
                        <a:rPr lang="en-US"/>
                        <a:t>1</a:t>
                      </a:r>
                      <a:endParaRPr lang="en-US" dirty="0"/>
                    </a:p>
                  </a:txBody>
                  <a:tcPr/>
                </a:tc>
                <a:tc>
                  <a:txBody>
                    <a:bodyPr/>
                    <a:lstStyle/>
                    <a:p>
                      <a:pPr lvl="0">
                        <a:buNone/>
                      </a:pPr>
                      <a:r>
                        <a:rPr lang="en-US"/>
                        <a:t>10/14/2026</a:t>
                      </a:r>
                      <a:endParaRPr lang="en-US" dirty="0"/>
                    </a:p>
                  </a:txBody>
                  <a:tcPr/>
                </a:tc>
                <a:tc>
                  <a:txBody>
                    <a:bodyPr/>
                    <a:lstStyle/>
                    <a:p>
                      <a:pPr lvl="0">
                        <a:buNone/>
                      </a:pPr>
                      <a:r>
                        <a:rPr lang="en-US"/>
                        <a:t>1 + 0</a:t>
                      </a:r>
                      <a:endParaRPr lang="en-US" dirty="0"/>
                    </a:p>
                  </a:txBody>
                  <a:tcPr/>
                </a:tc>
                <a:tc>
                  <a:txBody>
                    <a:bodyPr/>
                    <a:lstStyle/>
                    <a:p>
                      <a:r>
                        <a:rPr lang="en-US"/>
                        <a:t>10/14/2026</a:t>
                      </a:r>
                    </a:p>
                  </a:txBody>
                  <a:tcPr/>
                </a:tc>
                <a:extLst>
                  <a:ext uri="{0D108BD9-81ED-4DB2-BD59-A6C34878D82A}">
                    <a16:rowId xmlns:a16="http://schemas.microsoft.com/office/drawing/2014/main" val="477136834"/>
                  </a:ext>
                </a:extLst>
              </a:tr>
              <a:tr h="370840">
                <a:tc>
                  <a:txBody>
                    <a:bodyPr/>
                    <a:lstStyle/>
                    <a:p>
                      <a:pPr lvl="0" algn="l">
                        <a:lnSpc>
                          <a:spcPct val="100000"/>
                        </a:lnSpc>
                        <a:spcBef>
                          <a:spcPts val="0"/>
                        </a:spcBef>
                        <a:spcAft>
                          <a:spcPts val="0"/>
                        </a:spcAft>
                        <a:buNone/>
                      </a:pPr>
                      <a:r>
                        <a:rPr lang="en-US" sz="1800" b="0" i="0" u="none" strike="noStrike" noProof="0">
                          <a:solidFill>
                            <a:srgbClr val="000000"/>
                          </a:solidFill>
                          <a:latin typeface="Aptos"/>
                        </a:rPr>
                        <a:t>Dock Date</a:t>
                      </a:r>
                    </a:p>
                  </a:txBody>
                  <a:tcPr/>
                </a:tc>
                <a:tc>
                  <a:txBody>
                    <a:bodyPr/>
                    <a:lstStyle/>
                    <a:p>
                      <a:r>
                        <a:rPr lang="en-US"/>
                        <a:t>Dock To Stock </a:t>
                      </a:r>
                    </a:p>
                  </a:txBody>
                  <a:tcPr/>
                </a:tc>
                <a:tc>
                  <a:txBody>
                    <a:bodyPr/>
                    <a:lstStyle/>
                    <a:p>
                      <a:pPr lvl="0">
                        <a:buNone/>
                      </a:pPr>
                      <a:r>
                        <a:rPr lang="en-US"/>
                        <a:t>2</a:t>
                      </a:r>
                      <a:endParaRPr lang="en-US" dirty="0"/>
                    </a:p>
                  </a:txBody>
                  <a:tcPr/>
                </a:tc>
                <a:tc>
                  <a:txBody>
                    <a:bodyPr/>
                    <a:lstStyle/>
                    <a:p>
                      <a:pPr lvl="0">
                        <a:buNone/>
                      </a:pPr>
                      <a:r>
                        <a:rPr lang="en-US"/>
                        <a:t>10/12/2026</a:t>
                      </a:r>
                      <a:endParaRPr lang="en-US" dirty="0"/>
                    </a:p>
                  </a:txBody>
                  <a:tcPr/>
                </a:tc>
                <a:tc>
                  <a:txBody>
                    <a:bodyPr/>
                    <a:lstStyle/>
                    <a:p>
                      <a:pPr lvl="0">
                        <a:buNone/>
                      </a:pPr>
                      <a:r>
                        <a:rPr lang="en-US"/>
                        <a:t>2 + 1</a:t>
                      </a:r>
                      <a:endParaRPr lang="en-US" dirty="0"/>
                    </a:p>
                  </a:txBody>
                  <a:tcPr/>
                </a:tc>
                <a:tc>
                  <a:txBody>
                    <a:bodyPr/>
                    <a:lstStyle/>
                    <a:p>
                      <a:r>
                        <a:rPr lang="en-US"/>
                        <a:t>10/11/2026</a:t>
                      </a:r>
                    </a:p>
                  </a:txBody>
                  <a:tcPr/>
                </a:tc>
                <a:extLst>
                  <a:ext uri="{0D108BD9-81ED-4DB2-BD59-A6C34878D82A}">
                    <a16:rowId xmlns:a16="http://schemas.microsoft.com/office/drawing/2014/main" val="2376649581"/>
                  </a:ext>
                </a:extLst>
              </a:tr>
              <a:tr h="370840">
                <a:tc>
                  <a:txBody>
                    <a:bodyPr/>
                    <a:lstStyle/>
                    <a:p>
                      <a:r>
                        <a:rPr lang="en-US"/>
                        <a:t>Ship Date</a:t>
                      </a:r>
                      <a:endParaRPr lang="en-US" dirty="0"/>
                    </a:p>
                  </a:txBody>
                  <a:tcPr/>
                </a:tc>
                <a:tc>
                  <a:txBody>
                    <a:bodyPr/>
                    <a:lstStyle/>
                    <a:p>
                      <a:r>
                        <a:rPr lang="en-US"/>
                        <a:t>Transit Time</a:t>
                      </a:r>
                    </a:p>
                  </a:txBody>
                  <a:tcPr/>
                </a:tc>
                <a:tc>
                  <a:txBody>
                    <a:bodyPr/>
                    <a:lstStyle/>
                    <a:p>
                      <a:pPr lvl="0">
                        <a:buNone/>
                      </a:pPr>
                      <a:r>
                        <a:rPr lang="en-US"/>
                        <a:t>2</a:t>
                      </a:r>
                      <a:endParaRPr lang="en-US" dirty="0"/>
                    </a:p>
                  </a:txBody>
                  <a:tcPr/>
                </a:tc>
                <a:tc>
                  <a:txBody>
                    <a:bodyPr/>
                    <a:lstStyle/>
                    <a:p>
                      <a:pPr lvl="0">
                        <a:buNone/>
                      </a:pPr>
                      <a:r>
                        <a:rPr lang="en-US"/>
                        <a:t>10/10/2026</a:t>
                      </a:r>
                      <a:endParaRPr lang="en-US" dirty="0"/>
                    </a:p>
                  </a:txBody>
                  <a:tcPr/>
                </a:tc>
                <a:tc>
                  <a:txBody>
                    <a:bodyPr/>
                    <a:lstStyle/>
                    <a:p>
                      <a:pPr lvl="0">
                        <a:buNone/>
                      </a:pPr>
                      <a:r>
                        <a:rPr lang="en-US"/>
                        <a:t>2 + 2</a:t>
                      </a:r>
                      <a:endParaRPr lang="en-US" dirty="0"/>
                    </a:p>
                  </a:txBody>
                  <a:tcPr/>
                </a:tc>
                <a:tc>
                  <a:txBody>
                    <a:bodyPr/>
                    <a:lstStyle/>
                    <a:p>
                      <a:r>
                        <a:rPr lang="en-US"/>
                        <a:t>10/07/2026</a:t>
                      </a:r>
                    </a:p>
                  </a:txBody>
                  <a:tcPr/>
                </a:tc>
                <a:extLst>
                  <a:ext uri="{0D108BD9-81ED-4DB2-BD59-A6C34878D82A}">
                    <a16:rowId xmlns:a16="http://schemas.microsoft.com/office/drawing/2014/main" val="1126997416"/>
                  </a:ext>
                </a:extLst>
              </a:tr>
              <a:tr h="370840">
                <a:tc>
                  <a:txBody>
                    <a:bodyPr/>
                    <a:lstStyle/>
                    <a:p>
                      <a:r>
                        <a:rPr lang="en-US"/>
                        <a:t>Build Date</a:t>
                      </a:r>
                    </a:p>
                  </a:txBody>
                  <a:tcPr/>
                </a:tc>
                <a:tc>
                  <a:txBody>
                    <a:bodyPr/>
                    <a:lstStyle/>
                    <a:p>
                      <a:r>
                        <a:rPr lang="en-US"/>
                        <a:t>Pre-Ship</a:t>
                      </a:r>
                    </a:p>
                  </a:txBody>
                  <a:tcPr/>
                </a:tc>
                <a:tc>
                  <a:txBody>
                    <a:bodyPr/>
                    <a:lstStyle/>
                    <a:p>
                      <a:pPr lvl="0">
                        <a:buNone/>
                      </a:pPr>
                      <a:r>
                        <a:rPr lang="en-US"/>
                        <a:t>1</a:t>
                      </a:r>
                      <a:endParaRPr lang="en-US" dirty="0"/>
                    </a:p>
                  </a:txBody>
                  <a:tcPr/>
                </a:tc>
                <a:tc>
                  <a:txBody>
                    <a:bodyPr/>
                    <a:lstStyle/>
                    <a:p>
                      <a:pPr lvl="0">
                        <a:buNone/>
                      </a:pPr>
                      <a:r>
                        <a:rPr lang="en-US"/>
                        <a:t>10/09/2026</a:t>
                      </a:r>
                      <a:endParaRPr lang="en-US" dirty="0"/>
                    </a:p>
                  </a:txBody>
                  <a:tcPr/>
                </a:tc>
                <a:tc>
                  <a:txBody>
                    <a:bodyPr/>
                    <a:lstStyle/>
                    <a:p>
                      <a:pPr lvl="0">
                        <a:buNone/>
                      </a:pPr>
                      <a:r>
                        <a:rPr lang="en-US"/>
                        <a:t>1 + 1</a:t>
                      </a:r>
                      <a:endParaRPr lang="en-US" dirty="0"/>
                    </a:p>
                  </a:txBody>
                  <a:tcPr/>
                </a:tc>
                <a:tc>
                  <a:txBody>
                    <a:bodyPr/>
                    <a:lstStyle/>
                    <a:p>
                      <a:r>
                        <a:rPr lang="en-US"/>
                        <a:t>10/05/2026</a:t>
                      </a:r>
                    </a:p>
                  </a:txBody>
                  <a:tcPr/>
                </a:tc>
                <a:extLst>
                  <a:ext uri="{0D108BD9-81ED-4DB2-BD59-A6C34878D82A}">
                    <a16:rowId xmlns:a16="http://schemas.microsoft.com/office/drawing/2014/main" val="1656075160"/>
                  </a:ext>
                </a:extLst>
              </a:tr>
              <a:tr h="370840">
                <a:tc>
                  <a:txBody>
                    <a:bodyPr/>
                    <a:lstStyle/>
                    <a:p>
                      <a:endParaRPr lang="en-US"/>
                    </a:p>
                  </a:txBody>
                  <a:tcPr/>
                </a:tc>
                <a:tc>
                  <a:txBody>
                    <a:bodyPr/>
                    <a:lstStyle/>
                    <a:p>
                      <a:r>
                        <a:rPr lang="en-US"/>
                        <a:t>LTA </a:t>
                      </a:r>
                    </a:p>
                  </a:txBody>
                  <a:tcPr/>
                </a:tc>
                <a:tc>
                  <a:txBody>
                    <a:bodyPr/>
                    <a:lstStyle/>
                    <a:p>
                      <a:pPr lvl="0">
                        <a:buNone/>
                      </a:pPr>
                      <a:r>
                        <a:rPr lang="en-US"/>
                        <a:t>2</a:t>
                      </a:r>
                      <a:endParaRPr lang="en-US" dirty="0"/>
                    </a:p>
                  </a:txBody>
                  <a:tcPr/>
                </a:tc>
                <a:tc>
                  <a:txBody>
                    <a:bodyPr/>
                    <a:lstStyle/>
                    <a:p>
                      <a:pPr lvl="0">
                        <a:buNone/>
                      </a:pPr>
                      <a:endParaRPr lang="en-US" dirty="0"/>
                    </a:p>
                  </a:txBody>
                  <a:tcPr/>
                </a:tc>
                <a:tc>
                  <a:txBody>
                    <a:bodyPr/>
                    <a:lstStyle/>
                    <a:p>
                      <a:pPr lvl="0">
                        <a:buNone/>
                      </a:pPr>
                      <a:r>
                        <a:rPr lang="en-US">
                          <a:solidFill>
                            <a:srgbClr val="FF0000"/>
                          </a:solidFill>
                        </a:rPr>
                        <a:t>2</a:t>
                      </a:r>
                      <a:r>
                        <a:rPr lang="en-US"/>
                        <a:t> + 1</a:t>
                      </a:r>
                      <a:endParaRPr lang="en-US" dirty="0"/>
                    </a:p>
                  </a:txBody>
                  <a:tcPr/>
                </a:tc>
                <a:tc>
                  <a:txBody>
                    <a:bodyPr/>
                    <a:lstStyle/>
                    <a:p>
                      <a:endParaRPr lang="en-US"/>
                    </a:p>
                  </a:txBody>
                  <a:tcPr/>
                </a:tc>
                <a:extLst>
                  <a:ext uri="{0D108BD9-81ED-4DB2-BD59-A6C34878D82A}">
                    <a16:rowId xmlns:a16="http://schemas.microsoft.com/office/drawing/2014/main" val="3184285421"/>
                  </a:ext>
                </a:extLst>
              </a:tr>
              <a:tr h="370840">
                <a:tc>
                  <a:txBody>
                    <a:bodyPr/>
                    <a:lstStyle/>
                    <a:p>
                      <a:endParaRPr lang="en-US"/>
                    </a:p>
                  </a:txBody>
                  <a:tcPr/>
                </a:tc>
                <a:tc>
                  <a:txBody>
                    <a:bodyPr/>
                    <a:lstStyle/>
                    <a:p>
                      <a:r>
                        <a:rPr lang="en-US"/>
                        <a:t>Fixed</a:t>
                      </a:r>
                      <a:endParaRPr lang="en-US" dirty="0"/>
                    </a:p>
                  </a:txBody>
                  <a:tcPr/>
                </a:tc>
                <a:tc>
                  <a:txBody>
                    <a:bodyPr/>
                    <a:lstStyle/>
                    <a:p>
                      <a:pPr lvl="0">
                        <a:buNone/>
                      </a:pPr>
                      <a:r>
                        <a:rPr lang="en-US"/>
                        <a:t>2</a:t>
                      </a:r>
                      <a:endParaRPr lang="en-US" dirty="0"/>
                    </a:p>
                  </a:txBody>
                  <a:tcPr/>
                </a:tc>
                <a:tc>
                  <a:txBody>
                    <a:bodyPr/>
                    <a:lstStyle/>
                    <a:p>
                      <a:pPr lvl="0">
                        <a:buNone/>
                      </a:pPr>
                      <a:endParaRPr lang="en-US" dirty="0"/>
                    </a:p>
                  </a:txBody>
                  <a:tcPr/>
                </a:tc>
                <a:tc>
                  <a:txBody>
                    <a:bodyPr/>
                    <a:lstStyle/>
                    <a:p>
                      <a:pPr lvl="0">
                        <a:buNone/>
                      </a:pPr>
                      <a:r>
                        <a:rPr lang="en-US">
                          <a:solidFill>
                            <a:srgbClr val="FF0000"/>
                          </a:solidFill>
                        </a:rPr>
                        <a:t>2</a:t>
                      </a:r>
                      <a:r>
                        <a:rPr lang="en-US"/>
                        <a:t> + 1</a:t>
                      </a:r>
                      <a:endParaRPr lang="en-US" dirty="0"/>
                    </a:p>
                  </a:txBody>
                  <a:tcPr/>
                </a:tc>
                <a:tc>
                  <a:txBody>
                    <a:bodyPr/>
                    <a:lstStyle/>
                    <a:p>
                      <a:endParaRPr lang="en-US"/>
                    </a:p>
                  </a:txBody>
                  <a:tcPr/>
                </a:tc>
                <a:extLst>
                  <a:ext uri="{0D108BD9-81ED-4DB2-BD59-A6C34878D82A}">
                    <a16:rowId xmlns:a16="http://schemas.microsoft.com/office/drawing/2014/main" val="277430448"/>
                  </a:ext>
                </a:extLst>
              </a:tr>
              <a:tr h="370840">
                <a:tc>
                  <a:txBody>
                    <a:bodyPr/>
                    <a:lstStyle/>
                    <a:p>
                      <a:endParaRPr lang="en-US"/>
                    </a:p>
                  </a:txBody>
                  <a:tcPr/>
                </a:tc>
                <a:tc>
                  <a:txBody>
                    <a:bodyPr/>
                    <a:lstStyle/>
                    <a:p>
                      <a:r>
                        <a:rPr lang="en-US"/>
                        <a:t>Var*Qtd</a:t>
                      </a:r>
                    </a:p>
                  </a:txBody>
                  <a:tcPr/>
                </a:tc>
                <a:tc>
                  <a:txBody>
                    <a:bodyPr/>
                    <a:lstStyle/>
                    <a:p>
                      <a:pPr lvl="0">
                        <a:buNone/>
                      </a:pPr>
                      <a:r>
                        <a:rPr lang="en-US"/>
                        <a:t>2</a:t>
                      </a:r>
                      <a:endParaRPr lang="en-US" dirty="0"/>
                    </a:p>
                  </a:txBody>
                  <a:tcPr/>
                </a:tc>
                <a:tc>
                  <a:txBody>
                    <a:bodyPr/>
                    <a:lstStyle/>
                    <a:p>
                      <a:pPr lvl="0">
                        <a:buNone/>
                      </a:pPr>
                      <a:endParaRPr lang="en-US" dirty="0"/>
                    </a:p>
                  </a:txBody>
                  <a:tcPr/>
                </a:tc>
                <a:tc>
                  <a:txBody>
                    <a:bodyPr/>
                    <a:lstStyle/>
                    <a:p>
                      <a:pPr lvl="0">
                        <a:buNone/>
                      </a:pPr>
                      <a:r>
                        <a:rPr lang="en-US">
                          <a:solidFill>
                            <a:srgbClr val="FF0000"/>
                          </a:solidFill>
                        </a:rPr>
                        <a:t>2</a:t>
                      </a:r>
                      <a:r>
                        <a:rPr lang="en-US"/>
                        <a:t> + 0</a:t>
                      </a:r>
                      <a:endParaRPr lang="en-US" dirty="0"/>
                    </a:p>
                  </a:txBody>
                  <a:tcPr/>
                </a:tc>
                <a:tc>
                  <a:txBody>
                    <a:bodyPr/>
                    <a:lstStyle/>
                    <a:p>
                      <a:endParaRPr lang="en-US"/>
                    </a:p>
                  </a:txBody>
                  <a:tcPr/>
                </a:tc>
                <a:extLst>
                  <a:ext uri="{0D108BD9-81ED-4DB2-BD59-A6C34878D82A}">
                    <a16:rowId xmlns:a16="http://schemas.microsoft.com/office/drawing/2014/main" val="2133575364"/>
                  </a:ext>
                </a:extLst>
              </a:tr>
              <a:tr h="370839">
                <a:tc>
                  <a:txBody>
                    <a:bodyPr/>
                    <a:lstStyle/>
                    <a:p>
                      <a:pPr lvl="0">
                        <a:buNone/>
                      </a:pPr>
                      <a:r>
                        <a:rPr lang="en-US"/>
                        <a:t>Start Date</a:t>
                      </a:r>
                      <a:endParaRPr lang="en-US" dirty="0"/>
                    </a:p>
                  </a:txBody>
                  <a:tcPr/>
                </a:tc>
                <a:tc>
                  <a:txBody>
                    <a:bodyPr/>
                    <a:lstStyle/>
                    <a:p>
                      <a:pPr lvl="0">
                        <a:buNone/>
                      </a:pPr>
                      <a:endParaRPr lang="en-US" dirty="0"/>
                    </a:p>
                  </a:txBody>
                  <a:tcPr/>
                </a:tc>
                <a:tc>
                  <a:txBody>
                    <a:bodyPr/>
                    <a:lstStyle/>
                    <a:p>
                      <a:pPr lvl="0">
                        <a:buNone/>
                      </a:pPr>
                      <a:endParaRPr lang="en-US" dirty="0"/>
                    </a:p>
                  </a:txBody>
                  <a:tcPr/>
                </a:tc>
                <a:tc>
                  <a:txBody>
                    <a:bodyPr/>
                    <a:lstStyle/>
                    <a:p>
                      <a:pPr lvl="0">
                        <a:buNone/>
                      </a:pPr>
                      <a:r>
                        <a:rPr lang="en-US"/>
                        <a:t>10/03/2026</a:t>
                      </a:r>
                      <a:endParaRPr lang="en-US" dirty="0"/>
                    </a:p>
                  </a:txBody>
                  <a:tcPr/>
                </a:tc>
                <a:tc>
                  <a:txBody>
                    <a:bodyPr/>
                    <a:lstStyle/>
                    <a:p>
                      <a:pPr lvl="0">
                        <a:buNone/>
                      </a:pPr>
                      <a:endParaRPr lang="en-US" dirty="0"/>
                    </a:p>
                  </a:txBody>
                  <a:tcPr/>
                </a:tc>
                <a:tc>
                  <a:txBody>
                    <a:bodyPr/>
                    <a:lstStyle/>
                    <a:p>
                      <a:pPr lvl="0">
                        <a:buNone/>
                      </a:pPr>
                      <a:r>
                        <a:rPr lang="en-US"/>
                        <a:t>10/03/2026</a:t>
                      </a:r>
                      <a:endParaRPr lang="en-US" dirty="0"/>
                    </a:p>
                  </a:txBody>
                  <a:tcPr/>
                </a:tc>
                <a:extLst>
                  <a:ext uri="{0D108BD9-81ED-4DB2-BD59-A6C34878D82A}">
                    <a16:rowId xmlns:a16="http://schemas.microsoft.com/office/drawing/2014/main" val="2507231721"/>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8" descr="Shape, rectangle&#10;&#10;Description automatically generated"/>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p:cNvPicPr>
            <a:picLocks noChangeAspect="1"/>
          </p:cNvPicPr>
          <p:nvPr/>
        </p:nvPicPr>
        <p:blipFill>
          <a:blip r:embed="rId3"/>
          <a:stretch>
            <a:fillRect/>
          </a:stretch>
        </p:blipFill>
        <p:spPr>
          <a:xfrm>
            <a:off x="9181381" y="65406"/>
            <a:ext cx="2743200" cy="717452"/>
          </a:xfrm>
          <a:prstGeom prst="rect">
            <a:avLst/>
          </a:prstGeom>
        </p:spPr>
      </p:pic>
      <p:pic>
        <p:nvPicPr>
          <p:cNvPr id="2" name="Picture 1" descr="A screenshot of a computer&#10;&#10;AI-generated content may be incorrect.">
            <a:extLst>
              <a:ext uri="{FF2B5EF4-FFF2-40B4-BE49-F238E27FC236}">
                <a16:creationId xmlns:a16="http://schemas.microsoft.com/office/drawing/2014/main" id="{79318E36-BDE8-D642-9ECA-13BF292D3DBD}"/>
              </a:ext>
            </a:extLst>
          </p:cNvPr>
          <p:cNvPicPr>
            <a:picLocks noChangeAspect="1"/>
          </p:cNvPicPr>
          <p:nvPr/>
        </p:nvPicPr>
        <p:blipFill>
          <a:blip r:embed="rId4"/>
          <a:stretch>
            <a:fillRect/>
          </a:stretch>
        </p:blipFill>
        <p:spPr>
          <a:xfrm>
            <a:off x="316302" y="864760"/>
            <a:ext cx="11602529" cy="541602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8" descr="Shape, rectangle&#10;&#10;Description automatically generated"/>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p:cNvPicPr>
            <a:picLocks noChangeAspect="1"/>
          </p:cNvPicPr>
          <p:nvPr/>
        </p:nvPicPr>
        <p:blipFill>
          <a:blip r:embed="rId3"/>
          <a:stretch>
            <a:fillRect/>
          </a:stretch>
        </p:blipFill>
        <p:spPr>
          <a:xfrm>
            <a:off x="9181381" y="65406"/>
            <a:ext cx="2743200" cy="717452"/>
          </a:xfrm>
          <a:prstGeom prst="rect">
            <a:avLst/>
          </a:prstGeom>
        </p:spPr>
      </p:pic>
      <p:graphicFrame>
        <p:nvGraphicFramePr>
          <p:cNvPr id="3" name="Table 2">
            <a:extLst>
              <a:ext uri="{FF2B5EF4-FFF2-40B4-BE49-F238E27FC236}">
                <a16:creationId xmlns:a16="http://schemas.microsoft.com/office/drawing/2014/main" id="{ED49E428-3BE5-9CE9-00CE-60191A0910C3}"/>
              </a:ext>
            </a:extLst>
          </p:cNvPr>
          <p:cNvGraphicFramePr>
            <a:graphicFrameLocks noGrp="1"/>
          </p:cNvGraphicFramePr>
          <p:nvPr>
            <p:extLst>
              <p:ext uri="{D42A27DB-BD31-4B8C-83A1-F6EECF244321}">
                <p14:modId xmlns:p14="http://schemas.microsoft.com/office/powerpoint/2010/main" val="2838742912"/>
              </p:ext>
            </p:extLst>
          </p:nvPr>
        </p:nvGraphicFramePr>
        <p:xfrm>
          <a:off x="359433" y="2199735"/>
          <a:ext cx="11247294" cy="3977638"/>
        </p:xfrm>
        <a:graphic>
          <a:graphicData uri="http://schemas.openxmlformats.org/drawingml/2006/table">
            <a:tbl>
              <a:tblPr firstRow="1" bandRow="1">
                <a:tableStyleId>{5C22544A-7EE6-4342-B048-85BDC9FD1C3A}</a:tableStyleId>
              </a:tblPr>
              <a:tblGrid>
                <a:gridCol w="1874549">
                  <a:extLst>
                    <a:ext uri="{9D8B030D-6E8A-4147-A177-3AD203B41FA5}">
                      <a16:colId xmlns:a16="http://schemas.microsoft.com/office/drawing/2014/main" val="2516356869"/>
                    </a:ext>
                  </a:extLst>
                </a:gridCol>
                <a:gridCol w="1874549">
                  <a:extLst>
                    <a:ext uri="{9D8B030D-6E8A-4147-A177-3AD203B41FA5}">
                      <a16:colId xmlns:a16="http://schemas.microsoft.com/office/drawing/2014/main" val="2685803324"/>
                    </a:ext>
                  </a:extLst>
                </a:gridCol>
                <a:gridCol w="1874549">
                  <a:extLst>
                    <a:ext uri="{9D8B030D-6E8A-4147-A177-3AD203B41FA5}">
                      <a16:colId xmlns:a16="http://schemas.microsoft.com/office/drawing/2014/main" val="3666996540"/>
                    </a:ext>
                  </a:extLst>
                </a:gridCol>
                <a:gridCol w="1874549">
                  <a:extLst>
                    <a:ext uri="{9D8B030D-6E8A-4147-A177-3AD203B41FA5}">
                      <a16:colId xmlns:a16="http://schemas.microsoft.com/office/drawing/2014/main" val="4025426188"/>
                    </a:ext>
                  </a:extLst>
                </a:gridCol>
                <a:gridCol w="1874549">
                  <a:extLst>
                    <a:ext uri="{9D8B030D-6E8A-4147-A177-3AD203B41FA5}">
                      <a16:colId xmlns:a16="http://schemas.microsoft.com/office/drawing/2014/main" val="608119132"/>
                    </a:ext>
                  </a:extLst>
                </a:gridCol>
                <a:gridCol w="1874549">
                  <a:extLst>
                    <a:ext uri="{9D8B030D-6E8A-4147-A177-3AD203B41FA5}">
                      <a16:colId xmlns:a16="http://schemas.microsoft.com/office/drawing/2014/main" val="1367674639"/>
                    </a:ext>
                  </a:extLst>
                </a:gridCol>
              </a:tblGrid>
              <a:tr h="370840">
                <a:tc>
                  <a:txBody>
                    <a:bodyPr/>
                    <a:lstStyle/>
                    <a:p>
                      <a:r>
                        <a:rPr lang="en-US"/>
                        <a:t>Dates</a:t>
                      </a:r>
                    </a:p>
                  </a:txBody>
                  <a:tcPr/>
                </a:tc>
                <a:tc>
                  <a:txBody>
                    <a:bodyPr/>
                    <a:lstStyle/>
                    <a:p>
                      <a:r>
                        <a:rPr lang="en-US"/>
                        <a:t>Elements</a:t>
                      </a:r>
                      <a:endParaRPr lang="en-US" dirty="0"/>
                    </a:p>
                  </a:txBody>
                  <a:tcPr/>
                </a:tc>
                <a:tc>
                  <a:txBody>
                    <a:bodyPr/>
                    <a:lstStyle/>
                    <a:p>
                      <a:pPr lvl="0">
                        <a:buNone/>
                      </a:pPr>
                      <a:r>
                        <a:rPr lang="en-US"/>
                        <a:t>Values (C1001)</a:t>
                      </a:r>
                      <a:endParaRPr lang="en-US" dirty="0"/>
                    </a:p>
                  </a:txBody>
                  <a:tcPr/>
                </a:tc>
                <a:tc>
                  <a:txBody>
                    <a:bodyPr/>
                    <a:lstStyle/>
                    <a:p>
                      <a:pPr lvl="0" algn="l">
                        <a:lnSpc>
                          <a:spcPct val="100000"/>
                        </a:lnSpc>
                        <a:spcBef>
                          <a:spcPts val="0"/>
                        </a:spcBef>
                        <a:spcAft>
                          <a:spcPts val="0"/>
                        </a:spcAft>
                        <a:buNone/>
                      </a:pPr>
                      <a:r>
                        <a:rPr lang="en-US" sz="1800" b="1" i="0" u="none" strike="noStrike" noProof="0">
                          <a:solidFill>
                            <a:srgbClr val="FFFFFF"/>
                          </a:solidFill>
                          <a:latin typeface="Aptos"/>
                        </a:rPr>
                        <a:t>C1001</a:t>
                      </a:r>
                    </a:p>
                  </a:txBody>
                  <a:tcPr/>
                </a:tc>
                <a:tc>
                  <a:txBody>
                    <a:bodyPr/>
                    <a:lstStyle/>
                    <a:p>
                      <a:pPr lvl="0">
                        <a:buNone/>
                      </a:pPr>
                      <a:r>
                        <a:rPr lang="en-US"/>
                        <a:t>Values</a:t>
                      </a:r>
                    </a:p>
                    <a:p>
                      <a:pPr lvl="0">
                        <a:buNone/>
                      </a:pPr>
                      <a:r>
                        <a:rPr lang="en-US"/>
                        <a:t>(C1001 + E3001)</a:t>
                      </a:r>
                      <a:endParaRPr lang="en-US" dirty="0"/>
                    </a:p>
                  </a:txBody>
                  <a:tcPr/>
                </a:tc>
                <a:tc>
                  <a:txBody>
                    <a:bodyPr/>
                    <a:lstStyle/>
                    <a:p>
                      <a:r>
                        <a:rPr lang="en-US"/>
                        <a:t>E3001</a:t>
                      </a:r>
                      <a:endParaRPr lang="en-US" dirty="0"/>
                    </a:p>
                  </a:txBody>
                  <a:tcPr/>
                </a:tc>
                <a:extLst>
                  <a:ext uri="{0D108BD9-81ED-4DB2-BD59-A6C34878D82A}">
                    <a16:rowId xmlns:a16="http://schemas.microsoft.com/office/drawing/2014/main" val="1071926590"/>
                  </a:ext>
                </a:extLst>
              </a:tr>
              <a:tr h="370839">
                <a:tc>
                  <a:txBody>
                    <a:bodyPr/>
                    <a:lstStyle/>
                    <a:p>
                      <a:pPr lvl="0">
                        <a:buNone/>
                      </a:pPr>
                      <a:r>
                        <a:rPr lang="en-US"/>
                        <a:t>Demand Date</a:t>
                      </a:r>
                      <a:endParaRPr lang="en-US" dirty="0"/>
                    </a:p>
                  </a:txBody>
                  <a:tcPr/>
                </a:tc>
                <a:tc>
                  <a:txBody>
                    <a:bodyPr/>
                    <a:lstStyle/>
                    <a:p>
                      <a:pPr lvl="0">
                        <a:buNone/>
                      </a:pPr>
                      <a:endParaRPr lang="en-US" dirty="0"/>
                    </a:p>
                  </a:txBody>
                  <a:tcPr/>
                </a:tc>
                <a:tc>
                  <a:txBody>
                    <a:bodyPr/>
                    <a:lstStyle/>
                    <a:p>
                      <a:pPr lvl="0">
                        <a:buNone/>
                      </a:pPr>
                      <a:endParaRPr lang="en-US" dirty="0"/>
                    </a:p>
                  </a:txBody>
                  <a:tcPr/>
                </a:tc>
                <a:tc>
                  <a:txBody>
                    <a:bodyPr/>
                    <a:lstStyle/>
                    <a:p>
                      <a:pPr lvl="0">
                        <a:buNone/>
                      </a:pPr>
                      <a:r>
                        <a:rPr lang="en-US"/>
                        <a:t>10/15/2026</a:t>
                      </a:r>
                      <a:endParaRPr lang="en-US" dirty="0"/>
                    </a:p>
                  </a:txBody>
                  <a:tcPr/>
                </a:tc>
                <a:tc>
                  <a:txBody>
                    <a:bodyPr/>
                    <a:lstStyle/>
                    <a:p>
                      <a:pPr lvl="0">
                        <a:buNone/>
                      </a:pPr>
                      <a:endParaRPr lang="en-US" dirty="0"/>
                    </a:p>
                  </a:txBody>
                  <a:tcPr/>
                </a:tc>
                <a:tc>
                  <a:txBody>
                    <a:bodyPr/>
                    <a:lstStyle/>
                    <a:p>
                      <a:pPr lvl="0">
                        <a:buNone/>
                      </a:pPr>
                      <a:r>
                        <a:rPr lang="en-US"/>
                        <a:t>10/15/2026</a:t>
                      </a:r>
                      <a:endParaRPr lang="en-US" dirty="0"/>
                    </a:p>
                  </a:txBody>
                  <a:tcPr/>
                </a:tc>
                <a:extLst>
                  <a:ext uri="{0D108BD9-81ED-4DB2-BD59-A6C34878D82A}">
                    <a16:rowId xmlns:a16="http://schemas.microsoft.com/office/drawing/2014/main" val="419148149"/>
                  </a:ext>
                </a:extLst>
              </a:tr>
              <a:tr h="370840">
                <a:tc>
                  <a:txBody>
                    <a:bodyPr/>
                    <a:lstStyle/>
                    <a:p>
                      <a:pPr lvl="0" algn="l">
                        <a:lnSpc>
                          <a:spcPct val="100000"/>
                        </a:lnSpc>
                        <a:spcBef>
                          <a:spcPts val="0"/>
                        </a:spcBef>
                        <a:spcAft>
                          <a:spcPts val="0"/>
                        </a:spcAft>
                        <a:buNone/>
                      </a:pPr>
                      <a:r>
                        <a:rPr lang="en-US" sz="1800" b="0" i="0" u="none" strike="noStrike" noProof="0">
                          <a:solidFill>
                            <a:srgbClr val="000000"/>
                          </a:solidFill>
                          <a:latin typeface="Aptos"/>
                        </a:rPr>
                        <a:t>Due Date</a:t>
                      </a:r>
                    </a:p>
                  </a:txBody>
                  <a:tcPr/>
                </a:tc>
                <a:tc>
                  <a:txBody>
                    <a:bodyPr/>
                    <a:lstStyle/>
                    <a:p>
                      <a:r>
                        <a:rPr lang="en-US"/>
                        <a:t>Safety </a:t>
                      </a:r>
                    </a:p>
                  </a:txBody>
                  <a:tcPr/>
                </a:tc>
                <a:tc>
                  <a:txBody>
                    <a:bodyPr/>
                    <a:lstStyle/>
                    <a:p>
                      <a:pPr lvl="0">
                        <a:buNone/>
                      </a:pPr>
                      <a:r>
                        <a:rPr lang="en-US"/>
                        <a:t>1</a:t>
                      </a:r>
                      <a:endParaRPr lang="en-US" dirty="0"/>
                    </a:p>
                  </a:txBody>
                  <a:tcPr/>
                </a:tc>
                <a:tc>
                  <a:txBody>
                    <a:bodyPr/>
                    <a:lstStyle/>
                    <a:p>
                      <a:pPr lvl="0">
                        <a:buNone/>
                      </a:pPr>
                      <a:r>
                        <a:rPr lang="en-US"/>
                        <a:t>10/14/2026</a:t>
                      </a:r>
                      <a:endParaRPr lang="en-US" dirty="0"/>
                    </a:p>
                  </a:txBody>
                  <a:tcPr/>
                </a:tc>
                <a:tc>
                  <a:txBody>
                    <a:bodyPr/>
                    <a:lstStyle/>
                    <a:p>
                      <a:pPr lvl="0">
                        <a:buNone/>
                      </a:pPr>
                      <a:r>
                        <a:rPr lang="en-US"/>
                        <a:t>1 + 0</a:t>
                      </a:r>
                      <a:endParaRPr lang="en-US" dirty="0"/>
                    </a:p>
                  </a:txBody>
                  <a:tcPr/>
                </a:tc>
                <a:tc>
                  <a:txBody>
                    <a:bodyPr/>
                    <a:lstStyle/>
                    <a:p>
                      <a:r>
                        <a:rPr lang="en-US"/>
                        <a:t>10/14/2026</a:t>
                      </a:r>
                    </a:p>
                  </a:txBody>
                  <a:tcPr/>
                </a:tc>
                <a:extLst>
                  <a:ext uri="{0D108BD9-81ED-4DB2-BD59-A6C34878D82A}">
                    <a16:rowId xmlns:a16="http://schemas.microsoft.com/office/drawing/2014/main" val="477136834"/>
                  </a:ext>
                </a:extLst>
              </a:tr>
              <a:tr h="370840">
                <a:tc>
                  <a:txBody>
                    <a:bodyPr/>
                    <a:lstStyle/>
                    <a:p>
                      <a:pPr lvl="0" algn="l">
                        <a:lnSpc>
                          <a:spcPct val="100000"/>
                        </a:lnSpc>
                        <a:spcBef>
                          <a:spcPts val="0"/>
                        </a:spcBef>
                        <a:spcAft>
                          <a:spcPts val="0"/>
                        </a:spcAft>
                        <a:buNone/>
                      </a:pPr>
                      <a:r>
                        <a:rPr lang="en-US" sz="1800" b="0" i="0" u="none" strike="noStrike" noProof="0">
                          <a:solidFill>
                            <a:srgbClr val="000000"/>
                          </a:solidFill>
                          <a:latin typeface="Aptos"/>
                        </a:rPr>
                        <a:t>Dock Date</a:t>
                      </a:r>
                    </a:p>
                  </a:txBody>
                  <a:tcPr/>
                </a:tc>
                <a:tc>
                  <a:txBody>
                    <a:bodyPr/>
                    <a:lstStyle/>
                    <a:p>
                      <a:r>
                        <a:rPr lang="en-US"/>
                        <a:t>Dock To Stock </a:t>
                      </a:r>
                    </a:p>
                  </a:txBody>
                  <a:tcPr/>
                </a:tc>
                <a:tc>
                  <a:txBody>
                    <a:bodyPr/>
                    <a:lstStyle/>
                    <a:p>
                      <a:pPr lvl="0">
                        <a:buNone/>
                      </a:pPr>
                      <a:r>
                        <a:rPr lang="en-US">
                          <a:solidFill>
                            <a:srgbClr val="FF0000"/>
                          </a:solidFill>
                        </a:rPr>
                        <a:t>2</a:t>
                      </a:r>
                    </a:p>
                  </a:txBody>
                  <a:tcPr/>
                </a:tc>
                <a:tc>
                  <a:txBody>
                    <a:bodyPr/>
                    <a:lstStyle/>
                    <a:p>
                      <a:pPr lvl="0">
                        <a:buNone/>
                      </a:pPr>
                      <a:r>
                        <a:rPr lang="en-US"/>
                        <a:t>10/14/2026</a:t>
                      </a:r>
                      <a:endParaRPr lang="en-US" dirty="0"/>
                    </a:p>
                  </a:txBody>
                  <a:tcPr/>
                </a:tc>
                <a:tc>
                  <a:txBody>
                    <a:bodyPr/>
                    <a:lstStyle/>
                    <a:p>
                      <a:pPr lvl="0">
                        <a:buNone/>
                      </a:pPr>
                      <a:r>
                        <a:rPr lang="en-US"/>
                        <a:t>2 + </a:t>
                      </a:r>
                      <a:r>
                        <a:rPr lang="en-US">
                          <a:solidFill>
                            <a:srgbClr val="FF0000"/>
                          </a:solidFill>
                        </a:rPr>
                        <a:t>1</a:t>
                      </a:r>
                      <a:endParaRPr lang="en-US" dirty="0">
                        <a:solidFill>
                          <a:srgbClr val="FF0000"/>
                        </a:solidFill>
                      </a:endParaRPr>
                    </a:p>
                  </a:txBody>
                  <a:tcPr/>
                </a:tc>
                <a:tc>
                  <a:txBody>
                    <a:bodyPr/>
                    <a:lstStyle/>
                    <a:p>
                      <a:r>
                        <a:rPr lang="en-US"/>
                        <a:t>10/12/2026</a:t>
                      </a:r>
                    </a:p>
                  </a:txBody>
                  <a:tcPr/>
                </a:tc>
                <a:extLst>
                  <a:ext uri="{0D108BD9-81ED-4DB2-BD59-A6C34878D82A}">
                    <a16:rowId xmlns:a16="http://schemas.microsoft.com/office/drawing/2014/main" val="2376649581"/>
                  </a:ext>
                </a:extLst>
              </a:tr>
              <a:tr h="370840">
                <a:tc>
                  <a:txBody>
                    <a:bodyPr/>
                    <a:lstStyle/>
                    <a:p>
                      <a:r>
                        <a:rPr lang="en-US"/>
                        <a:t>Ship Date</a:t>
                      </a:r>
                      <a:endParaRPr lang="en-US" dirty="0"/>
                    </a:p>
                  </a:txBody>
                  <a:tcPr/>
                </a:tc>
                <a:tc>
                  <a:txBody>
                    <a:bodyPr/>
                    <a:lstStyle/>
                    <a:p>
                      <a:r>
                        <a:rPr lang="en-US"/>
                        <a:t>Transit Time</a:t>
                      </a:r>
                    </a:p>
                  </a:txBody>
                  <a:tcPr/>
                </a:tc>
                <a:tc>
                  <a:txBody>
                    <a:bodyPr/>
                    <a:lstStyle/>
                    <a:p>
                      <a:pPr lvl="0">
                        <a:buNone/>
                      </a:pPr>
                      <a:r>
                        <a:rPr lang="en-US">
                          <a:solidFill>
                            <a:srgbClr val="FF0000"/>
                          </a:solidFill>
                        </a:rPr>
                        <a:t>2</a:t>
                      </a:r>
                    </a:p>
                  </a:txBody>
                  <a:tcPr/>
                </a:tc>
                <a:tc>
                  <a:txBody>
                    <a:bodyPr/>
                    <a:lstStyle/>
                    <a:p>
                      <a:pPr lvl="0">
                        <a:buNone/>
                      </a:pPr>
                      <a:r>
                        <a:rPr lang="en-US"/>
                        <a:t>10/14/2026</a:t>
                      </a:r>
                      <a:endParaRPr lang="en-US" dirty="0"/>
                    </a:p>
                  </a:txBody>
                  <a:tcPr/>
                </a:tc>
                <a:tc>
                  <a:txBody>
                    <a:bodyPr/>
                    <a:lstStyle/>
                    <a:p>
                      <a:pPr lvl="0">
                        <a:buNone/>
                      </a:pPr>
                      <a:r>
                        <a:rPr lang="en-US"/>
                        <a:t>2 + </a:t>
                      </a:r>
                      <a:r>
                        <a:rPr lang="en-US">
                          <a:solidFill>
                            <a:srgbClr val="FF0000"/>
                          </a:solidFill>
                        </a:rPr>
                        <a:t>2</a:t>
                      </a:r>
                      <a:endParaRPr lang="en-US" dirty="0">
                        <a:solidFill>
                          <a:srgbClr val="FF0000"/>
                        </a:solidFill>
                      </a:endParaRPr>
                    </a:p>
                  </a:txBody>
                  <a:tcPr/>
                </a:tc>
                <a:tc>
                  <a:txBody>
                    <a:bodyPr/>
                    <a:lstStyle/>
                    <a:p>
                      <a:r>
                        <a:rPr lang="en-US"/>
                        <a:t>10/10/2026</a:t>
                      </a:r>
                    </a:p>
                  </a:txBody>
                  <a:tcPr/>
                </a:tc>
                <a:extLst>
                  <a:ext uri="{0D108BD9-81ED-4DB2-BD59-A6C34878D82A}">
                    <a16:rowId xmlns:a16="http://schemas.microsoft.com/office/drawing/2014/main" val="1126997416"/>
                  </a:ext>
                </a:extLst>
              </a:tr>
              <a:tr h="370840">
                <a:tc>
                  <a:txBody>
                    <a:bodyPr/>
                    <a:lstStyle/>
                    <a:p>
                      <a:r>
                        <a:rPr lang="en-US"/>
                        <a:t>Build Date</a:t>
                      </a:r>
                    </a:p>
                  </a:txBody>
                  <a:tcPr/>
                </a:tc>
                <a:tc>
                  <a:txBody>
                    <a:bodyPr/>
                    <a:lstStyle/>
                    <a:p>
                      <a:r>
                        <a:rPr lang="en-US"/>
                        <a:t>Pre-Ship</a:t>
                      </a:r>
                    </a:p>
                  </a:txBody>
                  <a:tcPr/>
                </a:tc>
                <a:tc>
                  <a:txBody>
                    <a:bodyPr/>
                    <a:lstStyle/>
                    <a:p>
                      <a:pPr lvl="0">
                        <a:buNone/>
                      </a:pPr>
                      <a:r>
                        <a:rPr lang="en-US">
                          <a:solidFill>
                            <a:srgbClr val="FF0000"/>
                          </a:solidFill>
                        </a:rPr>
                        <a:t>1</a:t>
                      </a:r>
                    </a:p>
                  </a:txBody>
                  <a:tcPr/>
                </a:tc>
                <a:tc>
                  <a:txBody>
                    <a:bodyPr/>
                    <a:lstStyle/>
                    <a:p>
                      <a:pPr lvl="0">
                        <a:buNone/>
                      </a:pPr>
                      <a:r>
                        <a:rPr lang="en-US"/>
                        <a:t>10/04/2026</a:t>
                      </a:r>
                      <a:endParaRPr lang="en-US" dirty="0"/>
                    </a:p>
                  </a:txBody>
                  <a:tcPr/>
                </a:tc>
                <a:tc>
                  <a:txBody>
                    <a:bodyPr/>
                    <a:lstStyle/>
                    <a:p>
                      <a:pPr lvl="0">
                        <a:buNone/>
                      </a:pPr>
                      <a:r>
                        <a:rPr lang="en-US"/>
                        <a:t>1 + </a:t>
                      </a:r>
                      <a:r>
                        <a:rPr lang="en-US">
                          <a:solidFill>
                            <a:srgbClr val="FF0000"/>
                          </a:solidFill>
                        </a:rPr>
                        <a:t>1</a:t>
                      </a:r>
                      <a:endParaRPr lang="en-US" dirty="0">
                        <a:solidFill>
                          <a:srgbClr val="FF0000"/>
                        </a:solidFill>
                      </a:endParaRPr>
                    </a:p>
                  </a:txBody>
                  <a:tcPr/>
                </a:tc>
                <a:tc>
                  <a:txBody>
                    <a:bodyPr/>
                    <a:lstStyle/>
                    <a:p>
                      <a:r>
                        <a:rPr lang="en-US"/>
                        <a:t>10/09/2026</a:t>
                      </a:r>
                    </a:p>
                  </a:txBody>
                  <a:tcPr/>
                </a:tc>
                <a:extLst>
                  <a:ext uri="{0D108BD9-81ED-4DB2-BD59-A6C34878D82A}">
                    <a16:rowId xmlns:a16="http://schemas.microsoft.com/office/drawing/2014/main" val="1656075160"/>
                  </a:ext>
                </a:extLst>
              </a:tr>
              <a:tr h="370840">
                <a:tc>
                  <a:txBody>
                    <a:bodyPr/>
                    <a:lstStyle/>
                    <a:p>
                      <a:endParaRPr lang="en-US"/>
                    </a:p>
                  </a:txBody>
                  <a:tcPr/>
                </a:tc>
                <a:tc>
                  <a:txBody>
                    <a:bodyPr/>
                    <a:lstStyle/>
                    <a:p>
                      <a:r>
                        <a:rPr lang="en-US"/>
                        <a:t>LTA </a:t>
                      </a:r>
                    </a:p>
                  </a:txBody>
                  <a:tcPr/>
                </a:tc>
                <a:tc>
                  <a:txBody>
                    <a:bodyPr/>
                    <a:lstStyle/>
                    <a:p>
                      <a:pPr lvl="0">
                        <a:buNone/>
                      </a:pPr>
                      <a:r>
                        <a:rPr lang="en-US"/>
                        <a:t>2</a:t>
                      </a:r>
                      <a:endParaRPr lang="en-US" dirty="0"/>
                    </a:p>
                  </a:txBody>
                  <a:tcPr/>
                </a:tc>
                <a:tc>
                  <a:txBody>
                    <a:bodyPr/>
                    <a:lstStyle/>
                    <a:p>
                      <a:pPr lvl="0">
                        <a:buNone/>
                      </a:pPr>
                      <a:endParaRPr lang="en-US" dirty="0"/>
                    </a:p>
                  </a:txBody>
                  <a:tcPr/>
                </a:tc>
                <a:tc>
                  <a:txBody>
                    <a:bodyPr/>
                    <a:lstStyle/>
                    <a:p>
                      <a:pPr lvl="0">
                        <a:buNone/>
                      </a:pPr>
                      <a:r>
                        <a:rPr lang="en-US">
                          <a:solidFill>
                            <a:srgbClr val="FF0000"/>
                          </a:solidFill>
                        </a:rPr>
                        <a:t>2</a:t>
                      </a:r>
                      <a:r>
                        <a:rPr lang="en-US"/>
                        <a:t> + 1</a:t>
                      </a:r>
                      <a:endParaRPr lang="en-US" dirty="0"/>
                    </a:p>
                  </a:txBody>
                  <a:tcPr/>
                </a:tc>
                <a:tc>
                  <a:txBody>
                    <a:bodyPr/>
                    <a:lstStyle/>
                    <a:p>
                      <a:endParaRPr lang="en-US"/>
                    </a:p>
                  </a:txBody>
                  <a:tcPr/>
                </a:tc>
                <a:extLst>
                  <a:ext uri="{0D108BD9-81ED-4DB2-BD59-A6C34878D82A}">
                    <a16:rowId xmlns:a16="http://schemas.microsoft.com/office/drawing/2014/main" val="3184285421"/>
                  </a:ext>
                </a:extLst>
              </a:tr>
              <a:tr h="370840">
                <a:tc>
                  <a:txBody>
                    <a:bodyPr/>
                    <a:lstStyle/>
                    <a:p>
                      <a:endParaRPr lang="en-US"/>
                    </a:p>
                  </a:txBody>
                  <a:tcPr/>
                </a:tc>
                <a:tc>
                  <a:txBody>
                    <a:bodyPr/>
                    <a:lstStyle/>
                    <a:p>
                      <a:r>
                        <a:rPr lang="en-US"/>
                        <a:t>Fixed</a:t>
                      </a:r>
                      <a:endParaRPr lang="en-US" dirty="0"/>
                    </a:p>
                  </a:txBody>
                  <a:tcPr/>
                </a:tc>
                <a:tc>
                  <a:txBody>
                    <a:bodyPr/>
                    <a:lstStyle/>
                    <a:p>
                      <a:pPr lvl="0">
                        <a:buNone/>
                      </a:pPr>
                      <a:r>
                        <a:rPr lang="en-US"/>
                        <a:t>2</a:t>
                      </a:r>
                      <a:endParaRPr lang="en-US" dirty="0"/>
                    </a:p>
                  </a:txBody>
                  <a:tcPr/>
                </a:tc>
                <a:tc>
                  <a:txBody>
                    <a:bodyPr/>
                    <a:lstStyle/>
                    <a:p>
                      <a:pPr lvl="0">
                        <a:buNone/>
                      </a:pPr>
                      <a:endParaRPr lang="en-US" dirty="0"/>
                    </a:p>
                  </a:txBody>
                  <a:tcPr/>
                </a:tc>
                <a:tc>
                  <a:txBody>
                    <a:bodyPr/>
                    <a:lstStyle/>
                    <a:p>
                      <a:pPr lvl="0">
                        <a:buNone/>
                      </a:pPr>
                      <a:r>
                        <a:rPr lang="en-US">
                          <a:solidFill>
                            <a:srgbClr val="FF0000"/>
                          </a:solidFill>
                        </a:rPr>
                        <a:t>2</a:t>
                      </a:r>
                      <a:r>
                        <a:rPr lang="en-US"/>
                        <a:t> + 1</a:t>
                      </a:r>
                      <a:endParaRPr lang="en-US" dirty="0"/>
                    </a:p>
                  </a:txBody>
                  <a:tcPr/>
                </a:tc>
                <a:tc>
                  <a:txBody>
                    <a:bodyPr/>
                    <a:lstStyle/>
                    <a:p>
                      <a:endParaRPr lang="en-US"/>
                    </a:p>
                  </a:txBody>
                  <a:tcPr/>
                </a:tc>
                <a:extLst>
                  <a:ext uri="{0D108BD9-81ED-4DB2-BD59-A6C34878D82A}">
                    <a16:rowId xmlns:a16="http://schemas.microsoft.com/office/drawing/2014/main" val="277430448"/>
                  </a:ext>
                </a:extLst>
              </a:tr>
              <a:tr h="370840">
                <a:tc>
                  <a:txBody>
                    <a:bodyPr/>
                    <a:lstStyle/>
                    <a:p>
                      <a:endParaRPr lang="en-US"/>
                    </a:p>
                  </a:txBody>
                  <a:tcPr/>
                </a:tc>
                <a:tc>
                  <a:txBody>
                    <a:bodyPr/>
                    <a:lstStyle/>
                    <a:p>
                      <a:r>
                        <a:rPr lang="en-US"/>
                        <a:t>Var*Qtd</a:t>
                      </a:r>
                    </a:p>
                  </a:txBody>
                  <a:tcPr/>
                </a:tc>
                <a:tc>
                  <a:txBody>
                    <a:bodyPr/>
                    <a:lstStyle/>
                    <a:p>
                      <a:pPr lvl="0">
                        <a:buNone/>
                      </a:pPr>
                      <a:r>
                        <a:rPr lang="en-US"/>
                        <a:t>2</a:t>
                      </a:r>
                      <a:endParaRPr lang="en-US" dirty="0"/>
                    </a:p>
                  </a:txBody>
                  <a:tcPr/>
                </a:tc>
                <a:tc>
                  <a:txBody>
                    <a:bodyPr/>
                    <a:lstStyle/>
                    <a:p>
                      <a:pPr lvl="0">
                        <a:buNone/>
                      </a:pPr>
                      <a:endParaRPr lang="en-US" dirty="0"/>
                    </a:p>
                  </a:txBody>
                  <a:tcPr/>
                </a:tc>
                <a:tc>
                  <a:txBody>
                    <a:bodyPr/>
                    <a:lstStyle/>
                    <a:p>
                      <a:pPr lvl="0">
                        <a:buNone/>
                      </a:pPr>
                      <a:r>
                        <a:rPr lang="en-US">
                          <a:solidFill>
                            <a:srgbClr val="FF0000"/>
                          </a:solidFill>
                        </a:rPr>
                        <a:t>2</a:t>
                      </a:r>
                      <a:r>
                        <a:rPr lang="en-US"/>
                        <a:t> + 0</a:t>
                      </a:r>
                      <a:endParaRPr lang="en-US" dirty="0"/>
                    </a:p>
                  </a:txBody>
                  <a:tcPr/>
                </a:tc>
                <a:tc>
                  <a:txBody>
                    <a:bodyPr/>
                    <a:lstStyle/>
                    <a:p>
                      <a:endParaRPr lang="en-US"/>
                    </a:p>
                  </a:txBody>
                  <a:tcPr/>
                </a:tc>
                <a:extLst>
                  <a:ext uri="{0D108BD9-81ED-4DB2-BD59-A6C34878D82A}">
                    <a16:rowId xmlns:a16="http://schemas.microsoft.com/office/drawing/2014/main" val="2133575364"/>
                  </a:ext>
                </a:extLst>
              </a:tr>
              <a:tr h="370839">
                <a:tc>
                  <a:txBody>
                    <a:bodyPr/>
                    <a:lstStyle/>
                    <a:p>
                      <a:pPr lvl="0">
                        <a:buNone/>
                      </a:pPr>
                      <a:r>
                        <a:rPr lang="en-US"/>
                        <a:t>Start Date</a:t>
                      </a:r>
                      <a:endParaRPr lang="en-US" dirty="0"/>
                    </a:p>
                  </a:txBody>
                  <a:tcPr/>
                </a:tc>
                <a:tc>
                  <a:txBody>
                    <a:bodyPr/>
                    <a:lstStyle/>
                    <a:p>
                      <a:pPr lvl="0">
                        <a:buNone/>
                      </a:pPr>
                      <a:endParaRPr lang="en-US" dirty="0"/>
                    </a:p>
                  </a:txBody>
                  <a:tcPr/>
                </a:tc>
                <a:tc>
                  <a:txBody>
                    <a:bodyPr/>
                    <a:lstStyle/>
                    <a:p>
                      <a:pPr lvl="0">
                        <a:buNone/>
                      </a:pPr>
                      <a:endParaRPr lang="en-US" dirty="0"/>
                    </a:p>
                  </a:txBody>
                  <a:tcPr/>
                </a:tc>
                <a:tc>
                  <a:txBody>
                    <a:bodyPr/>
                    <a:lstStyle/>
                    <a:p>
                      <a:pPr lvl="0">
                        <a:buNone/>
                      </a:pPr>
                      <a:r>
                        <a:rPr lang="en-US"/>
                        <a:t>10/08/2026</a:t>
                      </a:r>
                      <a:endParaRPr lang="en-US" dirty="0"/>
                    </a:p>
                  </a:txBody>
                  <a:tcPr/>
                </a:tc>
                <a:tc>
                  <a:txBody>
                    <a:bodyPr/>
                    <a:lstStyle/>
                    <a:p>
                      <a:pPr lvl="0">
                        <a:buNone/>
                      </a:pPr>
                      <a:endParaRPr lang="en-US" dirty="0"/>
                    </a:p>
                  </a:txBody>
                  <a:tcPr/>
                </a:tc>
                <a:tc>
                  <a:txBody>
                    <a:bodyPr/>
                    <a:lstStyle/>
                    <a:p>
                      <a:pPr lvl="0">
                        <a:buNone/>
                      </a:pPr>
                      <a:r>
                        <a:rPr lang="en-US"/>
                        <a:t>10/07/2026</a:t>
                      </a:r>
                      <a:endParaRPr lang="en-US" dirty="0"/>
                    </a:p>
                  </a:txBody>
                  <a:tcPr/>
                </a:tc>
                <a:extLst>
                  <a:ext uri="{0D108BD9-81ED-4DB2-BD59-A6C34878D82A}">
                    <a16:rowId xmlns:a16="http://schemas.microsoft.com/office/drawing/2014/main" val="2507231721"/>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B54A3-E5EE-E81D-CFCF-8B6E72DAD0EE}"/>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56C92DAE-2912-E424-17E0-E3963B743CB2}"/>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10B3E98E-BC15-282F-591C-977BE9C0602B}"/>
              </a:ext>
            </a:extLst>
          </p:cNvPr>
          <p:cNvPicPr>
            <a:picLocks noChangeAspect="1"/>
          </p:cNvPicPr>
          <p:nvPr/>
        </p:nvPicPr>
        <p:blipFill>
          <a:blip r:embed="rId3"/>
          <a:stretch>
            <a:fillRect/>
          </a:stretch>
        </p:blipFill>
        <p:spPr>
          <a:xfrm>
            <a:off x="9181381" y="65406"/>
            <a:ext cx="2743200" cy="717452"/>
          </a:xfrm>
          <a:prstGeom prst="rect">
            <a:avLst/>
          </a:prstGeom>
        </p:spPr>
      </p:pic>
      <p:sp>
        <p:nvSpPr>
          <p:cNvPr id="2" name="TextBox 1">
            <a:extLst>
              <a:ext uri="{FF2B5EF4-FFF2-40B4-BE49-F238E27FC236}">
                <a16:creationId xmlns:a16="http://schemas.microsoft.com/office/drawing/2014/main" id="{408206EB-028F-7DEA-105C-B7A31A8D6738}"/>
              </a:ext>
            </a:extLst>
          </p:cNvPr>
          <p:cNvSpPr txBox="1"/>
          <p:nvPr/>
        </p:nvSpPr>
        <p:spPr>
          <a:xfrm>
            <a:off x="668835" y="2184783"/>
            <a:ext cx="7299960" cy="30469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9600"/>
              <a:t>Lead Time Algo</a:t>
            </a:r>
            <a:endParaRPr lang="en-US"/>
          </a:p>
        </p:txBody>
      </p:sp>
    </p:spTree>
    <p:extLst>
      <p:ext uri="{BB962C8B-B14F-4D97-AF65-F5344CB8AC3E}">
        <p14:creationId xmlns:p14="http://schemas.microsoft.com/office/powerpoint/2010/main" val="26312988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ECE1C-0EDB-FBF6-4538-63052481A16F}"/>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F7FF6173-43EC-783D-2C16-265DA9DF716E}"/>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3253A2F8-BDB0-F4ED-8CB8-017893BDF572}"/>
              </a:ext>
            </a:extLst>
          </p:cNvPr>
          <p:cNvPicPr>
            <a:picLocks noChangeAspect="1"/>
          </p:cNvPicPr>
          <p:nvPr/>
        </p:nvPicPr>
        <p:blipFill>
          <a:blip r:embed="rId3"/>
          <a:stretch>
            <a:fillRect/>
          </a:stretch>
        </p:blipFill>
        <p:spPr>
          <a:xfrm>
            <a:off x="9181381" y="65406"/>
            <a:ext cx="2743200" cy="717452"/>
          </a:xfrm>
          <a:prstGeom prst="rect">
            <a:avLst/>
          </a:prstGeom>
        </p:spPr>
      </p:pic>
      <p:sp>
        <p:nvSpPr>
          <p:cNvPr id="2" name="TextBox 72">
            <a:extLst>
              <a:ext uri="{FF2B5EF4-FFF2-40B4-BE49-F238E27FC236}">
                <a16:creationId xmlns:a16="http://schemas.microsoft.com/office/drawing/2014/main" id="{7E8A52E2-CEDA-12F1-AD3F-84D67C2DABBD}"/>
              </a:ext>
            </a:extLst>
          </p:cNvPr>
          <p:cNvSpPr txBox="1"/>
          <p:nvPr/>
        </p:nvSpPr>
        <p:spPr>
          <a:xfrm>
            <a:off x="990600" y="1366897"/>
            <a:ext cx="10515600" cy="4339650"/>
          </a:xfrm>
          <a:prstGeom prst="rect">
            <a:avLst/>
          </a:prstGeom>
          <a:noFill/>
        </p:spPr>
        <p:txBody>
          <a:bodyPr wrap="square">
            <a:spAutoFit/>
          </a:bodyPr>
          <a:lstStyle>
            <a:defPPr>
              <a:defRPr kern="0"/>
            </a:defPPr>
          </a:lstStyle>
          <a:p>
            <a:pPr rtl="0"/>
            <a:r>
              <a:rPr lang="en-IN" sz="2400" b="1" dirty="0">
                <a:latin typeface="Aptos" panose="020B0004020202020204" pitchFamily="34" charset="0"/>
              </a:rPr>
              <a:t>Lead Dates</a:t>
            </a:r>
          </a:p>
          <a:p>
            <a:pPr marL="285750" indent="-285750" rtl="0">
              <a:buFont typeface="Arial" panose="020B0604020202020204" pitchFamily="34" charset="0"/>
              <a:buChar char="•"/>
            </a:pPr>
            <a:endParaRPr lang="en-IN" sz="1400" b="1" dirty="0">
              <a:latin typeface="Aptos" panose="020B0004020202020204" pitchFamily="34" charset="0"/>
            </a:endParaRPr>
          </a:p>
          <a:p>
            <a:pPr marL="285750" indent="-285750" rtl="0">
              <a:buFont typeface="Arial" panose="020B0604020202020204" pitchFamily="34" charset="0"/>
              <a:buChar char="•"/>
            </a:pPr>
            <a:endParaRPr lang="en-IN" sz="1400" b="1" dirty="0">
              <a:latin typeface="Aptos" panose="020B0004020202020204" pitchFamily="34" charset="0"/>
            </a:endParaRPr>
          </a:p>
          <a:p>
            <a:pPr marL="285750" indent="-285750" rtl="0">
              <a:buFont typeface="Arial" panose="020B0604020202020204" pitchFamily="34" charset="0"/>
              <a:buChar char="•"/>
            </a:pPr>
            <a:r>
              <a:rPr lang="en-IN" sz="1400" b="1" dirty="0">
                <a:latin typeface="Aptos" panose="020B0004020202020204" pitchFamily="34" charset="0"/>
              </a:rPr>
              <a:t>Demand Date (Need Date / Requirement Date):</a:t>
            </a:r>
            <a:r>
              <a:rPr lang="en-IN" sz="1400" dirty="0">
                <a:latin typeface="Aptos" panose="020B0004020202020204" pitchFamily="34" charset="0"/>
              </a:rPr>
              <a:t> When the customer or consuming process needs the material available. This is the anchor everything else is calculated from.</a:t>
            </a:r>
          </a:p>
          <a:p>
            <a:pPr marL="285750" indent="-285750" rtl="0">
              <a:buFont typeface="Arial" panose="020B0604020202020204" pitchFamily="34" charset="0"/>
              <a:buChar char="•"/>
            </a:pPr>
            <a:endParaRPr lang="en-IN" sz="1400" dirty="0">
              <a:latin typeface="Aptos" panose="020B0004020202020204" pitchFamily="34" charset="0"/>
            </a:endParaRPr>
          </a:p>
          <a:p>
            <a:pPr marL="285750" indent="-285750" rtl="0">
              <a:buFont typeface="Arial" panose="020B0604020202020204" pitchFamily="34" charset="0"/>
              <a:buChar char="•"/>
            </a:pPr>
            <a:r>
              <a:rPr lang="en-IN" sz="1400" b="1" dirty="0">
                <a:latin typeface="Aptos" panose="020B0004020202020204" pitchFamily="34" charset="0"/>
              </a:rPr>
              <a:t>Due Date:</a:t>
            </a:r>
            <a:r>
              <a:rPr lang="en-IN" sz="1400" dirty="0">
                <a:latin typeface="Aptos" panose="020B0004020202020204" pitchFamily="34" charset="0"/>
              </a:rPr>
              <a:t> When the order must be complete or received to meet the demand. In MRP it is often the demand date minus safety lead time (a buffer).</a:t>
            </a:r>
          </a:p>
          <a:p>
            <a:pPr marL="285750" indent="-285750" rtl="0">
              <a:buFont typeface="Arial" panose="020B0604020202020204" pitchFamily="34" charset="0"/>
              <a:buChar char="•"/>
            </a:pPr>
            <a:endParaRPr lang="en-IN" sz="1400" dirty="0">
              <a:latin typeface="Aptos" panose="020B0004020202020204" pitchFamily="34" charset="0"/>
            </a:endParaRPr>
          </a:p>
          <a:p>
            <a:pPr marL="285750" indent="-285750" rtl="0">
              <a:buFont typeface="Arial" panose="020B0604020202020204" pitchFamily="34" charset="0"/>
              <a:buChar char="•"/>
            </a:pPr>
            <a:r>
              <a:rPr lang="en-IN" sz="1400" b="1" dirty="0">
                <a:latin typeface="Aptos" panose="020B0004020202020204" pitchFamily="34" charset="0"/>
              </a:rPr>
              <a:t>Dock Date:</a:t>
            </a:r>
            <a:r>
              <a:rPr lang="en-IN" sz="1400" dirty="0">
                <a:latin typeface="Aptos" panose="020B0004020202020204" pitchFamily="34" charset="0"/>
              </a:rPr>
              <a:t> When the goods arrive at your receiving dock. This is the date the supplier or upstream plant needs to deliver to.</a:t>
            </a:r>
          </a:p>
          <a:p>
            <a:pPr rtl="0"/>
            <a:endParaRPr lang="en-IN" sz="1400" dirty="0">
              <a:latin typeface="Aptos" panose="020B0004020202020204" pitchFamily="34" charset="0"/>
            </a:endParaRPr>
          </a:p>
          <a:p>
            <a:pPr marL="285750" indent="-285750" rtl="0">
              <a:buFont typeface="Arial" panose="020B0604020202020204" pitchFamily="34" charset="0"/>
              <a:buChar char="•"/>
            </a:pPr>
            <a:r>
              <a:rPr lang="en-IN" sz="1400" b="1" dirty="0">
                <a:latin typeface="Aptos" panose="020B0004020202020204" pitchFamily="34" charset="0"/>
              </a:rPr>
              <a:t>Stock Date:</a:t>
            </a:r>
            <a:r>
              <a:rPr lang="en-IN" sz="1400" dirty="0">
                <a:latin typeface="Aptos" panose="020B0004020202020204" pitchFamily="34" charset="0"/>
              </a:rPr>
              <a:t> When the material is received, inspected, put away, and available for use. Dock date plus dock-to-stock time.</a:t>
            </a:r>
          </a:p>
          <a:p>
            <a:pPr marL="285750" indent="-285750" rtl="0">
              <a:buFont typeface="Arial" panose="020B0604020202020204" pitchFamily="34" charset="0"/>
              <a:buChar char="•"/>
            </a:pPr>
            <a:endParaRPr lang="en-IN" sz="1400" dirty="0">
              <a:latin typeface="Aptos" panose="020B0004020202020204" pitchFamily="34" charset="0"/>
            </a:endParaRPr>
          </a:p>
          <a:p>
            <a:pPr marL="285750" indent="-285750" rtl="0">
              <a:buFont typeface="Arial" panose="020B0604020202020204" pitchFamily="34" charset="0"/>
              <a:buChar char="•"/>
            </a:pPr>
            <a:r>
              <a:rPr lang="en-IN" sz="1400" b="1" dirty="0">
                <a:latin typeface="Aptos" panose="020B0004020202020204" pitchFamily="34" charset="0"/>
              </a:rPr>
              <a:t>Ship Date:</a:t>
            </a:r>
            <a:r>
              <a:rPr lang="en-IN" sz="1400" dirty="0">
                <a:latin typeface="Aptos" panose="020B0004020202020204" pitchFamily="34" charset="0"/>
              </a:rPr>
              <a:t> When the supplier or origin plant actually ships. Dock date minus transit time.</a:t>
            </a:r>
          </a:p>
          <a:p>
            <a:pPr rtl="0"/>
            <a:endParaRPr lang="en-IN" sz="1400" dirty="0">
              <a:latin typeface="Aptos" panose="020B0004020202020204" pitchFamily="34" charset="0"/>
            </a:endParaRPr>
          </a:p>
          <a:p>
            <a:pPr marL="285750" indent="-285750" rtl="0">
              <a:buFont typeface="Arial" panose="020B0604020202020204" pitchFamily="34" charset="0"/>
              <a:buChar char="•"/>
            </a:pPr>
            <a:r>
              <a:rPr lang="en-IN" sz="1400" b="1" dirty="0">
                <a:latin typeface="Aptos" panose="020B0004020202020204" pitchFamily="34" charset="0"/>
              </a:rPr>
              <a:t>Build Date (Production/Completion Date):</a:t>
            </a:r>
            <a:r>
              <a:rPr lang="en-IN" sz="1400" dirty="0">
                <a:latin typeface="Aptos" panose="020B0004020202020204" pitchFamily="34" charset="0"/>
              </a:rPr>
              <a:t> When production finishes and goods are ready to ship.</a:t>
            </a:r>
          </a:p>
          <a:p>
            <a:pPr marL="285750" indent="-285750" rtl="0">
              <a:buFont typeface="Arial" panose="020B0604020202020204" pitchFamily="34" charset="0"/>
              <a:buChar char="•"/>
            </a:pPr>
            <a:endParaRPr lang="en-IN" sz="1400" dirty="0">
              <a:latin typeface="Aptos" panose="020B0004020202020204" pitchFamily="34" charset="0"/>
            </a:endParaRPr>
          </a:p>
          <a:p>
            <a:pPr marL="285750" indent="-285750" rtl="0">
              <a:buFont typeface="Arial" panose="020B0604020202020204" pitchFamily="34" charset="0"/>
              <a:buChar char="•"/>
            </a:pPr>
            <a:r>
              <a:rPr lang="en-IN" sz="1400" b="1" dirty="0">
                <a:latin typeface="Aptos" panose="020B0004020202020204" pitchFamily="34" charset="0"/>
              </a:rPr>
              <a:t>Start Date (Release Date / Order Start):</a:t>
            </a:r>
            <a:r>
              <a:rPr lang="en-IN" sz="1400" dirty="0">
                <a:latin typeface="Aptos" panose="020B0004020202020204" pitchFamily="34" charset="0"/>
              </a:rPr>
              <a:t> When the work order or purchase order must be released or begin, so that it completes on time. Due date minus the lead time.</a:t>
            </a:r>
          </a:p>
        </p:txBody>
      </p:sp>
    </p:spTree>
    <p:extLst>
      <p:ext uri="{BB962C8B-B14F-4D97-AF65-F5344CB8AC3E}">
        <p14:creationId xmlns:p14="http://schemas.microsoft.com/office/powerpoint/2010/main" val="5285333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A42BC6-5294-75CC-A2D9-FC9EA98F4047}"/>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A2A9A19F-27A0-7DD0-C5BD-CCE0A211D650}"/>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4C37C3EF-20AD-40A2-5660-141EFB7E402F}"/>
              </a:ext>
            </a:extLst>
          </p:cNvPr>
          <p:cNvPicPr>
            <a:picLocks noChangeAspect="1"/>
          </p:cNvPicPr>
          <p:nvPr/>
        </p:nvPicPr>
        <p:blipFill>
          <a:blip r:embed="rId3"/>
          <a:stretch>
            <a:fillRect/>
          </a:stretch>
        </p:blipFill>
        <p:spPr>
          <a:xfrm>
            <a:off x="9181381" y="65406"/>
            <a:ext cx="2743200" cy="717452"/>
          </a:xfrm>
          <a:prstGeom prst="rect">
            <a:avLst/>
          </a:prstGeom>
        </p:spPr>
      </p:pic>
      <p:sp>
        <p:nvSpPr>
          <p:cNvPr id="2" name="TextBox 1">
            <a:extLst>
              <a:ext uri="{FF2B5EF4-FFF2-40B4-BE49-F238E27FC236}">
                <a16:creationId xmlns:a16="http://schemas.microsoft.com/office/drawing/2014/main" id="{B80F924C-6ED7-28B8-4B89-F5AA658D0102}"/>
              </a:ext>
            </a:extLst>
          </p:cNvPr>
          <p:cNvSpPr txBox="1"/>
          <p:nvPr/>
        </p:nvSpPr>
        <p:spPr>
          <a:xfrm>
            <a:off x="457200" y="457200"/>
            <a:ext cx="11049000" cy="5416868"/>
          </a:xfrm>
          <a:prstGeom prst="rect">
            <a:avLst/>
          </a:prstGeom>
          <a:noFill/>
        </p:spPr>
        <p:txBody>
          <a:bodyPr wrap="square" rtlCol="0">
            <a:spAutoFit/>
          </a:bodyPr>
          <a:lstStyle>
            <a:defPPr>
              <a:defRPr kern="0"/>
            </a:defPPr>
          </a:lstStyle>
          <a:p>
            <a:r>
              <a:rPr lang="en-US" sz="2400" b="1" dirty="0">
                <a:latin typeface="Aptos" panose="020B0004020202020204" pitchFamily="34" charset="0"/>
              </a:rPr>
              <a:t>Lead Time Elements</a:t>
            </a:r>
          </a:p>
          <a:p>
            <a:pPr marL="285750" indent="-285750">
              <a:buFont typeface="Arial" panose="020B0604020202020204" pitchFamily="34" charset="0"/>
              <a:buChar char="•"/>
            </a:pPr>
            <a:endParaRPr lang="en-US" sz="1400" b="1" dirty="0">
              <a:latin typeface="Aptos" panose="020B0004020202020204" pitchFamily="34" charset="0"/>
            </a:endParaRPr>
          </a:p>
          <a:p>
            <a:pPr marL="285750" indent="-285750">
              <a:buFont typeface="Arial" panose="020B0604020202020204" pitchFamily="34" charset="0"/>
              <a:buChar char="•"/>
            </a:pPr>
            <a:r>
              <a:rPr lang="en-US" sz="1400" b="1" dirty="0">
                <a:latin typeface="Aptos" panose="020B0004020202020204" pitchFamily="34" charset="0"/>
              </a:rPr>
              <a:t>Pre-ship time: </a:t>
            </a:r>
            <a:r>
              <a:rPr lang="en-US" sz="1400" dirty="0">
                <a:latin typeface="Aptos" panose="020B0004020202020204" pitchFamily="34" charset="0"/>
              </a:rPr>
              <a:t>The time the supplier needs to get your order ready before it leaves their warehouse. They receive the PO, find or make the goods, pack them, and do the paperwork. Example: you place the order on Nov 12, and the box is ready to leave on Nov 17. Pre-ship is 5 days.</a:t>
            </a:r>
          </a:p>
          <a:p>
            <a:pPr marL="285750" indent="-285750">
              <a:buFont typeface="Arial" panose="020B0604020202020204" pitchFamily="34" charset="0"/>
              <a:buChar char="•"/>
            </a:pPr>
            <a:endParaRPr lang="en-US" sz="1400" dirty="0">
              <a:latin typeface="Aptos" panose="020B0004020202020204" pitchFamily="34" charset="0"/>
            </a:endParaRPr>
          </a:p>
          <a:p>
            <a:pPr marL="285750" indent="-285750">
              <a:buFont typeface="Arial" panose="020B0604020202020204" pitchFamily="34" charset="0"/>
              <a:buChar char="•"/>
            </a:pPr>
            <a:r>
              <a:rPr lang="en-US" sz="1400" b="1" dirty="0">
                <a:latin typeface="Aptos" panose="020B0004020202020204" pitchFamily="34" charset="0"/>
              </a:rPr>
              <a:t>Transit time: </a:t>
            </a:r>
            <a:r>
              <a:rPr lang="en-US" sz="1400" dirty="0">
                <a:latin typeface="Aptos" panose="020B0004020202020204" pitchFamily="34" charset="0"/>
              </a:rPr>
              <a:t>The time the goods spend traveling, from the supplier’s door to yours, whether by truck, ship, or plane (including customs if it crosses a border). Example: the truck takes 10 days.</a:t>
            </a:r>
          </a:p>
          <a:p>
            <a:pPr marL="285750" indent="-285750">
              <a:buFont typeface="Arial" panose="020B0604020202020204" pitchFamily="34" charset="0"/>
              <a:buChar char="•"/>
            </a:pPr>
            <a:endParaRPr lang="en-US" sz="1400" dirty="0">
              <a:latin typeface="Aptos" panose="020B0004020202020204" pitchFamily="34" charset="0"/>
            </a:endParaRPr>
          </a:p>
          <a:p>
            <a:pPr marL="285750" indent="-285750">
              <a:buFont typeface="Arial" panose="020B0604020202020204" pitchFamily="34" charset="0"/>
              <a:buChar char="•"/>
            </a:pPr>
            <a:r>
              <a:rPr lang="en-US" sz="1400" b="1" dirty="0">
                <a:latin typeface="Aptos" panose="020B0004020202020204" pitchFamily="34" charset="0"/>
              </a:rPr>
              <a:t>Dock-to-stock time: </a:t>
            </a:r>
            <a:r>
              <a:rPr lang="en-US" sz="1400" dirty="0">
                <a:latin typeface="Aptos" panose="020B0004020202020204" pitchFamily="34" charset="0"/>
              </a:rPr>
              <a:t>The time between the truck arriving at your gate and the goods being ready to sell or use. Staff have to unload, count, check for damage, and put the items on shelves. Example: the truck arrives, and it takes 1 day before the phones can be sold.</a:t>
            </a:r>
          </a:p>
          <a:p>
            <a:pPr marL="285750" indent="-285750">
              <a:buFont typeface="Arial" panose="020B0604020202020204" pitchFamily="34" charset="0"/>
              <a:buChar char="•"/>
            </a:pPr>
            <a:endParaRPr lang="en-US" sz="1400" b="1" dirty="0">
              <a:latin typeface="Aptos" panose="020B0004020202020204" pitchFamily="34" charset="0"/>
            </a:endParaRPr>
          </a:p>
          <a:p>
            <a:pPr marL="285750" indent="-285750">
              <a:buFont typeface="Arial" panose="020B0604020202020204" pitchFamily="34" charset="0"/>
              <a:buChar char="•"/>
            </a:pPr>
            <a:r>
              <a:rPr lang="en-US" sz="1400" b="1" dirty="0">
                <a:latin typeface="Aptos" panose="020B0004020202020204" pitchFamily="34" charset="0"/>
              </a:rPr>
              <a:t>Safety lead time: </a:t>
            </a:r>
            <a:r>
              <a:rPr lang="en-US" sz="1400" dirty="0">
                <a:latin typeface="Aptos" panose="020B0004020202020204" pitchFamily="34" charset="0"/>
              </a:rPr>
              <a:t>A cushion of extra time you add on purpose. You plan for the goods to arrive earlier than you need them, so a late truck or a slow supplier doesn’t cause a problem. Example: you need the phones on Nov 30, but you plan to have them by Nov 28. The 2 days in between are your safety lead time.</a:t>
            </a:r>
          </a:p>
          <a:p>
            <a:pPr marL="285750" indent="-285750">
              <a:buFont typeface="Arial" panose="020B0604020202020204" pitchFamily="34" charset="0"/>
              <a:buChar char="•"/>
            </a:pPr>
            <a:endParaRPr lang="en-US" sz="1400" dirty="0">
              <a:latin typeface="Aptos" panose="020B0004020202020204" pitchFamily="34" charset="0"/>
            </a:endParaRPr>
          </a:p>
          <a:p>
            <a:pPr marL="285750" indent="-285750">
              <a:buFont typeface="Arial" panose="020B0604020202020204" pitchFamily="34" charset="0"/>
              <a:buChar char="•"/>
            </a:pPr>
            <a:r>
              <a:rPr lang="en-US" sz="1400" b="1" dirty="0">
                <a:latin typeface="Aptos" panose="020B0004020202020204" pitchFamily="34" charset="0"/>
              </a:rPr>
              <a:t>Fixed lead time: </a:t>
            </a:r>
            <a:r>
              <a:rPr lang="en-US" sz="1400" dirty="0">
                <a:latin typeface="Aptos" panose="020B0004020202020204" pitchFamily="34" charset="0"/>
              </a:rPr>
              <a:t>The part of the wait that is the same whether you order 1 unit or 1,000. It covers things like machine setup, approvals, waiting in the queue, and transit. Example: a factory always needs 2 days to set up the machine, however many brackets you order.</a:t>
            </a:r>
          </a:p>
          <a:p>
            <a:pPr marL="285750" indent="-285750">
              <a:buFont typeface="Arial" panose="020B0604020202020204" pitchFamily="34" charset="0"/>
              <a:buChar char="•"/>
            </a:pPr>
            <a:endParaRPr lang="en-US" sz="1400" dirty="0">
              <a:latin typeface="Aptos" panose="020B0004020202020204" pitchFamily="34" charset="0"/>
            </a:endParaRPr>
          </a:p>
          <a:p>
            <a:pPr marL="285750" indent="-285750">
              <a:buFont typeface="Arial" panose="020B0604020202020204" pitchFamily="34" charset="0"/>
              <a:buChar char="•"/>
            </a:pPr>
            <a:r>
              <a:rPr lang="en-US" sz="1400" b="1" dirty="0">
                <a:latin typeface="Aptos" panose="020B0004020202020204" pitchFamily="34" charset="0"/>
              </a:rPr>
              <a:t>Variable lead time: </a:t>
            </a:r>
            <a:r>
              <a:rPr lang="en-US" sz="1400" dirty="0">
                <a:latin typeface="Aptos" panose="020B0004020202020204" pitchFamily="34" charset="0"/>
              </a:rPr>
              <a:t>The part of the wait that grows with the quantity. More units means more production time. Example: the factory makes 100 brackets per day, so an order of 500 takes 5 days and an order of 100 takes 1 day.</a:t>
            </a:r>
          </a:p>
          <a:p>
            <a:pPr marL="285750" indent="-285750">
              <a:buFont typeface="Arial" panose="020B0604020202020204" pitchFamily="34" charset="0"/>
              <a:buChar char="•"/>
            </a:pPr>
            <a:endParaRPr lang="en-US" sz="1400" dirty="0">
              <a:latin typeface="Aptos" panose="020B0004020202020204" pitchFamily="34" charset="0"/>
            </a:endParaRPr>
          </a:p>
          <a:p>
            <a:pPr marL="285750" indent="-285750">
              <a:buFont typeface="Arial" panose="020B0604020202020204" pitchFamily="34" charset="0"/>
              <a:buChar char="•"/>
            </a:pPr>
            <a:r>
              <a:rPr lang="en-US" sz="1400" b="1" dirty="0">
                <a:latin typeface="Aptos" panose="020B0004020202020204" pitchFamily="34" charset="0"/>
              </a:rPr>
              <a:t>Lead time adjust (offset): </a:t>
            </a:r>
            <a:r>
              <a:rPr lang="en-US" sz="1400" dirty="0">
                <a:latin typeface="Aptos" panose="020B0004020202020204" pitchFamily="34" charset="0"/>
              </a:rPr>
              <a:t>A manual correction to the normal lead time when you know conditions are different from usual. It can be an increase or a decrease. Example: the normal transit time is 10 days, but during the festival season trucks are slower, so you add 2 days.</a:t>
            </a:r>
            <a:endParaRPr lang="en-IN" sz="1400" dirty="0">
              <a:latin typeface="Aptos" panose="020B0004020202020204" pitchFamily="34" charset="0"/>
            </a:endParaRPr>
          </a:p>
        </p:txBody>
      </p:sp>
    </p:spTree>
    <p:extLst>
      <p:ext uri="{BB962C8B-B14F-4D97-AF65-F5344CB8AC3E}">
        <p14:creationId xmlns:p14="http://schemas.microsoft.com/office/powerpoint/2010/main" val="8352380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69FFF-C492-9321-21F0-449CFD3AB2D6}"/>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87FAB8C3-2307-E7E4-DE54-312D46DE29DC}"/>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0D7550D4-596F-137D-FD5A-161A327F7072}"/>
              </a:ext>
            </a:extLst>
          </p:cNvPr>
          <p:cNvPicPr>
            <a:picLocks noChangeAspect="1"/>
          </p:cNvPicPr>
          <p:nvPr/>
        </p:nvPicPr>
        <p:blipFill>
          <a:blip r:embed="rId3"/>
          <a:stretch>
            <a:fillRect/>
          </a:stretch>
        </p:blipFill>
        <p:spPr>
          <a:xfrm>
            <a:off x="9181381" y="65406"/>
            <a:ext cx="2743200" cy="717452"/>
          </a:xfrm>
          <a:prstGeom prst="rect">
            <a:avLst/>
          </a:prstGeom>
        </p:spPr>
      </p:pic>
      <p:sp>
        <p:nvSpPr>
          <p:cNvPr id="2" name="Text 1">
            <a:extLst>
              <a:ext uri="{FF2B5EF4-FFF2-40B4-BE49-F238E27FC236}">
                <a16:creationId xmlns:a16="http://schemas.microsoft.com/office/drawing/2014/main" id="{4B7D961A-2494-22D2-9B9C-A930EA8FB455}"/>
              </a:ext>
            </a:extLst>
          </p:cNvPr>
          <p:cNvSpPr txBox="1"/>
          <p:nvPr/>
        </p:nvSpPr>
        <p:spPr>
          <a:xfrm>
            <a:off x="2072640" y="914400"/>
            <a:ext cx="8046720" cy="640080"/>
          </a:xfrm>
          <a:prstGeom prst="rect">
            <a:avLst/>
          </a:prstGeom>
          <a:noFill/>
          <a:ln/>
        </p:spPr>
        <p:txBody>
          <a:bodyPr wrap="square" lIns="0" tIns="0" rIns="0" bIns="0" rtlCol="0" anchor="ctr"/>
          <a:lstStyle>
            <a:defPPr>
              <a:defRPr kern="0"/>
            </a:defPPr>
          </a:lstStyle>
          <a:p>
            <a:pPr marL="0" indent="0">
              <a:buNone/>
            </a:pPr>
            <a:r>
              <a:rPr lang="en-US" sz="2000" b="1" dirty="0">
                <a:solidFill>
                  <a:srgbClr val="1F2A44"/>
                </a:solidFill>
                <a:latin typeface="Aptos" panose="020B0004020202020204" pitchFamily="34" charset="0"/>
                <a:ea typeface="Calibri" pitchFamily="34" charset="-122"/>
                <a:cs typeface="Calibri" pitchFamily="34" charset="-120"/>
              </a:rPr>
              <a:t>Example: Diwali Stock of Smartphones</a:t>
            </a:r>
            <a:endParaRPr lang="en-US" sz="2000" dirty="0">
              <a:latin typeface="Aptos" panose="020B0004020202020204" pitchFamily="34" charset="0"/>
            </a:endParaRPr>
          </a:p>
        </p:txBody>
      </p:sp>
      <p:sp>
        <p:nvSpPr>
          <p:cNvPr id="3" name="Text 2">
            <a:extLst>
              <a:ext uri="{FF2B5EF4-FFF2-40B4-BE49-F238E27FC236}">
                <a16:creationId xmlns:a16="http://schemas.microsoft.com/office/drawing/2014/main" id="{AB6761C7-73FF-C587-878E-92B4F43822D9}"/>
              </a:ext>
            </a:extLst>
          </p:cNvPr>
          <p:cNvSpPr txBox="1"/>
          <p:nvPr/>
        </p:nvSpPr>
        <p:spPr>
          <a:xfrm>
            <a:off x="2072640" y="1554480"/>
            <a:ext cx="8439912" cy="548640"/>
          </a:xfrm>
          <a:prstGeom prst="rect">
            <a:avLst/>
          </a:prstGeom>
          <a:noFill/>
          <a:ln/>
        </p:spPr>
        <p:txBody>
          <a:bodyPr wrap="square" lIns="0" tIns="0" rIns="0" bIns="0" rtlCol="0" anchor="ctr"/>
          <a:lstStyle>
            <a:defPPr>
              <a:defRPr kern="0"/>
            </a:defPPr>
          </a:lstStyle>
          <a:p>
            <a:pPr marL="0" indent="0">
              <a:buNone/>
            </a:pPr>
            <a:r>
              <a:rPr lang="en-US" sz="1400" dirty="0">
                <a:solidFill>
                  <a:schemeClr val="tx1"/>
                </a:solidFill>
                <a:latin typeface="Aptos" panose="020B0004020202020204" pitchFamily="34" charset="0"/>
                <a:ea typeface="Calibri" pitchFamily="34" charset="-122"/>
                <a:cs typeface="Calibri" pitchFamily="34" charset="-120"/>
              </a:rPr>
              <a:t>A Nagpur electronics retailer needs phones on shelves by Nov 30 for the festival sale. Supplier is in Delhi.</a:t>
            </a:r>
            <a:endParaRPr lang="en-US" sz="1400" dirty="0">
              <a:solidFill>
                <a:schemeClr val="tx1"/>
              </a:solidFill>
              <a:latin typeface="Aptos" panose="020B0004020202020204" pitchFamily="34" charset="0"/>
            </a:endParaRPr>
          </a:p>
        </p:txBody>
      </p:sp>
      <p:sp>
        <p:nvSpPr>
          <p:cNvPr id="6" name="Shape 3">
            <a:extLst>
              <a:ext uri="{FF2B5EF4-FFF2-40B4-BE49-F238E27FC236}">
                <a16:creationId xmlns:a16="http://schemas.microsoft.com/office/drawing/2014/main" id="{63624699-FB63-9396-0F3C-6559F43B9ED3}"/>
              </a:ext>
            </a:extLst>
          </p:cNvPr>
          <p:cNvSpPr/>
          <p:nvPr/>
        </p:nvSpPr>
        <p:spPr>
          <a:xfrm>
            <a:off x="2392680" y="3291840"/>
            <a:ext cx="7406640" cy="0"/>
          </a:xfrm>
          <a:prstGeom prst="line">
            <a:avLst/>
          </a:prstGeom>
          <a:noFill/>
          <a:ln w="31750">
            <a:solidFill>
              <a:srgbClr val="1F2A44"/>
            </a:solidFill>
            <a:prstDash val="solid"/>
          </a:ln>
        </p:spPr>
        <p:txBody>
          <a:bodyPr/>
          <a:lstStyle/>
          <a:p>
            <a:endParaRPr lang="en-US"/>
          </a:p>
        </p:txBody>
      </p:sp>
      <p:sp>
        <p:nvSpPr>
          <p:cNvPr id="7" name="Text 5">
            <a:extLst>
              <a:ext uri="{FF2B5EF4-FFF2-40B4-BE49-F238E27FC236}">
                <a16:creationId xmlns:a16="http://schemas.microsoft.com/office/drawing/2014/main" id="{CED215EE-9E96-E27E-F4B0-30F8EAA6D7F7}"/>
              </a:ext>
            </a:extLst>
          </p:cNvPr>
          <p:cNvSpPr txBox="1"/>
          <p:nvPr/>
        </p:nvSpPr>
        <p:spPr>
          <a:xfrm>
            <a:off x="1706880" y="2606040"/>
            <a:ext cx="1371600" cy="365760"/>
          </a:xfrm>
          <a:prstGeom prst="rect">
            <a:avLst/>
          </a:prstGeom>
          <a:noFill/>
          <a:ln/>
        </p:spPr>
        <p:txBody>
          <a:bodyPr wrap="square" lIns="0" tIns="0" rIns="0" bIns="0" rtlCol="0" anchor="ctr"/>
          <a:lstStyle>
            <a:defPPr>
              <a:defRPr kern="0"/>
            </a:defPPr>
          </a:lstStyle>
          <a:p>
            <a:pPr marL="0" indent="0" algn="ctr">
              <a:buNone/>
            </a:pPr>
            <a:r>
              <a:rPr lang="en-US" sz="1400" b="1" dirty="0">
                <a:solidFill>
                  <a:srgbClr val="1F2A44"/>
                </a:solidFill>
                <a:latin typeface="Aptos" panose="020B0004020202020204" pitchFamily="34" charset="0"/>
                <a:ea typeface="Calibri" pitchFamily="34" charset="-122"/>
                <a:cs typeface="Calibri" pitchFamily="34" charset="-120"/>
              </a:rPr>
              <a:t>Nov 12</a:t>
            </a:r>
            <a:endParaRPr lang="en-US" sz="1400" dirty="0">
              <a:latin typeface="Aptos" panose="020B0004020202020204" pitchFamily="34" charset="0"/>
            </a:endParaRPr>
          </a:p>
        </p:txBody>
      </p:sp>
      <p:sp>
        <p:nvSpPr>
          <p:cNvPr id="8" name="Text 6">
            <a:extLst>
              <a:ext uri="{FF2B5EF4-FFF2-40B4-BE49-F238E27FC236}">
                <a16:creationId xmlns:a16="http://schemas.microsoft.com/office/drawing/2014/main" id="{9D31F1F2-678A-C4BF-8DFE-DEF698E23708}"/>
              </a:ext>
            </a:extLst>
          </p:cNvPr>
          <p:cNvSpPr txBox="1"/>
          <p:nvPr/>
        </p:nvSpPr>
        <p:spPr>
          <a:xfrm>
            <a:off x="1679448" y="3520440"/>
            <a:ext cx="1426464" cy="457200"/>
          </a:xfrm>
          <a:prstGeom prst="rect">
            <a:avLst/>
          </a:prstGeom>
          <a:noFill/>
          <a:ln/>
        </p:spPr>
        <p:txBody>
          <a:bodyPr wrap="square" lIns="0" tIns="0" rIns="0" bIns="0" rtlCol="0" anchor="ctr"/>
          <a:lstStyle>
            <a:defPPr>
              <a:defRPr kern="0"/>
            </a:defPPr>
          </a:lstStyle>
          <a:p>
            <a:pPr marL="0" indent="0" algn="ctr">
              <a:buNone/>
            </a:pPr>
            <a:r>
              <a:rPr lang="en-US" sz="1400" dirty="0">
                <a:solidFill>
                  <a:schemeClr val="tx1"/>
                </a:solidFill>
                <a:latin typeface="Aptos" panose="020B0004020202020204" pitchFamily="34" charset="0"/>
                <a:ea typeface="Calibri" pitchFamily="34" charset="-122"/>
                <a:cs typeface="Calibri" pitchFamily="34" charset="-120"/>
              </a:rPr>
              <a:t>Start Date</a:t>
            </a:r>
            <a:endParaRPr lang="en-US" sz="1400" dirty="0">
              <a:solidFill>
                <a:schemeClr val="tx1"/>
              </a:solidFill>
              <a:latin typeface="Aptos" panose="020B0004020202020204" pitchFamily="34" charset="0"/>
            </a:endParaRPr>
          </a:p>
        </p:txBody>
      </p:sp>
      <p:sp>
        <p:nvSpPr>
          <p:cNvPr id="9" name="Text 8">
            <a:extLst>
              <a:ext uri="{FF2B5EF4-FFF2-40B4-BE49-F238E27FC236}">
                <a16:creationId xmlns:a16="http://schemas.microsoft.com/office/drawing/2014/main" id="{79C3F78C-3580-4752-D1B8-74982393D7AC}"/>
              </a:ext>
            </a:extLst>
          </p:cNvPr>
          <p:cNvSpPr txBox="1"/>
          <p:nvPr/>
        </p:nvSpPr>
        <p:spPr>
          <a:xfrm>
            <a:off x="3188208" y="2606040"/>
            <a:ext cx="1371600" cy="365760"/>
          </a:xfrm>
          <a:prstGeom prst="rect">
            <a:avLst/>
          </a:prstGeom>
          <a:noFill/>
          <a:ln/>
        </p:spPr>
        <p:txBody>
          <a:bodyPr wrap="square" lIns="0" tIns="0" rIns="0" bIns="0" rtlCol="0" anchor="ctr"/>
          <a:lstStyle>
            <a:defPPr>
              <a:defRPr kern="0"/>
            </a:defPPr>
          </a:lstStyle>
          <a:p>
            <a:pPr marL="0" indent="0" algn="ctr">
              <a:buNone/>
            </a:pPr>
            <a:r>
              <a:rPr lang="en-US" sz="1400" b="1" dirty="0">
                <a:solidFill>
                  <a:srgbClr val="1F2A44"/>
                </a:solidFill>
                <a:latin typeface="Aptos" panose="020B0004020202020204" pitchFamily="34" charset="0"/>
                <a:ea typeface="Calibri" pitchFamily="34" charset="-122"/>
                <a:cs typeface="Calibri" pitchFamily="34" charset="-120"/>
              </a:rPr>
              <a:t>Nov 16</a:t>
            </a:r>
            <a:endParaRPr lang="en-US" sz="1400" dirty="0">
              <a:latin typeface="Aptos" panose="020B0004020202020204" pitchFamily="34" charset="0"/>
            </a:endParaRPr>
          </a:p>
        </p:txBody>
      </p:sp>
      <p:sp>
        <p:nvSpPr>
          <p:cNvPr id="10" name="Text 9">
            <a:extLst>
              <a:ext uri="{FF2B5EF4-FFF2-40B4-BE49-F238E27FC236}">
                <a16:creationId xmlns:a16="http://schemas.microsoft.com/office/drawing/2014/main" id="{81CF657F-8BC7-972C-C7BB-17356B28CCBB}"/>
              </a:ext>
            </a:extLst>
          </p:cNvPr>
          <p:cNvSpPr txBox="1"/>
          <p:nvPr/>
        </p:nvSpPr>
        <p:spPr>
          <a:xfrm>
            <a:off x="3160776" y="3520440"/>
            <a:ext cx="1426464" cy="457200"/>
          </a:xfrm>
          <a:prstGeom prst="rect">
            <a:avLst/>
          </a:prstGeom>
          <a:noFill/>
          <a:ln/>
        </p:spPr>
        <p:txBody>
          <a:bodyPr wrap="square" lIns="0" tIns="0" rIns="0" bIns="0" rtlCol="0" anchor="ctr"/>
          <a:lstStyle>
            <a:defPPr>
              <a:defRPr kern="0"/>
            </a:defPPr>
          </a:lstStyle>
          <a:p>
            <a:pPr marL="0" indent="0" algn="ctr">
              <a:buNone/>
            </a:pPr>
            <a:r>
              <a:rPr lang="en-US" sz="1400" dirty="0">
                <a:solidFill>
                  <a:schemeClr val="tx1"/>
                </a:solidFill>
                <a:latin typeface="Aptos" panose="020B0004020202020204" pitchFamily="34" charset="0"/>
                <a:ea typeface="Calibri" pitchFamily="34" charset="-122"/>
                <a:cs typeface="Calibri" pitchFamily="34" charset="-120"/>
              </a:rPr>
              <a:t>Build Date</a:t>
            </a:r>
            <a:endParaRPr lang="en-US" sz="1400" dirty="0">
              <a:solidFill>
                <a:schemeClr val="tx1"/>
              </a:solidFill>
              <a:latin typeface="Aptos" panose="020B0004020202020204" pitchFamily="34" charset="0"/>
            </a:endParaRPr>
          </a:p>
        </p:txBody>
      </p:sp>
      <p:sp>
        <p:nvSpPr>
          <p:cNvPr id="11" name="Text 11">
            <a:extLst>
              <a:ext uri="{FF2B5EF4-FFF2-40B4-BE49-F238E27FC236}">
                <a16:creationId xmlns:a16="http://schemas.microsoft.com/office/drawing/2014/main" id="{A529CBA9-A2E3-ECD9-C680-3FAF46847FA6}"/>
              </a:ext>
            </a:extLst>
          </p:cNvPr>
          <p:cNvSpPr txBox="1"/>
          <p:nvPr/>
        </p:nvSpPr>
        <p:spPr>
          <a:xfrm>
            <a:off x="4669536" y="2606040"/>
            <a:ext cx="1371600" cy="365760"/>
          </a:xfrm>
          <a:prstGeom prst="rect">
            <a:avLst/>
          </a:prstGeom>
          <a:noFill/>
          <a:ln/>
        </p:spPr>
        <p:txBody>
          <a:bodyPr wrap="square" lIns="0" tIns="0" rIns="0" bIns="0" rtlCol="0" anchor="ctr"/>
          <a:lstStyle>
            <a:defPPr>
              <a:defRPr kern="0"/>
            </a:defPPr>
          </a:lstStyle>
          <a:p>
            <a:pPr marL="0" indent="0" algn="ctr">
              <a:buNone/>
            </a:pPr>
            <a:r>
              <a:rPr lang="en-US" sz="1400" b="1" dirty="0">
                <a:solidFill>
                  <a:srgbClr val="1F2A44"/>
                </a:solidFill>
                <a:latin typeface="Aptos" panose="020B0004020202020204" pitchFamily="34" charset="0"/>
                <a:ea typeface="Calibri" pitchFamily="34" charset="-122"/>
                <a:cs typeface="Calibri" pitchFamily="34" charset="-120"/>
              </a:rPr>
              <a:t>Nov 17</a:t>
            </a:r>
            <a:endParaRPr lang="en-US" sz="1400" dirty="0">
              <a:latin typeface="Aptos" panose="020B0004020202020204" pitchFamily="34" charset="0"/>
            </a:endParaRPr>
          </a:p>
        </p:txBody>
      </p:sp>
      <p:sp>
        <p:nvSpPr>
          <p:cNvPr id="12" name="Text 12">
            <a:extLst>
              <a:ext uri="{FF2B5EF4-FFF2-40B4-BE49-F238E27FC236}">
                <a16:creationId xmlns:a16="http://schemas.microsoft.com/office/drawing/2014/main" id="{F0791B87-1E15-7CF4-34CD-575B20F31649}"/>
              </a:ext>
            </a:extLst>
          </p:cNvPr>
          <p:cNvSpPr txBox="1"/>
          <p:nvPr/>
        </p:nvSpPr>
        <p:spPr>
          <a:xfrm>
            <a:off x="4642104" y="3520440"/>
            <a:ext cx="1426464" cy="457200"/>
          </a:xfrm>
          <a:prstGeom prst="rect">
            <a:avLst/>
          </a:prstGeom>
          <a:noFill/>
          <a:ln/>
        </p:spPr>
        <p:txBody>
          <a:bodyPr wrap="square" lIns="0" tIns="0" rIns="0" bIns="0" rtlCol="0" anchor="ctr"/>
          <a:lstStyle>
            <a:defPPr>
              <a:defRPr kern="0"/>
            </a:defPPr>
          </a:lstStyle>
          <a:p>
            <a:pPr marL="0" indent="0" algn="ctr">
              <a:buNone/>
            </a:pPr>
            <a:r>
              <a:rPr lang="en-US" sz="1400" dirty="0">
                <a:solidFill>
                  <a:schemeClr val="tx1"/>
                </a:solidFill>
                <a:latin typeface="Aptos" panose="020B0004020202020204" pitchFamily="34" charset="0"/>
                <a:ea typeface="Calibri" pitchFamily="34" charset="-122"/>
                <a:cs typeface="Calibri" pitchFamily="34" charset="-120"/>
              </a:rPr>
              <a:t>Ship Date</a:t>
            </a:r>
            <a:endParaRPr lang="en-US" sz="1400" dirty="0">
              <a:solidFill>
                <a:schemeClr val="tx1"/>
              </a:solidFill>
              <a:latin typeface="Aptos" panose="020B0004020202020204" pitchFamily="34" charset="0"/>
            </a:endParaRPr>
          </a:p>
        </p:txBody>
      </p:sp>
      <p:sp>
        <p:nvSpPr>
          <p:cNvPr id="13" name="Text 14">
            <a:extLst>
              <a:ext uri="{FF2B5EF4-FFF2-40B4-BE49-F238E27FC236}">
                <a16:creationId xmlns:a16="http://schemas.microsoft.com/office/drawing/2014/main" id="{2B33E9A1-1653-52E2-0AD9-C293AE2288FE}"/>
              </a:ext>
            </a:extLst>
          </p:cNvPr>
          <p:cNvSpPr txBox="1"/>
          <p:nvPr/>
        </p:nvSpPr>
        <p:spPr>
          <a:xfrm>
            <a:off x="6150864" y="2606040"/>
            <a:ext cx="1371600" cy="365760"/>
          </a:xfrm>
          <a:prstGeom prst="rect">
            <a:avLst/>
          </a:prstGeom>
          <a:noFill/>
          <a:ln/>
        </p:spPr>
        <p:txBody>
          <a:bodyPr wrap="square" lIns="0" tIns="0" rIns="0" bIns="0" rtlCol="0" anchor="ctr"/>
          <a:lstStyle>
            <a:defPPr>
              <a:defRPr kern="0"/>
            </a:defPPr>
          </a:lstStyle>
          <a:p>
            <a:pPr marL="0" indent="0" algn="ctr">
              <a:buNone/>
            </a:pPr>
            <a:r>
              <a:rPr lang="en-US" sz="1400" b="1" dirty="0">
                <a:solidFill>
                  <a:srgbClr val="1F2A44"/>
                </a:solidFill>
                <a:latin typeface="Aptos" panose="020B0004020202020204" pitchFamily="34" charset="0"/>
                <a:ea typeface="Calibri" pitchFamily="34" charset="-122"/>
                <a:cs typeface="Calibri" pitchFamily="34" charset="-120"/>
              </a:rPr>
              <a:t>Nov 27</a:t>
            </a:r>
            <a:endParaRPr lang="en-US" sz="1400" dirty="0">
              <a:latin typeface="Aptos" panose="020B0004020202020204" pitchFamily="34" charset="0"/>
            </a:endParaRPr>
          </a:p>
        </p:txBody>
      </p:sp>
      <p:sp>
        <p:nvSpPr>
          <p:cNvPr id="14" name="Text 15">
            <a:extLst>
              <a:ext uri="{FF2B5EF4-FFF2-40B4-BE49-F238E27FC236}">
                <a16:creationId xmlns:a16="http://schemas.microsoft.com/office/drawing/2014/main" id="{F663D28A-E8A1-5645-D34C-E36353C6E5D7}"/>
              </a:ext>
            </a:extLst>
          </p:cNvPr>
          <p:cNvSpPr txBox="1"/>
          <p:nvPr/>
        </p:nvSpPr>
        <p:spPr>
          <a:xfrm>
            <a:off x="6123432" y="3520440"/>
            <a:ext cx="1426464" cy="457200"/>
          </a:xfrm>
          <a:prstGeom prst="rect">
            <a:avLst/>
          </a:prstGeom>
          <a:noFill/>
          <a:ln/>
        </p:spPr>
        <p:txBody>
          <a:bodyPr wrap="square" lIns="0" tIns="0" rIns="0" bIns="0" rtlCol="0" anchor="ctr"/>
          <a:lstStyle>
            <a:defPPr>
              <a:defRPr kern="0"/>
            </a:defPPr>
          </a:lstStyle>
          <a:p>
            <a:pPr marL="0" indent="0" algn="ctr">
              <a:buNone/>
            </a:pPr>
            <a:r>
              <a:rPr lang="en-US" sz="1400" dirty="0">
                <a:solidFill>
                  <a:schemeClr val="tx1"/>
                </a:solidFill>
                <a:latin typeface="Aptos" panose="020B0004020202020204" pitchFamily="34" charset="0"/>
                <a:ea typeface="Calibri" pitchFamily="34" charset="-122"/>
                <a:cs typeface="Calibri" pitchFamily="34" charset="-120"/>
              </a:rPr>
              <a:t>Dock Date</a:t>
            </a:r>
            <a:endParaRPr lang="en-US" sz="1400" dirty="0">
              <a:solidFill>
                <a:schemeClr val="tx1"/>
              </a:solidFill>
              <a:latin typeface="Aptos" panose="020B0004020202020204" pitchFamily="34" charset="0"/>
            </a:endParaRPr>
          </a:p>
        </p:txBody>
      </p:sp>
      <p:sp>
        <p:nvSpPr>
          <p:cNvPr id="15" name="Text 17">
            <a:extLst>
              <a:ext uri="{FF2B5EF4-FFF2-40B4-BE49-F238E27FC236}">
                <a16:creationId xmlns:a16="http://schemas.microsoft.com/office/drawing/2014/main" id="{873D9FD3-8D08-2173-8724-C94637077B8C}"/>
              </a:ext>
            </a:extLst>
          </p:cNvPr>
          <p:cNvSpPr txBox="1"/>
          <p:nvPr/>
        </p:nvSpPr>
        <p:spPr>
          <a:xfrm>
            <a:off x="7632192" y="2606040"/>
            <a:ext cx="1371600" cy="365760"/>
          </a:xfrm>
          <a:prstGeom prst="rect">
            <a:avLst/>
          </a:prstGeom>
          <a:noFill/>
          <a:ln/>
        </p:spPr>
        <p:txBody>
          <a:bodyPr wrap="square" lIns="0" tIns="0" rIns="0" bIns="0" rtlCol="0" anchor="ctr"/>
          <a:lstStyle>
            <a:defPPr>
              <a:defRPr kern="0"/>
            </a:defPPr>
          </a:lstStyle>
          <a:p>
            <a:pPr marL="0" indent="0" algn="ctr">
              <a:buNone/>
            </a:pPr>
            <a:r>
              <a:rPr lang="en-US" sz="1400" b="1" dirty="0">
                <a:solidFill>
                  <a:srgbClr val="1F2A44"/>
                </a:solidFill>
                <a:latin typeface="Aptos" panose="020B0004020202020204" pitchFamily="34" charset="0"/>
                <a:ea typeface="Calibri" pitchFamily="34" charset="-122"/>
                <a:cs typeface="Calibri" pitchFamily="34" charset="-120"/>
              </a:rPr>
              <a:t>Nov 28</a:t>
            </a:r>
            <a:endParaRPr lang="en-US" sz="1400" dirty="0">
              <a:latin typeface="Aptos" panose="020B0004020202020204" pitchFamily="34" charset="0"/>
            </a:endParaRPr>
          </a:p>
        </p:txBody>
      </p:sp>
      <p:sp>
        <p:nvSpPr>
          <p:cNvPr id="16" name="Text 18">
            <a:extLst>
              <a:ext uri="{FF2B5EF4-FFF2-40B4-BE49-F238E27FC236}">
                <a16:creationId xmlns:a16="http://schemas.microsoft.com/office/drawing/2014/main" id="{89A3D841-43BF-1EB5-D8B3-871033CA1FAD}"/>
              </a:ext>
            </a:extLst>
          </p:cNvPr>
          <p:cNvSpPr txBox="1"/>
          <p:nvPr/>
        </p:nvSpPr>
        <p:spPr>
          <a:xfrm>
            <a:off x="7604760" y="3520440"/>
            <a:ext cx="1426464" cy="457200"/>
          </a:xfrm>
          <a:prstGeom prst="rect">
            <a:avLst/>
          </a:prstGeom>
          <a:noFill/>
          <a:ln/>
        </p:spPr>
        <p:txBody>
          <a:bodyPr wrap="square" lIns="0" tIns="0" rIns="0" bIns="0" rtlCol="0" anchor="ctr"/>
          <a:lstStyle>
            <a:defPPr>
              <a:defRPr kern="0"/>
            </a:defPPr>
          </a:lstStyle>
          <a:p>
            <a:pPr marL="0" indent="0" algn="ctr">
              <a:buNone/>
            </a:pPr>
            <a:r>
              <a:rPr lang="en-US" sz="1400" dirty="0">
                <a:solidFill>
                  <a:schemeClr val="tx1"/>
                </a:solidFill>
                <a:latin typeface="Aptos" panose="020B0004020202020204" pitchFamily="34" charset="0"/>
                <a:ea typeface="Calibri" pitchFamily="34" charset="-122"/>
                <a:cs typeface="Calibri" pitchFamily="34" charset="-120"/>
              </a:rPr>
              <a:t>Due / Stock Date</a:t>
            </a:r>
            <a:endParaRPr lang="en-US" sz="1400" dirty="0">
              <a:solidFill>
                <a:schemeClr val="tx1"/>
              </a:solidFill>
              <a:latin typeface="Aptos" panose="020B0004020202020204" pitchFamily="34" charset="0"/>
            </a:endParaRPr>
          </a:p>
        </p:txBody>
      </p:sp>
      <p:sp>
        <p:nvSpPr>
          <p:cNvPr id="17" name="Text 20">
            <a:extLst>
              <a:ext uri="{FF2B5EF4-FFF2-40B4-BE49-F238E27FC236}">
                <a16:creationId xmlns:a16="http://schemas.microsoft.com/office/drawing/2014/main" id="{D43ED7D5-B1B6-9504-9B0E-B8B299BB0673}"/>
              </a:ext>
            </a:extLst>
          </p:cNvPr>
          <p:cNvSpPr txBox="1"/>
          <p:nvPr/>
        </p:nvSpPr>
        <p:spPr>
          <a:xfrm>
            <a:off x="9113520" y="2606040"/>
            <a:ext cx="1371600" cy="365760"/>
          </a:xfrm>
          <a:prstGeom prst="rect">
            <a:avLst/>
          </a:prstGeom>
          <a:noFill/>
          <a:ln/>
        </p:spPr>
        <p:txBody>
          <a:bodyPr wrap="square" lIns="0" tIns="0" rIns="0" bIns="0" rtlCol="0" anchor="ctr"/>
          <a:lstStyle>
            <a:defPPr>
              <a:defRPr kern="0"/>
            </a:defPPr>
          </a:lstStyle>
          <a:p>
            <a:pPr marL="0" indent="0" algn="ctr">
              <a:buNone/>
            </a:pPr>
            <a:r>
              <a:rPr lang="en-US" sz="1400" b="1" dirty="0">
                <a:solidFill>
                  <a:srgbClr val="1F2A44"/>
                </a:solidFill>
                <a:latin typeface="Aptos" panose="020B0004020202020204" pitchFamily="34" charset="0"/>
                <a:ea typeface="Calibri" pitchFamily="34" charset="-122"/>
                <a:cs typeface="Calibri" pitchFamily="34" charset="-120"/>
              </a:rPr>
              <a:t>Nov 30</a:t>
            </a:r>
            <a:endParaRPr lang="en-US" sz="1400" dirty="0">
              <a:latin typeface="Aptos" panose="020B0004020202020204" pitchFamily="34" charset="0"/>
            </a:endParaRPr>
          </a:p>
        </p:txBody>
      </p:sp>
      <p:sp>
        <p:nvSpPr>
          <p:cNvPr id="18" name="Text 21">
            <a:extLst>
              <a:ext uri="{FF2B5EF4-FFF2-40B4-BE49-F238E27FC236}">
                <a16:creationId xmlns:a16="http://schemas.microsoft.com/office/drawing/2014/main" id="{CB7350FE-CF99-4C15-6885-802668F881DF}"/>
              </a:ext>
            </a:extLst>
          </p:cNvPr>
          <p:cNvSpPr txBox="1"/>
          <p:nvPr/>
        </p:nvSpPr>
        <p:spPr>
          <a:xfrm>
            <a:off x="9086088" y="3520440"/>
            <a:ext cx="1426464" cy="457200"/>
          </a:xfrm>
          <a:prstGeom prst="rect">
            <a:avLst/>
          </a:prstGeom>
          <a:noFill/>
          <a:ln/>
        </p:spPr>
        <p:txBody>
          <a:bodyPr wrap="square" lIns="0" tIns="0" rIns="0" bIns="0" rtlCol="0" anchor="ctr"/>
          <a:lstStyle>
            <a:defPPr>
              <a:defRPr kern="0"/>
            </a:defPPr>
          </a:lstStyle>
          <a:p>
            <a:pPr marL="0" indent="0" algn="ctr">
              <a:buNone/>
            </a:pPr>
            <a:r>
              <a:rPr lang="en-US" sz="1400" dirty="0">
                <a:solidFill>
                  <a:schemeClr val="tx1"/>
                </a:solidFill>
                <a:latin typeface="Aptos" panose="020B0004020202020204" pitchFamily="34" charset="0"/>
                <a:ea typeface="Calibri" pitchFamily="34" charset="-122"/>
                <a:cs typeface="Calibri" pitchFamily="34" charset="-120"/>
              </a:rPr>
              <a:t>Demand Date</a:t>
            </a:r>
            <a:endParaRPr lang="en-US" sz="1400" dirty="0">
              <a:solidFill>
                <a:schemeClr val="tx1"/>
              </a:solidFill>
              <a:latin typeface="Aptos" panose="020B0004020202020204" pitchFamily="34" charset="0"/>
            </a:endParaRPr>
          </a:p>
        </p:txBody>
      </p:sp>
      <p:sp>
        <p:nvSpPr>
          <p:cNvPr id="19" name="Text 23">
            <a:extLst>
              <a:ext uri="{FF2B5EF4-FFF2-40B4-BE49-F238E27FC236}">
                <a16:creationId xmlns:a16="http://schemas.microsoft.com/office/drawing/2014/main" id="{9F8DFC77-5808-D58A-B75D-2E43761135EE}"/>
              </a:ext>
            </a:extLst>
          </p:cNvPr>
          <p:cNvSpPr txBox="1"/>
          <p:nvPr/>
        </p:nvSpPr>
        <p:spPr>
          <a:xfrm>
            <a:off x="2456688" y="4160520"/>
            <a:ext cx="1353312" cy="685800"/>
          </a:xfrm>
          <a:prstGeom prst="rect">
            <a:avLst/>
          </a:prstGeom>
          <a:noFill/>
          <a:ln/>
        </p:spPr>
        <p:txBody>
          <a:bodyPr wrap="square" lIns="0" tIns="0" rIns="0" bIns="0" rtlCol="0" anchor="ctr"/>
          <a:lstStyle>
            <a:defPPr>
              <a:defRPr kern="0"/>
            </a:defPPr>
          </a:lstStyle>
          <a:p>
            <a:pPr marL="0" indent="0" algn="ctr">
              <a:buNone/>
            </a:pPr>
            <a:r>
              <a:rPr lang="en-US" sz="1200" b="1" dirty="0">
                <a:solidFill>
                  <a:srgbClr val="1F2A44"/>
                </a:solidFill>
                <a:latin typeface="Aptos" panose="020B0004020202020204" pitchFamily="34" charset="0"/>
                <a:ea typeface="Calibri" pitchFamily="34" charset="-122"/>
                <a:cs typeface="Calibri" pitchFamily="34" charset="-120"/>
              </a:rPr>
              <a:t>Build time</a:t>
            </a:r>
            <a:endParaRPr lang="en-US" sz="1200" dirty="0">
              <a:latin typeface="Aptos" panose="020B0004020202020204" pitchFamily="34" charset="0"/>
            </a:endParaRPr>
          </a:p>
          <a:p>
            <a:pPr marL="0" indent="0" algn="ctr">
              <a:buNone/>
            </a:pPr>
            <a:r>
              <a:rPr lang="en-US" sz="1200" b="1" dirty="0">
                <a:solidFill>
                  <a:srgbClr val="1F2A44"/>
                </a:solidFill>
                <a:latin typeface="Aptos" panose="020B0004020202020204" pitchFamily="34" charset="0"/>
                <a:ea typeface="Calibri" pitchFamily="34" charset="-122"/>
                <a:cs typeface="Calibri" pitchFamily="34" charset="-120"/>
              </a:rPr>
              <a:t>4 days</a:t>
            </a:r>
            <a:endParaRPr lang="en-US" sz="1200" dirty="0">
              <a:latin typeface="Aptos" panose="020B0004020202020204" pitchFamily="34" charset="0"/>
            </a:endParaRPr>
          </a:p>
        </p:txBody>
      </p:sp>
      <p:sp>
        <p:nvSpPr>
          <p:cNvPr id="20" name="Text 25">
            <a:extLst>
              <a:ext uri="{FF2B5EF4-FFF2-40B4-BE49-F238E27FC236}">
                <a16:creationId xmlns:a16="http://schemas.microsoft.com/office/drawing/2014/main" id="{12E340CB-74A0-2288-0BF6-8E8B1CD01100}"/>
              </a:ext>
            </a:extLst>
          </p:cNvPr>
          <p:cNvSpPr txBox="1"/>
          <p:nvPr/>
        </p:nvSpPr>
        <p:spPr>
          <a:xfrm>
            <a:off x="3938016" y="4160520"/>
            <a:ext cx="1353312" cy="685800"/>
          </a:xfrm>
          <a:prstGeom prst="rect">
            <a:avLst/>
          </a:prstGeom>
          <a:noFill/>
          <a:ln/>
        </p:spPr>
        <p:txBody>
          <a:bodyPr wrap="square" lIns="0" tIns="0" rIns="0" bIns="0" rtlCol="0" anchor="ctr"/>
          <a:lstStyle>
            <a:defPPr>
              <a:defRPr kern="0"/>
            </a:defPPr>
          </a:lstStyle>
          <a:p>
            <a:pPr marL="0" indent="0" algn="ctr">
              <a:buNone/>
            </a:pPr>
            <a:r>
              <a:rPr lang="en-US" sz="1200" b="1" dirty="0">
                <a:solidFill>
                  <a:srgbClr val="1F2A44"/>
                </a:solidFill>
                <a:latin typeface="Aptos" panose="020B0004020202020204" pitchFamily="34" charset="0"/>
                <a:ea typeface="Calibri" pitchFamily="34" charset="-122"/>
                <a:cs typeface="Calibri" pitchFamily="34" charset="-120"/>
              </a:rPr>
              <a:t>Pack &amp; ship prep</a:t>
            </a:r>
            <a:endParaRPr lang="en-US" sz="1200" dirty="0">
              <a:latin typeface="Aptos" panose="020B0004020202020204" pitchFamily="34" charset="0"/>
            </a:endParaRPr>
          </a:p>
          <a:p>
            <a:pPr marL="0" indent="0" algn="ctr">
              <a:buNone/>
            </a:pPr>
            <a:r>
              <a:rPr lang="en-US" sz="1200" b="1" dirty="0">
                <a:solidFill>
                  <a:srgbClr val="1F2A44"/>
                </a:solidFill>
                <a:latin typeface="Aptos" panose="020B0004020202020204" pitchFamily="34" charset="0"/>
                <a:ea typeface="Calibri" pitchFamily="34" charset="-122"/>
                <a:cs typeface="Calibri" pitchFamily="34" charset="-120"/>
              </a:rPr>
              <a:t>1 day</a:t>
            </a:r>
            <a:endParaRPr lang="en-US" sz="1200" dirty="0">
              <a:latin typeface="Aptos" panose="020B0004020202020204" pitchFamily="34" charset="0"/>
            </a:endParaRPr>
          </a:p>
        </p:txBody>
      </p:sp>
      <p:sp>
        <p:nvSpPr>
          <p:cNvPr id="21" name="Text 27">
            <a:extLst>
              <a:ext uri="{FF2B5EF4-FFF2-40B4-BE49-F238E27FC236}">
                <a16:creationId xmlns:a16="http://schemas.microsoft.com/office/drawing/2014/main" id="{01B1568F-7A55-A8CC-7190-81BB23506722}"/>
              </a:ext>
            </a:extLst>
          </p:cNvPr>
          <p:cNvSpPr txBox="1"/>
          <p:nvPr/>
        </p:nvSpPr>
        <p:spPr>
          <a:xfrm>
            <a:off x="5419344" y="4160520"/>
            <a:ext cx="1353312" cy="685800"/>
          </a:xfrm>
          <a:prstGeom prst="rect">
            <a:avLst/>
          </a:prstGeom>
          <a:noFill/>
          <a:ln/>
        </p:spPr>
        <p:txBody>
          <a:bodyPr wrap="square" lIns="0" tIns="0" rIns="0" bIns="0" rtlCol="0" anchor="ctr"/>
          <a:lstStyle>
            <a:defPPr>
              <a:defRPr kern="0"/>
            </a:defPPr>
          </a:lstStyle>
          <a:p>
            <a:pPr marL="0" indent="0" algn="ctr">
              <a:buNone/>
            </a:pPr>
            <a:r>
              <a:rPr lang="en-US" sz="1200" b="1" dirty="0">
                <a:solidFill>
                  <a:srgbClr val="1F2A44"/>
                </a:solidFill>
                <a:latin typeface="Aptos" panose="020B0004020202020204" pitchFamily="34" charset="0"/>
                <a:ea typeface="Calibri" pitchFamily="34" charset="-122"/>
                <a:cs typeface="Calibri" pitchFamily="34" charset="-120"/>
              </a:rPr>
              <a:t>Transit</a:t>
            </a:r>
            <a:endParaRPr lang="en-US" sz="1200" dirty="0">
              <a:latin typeface="Aptos" panose="020B0004020202020204" pitchFamily="34" charset="0"/>
            </a:endParaRPr>
          </a:p>
          <a:p>
            <a:pPr marL="0" indent="0" algn="ctr">
              <a:buNone/>
            </a:pPr>
            <a:r>
              <a:rPr lang="en-US" sz="1200" b="1" dirty="0">
                <a:solidFill>
                  <a:srgbClr val="1F2A44"/>
                </a:solidFill>
                <a:latin typeface="Aptos" panose="020B0004020202020204" pitchFamily="34" charset="0"/>
                <a:ea typeface="Calibri" pitchFamily="34" charset="-122"/>
                <a:cs typeface="Calibri" pitchFamily="34" charset="-120"/>
              </a:rPr>
              <a:t>10 days</a:t>
            </a:r>
            <a:endParaRPr lang="en-US" sz="1200" dirty="0">
              <a:latin typeface="Aptos" panose="020B0004020202020204" pitchFamily="34" charset="0"/>
            </a:endParaRPr>
          </a:p>
        </p:txBody>
      </p:sp>
      <p:sp>
        <p:nvSpPr>
          <p:cNvPr id="22" name="Text 29">
            <a:extLst>
              <a:ext uri="{FF2B5EF4-FFF2-40B4-BE49-F238E27FC236}">
                <a16:creationId xmlns:a16="http://schemas.microsoft.com/office/drawing/2014/main" id="{D2348421-2E9E-6722-EC56-74F253C9274B}"/>
              </a:ext>
            </a:extLst>
          </p:cNvPr>
          <p:cNvSpPr txBox="1"/>
          <p:nvPr/>
        </p:nvSpPr>
        <p:spPr>
          <a:xfrm>
            <a:off x="6900672" y="4160520"/>
            <a:ext cx="1353312" cy="685800"/>
          </a:xfrm>
          <a:prstGeom prst="rect">
            <a:avLst/>
          </a:prstGeom>
          <a:noFill/>
          <a:ln/>
        </p:spPr>
        <p:txBody>
          <a:bodyPr wrap="square" lIns="0" tIns="0" rIns="0" bIns="0" rtlCol="0" anchor="ctr"/>
          <a:lstStyle>
            <a:defPPr>
              <a:defRPr kern="0"/>
            </a:defPPr>
          </a:lstStyle>
          <a:p>
            <a:pPr marL="0" indent="0" algn="ctr">
              <a:buNone/>
            </a:pPr>
            <a:r>
              <a:rPr lang="en-US" sz="1200" b="1" dirty="0">
                <a:solidFill>
                  <a:srgbClr val="1F2A44"/>
                </a:solidFill>
                <a:latin typeface="Aptos" panose="020B0004020202020204" pitchFamily="34" charset="0"/>
                <a:ea typeface="Calibri" pitchFamily="34" charset="-122"/>
                <a:cs typeface="Calibri" pitchFamily="34" charset="-120"/>
              </a:rPr>
              <a:t>Dock-to-stock</a:t>
            </a:r>
            <a:endParaRPr lang="en-US" sz="1200" dirty="0">
              <a:latin typeface="Aptos" panose="020B0004020202020204" pitchFamily="34" charset="0"/>
            </a:endParaRPr>
          </a:p>
          <a:p>
            <a:pPr marL="0" indent="0" algn="ctr">
              <a:buNone/>
            </a:pPr>
            <a:r>
              <a:rPr lang="en-US" sz="1200" b="1" dirty="0">
                <a:solidFill>
                  <a:srgbClr val="1F2A44"/>
                </a:solidFill>
                <a:latin typeface="Aptos" panose="020B0004020202020204" pitchFamily="34" charset="0"/>
                <a:ea typeface="Calibri" pitchFamily="34" charset="-122"/>
                <a:cs typeface="Calibri" pitchFamily="34" charset="-120"/>
              </a:rPr>
              <a:t>1 day</a:t>
            </a:r>
            <a:endParaRPr lang="en-US" sz="1200" dirty="0">
              <a:latin typeface="Aptos" panose="020B0004020202020204" pitchFamily="34" charset="0"/>
            </a:endParaRPr>
          </a:p>
        </p:txBody>
      </p:sp>
      <p:sp>
        <p:nvSpPr>
          <p:cNvPr id="23" name="Text 31">
            <a:extLst>
              <a:ext uri="{FF2B5EF4-FFF2-40B4-BE49-F238E27FC236}">
                <a16:creationId xmlns:a16="http://schemas.microsoft.com/office/drawing/2014/main" id="{0198DC4B-EED7-94D7-6664-5C9C0FD09B86}"/>
              </a:ext>
            </a:extLst>
          </p:cNvPr>
          <p:cNvSpPr txBox="1"/>
          <p:nvPr/>
        </p:nvSpPr>
        <p:spPr>
          <a:xfrm>
            <a:off x="8382000" y="4160520"/>
            <a:ext cx="1353312" cy="685800"/>
          </a:xfrm>
          <a:prstGeom prst="rect">
            <a:avLst/>
          </a:prstGeom>
          <a:noFill/>
          <a:ln/>
        </p:spPr>
        <p:txBody>
          <a:bodyPr wrap="square" lIns="0" tIns="0" rIns="0" bIns="0" rtlCol="0" anchor="ctr"/>
          <a:lstStyle>
            <a:defPPr>
              <a:defRPr kern="0"/>
            </a:defPPr>
          </a:lstStyle>
          <a:p>
            <a:pPr marL="0" indent="0" algn="ctr">
              <a:buNone/>
            </a:pPr>
            <a:r>
              <a:rPr lang="en-US" sz="1200" b="1" dirty="0">
                <a:solidFill>
                  <a:srgbClr val="1F2A44"/>
                </a:solidFill>
                <a:latin typeface="Aptos" panose="020B0004020202020204" pitchFamily="34" charset="0"/>
                <a:ea typeface="Calibri" pitchFamily="34" charset="-122"/>
                <a:cs typeface="Calibri" pitchFamily="34" charset="-120"/>
              </a:rPr>
              <a:t>Safety lead time</a:t>
            </a:r>
            <a:endParaRPr lang="en-US" sz="1200" dirty="0">
              <a:latin typeface="Aptos" panose="020B0004020202020204" pitchFamily="34" charset="0"/>
            </a:endParaRPr>
          </a:p>
          <a:p>
            <a:pPr marL="0" indent="0" algn="ctr">
              <a:buNone/>
            </a:pPr>
            <a:r>
              <a:rPr lang="en-US" sz="1200" b="1" dirty="0">
                <a:solidFill>
                  <a:srgbClr val="1F2A44"/>
                </a:solidFill>
                <a:latin typeface="Aptos" panose="020B0004020202020204" pitchFamily="34" charset="0"/>
                <a:ea typeface="Calibri" pitchFamily="34" charset="-122"/>
                <a:cs typeface="Calibri" pitchFamily="34" charset="-120"/>
              </a:rPr>
              <a:t>2 days</a:t>
            </a:r>
            <a:endParaRPr lang="en-US" sz="1200" dirty="0">
              <a:latin typeface="Aptos" panose="020B0004020202020204" pitchFamily="34" charset="0"/>
            </a:endParaRPr>
          </a:p>
        </p:txBody>
      </p:sp>
      <p:sp>
        <p:nvSpPr>
          <p:cNvPr id="24" name="Text 32">
            <a:extLst>
              <a:ext uri="{FF2B5EF4-FFF2-40B4-BE49-F238E27FC236}">
                <a16:creationId xmlns:a16="http://schemas.microsoft.com/office/drawing/2014/main" id="{42BC4E50-B4CF-06A1-CB38-8C88DB049445}"/>
              </a:ext>
            </a:extLst>
          </p:cNvPr>
          <p:cNvSpPr txBox="1"/>
          <p:nvPr/>
        </p:nvSpPr>
        <p:spPr>
          <a:xfrm>
            <a:off x="2072640" y="5074920"/>
            <a:ext cx="8046720" cy="411480"/>
          </a:xfrm>
          <a:prstGeom prst="rect">
            <a:avLst/>
          </a:prstGeom>
          <a:noFill/>
          <a:ln/>
        </p:spPr>
        <p:txBody>
          <a:bodyPr wrap="square" lIns="0" tIns="0" rIns="0" bIns="0" rtlCol="0" anchor="ctr"/>
          <a:lstStyle>
            <a:defPPr>
              <a:defRPr kern="0"/>
            </a:defPPr>
          </a:lstStyle>
          <a:p>
            <a:pPr marL="0" indent="0">
              <a:buNone/>
            </a:pPr>
            <a:r>
              <a:rPr lang="en-US" sz="1400" b="1" dirty="0">
                <a:solidFill>
                  <a:schemeClr val="tx1"/>
                </a:solidFill>
                <a:latin typeface="Aptos" panose="020B0004020202020204" pitchFamily="34" charset="0"/>
                <a:ea typeface="Calibri" pitchFamily="34" charset="-122"/>
                <a:cs typeface="Calibri" pitchFamily="34" charset="-120"/>
              </a:rPr>
              <a:t>Total lead time = 4 + 1 + 10 + 1 + 2 = 18 days.</a:t>
            </a:r>
            <a:endParaRPr lang="en-US" sz="1400" dirty="0">
              <a:solidFill>
                <a:schemeClr val="tx1"/>
              </a:solidFill>
              <a:latin typeface="Aptos" panose="020B0004020202020204" pitchFamily="34" charset="0"/>
            </a:endParaRPr>
          </a:p>
        </p:txBody>
      </p:sp>
      <p:sp>
        <p:nvSpPr>
          <p:cNvPr id="48" name="Oval 47">
            <a:extLst>
              <a:ext uri="{FF2B5EF4-FFF2-40B4-BE49-F238E27FC236}">
                <a16:creationId xmlns:a16="http://schemas.microsoft.com/office/drawing/2014/main" id="{0AE97C12-52F2-091C-C92B-3A7104616B2E}"/>
              </a:ext>
            </a:extLst>
          </p:cNvPr>
          <p:cNvSpPr/>
          <p:nvPr/>
        </p:nvSpPr>
        <p:spPr>
          <a:xfrm>
            <a:off x="2181908" y="3158993"/>
            <a:ext cx="274320" cy="2743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601FF821-7901-0BA3-95A1-F0F1CA670002}"/>
              </a:ext>
            </a:extLst>
          </p:cNvPr>
          <p:cNvSpPr/>
          <p:nvPr/>
        </p:nvSpPr>
        <p:spPr>
          <a:xfrm>
            <a:off x="3734662" y="3158992"/>
            <a:ext cx="274320" cy="2743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D3EFDCE8-96BF-3674-359F-7019604A226A}"/>
              </a:ext>
            </a:extLst>
          </p:cNvPr>
          <p:cNvSpPr/>
          <p:nvPr/>
        </p:nvSpPr>
        <p:spPr>
          <a:xfrm>
            <a:off x="5215530" y="3158993"/>
            <a:ext cx="274320" cy="2743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56FD581C-77ED-8297-20AF-83B039CFDCBF}"/>
              </a:ext>
            </a:extLst>
          </p:cNvPr>
          <p:cNvSpPr/>
          <p:nvPr/>
        </p:nvSpPr>
        <p:spPr>
          <a:xfrm>
            <a:off x="6696398" y="3158992"/>
            <a:ext cx="274320" cy="2743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A8A0501E-16F4-174E-BEDB-8E492A3B4D49}"/>
              </a:ext>
            </a:extLst>
          </p:cNvPr>
          <p:cNvSpPr/>
          <p:nvPr/>
        </p:nvSpPr>
        <p:spPr>
          <a:xfrm>
            <a:off x="8177266" y="3158993"/>
            <a:ext cx="274320" cy="2743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F729AE46-7ECD-955C-FA70-A3DEE3C03D13}"/>
              </a:ext>
            </a:extLst>
          </p:cNvPr>
          <p:cNvSpPr/>
          <p:nvPr/>
        </p:nvSpPr>
        <p:spPr>
          <a:xfrm>
            <a:off x="9672511" y="3158992"/>
            <a:ext cx="274320" cy="27432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366026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429B9C-2D75-6466-5A13-FF44CAC8B771}"/>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95E9F08A-234E-AF42-574C-2E9648B87B62}"/>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C1AB1650-3FA2-3AC6-AF5C-8650EC6C182F}"/>
              </a:ext>
            </a:extLst>
          </p:cNvPr>
          <p:cNvPicPr>
            <a:picLocks noChangeAspect="1"/>
          </p:cNvPicPr>
          <p:nvPr/>
        </p:nvPicPr>
        <p:blipFill>
          <a:blip r:embed="rId3"/>
          <a:stretch>
            <a:fillRect/>
          </a:stretch>
        </p:blipFill>
        <p:spPr>
          <a:xfrm>
            <a:off x="9181381" y="65406"/>
            <a:ext cx="2743200" cy="717452"/>
          </a:xfrm>
          <a:prstGeom prst="rect">
            <a:avLst/>
          </a:prstGeom>
        </p:spPr>
      </p:pic>
      <p:sp>
        <p:nvSpPr>
          <p:cNvPr id="2" name="object 6">
            <a:extLst>
              <a:ext uri="{FF2B5EF4-FFF2-40B4-BE49-F238E27FC236}">
                <a16:creationId xmlns:a16="http://schemas.microsoft.com/office/drawing/2014/main" id="{6F12144C-B9DD-05A5-71E0-37D968A6E24E}"/>
              </a:ext>
            </a:extLst>
          </p:cNvPr>
          <p:cNvSpPr txBox="1"/>
          <p:nvPr/>
        </p:nvSpPr>
        <p:spPr>
          <a:xfrm>
            <a:off x="378467" y="762000"/>
            <a:ext cx="9601200" cy="1603003"/>
          </a:xfrm>
          <a:prstGeom prst="rect">
            <a:avLst/>
          </a:prstGeom>
        </p:spPr>
        <p:txBody>
          <a:bodyPr vert="horz" wrap="square" lIns="0" tIns="12700" rIns="0" bIns="0" rtlCol="0">
            <a:spAutoFit/>
          </a:bodyPr>
          <a:lstStyle>
            <a:defPPr>
              <a:defRPr kern="0"/>
            </a:defPPr>
          </a:lstStyle>
          <a:p>
            <a:pPr marL="12700">
              <a:lnSpc>
                <a:spcPct val="100000"/>
              </a:lnSpc>
              <a:spcBef>
                <a:spcPts val="100"/>
              </a:spcBef>
            </a:pPr>
            <a:r>
              <a:rPr lang="en-IN" sz="2000" b="1" dirty="0">
                <a:latin typeface="Aptos"/>
                <a:cs typeface="Aptos"/>
              </a:rPr>
              <a:t>Lead Time Adjust:</a:t>
            </a:r>
          </a:p>
          <a:p>
            <a:pPr marL="12700">
              <a:lnSpc>
                <a:spcPct val="100000"/>
              </a:lnSpc>
              <a:spcBef>
                <a:spcPts val="100"/>
              </a:spcBef>
            </a:pPr>
            <a:endParaRPr lang="en-IN" sz="1600" dirty="0">
              <a:latin typeface="Aptos"/>
              <a:cs typeface="Aptos"/>
            </a:endParaRPr>
          </a:p>
          <a:p>
            <a:pPr marL="298450" indent="-285750">
              <a:lnSpc>
                <a:spcPct val="100000"/>
              </a:lnSpc>
              <a:spcBef>
                <a:spcPts val="100"/>
              </a:spcBef>
              <a:buFont typeface="Arial" panose="020B0604020202020204" pitchFamily="34" charset="0"/>
              <a:buChar char="•"/>
            </a:pPr>
            <a:r>
              <a:rPr lang="en-IN" sz="1600" dirty="0">
                <a:latin typeface="Aptos"/>
                <a:cs typeface="Aptos"/>
              </a:rPr>
              <a:t>Lead Time Adjust rule can be set from Control Table Workbook, Part Type Worksheet, and Use Lead Time Adjust Column. </a:t>
            </a:r>
          </a:p>
          <a:p>
            <a:pPr marL="298450" indent="-285750">
              <a:lnSpc>
                <a:spcPct val="100000"/>
              </a:lnSpc>
              <a:spcBef>
                <a:spcPts val="100"/>
              </a:spcBef>
              <a:buFont typeface="Arial" panose="020B0604020202020204" pitchFamily="34" charset="0"/>
              <a:buChar char="•"/>
            </a:pPr>
            <a:r>
              <a:rPr lang="en-IN" sz="1600" dirty="0">
                <a:latin typeface="Aptos"/>
                <a:cs typeface="Aptos"/>
              </a:rPr>
              <a:t>Lead Time Adjust can be set as Y/N. </a:t>
            </a:r>
          </a:p>
          <a:p>
            <a:pPr marL="298450" indent="-285750">
              <a:lnSpc>
                <a:spcPct val="100000"/>
              </a:lnSpc>
              <a:spcBef>
                <a:spcPts val="100"/>
              </a:spcBef>
              <a:buFont typeface="Arial" panose="020B0604020202020204" pitchFamily="34" charset="0"/>
              <a:buChar char="•"/>
            </a:pPr>
            <a:r>
              <a:rPr lang="en-IN" sz="1600" dirty="0">
                <a:latin typeface="Aptos"/>
                <a:cs typeface="Aptos"/>
              </a:rPr>
              <a:t>At Part Level we change for MPS/MRP values.</a:t>
            </a:r>
            <a:endParaRPr sz="1600" dirty="0">
              <a:latin typeface="Aptos"/>
              <a:cs typeface="Aptos"/>
            </a:endParaRPr>
          </a:p>
        </p:txBody>
      </p:sp>
      <p:pic>
        <p:nvPicPr>
          <p:cNvPr id="7" name="Picture 6" descr="A screenshot of a computer&#10;&#10;AI-generated content may be incorrect.">
            <a:extLst>
              <a:ext uri="{FF2B5EF4-FFF2-40B4-BE49-F238E27FC236}">
                <a16:creationId xmlns:a16="http://schemas.microsoft.com/office/drawing/2014/main" id="{9311FB91-706D-28A8-7532-BEB06571AF2C}"/>
              </a:ext>
            </a:extLst>
          </p:cNvPr>
          <p:cNvPicPr>
            <a:picLocks noChangeAspect="1"/>
          </p:cNvPicPr>
          <p:nvPr/>
        </p:nvPicPr>
        <p:blipFill>
          <a:blip r:embed="rId4"/>
          <a:stretch>
            <a:fillRect/>
          </a:stretch>
        </p:blipFill>
        <p:spPr>
          <a:xfrm>
            <a:off x="388188" y="2775449"/>
            <a:ext cx="11530642" cy="265857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9679539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E1B37A-504D-AF36-B64B-D694DE1040AD}"/>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31D1C0BF-EAA6-4A50-5531-F1DCFE482347}"/>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6D64A993-37E2-A69B-2A8A-A6483A1A2C92}"/>
              </a:ext>
            </a:extLst>
          </p:cNvPr>
          <p:cNvPicPr>
            <a:picLocks noChangeAspect="1"/>
          </p:cNvPicPr>
          <p:nvPr/>
        </p:nvPicPr>
        <p:blipFill>
          <a:blip r:embed="rId3"/>
          <a:stretch>
            <a:fillRect/>
          </a:stretch>
        </p:blipFill>
        <p:spPr>
          <a:xfrm>
            <a:off x="9181381" y="65406"/>
            <a:ext cx="2743200" cy="717452"/>
          </a:xfrm>
          <a:prstGeom prst="rect">
            <a:avLst/>
          </a:prstGeom>
        </p:spPr>
      </p:pic>
      <p:sp>
        <p:nvSpPr>
          <p:cNvPr id="2" name="object 6">
            <a:extLst>
              <a:ext uri="{FF2B5EF4-FFF2-40B4-BE49-F238E27FC236}">
                <a16:creationId xmlns:a16="http://schemas.microsoft.com/office/drawing/2014/main" id="{95FA9C7C-F23A-A245-0552-4A084E96BEA9}"/>
              </a:ext>
            </a:extLst>
          </p:cNvPr>
          <p:cNvSpPr txBox="1"/>
          <p:nvPr/>
        </p:nvSpPr>
        <p:spPr>
          <a:xfrm>
            <a:off x="377269" y="685800"/>
            <a:ext cx="9601200" cy="2380139"/>
          </a:xfrm>
          <a:prstGeom prst="rect">
            <a:avLst/>
          </a:prstGeom>
        </p:spPr>
        <p:txBody>
          <a:bodyPr vert="horz" wrap="square" lIns="0" tIns="12700" rIns="0" bIns="0" rtlCol="0">
            <a:spAutoFit/>
          </a:bodyPr>
          <a:lstStyle>
            <a:defPPr>
              <a:defRPr kern="0"/>
            </a:defPPr>
          </a:lstStyle>
          <a:p>
            <a:pPr marL="12700">
              <a:lnSpc>
                <a:spcPct val="100000"/>
              </a:lnSpc>
              <a:spcBef>
                <a:spcPts val="100"/>
              </a:spcBef>
            </a:pPr>
            <a:r>
              <a:rPr lang="en-IN" sz="2000" b="1" dirty="0">
                <a:latin typeface="Aptos"/>
                <a:cs typeface="Aptos"/>
              </a:rPr>
              <a:t>Safety Lead Time:</a:t>
            </a:r>
          </a:p>
          <a:p>
            <a:pPr marL="12700">
              <a:lnSpc>
                <a:spcPct val="100000"/>
              </a:lnSpc>
              <a:spcBef>
                <a:spcPts val="100"/>
              </a:spcBef>
            </a:pPr>
            <a:endParaRPr lang="en-IN" sz="1600" dirty="0">
              <a:latin typeface="Aptos"/>
              <a:cs typeface="Aptos"/>
            </a:endParaRPr>
          </a:p>
          <a:p>
            <a:pPr marL="12700">
              <a:lnSpc>
                <a:spcPct val="100000"/>
              </a:lnSpc>
              <a:spcBef>
                <a:spcPts val="100"/>
              </a:spcBef>
            </a:pPr>
            <a:r>
              <a:rPr lang="en-IN" sz="1600" dirty="0">
                <a:latin typeface="Aptos"/>
                <a:cs typeface="Aptos"/>
              </a:rPr>
              <a:t>Safety Lead Time rule can be set from Control Table Workbook, Part Type Worksheet, and Use Safety Lead Time Column. </a:t>
            </a:r>
          </a:p>
          <a:p>
            <a:pPr marL="12700">
              <a:lnSpc>
                <a:spcPct val="100000"/>
              </a:lnSpc>
              <a:spcBef>
                <a:spcPts val="100"/>
              </a:spcBef>
            </a:pPr>
            <a:r>
              <a:rPr lang="en-IN" sz="1600" dirty="0">
                <a:latin typeface="Aptos"/>
                <a:cs typeface="Aptos"/>
              </a:rPr>
              <a:t>Safety Lead Time can be set as:</a:t>
            </a:r>
          </a:p>
          <a:p>
            <a:pPr marL="298450" lvl="8" indent="-285750">
              <a:spcBef>
                <a:spcPts val="100"/>
              </a:spcBef>
              <a:buFont typeface="Arial" panose="020B0604020202020204" pitchFamily="34" charset="0"/>
              <a:buChar char="•"/>
            </a:pPr>
            <a:r>
              <a:rPr lang="en-IN" sz="1600" dirty="0">
                <a:latin typeface="Aptos"/>
                <a:cs typeface="Aptos"/>
              </a:rPr>
              <a:t>Y</a:t>
            </a:r>
          </a:p>
          <a:p>
            <a:pPr marL="298450" lvl="8" indent="-285750">
              <a:spcBef>
                <a:spcPts val="100"/>
              </a:spcBef>
              <a:buFont typeface="Arial" panose="020B0604020202020204" pitchFamily="34" charset="0"/>
              <a:buChar char="•"/>
            </a:pPr>
            <a:r>
              <a:rPr lang="en-IN" sz="1600" dirty="0">
                <a:latin typeface="Aptos"/>
                <a:cs typeface="Aptos"/>
              </a:rPr>
              <a:t>N</a:t>
            </a:r>
          </a:p>
          <a:p>
            <a:pPr marL="298450" lvl="8" indent="-285750">
              <a:spcBef>
                <a:spcPts val="100"/>
              </a:spcBef>
              <a:buFont typeface="Arial" panose="020B0604020202020204" pitchFamily="34" charset="0"/>
              <a:buChar char="•"/>
            </a:pPr>
            <a:r>
              <a:rPr lang="en-IN" sz="1600" dirty="0">
                <a:latin typeface="Aptos"/>
                <a:cs typeface="Aptos"/>
              </a:rPr>
              <a:t>Soft</a:t>
            </a:r>
          </a:p>
          <a:p>
            <a:pPr marL="12700">
              <a:lnSpc>
                <a:spcPct val="100000"/>
              </a:lnSpc>
              <a:spcBef>
                <a:spcPts val="100"/>
              </a:spcBef>
            </a:pPr>
            <a:r>
              <a:rPr lang="en-IN" sz="1600" dirty="0">
                <a:latin typeface="Aptos"/>
                <a:cs typeface="Aptos"/>
              </a:rPr>
              <a:t>At Part Level we change for MPS/MRP values.</a:t>
            </a:r>
            <a:endParaRPr sz="1600" dirty="0">
              <a:latin typeface="Aptos"/>
              <a:cs typeface="Aptos"/>
            </a:endParaRPr>
          </a:p>
        </p:txBody>
      </p:sp>
      <p:pic>
        <p:nvPicPr>
          <p:cNvPr id="3" name="Picture 2" descr="A screenshot of a computer&#10;&#10;AI-generated content may be incorrect.">
            <a:extLst>
              <a:ext uri="{FF2B5EF4-FFF2-40B4-BE49-F238E27FC236}">
                <a16:creationId xmlns:a16="http://schemas.microsoft.com/office/drawing/2014/main" id="{64B66128-67EB-24A8-22E7-BD7AC5B0C033}"/>
              </a:ext>
            </a:extLst>
          </p:cNvPr>
          <p:cNvPicPr>
            <a:picLocks noChangeAspect="1"/>
          </p:cNvPicPr>
          <p:nvPr/>
        </p:nvPicPr>
        <p:blipFill>
          <a:blip r:embed="rId4"/>
          <a:stretch>
            <a:fillRect/>
          </a:stretch>
        </p:blipFill>
        <p:spPr>
          <a:xfrm>
            <a:off x="373811" y="3426853"/>
            <a:ext cx="11300604" cy="272161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8813473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CF6DBC-7EBF-8534-FD18-846E6ADD4B67}"/>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77C1DE4F-8823-31F2-4FA8-C1410665D9FE}"/>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BD2F157E-4771-6930-9C22-F5DE2E2E13E7}"/>
              </a:ext>
            </a:extLst>
          </p:cNvPr>
          <p:cNvPicPr>
            <a:picLocks noChangeAspect="1"/>
          </p:cNvPicPr>
          <p:nvPr/>
        </p:nvPicPr>
        <p:blipFill>
          <a:blip r:embed="rId3"/>
          <a:stretch>
            <a:fillRect/>
          </a:stretch>
        </p:blipFill>
        <p:spPr>
          <a:xfrm>
            <a:off x="9181381" y="65406"/>
            <a:ext cx="2743200" cy="717452"/>
          </a:xfrm>
          <a:prstGeom prst="rect">
            <a:avLst/>
          </a:prstGeom>
        </p:spPr>
      </p:pic>
      <p:sp>
        <p:nvSpPr>
          <p:cNvPr id="2" name="object 6">
            <a:extLst>
              <a:ext uri="{FF2B5EF4-FFF2-40B4-BE49-F238E27FC236}">
                <a16:creationId xmlns:a16="http://schemas.microsoft.com/office/drawing/2014/main" id="{77612105-BF2A-FC3B-30B5-2EF1B23CC86F}"/>
              </a:ext>
            </a:extLst>
          </p:cNvPr>
          <p:cNvSpPr txBox="1"/>
          <p:nvPr/>
        </p:nvSpPr>
        <p:spPr>
          <a:xfrm>
            <a:off x="619124" y="1066800"/>
            <a:ext cx="9601200" cy="1874872"/>
          </a:xfrm>
          <a:prstGeom prst="rect">
            <a:avLst/>
          </a:prstGeom>
        </p:spPr>
        <p:txBody>
          <a:bodyPr vert="horz" wrap="square" lIns="0" tIns="12700" rIns="0" bIns="0" rtlCol="0">
            <a:spAutoFit/>
          </a:bodyPr>
          <a:lstStyle>
            <a:defPPr>
              <a:defRPr kern="0"/>
            </a:defPPr>
          </a:lstStyle>
          <a:p>
            <a:pPr marL="12700">
              <a:lnSpc>
                <a:spcPct val="100000"/>
              </a:lnSpc>
              <a:spcBef>
                <a:spcPts val="100"/>
              </a:spcBef>
            </a:pPr>
            <a:r>
              <a:rPr lang="en-IN" sz="2000" b="1" dirty="0">
                <a:latin typeface="Aptos"/>
                <a:cs typeface="Aptos"/>
              </a:rPr>
              <a:t>Lead Time (Fixed/Variable):</a:t>
            </a:r>
          </a:p>
          <a:p>
            <a:pPr marL="12700">
              <a:lnSpc>
                <a:spcPct val="100000"/>
              </a:lnSpc>
              <a:spcBef>
                <a:spcPts val="100"/>
              </a:spcBef>
            </a:pPr>
            <a:endParaRPr lang="en-IN" sz="1600" dirty="0">
              <a:latin typeface="Aptos"/>
              <a:cs typeface="Aptos"/>
            </a:endParaRPr>
          </a:p>
          <a:p>
            <a:pPr marL="12700">
              <a:lnSpc>
                <a:spcPct val="100000"/>
              </a:lnSpc>
              <a:spcBef>
                <a:spcPts val="100"/>
              </a:spcBef>
            </a:pPr>
            <a:r>
              <a:rPr lang="en-IN" sz="1600" dirty="0">
                <a:latin typeface="Aptos"/>
                <a:cs typeface="Aptos"/>
              </a:rPr>
              <a:t>Lead Time rule can be set from Control Table Workbook, Order Policy Worksheet, and Use Lead Time Column. </a:t>
            </a:r>
          </a:p>
          <a:p>
            <a:pPr marL="12700">
              <a:lnSpc>
                <a:spcPct val="100000"/>
              </a:lnSpc>
              <a:spcBef>
                <a:spcPts val="100"/>
              </a:spcBef>
            </a:pPr>
            <a:r>
              <a:rPr lang="en-IN" sz="1600" dirty="0">
                <a:latin typeface="Aptos"/>
                <a:cs typeface="Aptos"/>
              </a:rPr>
              <a:t>Fixed and Variable rule can be set as:</a:t>
            </a:r>
          </a:p>
          <a:p>
            <a:pPr marL="298450" lvl="8" indent="-285750">
              <a:spcBef>
                <a:spcPts val="100"/>
              </a:spcBef>
              <a:buFont typeface="Arial" panose="020B0604020202020204" pitchFamily="34" charset="0"/>
              <a:buChar char="•"/>
            </a:pPr>
            <a:r>
              <a:rPr lang="en-IN" sz="1600" dirty="0">
                <a:latin typeface="Aptos"/>
                <a:cs typeface="Aptos"/>
              </a:rPr>
              <a:t>Y</a:t>
            </a:r>
          </a:p>
          <a:p>
            <a:pPr marL="298450" lvl="8" indent="-285750">
              <a:spcBef>
                <a:spcPts val="100"/>
              </a:spcBef>
              <a:buFont typeface="Arial" panose="020B0604020202020204" pitchFamily="34" charset="0"/>
              <a:buChar char="•"/>
            </a:pPr>
            <a:r>
              <a:rPr lang="en-IN" sz="1600" dirty="0">
                <a:latin typeface="Aptos"/>
                <a:cs typeface="Aptos"/>
              </a:rPr>
              <a:t>N</a:t>
            </a:r>
          </a:p>
          <a:p>
            <a:pPr marL="12700" lvl="8">
              <a:spcBef>
                <a:spcPts val="100"/>
              </a:spcBef>
            </a:pPr>
            <a:r>
              <a:rPr lang="en-IN" sz="1600" dirty="0">
                <a:latin typeface="Aptos"/>
                <a:cs typeface="Aptos"/>
              </a:rPr>
              <a:t>Change the lead time values for Default type.</a:t>
            </a:r>
          </a:p>
        </p:txBody>
      </p:sp>
      <p:pic>
        <p:nvPicPr>
          <p:cNvPr id="3" name="Picture 2" descr="A screenshot of a computer&#10;&#10;AI-generated content may be incorrect.">
            <a:extLst>
              <a:ext uri="{FF2B5EF4-FFF2-40B4-BE49-F238E27FC236}">
                <a16:creationId xmlns:a16="http://schemas.microsoft.com/office/drawing/2014/main" id="{7F925D0A-25D2-2A64-4F3A-3D89266B3B7D}"/>
              </a:ext>
            </a:extLst>
          </p:cNvPr>
          <p:cNvPicPr>
            <a:picLocks noChangeAspect="1"/>
          </p:cNvPicPr>
          <p:nvPr/>
        </p:nvPicPr>
        <p:blipFill>
          <a:blip r:embed="rId4"/>
          <a:stretch>
            <a:fillRect/>
          </a:stretch>
        </p:blipFill>
        <p:spPr>
          <a:xfrm>
            <a:off x="618226" y="3190266"/>
            <a:ext cx="11156831" cy="261969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4241515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E0FF49-1B83-B37C-E437-D19870F3BCE0}"/>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B4E6C3FA-0686-4786-D95A-81D9DFB5D805}"/>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0556969F-9B58-234D-BEBD-84724B30EEC1}"/>
              </a:ext>
            </a:extLst>
          </p:cNvPr>
          <p:cNvPicPr>
            <a:picLocks noChangeAspect="1"/>
          </p:cNvPicPr>
          <p:nvPr/>
        </p:nvPicPr>
        <p:blipFill>
          <a:blip r:embed="rId3"/>
          <a:stretch>
            <a:fillRect/>
          </a:stretch>
        </p:blipFill>
        <p:spPr>
          <a:xfrm>
            <a:off x="9181381" y="65406"/>
            <a:ext cx="2743200" cy="717452"/>
          </a:xfrm>
          <a:prstGeom prst="rect">
            <a:avLst/>
          </a:prstGeom>
        </p:spPr>
      </p:pic>
      <p:sp>
        <p:nvSpPr>
          <p:cNvPr id="2" name="object 6">
            <a:extLst>
              <a:ext uri="{FF2B5EF4-FFF2-40B4-BE49-F238E27FC236}">
                <a16:creationId xmlns:a16="http://schemas.microsoft.com/office/drawing/2014/main" id="{FB959E49-B5B6-BCBC-3114-314BAB0B53B1}"/>
              </a:ext>
            </a:extLst>
          </p:cNvPr>
          <p:cNvSpPr txBox="1"/>
          <p:nvPr/>
        </p:nvSpPr>
        <p:spPr>
          <a:xfrm>
            <a:off x="476838" y="304800"/>
            <a:ext cx="9601200" cy="2898229"/>
          </a:xfrm>
          <a:prstGeom prst="rect">
            <a:avLst/>
          </a:prstGeom>
        </p:spPr>
        <p:txBody>
          <a:bodyPr vert="horz" wrap="square" lIns="0" tIns="12700" rIns="0" bIns="0" rtlCol="0">
            <a:spAutoFit/>
          </a:bodyPr>
          <a:lstStyle>
            <a:defPPr>
              <a:defRPr kern="0"/>
            </a:defPPr>
          </a:lstStyle>
          <a:p>
            <a:pPr marL="12700">
              <a:lnSpc>
                <a:spcPct val="100000"/>
              </a:lnSpc>
              <a:spcBef>
                <a:spcPts val="100"/>
              </a:spcBef>
            </a:pPr>
            <a:r>
              <a:rPr lang="en-IN" sz="2000" b="1" dirty="0">
                <a:latin typeface="Aptos"/>
                <a:cs typeface="Aptos"/>
              </a:rPr>
              <a:t>Transit and Pre-Ship:</a:t>
            </a:r>
          </a:p>
          <a:p>
            <a:pPr marL="298450" indent="-285750">
              <a:lnSpc>
                <a:spcPct val="100000"/>
              </a:lnSpc>
              <a:spcBef>
                <a:spcPts val="100"/>
              </a:spcBef>
              <a:buFont typeface="Arial" panose="020B0604020202020204" pitchFamily="34" charset="0"/>
              <a:buChar char="•"/>
            </a:pPr>
            <a:endParaRPr lang="en-IN" sz="1600" dirty="0">
              <a:latin typeface="Aptos"/>
              <a:cs typeface="Aptos"/>
            </a:endParaRPr>
          </a:p>
          <a:p>
            <a:pPr marL="12700">
              <a:lnSpc>
                <a:spcPct val="100000"/>
              </a:lnSpc>
              <a:spcBef>
                <a:spcPts val="100"/>
              </a:spcBef>
            </a:pPr>
            <a:r>
              <a:rPr lang="en-IN" sz="1600" dirty="0">
                <a:latin typeface="Aptos"/>
                <a:cs typeface="Aptos"/>
              </a:rPr>
              <a:t>Transit rule and Pre-Ship Lead Time rule can be set from Control Table Workbook, Part Source Type Worksheet, and Use Transit and Pre-Ship Lead Time Column. </a:t>
            </a:r>
          </a:p>
          <a:p>
            <a:pPr marL="12700">
              <a:lnSpc>
                <a:spcPct val="100000"/>
              </a:lnSpc>
              <a:spcBef>
                <a:spcPts val="100"/>
              </a:spcBef>
            </a:pPr>
            <a:r>
              <a:rPr lang="en-IN" sz="1600" dirty="0">
                <a:latin typeface="Aptos"/>
                <a:cs typeface="Aptos"/>
              </a:rPr>
              <a:t>Transit rule can be set as </a:t>
            </a:r>
          </a:p>
          <a:p>
            <a:pPr marL="298450" indent="-285750">
              <a:lnSpc>
                <a:spcPct val="100000"/>
              </a:lnSpc>
              <a:spcBef>
                <a:spcPts val="100"/>
              </a:spcBef>
              <a:buFont typeface="Arial" panose="020B0604020202020204" pitchFamily="34" charset="0"/>
              <a:buChar char="•"/>
            </a:pPr>
            <a:r>
              <a:rPr lang="en-IN" sz="1600" dirty="0">
                <a:latin typeface="Aptos"/>
                <a:cs typeface="Aptos"/>
              </a:rPr>
              <a:t>Inclusive </a:t>
            </a:r>
          </a:p>
          <a:p>
            <a:pPr marL="298450" indent="-285750">
              <a:lnSpc>
                <a:spcPct val="100000"/>
              </a:lnSpc>
              <a:spcBef>
                <a:spcPts val="100"/>
              </a:spcBef>
              <a:buFont typeface="Arial" panose="020B0604020202020204" pitchFamily="34" charset="0"/>
              <a:buChar char="•"/>
            </a:pPr>
            <a:r>
              <a:rPr lang="en-IN" sz="1600" dirty="0">
                <a:latin typeface="Aptos"/>
                <a:cs typeface="Aptos"/>
              </a:rPr>
              <a:t>Cumulative</a:t>
            </a:r>
          </a:p>
          <a:p>
            <a:pPr marL="12700">
              <a:lnSpc>
                <a:spcPct val="100000"/>
              </a:lnSpc>
              <a:spcBef>
                <a:spcPts val="100"/>
              </a:spcBef>
            </a:pPr>
            <a:r>
              <a:rPr lang="en-IN" sz="1600" dirty="0">
                <a:latin typeface="Aptos"/>
                <a:cs typeface="Aptos"/>
              </a:rPr>
              <a:t>Transit Time rule and Pre-Ship Time rule can be set as </a:t>
            </a:r>
          </a:p>
          <a:p>
            <a:pPr marL="298450" lvl="2" indent="-285750">
              <a:spcBef>
                <a:spcPts val="100"/>
              </a:spcBef>
              <a:buFont typeface="Arial" panose="020B0604020202020204" pitchFamily="34" charset="0"/>
              <a:buChar char="•"/>
            </a:pPr>
            <a:r>
              <a:rPr lang="en-IN" sz="1600" dirty="0">
                <a:latin typeface="Aptos"/>
                <a:cs typeface="Aptos"/>
              </a:rPr>
              <a:t>Use</a:t>
            </a:r>
          </a:p>
          <a:p>
            <a:pPr marL="298450" lvl="2" indent="-285750">
              <a:spcBef>
                <a:spcPts val="100"/>
              </a:spcBef>
              <a:buFont typeface="Arial" panose="020B0604020202020204" pitchFamily="34" charset="0"/>
              <a:buChar char="•"/>
            </a:pPr>
            <a:r>
              <a:rPr lang="en-IN" sz="1600" dirty="0">
                <a:latin typeface="Aptos"/>
                <a:cs typeface="Aptos"/>
              </a:rPr>
              <a:t>Ignore.</a:t>
            </a:r>
          </a:p>
          <a:p>
            <a:pPr marL="12700">
              <a:lnSpc>
                <a:spcPct val="100000"/>
              </a:lnSpc>
              <a:spcBef>
                <a:spcPts val="100"/>
              </a:spcBef>
            </a:pPr>
            <a:r>
              <a:rPr lang="en-IN" sz="1600" dirty="0">
                <a:latin typeface="Aptos"/>
                <a:cs typeface="Aptos"/>
              </a:rPr>
              <a:t>At Part Source Level we change for Make/Buy/Transfer values.</a:t>
            </a:r>
            <a:endParaRPr sz="1600" dirty="0">
              <a:latin typeface="Aptos"/>
              <a:cs typeface="Aptos"/>
            </a:endParaRPr>
          </a:p>
        </p:txBody>
      </p:sp>
      <p:pic>
        <p:nvPicPr>
          <p:cNvPr id="3" name="Picture 2" descr="A screenshot of a computer&#10;&#10;AI-generated content may be incorrect.">
            <a:extLst>
              <a:ext uri="{FF2B5EF4-FFF2-40B4-BE49-F238E27FC236}">
                <a16:creationId xmlns:a16="http://schemas.microsoft.com/office/drawing/2014/main" id="{8C2E0374-BE1B-E8E1-17B1-E4CB8F418688}"/>
              </a:ext>
            </a:extLst>
          </p:cNvPr>
          <p:cNvPicPr>
            <a:picLocks noChangeAspect="1"/>
          </p:cNvPicPr>
          <p:nvPr/>
        </p:nvPicPr>
        <p:blipFill>
          <a:blip r:embed="rId4"/>
          <a:stretch>
            <a:fillRect/>
          </a:stretch>
        </p:blipFill>
        <p:spPr>
          <a:xfrm>
            <a:off x="474452" y="3425537"/>
            <a:ext cx="11444378" cy="272424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8294950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B4A93C-6CB9-78BF-918D-AD02196A149A}"/>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392805A0-59BE-F62C-1208-909678CDC943}"/>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A0ADE963-729F-6523-FE66-8C41C6C42FE2}"/>
              </a:ext>
            </a:extLst>
          </p:cNvPr>
          <p:cNvPicPr>
            <a:picLocks noChangeAspect="1"/>
          </p:cNvPicPr>
          <p:nvPr/>
        </p:nvPicPr>
        <p:blipFill>
          <a:blip r:embed="rId3"/>
          <a:stretch>
            <a:fillRect/>
          </a:stretch>
        </p:blipFill>
        <p:spPr>
          <a:xfrm>
            <a:off x="9181381" y="65406"/>
            <a:ext cx="2743200" cy="717452"/>
          </a:xfrm>
          <a:prstGeom prst="rect">
            <a:avLst/>
          </a:prstGeom>
        </p:spPr>
      </p:pic>
      <p:sp>
        <p:nvSpPr>
          <p:cNvPr id="2" name="object 6">
            <a:extLst>
              <a:ext uri="{FF2B5EF4-FFF2-40B4-BE49-F238E27FC236}">
                <a16:creationId xmlns:a16="http://schemas.microsoft.com/office/drawing/2014/main" id="{C5FF9DC4-0E70-D2DD-B655-6D5E5BA6560A}"/>
              </a:ext>
            </a:extLst>
          </p:cNvPr>
          <p:cNvSpPr txBox="1"/>
          <p:nvPr/>
        </p:nvSpPr>
        <p:spPr>
          <a:xfrm>
            <a:off x="514350" y="826711"/>
            <a:ext cx="9601200" cy="2121093"/>
          </a:xfrm>
          <a:prstGeom prst="rect">
            <a:avLst/>
          </a:prstGeom>
        </p:spPr>
        <p:txBody>
          <a:bodyPr vert="horz" wrap="square" lIns="0" tIns="12700" rIns="0" bIns="0" rtlCol="0">
            <a:spAutoFit/>
          </a:bodyPr>
          <a:lstStyle>
            <a:defPPr>
              <a:defRPr kern="0"/>
            </a:defPPr>
          </a:lstStyle>
          <a:p>
            <a:pPr marL="12700">
              <a:lnSpc>
                <a:spcPct val="100000"/>
              </a:lnSpc>
              <a:spcBef>
                <a:spcPts val="100"/>
              </a:spcBef>
            </a:pPr>
            <a:r>
              <a:rPr lang="en-IN" sz="2000" b="1" dirty="0">
                <a:latin typeface="Aptos"/>
                <a:cs typeface="Aptos"/>
              </a:rPr>
              <a:t>Dock To Stock:</a:t>
            </a:r>
          </a:p>
          <a:p>
            <a:pPr marL="298450" indent="-285750">
              <a:lnSpc>
                <a:spcPct val="100000"/>
              </a:lnSpc>
              <a:spcBef>
                <a:spcPts val="100"/>
              </a:spcBef>
              <a:buFont typeface="Arial" panose="020B0604020202020204" pitchFamily="34" charset="0"/>
              <a:buChar char="•"/>
            </a:pPr>
            <a:endParaRPr lang="en-IN" sz="1600" dirty="0">
              <a:latin typeface="Aptos"/>
              <a:cs typeface="Aptos"/>
            </a:endParaRPr>
          </a:p>
          <a:p>
            <a:pPr marL="12700">
              <a:lnSpc>
                <a:spcPct val="100000"/>
              </a:lnSpc>
              <a:spcBef>
                <a:spcPts val="100"/>
              </a:spcBef>
            </a:pPr>
            <a:r>
              <a:rPr lang="en-IN" sz="1600" dirty="0">
                <a:latin typeface="Aptos"/>
                <a:cs typeface="Aptos"/>
              </a:rPr>
              <a:t>Dock To Stock Lead Time rule can be set from Control Table Workbook, Part Source Type Worksheet, and Use Dock To Stock Lead Time Column. </a:t>
            </a:r>
          </a:p>
          <a:p>
            <a:pPr marL="12700">
              <a:lnSpc>
                <a:spcPct val="100000"/>
              </a:lnSpc>
              <a:spcBef>
                <a:spcPts val="100"/>
              </a:spcBef>
            </a:pPr>
            <a:r>
              <a:rPr lang="en-IN" sz="1600" dirty="0">
                <a:latin typeface="Aptos"/>
                <a:cs typeface="Aptos"/>
              </a:rPr>
              <a:t>Dock To Stock Lead Time rule can be set as </a:t>
            </a:r>
          </a:p>
          <a:p>
            <a:pPr marL="298450" lvl="2" indent="-285750">
              <a:spcBef>
                <a:spcPts val="100"/>
              </a:spcBef>
              <a:buFont typeface="Arial" panose="020B0604020202020204" pitchFamily="34" charset="0"/>
              <a:buChar char="•"/>
            </a:pPr>
            <a:r>
              <a:rPr lang="en-IN" sz="1600" dirty="0">
                <a:latin typeface="Aptos"/>
                <a:cs typeface="Aptos"/>
              </a:rPr>
              <a:t>Use</a:t>
            </a:r>
          </a:p>
          <a:p>
            <a:pPr marL="298450" lvl="2" indent="-285750">
              <a:spcBef>
                <a:spcPts val="100"/>
              </a:spcBef>
              <a:buFont typeface="Arial" panose="020B0604020202020204" pitchFamily="34" charset="0"/>
              <a:buChar char="•"/>
            </a:pPr>
            <a:r>
              <a:rPr lang="en-IN" sz="1600" dirty="0">
                <a:latin typeface="Aptos"/>
                <a:cs typeface="Aptos"/>
              </a:rPr>
              <a:t>Ignore.</a:t>
            </a:r>
          </a:p>
          <a:p>
            <a:pPr marL="12700">
              <a:lnSpc>
                <a:spcPct val="100000"/>
              </a:lnSpc>
              <a:spcBef>
                <a:spcPts val="100"/>
              </a:spcBef>
            </a:pPr>
            <a:r>
              <a:rPr lang="en-IN" sz="1600" dirty="0">
                <a:latin typeface="Aptos"/>
                <a:cs typeface="Aptos"/>
              </a:rPr>
              <a:t>At Part Source Level we change for Make/Buy/Transfer values.</a:t>
            </a:r>
            <a:endParaRPr sz="1600" dirty="0">
              <a:latin typeface="Aptos"/>
              <a:cs typeface="Aptos"/>
            </a:endParaRPr>
          </a:p>
        </p:txBody>
      </p:sp>
      <p:pic>
        <p:nvPicPr>
          <p:cNvPr id="3" name="Picture 2" descr="A screenshot of a computer&#10;&#10;AI-generated content may be incorrect.">
            <a:extLst>
              <a:ext uri="{FF2B5EF4-FFF2-40B4-BE49-F238E27FC236}">
                <a16:creationId xmlns:a16="http://schemas.microsoft.com/office/drawing/2014/main" id="{25F57C14-B72B-E193-685C-DC3A59E06656}"/>
              </a:ext>
            </a:extLst>
          </p:cNvPr>
          <p:cNvPicPr>
            <a:picLocks noChangeAspect="1"/>
          </p:cNvPicPr>
          <p:nvPr/>
        </p:nvPicPr>
        <p:blipFill>
          <a:blip r:embed="rId4"/>
          <a:stretch>
            <a:fillRect/>
          </a:stretch>
        </p:blipFill>
        <p:spPr>
          <a:xfrm>
            <a:off x="517584" y="3195906"/>
            <a:ext cx="11056190" cy="253652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0307915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1212F-2913-2FDB-FF71-BA1747F27524}"/>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18E03C65-D796-086A-F913-2B542ED9795F}"/>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E5FC1899-213B-1EE2-6C02-FFD6C976281E}"/>
              </a:ext>
            </a:extLst>
          </p:cNvPr>
          <p:cNvPicPr>
            <a:picLocks noChangeAspect="1"/>
          </p:cNvPicPr>
          <p:nvPr/>
        </p:nvPicPr>
        <p:blipFill>
          <a:blip r:embed="rId3"/>
          <a:stretch>
            <a:fillRect/>
          </a:stretch>
        </p:blipFill>
        <p:spPr>
          <a:xfrm>
            <a:off x="9181381" y="65406"/>
            <a:ext cx="2743200" cy="717452"/>
          </a:xfrm>
          <a:prstGeom prst="rect">
            <a:avLst/>
          </a:prstGeom>
        </p:spPr>
      </p:pic>
      <p:sp>
        <p:nvSpPr>
          <p:cNvPr id="2" name="TextBox 2">
            <a:extLst>
              <a:ext uri="{FF2B5EF4-FFF2-40B4-BE49-F238E27FC236}">
                <a16:creationId xmlns:a16="http://schemas.microsoft.com/office/drawing/2014/main" id="{4A3EA0A3-DF13-0FB7-B3C7-32CBD6CD792A}"/>
              </a:ext>
            </a:extLst>
          </p:cNvPr>
          <p:cNvSpPr txBox="1"/>
          <p:nvPr/>
        </p:nvSpPr>
        <p:spPr>
          <a:xfrm>
            <a:off x="2209800" y="1797784"/>
            <a:ext cx="7924800" cy="31700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0" dirty="0" err="1">
                <a:latin typeface="Aptos" panose="020B0004020202020204" pitchFamily="34" charset="0"/>
              </a:rPr>
              <a:t>Inculsive</a:t>
            </a:r>
            <a:br>
              <a:rPr lang="en-IN" sz="10000" dirty="0">
                <a:latin typeface="Aptos" panose="020B0004020202020204" pitchFamily="34" charset="0"/>
              </a:rPr>
            </a:br>
            <a:r>
              <a:rPr lang="en-IN" sz="10000" dirty="0">
                <a:latin typeface="Aptos" panose="020B0004020202020204" pitchFamily="34" charset="0"/>
              </a:rPr>
              <a:t>Make</a:t>
            </a:r>
          </a:p>
        </p:txBody>
      </p:sp>
    </p:spTree>
    <p:extLst>
      <p:ext uri="{BB962C8B-B14F-4D97-AF65-F5344CB8AC3E}">
        <p14:creationId xmlns:p14="http://schemas.microsoft.com/office/powerpoint/2010/main" val="32172063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B668AB-AA81-537A-18F6-29324F933629}"/>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652177F3-50D2-C4EB-23BB-89C71B6B99AB}"/>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7443A891-381B-AF81-7060-E5BB182E6E44}"/>
              </a:ext>
            </a:extLst>
          </p:cNvPr>
          <p:cNvPicPr>
            <a:picLocks noChangeAspect="1"/>
          </p:cNvPicPr>
          <p:nvPr/>
        </p:nvPicPr>
        <p:blipFill>
          <a:blip r:embed="rId3"/>
          <a:stretch>
            <a:fillRect/>
          </a:stretch>
        </p:blipFill>
        <p:spPr>
          <a:xfrm>
            <a:off x="9181381" y="65406"/>
            <a:ext cx="2743200" cy="717452"/>
          </a:xfrm>
          <a:prstGeom prst="rect">
            <a:avLst/>
          </a:prstGeom>
        </p:spPr>
      </p:pic>
      <p:sp>
        <p:nvSpPr>
          <p:cNvPr id="2" name="TextBox 4">
            <a:extLst>
              <a:ext uri="{FF2B5EF4-FFF2-40B4-BE49-F238E27FC236}">
                <a16:creationId xmlns:a16="http://schemas.microsoft.com/office/drawing/2014/main" id="{0F41F90A-E122-1C92-A69C-9D532D56FF36}"/>
              </a:ext>
            </a:extLst>
          </p:cNvPr>
          <p:cNvSpPr txBox="1"/>
          <p:nvPr/>
        </p:nvSpPr>
        <p:spPr>
          <a:xfrm>
            <a:off x="571500" y="419190"/>
            <a:ext cx="6594175" cy="1938992"/>
          </a:xfrm>
          <a:prstGeom prst="rect">
            <a:avLst/>
          </a:prstGeom>
          <a:noFill/>
        </p:spPr>
        <p:txBody>
          <a:bodyPr wrap="square" lIns="91440" tIns="45720" rIns="91440" bIns="45720" rtlCol="0" anchor="t">
            <a:spAutoFit/>
          </a:bodyPr>
          <a:lstStyle>
            <a:defPPr>
              <a:defRPr kern="0"/>
            </a:defPPr>
          </a:lstStyle>
          <a:p>
            <a:r>
              <a:rPr lang="en-IN" sz="2400" b="1" dirty="0">
                <a:latin typeface="Aptos"/>
              </a:rPr>
              <a:t>Simulation 1: </a:t>
            </a:r>
          </a:p>
          <a:p>
            <a:endParaRPr lang="en-IN" sz="1600" dirty="0">
              <a:latin typeface="Aptos"/>
            </a:endParaRPr>
          </a:p>
          <a:p>
            <a:r>
              <a:rPr lang="en-IN" sz="1600">
                <a:latin typeface="Aptos"/>
              </a:rPr>
              <a:t>Transit Rule: Inclusive</a:t>
            </a:r>
            <a:endParaRPr lang="en-IN">
              <a:latin typeface="Aptos"/>
            </a:endParaRPr>
          </a:p>
          <a:p>
            <a:r>
              <a:rPr lang="en-IN" sz="1600" dirty="0">
                <a:latin typeface="Aptos" panose="020B0004020202020204" pitchFamily="34" charset="0"/>
              </a:rPr>
              <a:t>Type: Make</a:t>
            </a:r>
          </a:p>
          <a:p>
            <a:r>
              <a:rPr lang="en-IN" sz="1600" dirty="0">
                <a:latin typeface="Aptos" panose="020B0004020202020204" pitchFamily="34" charset="0"/>
              </a:rPr>
              <a:t>Calendar: Everyday</a:t>
            </a:r>
          </a:p>
          <a:p>
            <a:r>
              <a:rPr lang="en-IN" sz="1600" dirty="0">
                <a:latin typeface="Aptos" panose="020B0004020202020204" pitchFamily="34" charset="0"/>
              </a:rPr>
              <a:t>Site: C1001</a:t>
            </a:r>
          </a:p>
          <a:p>
            <a:endParaRPr lang="en-IN" sz="1600" dirty="0">
              <a:latin typeface="Aptos" panose="020B0004020202020204" pitchFamily="34" charset="0"/>
            </a:endParaRPr>
          </a:p>
        </p:txBody>
      </p:sp>
      <p:pic>
        <p:nvPicPr>
          <p:cNvPr id="3" name="Picture 2" descr="A screenshot of a computer&#10;&#10;AI-generated content may be incorrect.">
            <a:extLst>
              <a:ext uri="{FF2B5EF4-FFF2-40B4-BE49-F238E27FC236}">
                <a16:creationId xmlns:a16="http://schemas.microsoft.com/office/drawing/2014/main" id="{C6A7D54E-4F0C-29B8-3AA2-9DC002AD94BB}"/>
              </a:ext>
            </a:extLst>
          </p:cNvPr>
          <p:cNvPicPr>
            <a:picLocks noChangeAspect="1"/>
          </p:cNvPicPr>
          <p:nvPr/>
        </p:nvPicPr>
        <p:blipFill>
          <a:blip r:embed="rId4"/>
          <a:srcRect l="-39" t="44643" r="-79" b="-357"/>
          <a:stretch>
            <a:fillRect/>
          </a:stretch>
        </p:blipFill>
        <p:spPr>
          <a:xfrm>
            <a:off x="570320" y="4011432"/>
            <a:ext cx="11099342" cy="193441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217285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55A1A6-0374-C1A3-0E0C-4B4F4F821BFA}"/>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A798C219-3D3B-BABA-37B7-1D5D3793E075}"/>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E8FE916B-E9B7-1612-AF49-853B8E4D641A}"/>
              </a:ext>
            </a:extLst>
          </p:cNvPr>
          <p:cNvPicPr>
            <a:picLocks noChangeAspect="1"/>
          </p:cNvPicPr>
          <p:nvPr/>
        </p:nvPicPr>
        <p:blipFill>
          <a:blip r:embed="rId3"/>
          <a:stretch>
            <a:fillRect/>
          </a:stretch>
        </p:blipFill>
        <p:spPr>
          <a:xfrm>
            <a:off x="9181381" y="65406"/>
            <a:ext cx="2743200" cy="717452"/>
          </a:xfrm>
          <a:prstGeom prst="rect">
            <a:avLst/>
          </a:prstGeom>
        </p:spPr>
      </p:pic>
      <p:sp>
        <p:nvSpPr>
          <p:cNvPr id="3" name="TextBox 6">
            <a:extLst>
              <a:ext uri="{FF2B5EF4-FFF2-40B4-BE49-F238E27FC236}">
                <a16:creationId xmlns:a16="http://schemas.microsoft.com/office/drawing/2014/main" id="{0DAB614F-0C9D-92D6-E691-CA093A2191E2}"/>
              </a:ext>
            </a:extLst>
          </p:cNvPr>
          <p:cNvSpPr txBox="1"/>
          <p:nvPr/>
        </p:nvSpPr>
        <p:spPr>
          <a:xfrm>
            <a:off x="543220" y="308631"/>
            <a:ext cx="3086100" cy="1569660"/>
          </a:xfrm>
          <a:prstGeom prst="rect">
            <a:avLst/>
          </a:prstGeom>
          <a:noFill/>
        </p:spPr>
        <p:txBody>
          <a:bodyPr wrap="square" rtlCol="0">
            <a:spAutoFit/>
          </a:bodyPr>
          <a:lstStyle>
            <a:defPPr>
              <a:defRPr kern="0"/>
            </a:defPPr>
          </a:lstStyle>
          <a:p>
            <a:r>
              <a:rPr lang="en-IN" sz="1600" dirty="0">
                <a:latin typeface="Aptos" panose="020B0004020202020204" pitchFamily="34" charset="0"/>
              </a:rPr>
              <a:t>Simulation 2: </a:t>
            </a:r>
          </a:p>
          <a:p>
            <a:r>
              <a:rPr lang="en-IN" sz="1600" dirty="0">
                <a:latin typeface="Aptos" panose="020B0004020202020204" pitchFamily="34" charset="0"/>
              </a:rPr>
              <a:t>Transit Rule: Inclusive</a:t>
            </a:r>
          </a:p>
          <a:p>
            <a:r>
              <a:rPr lang="en-IN" sz="1600" dirty="0">
                <a:latin typeface="Aptos" panose="020B0004020202020204" pitchFamily="34" charset="0"/>
              </a:rPr>
              <a:t>Type: Make</a:t>
            </a:r>
          </a:p>
          <a:p>
            <a:r>
              <a:rPr lang="en-IN" sz="1600" dirty="0">
                <a:latin typeface="Aptos" panose="020B0004020202020204" pitchFamily="34" charset="0"/>
              </a:rPr>
              <a:t>Calendar: Workday</a:t>
            </a:r>
          </a:p>
          <a:p>
            <a:r>
              <a:rPr lang="en-IN" sz="1600" dirty="0">
                <a:latin typeface="Aptos" panose="020B0004020202020204" pitchFamily="34" charset="0"/>
              </a:rPr>
              <a:t>Site: C1001</a:t>
            </a:r>
          </a:p>
          <a:p>
            <a:endParaRPr lang="en-IN" sz="1600" dirty="0">
              <a:latin typeface="Aptos" panose="020B0004020202020204" pitchFamily="34" charset="0"/>
            </a:endParaRPr>
          </a:p>
        </p:txBody>
      </p:sp>
      <p:pic>
        <p:nvPicPr>
          <p:cNvPr id="6" name="Picture 5" descr="A screenshot of a computer&#10;&#10;AI-generated content may be incorrect.">
            <a:extLst>
              <a:ext uri="{FF2B5EF4-FFF2-40B4-BE49-F238E27FC236}">
                <a16:creationId xmlns:a16="http://schemas.microsoft.com/office/drawing/2014/main" id="{949B72BB-99E2-9A6D-0C63-C466CEA33880}"/>
              </a:ext>
            </a:extLst>
          </p:cNvPr>
          <p:cNvPicPr>
            <a:picLocks noChangeAspect="1"/>
          </p:cNvPicPr>
          <p:nvPr/>
        </p:nvPicPr>
        <p:blipFill>
          <a:blip r:embed="rId4"/>
          <a:stretch>
            <a:fillRect/>
          </a:stretch>
        </p:blipFill>
        <p:spPr>
          <a:xfrm>
            <a:off x="546339" y="4138035"/>
            <a:ext cx="11358113" cy="197498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0864465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68920F-36E5-48AE-DF05-53F397132BE6}"/>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62E8EA76-7514-4CE0-F12C-D63389CD9803}"/>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E0CDEF53-5FBA-0CE9-01EA-C7EC0C140290}"/>
              </a:ext>
            </a:extLst>
          </p:cNvPr>
          <p:cNvPicPr>
            <a:picLocks noChangeAspect="1"/>
          </p:cNvPicPr>
          <p:nvPr/>
        </p:nvPicPr>
        <p:blipFill>
          <a:blip r:embed="rId3"/>
          <a:stretch>
            <a:fillRect/>
          </a:stretch>
        </p:blipFill>
        <p:spPr>
          <a:xfrm>
            <a:off x="9181381" y="65406"/>
            <a:ext cx="2743200" cy="717452"/>
          </a:xfrm>
          <a:prstGeom prst="rect">
            <a:avLst/>
          </a:prstGeom>
        </p:spPr>
      </p:pic>
      <p:sp>
        <p:nvSpPr>
          <p:cNvPr id="2" name="TextBox 2">
            <a:extLst>
              <a:ext uri="{FF2B5EF4-FFF2-40B4-BE49-F238E27FC236}">
                <a16:creationId xmlns:a16="http://schemas.microsoft.com/office/drawing/2014/main" id="{AFC29A7B-8604-397C-BF4D-4B298F5B80D9}"/>
              </a:ext>
            </a:extLst>
          </p:cNvPr>
          <p:cNvSpPr txBox="1"/>
          <p:nvPr/>
        </p:nvSpPr>
        <p:spPr>
          <a:xfrm>
            <a:off x="2209800" y="1797784"/>
            <a:ext cx="7924800" cy="3170099"/>
          </a:xfrm>
          <a:prstGeom prst="rect">
            <a:avLst/>
          </a:prstGeom>
          <a:noFill/>
        </p:spPr>
        <p:txBody>
          <a:bodyPr wrap="square" rtlCol="0">
            <a:spAutoFit/>
          </a:bodyPr>
          <a:lstStyle>
            <a:defPPr>
              <a:defRPr kern="0"/>
            </a:defPPr>
          </a:lstStyle>
          <a:p>
            <a:r>
              <a:rPr lang="en-IN" sz="10000" dirty="0" err="1">
                <a:latin typeface="Aptos" panose="020B0004020202020204" pitchFamily="34" charset="0"/>
              </a:rPr>
              <a:t>Inculsive</a:t>
            </a:r>
            <a:br>
              <a:rPr lang="en-IN" sz="10000" dirty="0">
                <a:latin typeface="Aptos" panose="020B0004020202020204" pitchFamily="34" charset="0"/>
              </a:rPr>
            </a:br>
            <a:r>
              <a:rPr lang="en-IN" sz="10000" dirty="0">
                <a:latin typeface="Aptos" panose="020B0004020202020204" pitchFamily="34" charset="0"/>
              </a:rPr>
              <a:t>Transfer</a:t>
            </a:r>
          </a:p>
        </p:txBody>
      </p:sp>
    </p:spTree>
    <p:extLst>
      <p:ext uri="{BB962C8B-B14F-4D97-AF65-F5344CB8AC3E}">
        <p14:creationId xmlns:p14="http://schemas.microsoft.com/office/powerpoint/2010/main" val="37607567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A13C0-8D6D-09C1-6A1F-3F1113CC54F9}"/>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E80BFCED-3BF8-238C-B58D-76AF236365F2}"/>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0402B1CF-8016-3E49-C925-A93D2C2721D1}"/>
              </a:ext>
            </a:extLst>
          </p:cNvPr>
          <p:cNvPicPr>
            <a:picLocks noChangeAspect="1"/>
          </p:cNvPicPr>
          <p:nvPr/>
        </p:nvPicPr>
        <p:blipFill>
          <a:blip r:embed="rId3"/>
          <a:stretch>
            <a:fillRect/>
          </a:stretch>
        </p:blipFill>
        <p:spPr>
          <a:xfrm>
            <a:off x="9181381" y="65406"/>
            <a:ext cx="2743200" cy="717452"/>
          </a:xfrm>
          <a:prstGeom prst="rect">
            <a:avLst/>
          </a:prstGeom>
        </p:spPr>
      </p:pic>
      <p:sp>
        <p:nvSpPr>
          <p:cNvPr id="2" name="TextBox 7">
            <a:extLst>
              <a:ext uri="{FF2B5EF4-FFF2-40B4-BE49-F238E27FC236}">
                <a16:creationId xmlns:a16="http://schemas.microsoft.com/office/drawing/2014/main" id="{88006F2F-90EA-1B24-A62D-1C9C494A9CCB}"/>
              </a:ext>
            </a:extLst>
          </p:cNvPr>
          <p:cNvSpPr txBox="1"/>
          <p:nvPr/>
        </p:nvSpPr>
        <p:spPr>
          <a:xfrm>
            <a:off x="371475" y="381000"/>
            <a:ext cx="6094428" cy="1323439"/>
          </a:xfrm>
          <a:prstGeom prst="rect">
            <a:avLst/>
          </a:prstGeom>
          <a:noFill/>
        </p:spPr>
        <p:txBody>
          <a:bodyPr wrap="square">
            <a:spAutoFit/>
          </a:bodyPr>
          <a:lstStyle>
            <a:defPPr>
              <a:defRPr kern="0"/>
            </a:defPPr>
          </a:lstStyle>
          <a:p>
            <a:r>
              <a:rPr lang="en-IN" sz="1600" dirty="0">
                <a:latin typeface="Aptos" panose="020B0004020202020204" pitchFamily="34" charset="0"/>
              </a:rPr>
              <a:t>Simulation 3: </a:t>
            </a:r>
          </a:p>
          <a:p>
            <a:r>
              <a:rPr lang="en-IN" sz="1600" dirty="0">
                <a:latin typeface="Aptos" panose="020B0004020202020204" pitchFamily="34" charset="0"/>
              </a:rPr>
              <a:t>Transit Rule: Inclusive</a:t>
            </a:r>
          </a:p>
          <a:p>
            <a:r>
              <a:rPr lang="en-IN" sz="1600" dirty="0">
                <a:latin typeface="Aptos" panose="020B0004020202020204" pitchFamily="34" charset="0"/>
              </a:rPr>
              <a:t>Type: Transfer</a:t>
            </a:r>
          </a:p>
          <a:p>
            <a:r>
              <a:rPr lang="en-IN" sz="1600" dirty="0">
                <a:latin typeface="Aptos" panose="020B0004020202020204" pitchFamily="34" charset="0"/>
              </a:rPr>
              <a:t>Calendar: Everyday</a:t>
            </a:r>
          </a:p>
          <a:p>
            <a:r>
              <a:rPr lang="en-IN" sz="1600" dirty="0">
                <a:latin typeface="Aptos" panose="020B0004020202020204" pitchFamily="34" charset="0"/>
              </a:rPr>
              <a:t>Site: C1001</a:t>
            </a:r>
          </a:p>
        </p:txBody>
      </p:sp>
      <p:pic>
        <p:nvPicPr>
          <p:cNvPr id="3" name="Picture 2" descr="A screenshot of a computer&#10;&#10;AI-generated content may be incorrect.">
            <a:extLst>
              <a:ext uri="{FF2B5EF4-FFF2-40B4-BE49-F238E27FC236}">
                <a16:creationId xmlns:a16="http://schemas.microsoft.com/office/drawing/2014/main" id="{49860E1E-2113-CBB0-3FBF-482D53603813}"/>
              </a:ext>
            </a:extLst>
          </p:cNvPr>
          <p:cNvPicPr>
            <a:picLocks noChangeAspect="1"/>
          </p:cNvPicPr>
          <p:nvPr/>
        </p:nvPicPr>
        <p:blipFill>
          <a:blip r:embed="rId4"/>
          <a:stretch>
            <a:fillRect/>
          </a:stretch>
        </p:blipFill>
        <p:spPr>
          <a:xfrm>
            <a:off x="373811" y="3900181"/>
            <a:ext cx="11300605" cy="235005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0751428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603100-48EF-9C6F-A2B8-780632B1E7D9}"/>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5B5305C4-4364-3958-DBCA-6A8D8B2703CD}"/>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F1C8F098-984C-5370-FFB7-CD2002EEC406}"/>
              </a:ext>
            </a:extLst>
          </p:cNvPr>
          <p:cNvPicPr>
            <a:picLocks noChangeAspect="1"/>
          </p:cNvPicPr>
          <p:nvPr/>
        </p:nvPicPr>
        <p:blipFill>
          <a:blip r:embed="rId3"/>
          <a:stretch>
            <a:fillRect/>
          </a:stretch>
        </p:blipFill>
        <p:spPr>
          <a:xfrm>
            <a:off x="9181381" y="65406"/>
            <a:ext cx="2743200" cy="717452"/>
          </a:xfrm>
          <a:prstGeom prst="rect">
            <a:avLst/>
          </a:prstGeom>
        </p:spPr>
      </p:pic>
      <p:sp>
        <p:nvSpPr>
          <p:cNvPr id="2" name="TextBox 7">
            <a:extLst>
              <a:ext uri="{FF2B5EF4-FFF2-40B4-BE49-F238E27FC236}">
                <a16:creationId xmlns:a16="http://schemas.microsoft.com/office/drawing/2014/main" id="{07C40405-CE8A-F570-09EC-712CF0EA2422}"/>
              </a:ext>
            </a:extLst>
          </p:cNvPr>
          <p:cNvSpPr txBox="1"/>
          <p:nvPr/>
        </p:nvSpPr>
        <p:spPr>
          <a:xfrm>
            <a:off x="371475" y="381000"/>
            <a:ext cx="6094428" cy="1323439"/>
          </a:xfrm>
          <a:prstGeom prst="rect">
            <a:avLst/>
          </a:prstGeom>
          <a:noFill/>
        </p:spPr>
        <p:txBody>
          <a:bodyPr wrap="square">
            <a:spAutoFit/>
          </a:bodyPr>
          <a:lstStyle>
            <a:defPPr>
              <a:defRPr kern="0"/>
            </a:defPPr>
          </a:lstStyle>
          <a:p>
            <a:r>
              <a:rPr lang="en-IN" sz="1600" dirty="0">
                <a:latin typeface="Aptos" panose="020B0004020202020204" pitchFamily="34" charset="0"/>
              </a:rPr>
              <a:t>Simulation 3: </a:t>
            </a:r>
          </a:p>
          <a:p>
            <a:r>
              <a:rPr lang="en-IN" sz="1600" dirty="0">
                <a:latin typeface="Aptos" panose="020B0004020202020204" pitchFamily="34" charset="0"/>
              </a:rPr>
              <a:t>Transit Rule: Inclusive</a:t>
            </a:r>
          </a:p>
          <a:p>
            <a:r>
              <a:rPr lang="en-IN" sz="1600" dirty="0">
                <a:latin typeface="Aptos" panose="020B0004020202020204" pitchFamily="34" charset="0"/>
              </a:rPr>
              <a:t>Type: Transfer</a:t>
            </a:r>
          </a:p>
          <a:p>
            <a:r>
              <a:rPr lang="en-IN" sz="1600" dirty="0">
                <a:latin typeface="Aptos" panose="020B0004020202020204" pitchFamily="34" charset="0"/>
              </a:rPr>
              <a:t>Calendar: Everyday</a:t>
            </a:r>
          </a:p>
          <a:p>
            <a:r>
              <a:rPr lang="en-IN" sz="1600" dirty="0">
                <a:latin typeface="Aptos" panose="020B0004020202020204" pitchFamily="34" charset="0"/>
              </a:rPr>
              <a:t>Site: E3001</a:t>
            </a:r>
          </a:p>
        </p:txBody>
      </p:sp>
      <p:pic>
        <p:nvPicPr>
          <p:cNvPr id="6" name="Picture 5" descr="A screenshot of a computer&#10;&#10;AI-generated content may be incorrect.">
            <a:extLst>
              <a:ext uri="{FF2B5EF4-FFF2-40B4-BE49-F238E27FC236}">
                <a16:creationId xmlns:a16="http://schemas.microsoft.com/office/drawing/2014/main" id="{3337ED37-AF19-7851-07A0-A84D7022EA23}"/>
              </a:ext>
            </a:extLst>
          </p:cNvPr>
          <p:cNvPicPr>
            <a:picLocks noChangeAspect="1"/>
          </p:cNvPicPr>
          <p:nvPr/>
        </p:nvPicPr>
        <p:blipFill>
          <a:blip r:embed="rId4"/>
          <a:stretch>
            <a:fillRect/>
          </a:stretch>
        </p:blipFill>
        <p:spPr>
          <a:xfrm>
            <a:off x="373811" y="3900181"/>
            <a:ext cx="11300605" cy="235005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5644656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510A30-F68C-6FA0-8E43-D756C48E4811}"/>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08B31912-2025-1006-0FE2-9E1C1EF44DDA}"/>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F5B9CF4B-EC5C-A7D3-A161-CF41906A0883}"/>
              </a:ext>
            </a:extLst>
          </p:cNvPr>
          <p:cNvPicPr>
            <a:picLocks noChangeAspect="1"/>
          </p:cNvPicPr>
          <p:nvPr/>
        </p:nvPicPr>
        <p:blipFill>
          <a:blip r:embed="rId3"/>
          <a:stretch>
            <a:fillRect/>
          </a:stretch>
        </p:blipFill>
        <p:spPr>
          <a:xfrm>
            <a:off x="9181381" y="65406"/>
            <a:ext cx="2743200" cy="717452"/>
          </a:xfrm>
          <a:prstGeom prst="rect">
            <a:avLst/>
          </a:prstGeom>
        </p:spPr>
      </p:pic>
      <p:sp>
        <p:nvSpPr>
          <p:cNvPr id="2" name="TextBox 7">
            <a:extLst>
              <a:ext uri="{FF2B5EF4-FFF2-40B4-BE49-F238E27FC236}">
                <a16:creationId xmlns:a16="http://schemas.microsoft.com/office/drawing/2014/main" id="{FEE7413A-BB6F-C66C-85C8-73B0C99FB821}"/>
              </a:ext>
            </a:extLst>
          </p:cNvPr>
          <p:cNvSpPr txBox="1"/>
          <p:nvPr/>
        </p:nvSpPr>
        <p:spPr>
          <a:xfrm>
            <a:off x="371475" y="381000"/>
            <a:ext cx="6094428" cy="1323439"/>
          </a:xfrm>
          <a:prstGeom prst="rect">
            <a:avLst/>
          </a:prstGeom>
          <a:noFill/>
        </p:spPr>
        <p:txBody>
          <a:bodyPr wrap="square">
            <a:spAutoFit/>
          </a:bodyPr>
          <a:lstStyle>
            <a:defPPr>
              <a:defRPr kern="0"/>
            </a:defPPr>
          </a:lstStyle>
          <a:p>
            <a:r>
              <a:rPr lang="en-IN" sz="1600" dirty="0">
                <a:latin typeface="Aptos" panose="020B0004020202020204" pitchFamily="34" charset="0"/>
              </a:rPr>
              <a:t>Simulation 4: </a:t>
            </a:r>
          </a:p>
          <a:p>
            <a:r>
              <a:rPr lang="en-IN" sz="1600" dirty="0">
                <a:latin typeface="Aptos" panose="020B0004020202020204" pitchFamily="34" charset="0"/>
              </a:rPr>
              <a:t>Transit Rule: Inclusive</a:t>
            </a:r>
          </a:p>
          <a:p>
            <a:r>
              <a:rPr lang="en-IN" sz="1600" dirty="0">
                <a:latin typeface="Aptos" panose="020B0004020202020204" pitchFamily="34" charset="0"/>
              </a:rPr>
              <a:t>Type: Transfer</a:t>
            </a:r>
          </a:p>
          <a:p>
            <a:r>
              <a:rPr lang="en-IN" sz="1600" dirty="0">
                <a:latin typeface="Aptos" panose="020B0004020202020204" pitchFamily="34" charset="0"/>
              </a:rPr>
              <a:t>Calendar: Workday</a:t>
            </a:r>
          </a:p>
          <a:p>
            <a:r>
              <a:rPr lang="en-IN" sz="1600" dirty="0">
                <a:latin typeface="Aptos" panose="020B0004020202020204" pitchFamily="34" charset="0"/>
              </a:rPr>
              <a:t>Site: C1001</a:t>
            </a:r>
          </a:p>
        </p:txBody>
      </p:sp>
      <p:pic>
        <p:nvPicPr>
          <p:cNvPr id="3" name="Picture 2" descr="A screenshot of a computer&#10;&#10;AI-generated content may be incorrect.">
            <a:extLst>
              <a:ext uri="{FF2B5EF4-FFF2-40B4-BE49-F238E27FC236}">
                <a16:creationId xmlns:a16="http://schemas.microsoft.com/office/drawing/2014/main" id="{B15B3D50-E24E-950E-AF06-06D83CCDE080}"/>
              </a:ext>
            </a:extLst>
          </p:cNvPr>
          <p:cNvPicPr>
            <a:picLocks noChangeAspect="1"/>
          </p:cNvPicPr>
          <p:nvPr/>
        </p:nvPicPr>
        <p:blipFill>
          <a:blip r:embed="rId4"/>
          <a:stretch>
            <a:fillRect/>
          </a:stretch>
        </p:blipFill>
        <p:spPr>
          <a:xfrm>
            <a:off x="517584" y="3749935"/>
            <a:ext cx="11156831" cy="2334241"/>
          </a:xfrm>
          <a:prstGeom prst="rect">
            <a:avLst/>
          </a:prstGeom>
        </p:spPr>
      </p:pic>
    </p:spTree>
    <p:extLst>
      <p:ext uri="{BB962C8B-B14F-4D97-AF65-F5344CB8AC3E}">
        <p14:creationId xmlns:p14="http://schemas.microsoft.com/office/powerpoint/2010/main" val="39327467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1ACCF5-6100-8D23-6D7C-5C8831A7FA1B}"/>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A7FD4863-FD47-9180-C8B1-D7604FCE0F99}"/>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B8682E15-7ED9-CEDD-6187-4D2D88BEF921}"/>
              </a:ext>
            </a:extLst>
          </p:cNvPr>
          <p:cNvPicPr>
            <a:picLocks noChangeAspect="1"/>
          </p:cNvPicPr>
          <p:nvPr/>
        </p:nvPicPr>
        <p:blipFill>
          <a:blip r:embed="rId3"/>
          <a:stretch>
            <a:fillRect/>
          </a:stretch>
        </p:blipFill>
        <p:spPr>
          <a:xfrm>
            <a:off x="9181381" y="65406"/>
            <a:ext cx="2743200" cy="717452"/>
          </a:xfrm>
          <a:prstGeom prst="rect">
            <a:avLst/>
          </a:prstGeom>
        </p:spPr>
      </p:pic>
      <p:pic>
        <p:nvPicPr>
          <p:cNvPr id="3" name="Picture 2" descr="A screenshot of a computer&#10;&#10;AI-generated content may be incorrect.">
            <a:extLst>
              <a:ext uri="{FF2B5EF4-FFF2-40B4-BE49-F238E27FC236}">
                <a16:creationId xmlns:a16="http://schemas.microsoft.com/office/drawing/2014/main" id="{3E105F16-EC3E-0320-FD77-4A6BE7E2DD14}"/>
              </a:ext>
            </a:extLst>
          </p:cNvPr>
          <p:cNvPicPr>
            <a:picLocks noChangeAspect="1"/>
          </p:cNvPicPr>
          <p:nvPr/>
        </p:nvPicPr>
        <p:blipFill>
          <a:blip r:embed="rId4"/>
          <a:stretch>
            <a:fillRect/>
          </a:stretch>
        </p:blipFill>
        <p:spPr>
          <a:xfrm>
            <a:off x="517584" y="3749935"/>
            <a:ext cx="11156831" cy="2334241"/>
          </a:xfrm>
          <a:prstGeom prst="rect">
            <a:avLst/>
          </a:prstGeom>
        </p:spPr>
      </p:pic>
      <p:sp>
        <p:nvSpPr>
          <p:cNvPr id="6" name="TextBox 5">
            <a:extLst>
              <a:ext uri="{FF2B5EF4-FFF2-40B4-BE49-F238E27FC236}">
                <a16:creationId xmlns:a16="http://schemas.microsoft.com/office/drawing/2014/main" id="{DAF0A2E2-FF15-3CC6-79A0-362C0B159823}"/>
              </a:ext>
            </a:extLst>
          </p:cNvPr>
          <p:cNvSpPr txBox="1"/>
          <p:nvPr/>
        </p:nvSpPr>
        <p:spPr>
          <a:xfrm>
            <a:off x="371475" y="381000"/>
            <a:ext cx="6094428" cy="1323439"/>
          </a:xfrm>
          <a:prstGeom prst="rect">
            <a:avLst/>
          </a:prstGeom>
          <a:noFill/>
        </p:spPr>
        <p:txBody>
          <a:bodyPr wrap="square">
            <a:spAutoFit/>
          </a:bodyPr>
          <a:lstStyle>
            <a:defPPr>
              <a:defRPr kern="0"/>
            </a:defPPr>
          </a:lstStyle>
          <a:p>
            <a:r>
              <a:rPr lang="en-IN" sz="1600" dirty="0">
                <a:latin typeface="Aptos" panose="020B0004020202020204" pitchFamily="34" charset="0"/>
              </a:rPr>
              <a:t>Simulation 4: </a:t>
            </a:r>
          </a:p>
          <a:p>
            <a:r>
              <a:rPr lang="en-IN" sz="1600" dirty="0">
                <a:latin typeface="Aptos" panose="020B0004020202020204" pitchFamily="34" charset="0"/>
              </a:rPr>
              <a:t>Transit Rule: Inclusive</a:t>
            </a:r>
          </a:p>
          <a:p>
            <a:r>
              <a:rPr lang="en-IN" sz="1600" dirty="0">
                <a:latin typeface="Aptos" panose="020B0004020202020204" pitchFamily="34" charset="0"/>
              </a:rPr>
              <a:t>Type: Transfer</a:t>
            </a:r>
          </a:p>
          <a:p>
            <a:r>
              <a:rPr lang="en-IN" sz="1600" dirty="0">
                <a:latin typeface="Aptos" panose="020B0004020202020204" pitchFamily="34" charset="0"/>
              </a:rPr>
              <a:t>Calendar: Workday</a:t>
            </a:r>
          </a:p>
          <a:p>
            <a:r>
              <a:rPr lang="en-IN" sz="1600" dirty="0">
                <a:latin typeface="Aptos" panose="020B0004020202020204" pitchFamily="34" charset="0"/>
              </a:rPr>
              <a:t>Site: E3001</a:t>
            </a:r>
          </a:p>
        </p:txBody>
      </p:sp>
    </p:spTree>
    <p:extLst>
      <p:ext uri="{BB962C8B-B14F-4D97-AF65-F5344CB8AC3E}">
        <p14:creationId xmlns:p14="http://schemas.microsoft.com/office/powerpoint/2010/main" val="41678442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848A50-6502-8212-0A55-B30E1C88BD72}"/>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EEE55212-E80B-900C-C822-458C8B7955F1}"/>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420B57AC-E268-21B0-47BC-F0BE3AA84EA2}"/>
              </a:ext>
            </a:extLst>
          </p:cNvPr>
          <p:cNvPicPr>
            <a:picLocks noChangeAspect="1"/>
          </p:cNvPicPr>
          <p:nvPr/>
        </p:nvPicPr>
        <p:blipFill>
          <a:blip r:embed="rId3"/>
          <a:stretch>
            <a:fillRect/>
          </a:stretch>
        </p:blipFill>
        <p:spPr>
          <a:xfrm>
            <a:off x="9181381" y="65406"/>
            <a:ext cx="2743200" cy="717452"/>
          </a:xfrm>
          <a:prstGeom prst="rect">
            <a:avLst/>
          </a:prstGeom>
        </p:spPr>
      </p:pic>
      <p:sp>
        <p:nvSpPr>
          <p:cNvPr id="2" name="TextBox 2">
            <a:extLst>
              <a:ext uri="{FF2B5EF4-FFF2-40B4-BE49-F238E27FC236}">
                <a16:creationId xmlns:a16="http://schemas.microsoft.com/office/drawing/2014/main" id="{2D36AB4A-488E-034D-FB74-AA4D327C5520}"/>
              </a:ext>
            </a:extLst>
          </p:cNvPr>
          <p:cNvSpPr txBox="1"/>
          <p:nvPr/>
        </p:nvSpPr>
        <p:spPr>
          <a:xfrm>
            <a:off x="2209800" y="1797784"/>
            <a:ext cx="7924800" cy="3170099"/>
          </a:xfrm>
          <a:prstGeom prst="rect">
            <a:avLst/>
          </a:prstGeom>
          <a:noFill/>
        </p:spPr>
        <p:txBody>
          <a:bodyPr wrap="square" rtlCol="0">
            <a:spAutoFit/>
          </a:bodyPr>
          <a:lstStyle>
            <a:defPPr>
              <a:defRPr kern="0"/>
            </a:defPPr>
          </a:lstStyle>
          <a:p>
            <a:r>
              <a:rPr lang="en-IN" sz="10000" dirty="0">
                <a:latin typeface="Aptos" panose="020B0004020202020204" pitchFamily="34" charset="0"/>
              </a:rPr>
              <a:t>Cumulative</a:t>
            </a:r>
            <a:br>
              <a:rPr lang="en-IN" sz="10000" dirty="0">
                <a:latin typeface="Aptos" panose="020B0004020202020204" pitchFamily="34" charset="0"/>
              </a:rPr>
            </a:br>
            <a:r>
              <a:rPr lang="en-IN" sz="10000" dirty="0">
                <a:latin typeface="Aptos" panose="020B0004020202020204" pitchFamily="34" charset="0"/>
              </a:rPr>
              <a:t>Make</a:t>
            </a:r>
          </a:p>
        </p:txBody>
      </p:sp>
    </p:spTree>
    <p:extLst>
      <p:ext uri="{BB962C8B-B14F-4D97-AF65-F5344CB8AC3E}">
        <p14:creationId xmlns:p14="http://schemas.microsoft.com/office/powerpoint/2010/main" val="26910763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925B4A-3DDE-8328-5C6C-7895CBF4BCBD}"/>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5A835922-363D-7E3C-C7A1-8258876E37AE}"/>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D6E043D0-9B4F-1FE0-EAE4-B1E604C9D56E}"/>
              </a:ext>
            </a:extLst>
          </p:cNvPr>
          <p:cNvPicPr>
            <a:picLocks noChangeAspect="1"/>
          </p:cNvPicPr>
          <p:nvPr/>
        </p:nvPicPr>
        <p:blipFill>
          <a:blip r:embed="rId3"/>
          <a:stretch>
            <a:fillRect/>
          </a:stretch>
        </p:blipFill>
        <p:spPr>
          <a:xfrm>
            <a:off x="9181381" y="65406"/>
            <a:ext cx="2743200" cy="717452"/>
          </a:xfrm>
          <a:prstGeom prst="rect">
            <a:avLst/>
          </a:prstGeom>
        </p:spPr>
      </p:pic>
      <p:sp>
        <p:nvSpPr>
          <p:cNvPr id="2" name="TextBox 4">
            <a:extLst>
              <a:ext uri="{FF2B5EF4-FFF2-40B4-BE49-F238E27FC236}">
                <a16:creationId xmlns:a16="http://schemas.microsoft.com/office/drawing/2014/main" id="{456F9EC3-A2E1-35CB-0A03-FB8883E0BAFF}"/>
              </a:ext>
            </a:extLst>
          </p:cNvPr>
          <p:cNvSpPr txBox="1"/>
          <p:nvPr/>
        </p:nvSpPr>
        <p:spPr>
          <a:xfrm>
            <a:off x="571500" y="390436"/>
            <a:ext cx="3086100" cy="1569660"/>
          </a:xfrm>
          <a:prstGeom prst="rect">
            <a:avLst/>
          </a:prstGeom>
          <a:noFill/>
        </p:spPr>
        <p:txBody>
          <a:bodyPr wrap="square" rtlCol="0">
            <a:spAutoFit/>
          </a:bodyPr>
          <a:lstStyle>
            <a:defPPr>
              <a:defRPr kern="0"/>
            </a:defPPr>
          </a:lstStyle>
          <a:p>
            <a:r>
              <a:rPr lang="en-IN" sz="1600" dirty="0">
                <a:latin typeface="Aptos" panose="020B0004020202020204" pitchFamily="34" charset="0"/>
              </a:rPr>
              <a:t>Simulation 5: </a:t>
            </a:r>
          </a:p>
          <a:p>
            <a:r>
              <a:rPr lang="en-IN" sz="1600" dirty="0">
                <a:latin typeface="Aptos" panose="020B0004020202020204" pitchFamily="34" charset="0"/>
              </a:rPr>
              <a:t>Transit Rule: Cumulative</a:t>
            </a:r>
          </a:p>
          <a:p>
            <a:r>
              <a:rPr lang="en-IN" sz="1600" dirty="0">
                <a:latin typeface="Aptos" panose="020B0004020202020204" pitchFamily="34" charset="0"/>
              </a:rPr>
              <a:t>Type: Make</a:t>
            </a:r>
          </a:p>
          <a:p>
            <a:r>
              <a:rPr lang="en-IN" sz="1600" dirty="0">
                <a:latin typeface="Aptos" panose="020B0004020202020204" pitchFamily="34" charset="0"/>
              </a:rPr>
              <a:t>Calendar: Everyday</a:t>
            </a:r>
          </a:p>
          <a:p>
            <a:r>
              <a:rPr lang="en-IN" sz="1600" dirty="0">
                <a:latin typeface="Aptos" panose="020B0004020202020204" pitchFamily="34" charset="0"/>
              </a:rPr>
              <a:t>Site: C1001</a:t>
            </a:r>
          </a:p>
          <a:p>
            <a:endParaRPr lang="en-IN" sz="1600" dirty="0">
              <a:latin typeface="Aptos" panose="020B0004020202020204" pitchFamily="34" charset="0"/>
            </a:endParaRPr>
          </a:p>
        </p:txBody>
      </p:sp>
      <p:pic>
        <p:nvPicPr>
          <p:cNvPr id="3" name="Picture 2" descr="A screenshot of a computer&#10;&#10;AI-generated content may be incorrect.">
            <a:extLst>
              <a:ext uri="{FF2B5EF4-FFF2-40B4-BE49-F238E27FC236}">
                <a16:creationId xmlns:a16="http://schemas.microsoft.com/office/drawing/2014/main" id="{F6E57A49-0E16-C9E9-2AA3-3F4875037BB0}"/>
              </a:ext>
            </a:extLst>
          </p:cNvPr>
          <p:cNvPicPr>
            <a:picLocks noChangeAspect="1"/>
          </p:cNvPicPr>
          <p:nvPr/>
        </p:nvPicPr>
        <p:blipFill>
          <a:blip r:embed="rId4"/>
          <a:stretch>
            <a:fillRect/>
          </a:stretch>
        </p:blipFill>
        <p:spPr>
          <a:xfrm>
            <a:off x="575094" y="3569418"/>
            <a:ext cx="10998680" cy="216331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0776758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FC141D-4150-588E-520C-B5367A330680}"/>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E6AF1345-64B6-334B-4531-EE6C1702D032}"/>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33FD6A92-045E-28E8-0398-7DAEF937AB8F}"/>
              </a:ext>
            </a:extLst>
          </p:cNvPr>
          <p:cNvPicPr>
            <a:picLocks noChangeAspect="1"/>
          </p:cNvPicPr>
          <p:nvPr/>
        </p:nvPicPr>
        <p:blipFill>
          <a:blip r:embed="rId3"/>
          <a:stretch>
            <a:fillRect/>
          </a:stretch>
        </p:blipFill>
        <p:spPr>
          <a:xfrm>
            <a:off x="9181381" y="65406"/>
            <a:ext cx="2743200" cy="717452"/>
          </a:xfrm>
          <a:prstGeom prst="rect">
            <a:avLst/>
          </a:prstGeom>
        </p:spPr>
      </p:pic>
      <p:sp>
        <p:nvSpPr>
          <p:cNvPr id="2" name="TextBox 4">
            <a:extLst>
              <a:ext uri="{FF2B5EF4-FFF2-40B4-BE49-F238E27FC236}">
                <a16:creationId xmlns:a16="http://schemas.microsoft.com/office/drawing/2014/main" id="{5673A8D6-0CE1-8FF9-F713-674ABC7F99FE}"/>
              </a:ext>
            </a:extLst>
          </p:cNvPr>
          <p:cNvSpPr txBox="1"/>
          <p:nvPr/>
        </p:nvSpPr>
        <p:spPr>
          <a:xfrm>
            <a:off x="566001" y="390436"/>
            <a:ext cx="3086100" cy="1569660"/>
          </a:xfrm>
          <a:prstGeom prst="rect">
            <a:avLst/>
          </a:prstGeom>
          <a:noFill/>
        </p:spPr>
        <p:txBody>
          <a:bodyPr wrap="square" rtlCol="0">
            <a:spAutoFit/>
          </a:bodyPr>
          <a:lstStyle>
            <a:defPPr>
              <a:defRPr kern="0"/>
            </a:defPPr>
          </a:lstStyle>
          <a:p>
            <a:r>
              <a:rPr lang="en-IN" sz="1600" dirty="0">
                <a:latin typeface="Aptos" panose="020B0004020202020204" pitchFamily="34" charset="0"/>
              </a:rPr>
              <a:t>Simulation 6: </a:t>
            </a:r>
          </a:p>
          <a:p>
            <a:r>
              <a:rPr lang="en-IN" sz="1600" dirty="0">
                <a:latin typeface="Aptos" panose="020B0004020202020204" pitchFamily="34" charset="0"/>
              </a:rPr>
              <a:t>Transit Rule: Cumulative</a:t>
            </a:r>
          </a:p>
          <a:p>
            <a:r>
              <a:rPr lang="en-IN" sz="1600" dirty="0">
                <a:latin typeface="Aptos" panose="020B0004020202020204" pitchFamily="34" charset="0"/>
              </a:rPr>
              <a:t>Type: Make</a:t>
            </a:r>
          </a:p>
          <a:p>
            <a:r>
              <a:rPr lang="en-IN" sz="1600" dirty="0">
                <a:latin typeface="Aptos" panose="020B0004020202020204" pitchFamily="34" charset="0"/>
              </a:rPr>
              <a:t>Calendar: Workday</a:t>
            </a:r>
          </a:p>
          <a:p>
            <a:r>
              <a:rPr lang="en-IN" sz="1600" dirty="0">
                <a:latin typeface="Aptos" panose="020B0004020202020204" pitchFamily="34" charset="0"/>
              </a:rPr>
              <a:t>Site: C1001</a:t>
            </a:r>
          </a:p>
          <a:p>
            <a:endParaRPr lang="en-IN" sz="1600" dirty="0">
              <a:latin typeface="Aptos" panose="020B0004020202020204" pitchFamily="34" charset="0"/>
            </a:endParaRPr>
          </a:p>
        </p:txBody>
      </p:sp>
      <p:pic>
        <p:nvPicPr>
          <p:cNvPr id="3" name="Picture 2" descr="A screenshot of a computer&#10;&#10;AI-generated content may be incorrect.">
            <a:extLst>
              <a:ext uri="{FF2B5EF4-FFF2-40B4-BE49-F238E27FC236}">
                <a16:creationId xmlns:a16="http://schemas.microsoft.com/office/drawing/2014/main" id="{2E151D75-ED48-611C-C642-3FD1ABFF4C7A}"/>
              </a:ext>
            </a:extLst>
          </p:cNvPr>
          <p:cNvPicPr>
            <a:picLocks noChangeAspect="1"/>
          </p:cNvPicPr>
          <p:nvPr/>
        </p:nvPicPr>
        <p:blipFill>
          <a:blip r:embed="rId4"/>
          <a:stretch>
            <a:fillRect/>
          </a:stretch>
        </p:blipFill>
        <p:spPr>
          <a:xfrm>
            <a:off x="675735" y="2588209"/>
            <a:ext cx="10567360" cy="1983507"/>
          </a:xfrm>
          <a:prstGeom prst="rect">
            <a:avLst/>
          </a:prstGeom>
        </p:spPr>
      </p:pic>
    </p:spTree>
    <p:extLst>
      <p:ext uri="{BB962C8B-B14F-4D97-AF65-F5344CB8AC3E}">
        <p14:creationId xmlns:p14="http://schemas.microsoft.com/office/powerpoint/2010/main" val="11966856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532CAE-1000-660F-208B-AA266E9901D8}"/>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43F0AEF0-36BA-212B-ABB3-2ABDD7018EF9}"/>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ACB90D94-87F2-EAA1-2C6E-5A910FEDA53C}"/>
              </a:ext>
            </a:extLst>
          </p:cNvPr>
          <p:cNvPicPr>
            <a:picLocks noChangeAspect="1"/>
          </p:cNvPicPr>
          <p:nvPr/>
        </p:nvPicPr>
        <p:blipFill>
          <a:blip r:embed="rId3"/>
          <a:stretch>
            <a:fillRect/>
          </a:stretch>
        </p:blipFill>
        <p:spPr>
          <a:xfrm>
            <a:off x="9181381" y="65406"/>
            <a:ext cx="2743200" cy="717452"/>
          </a:xfrm>
          <a:prstGeom prst="rect">
            <a:avLst/>
          </a:prstGeom>
        </p:spPr>
      </p:pic>
      <p:sp>
        <p:nvSpPr>
          <p:cNvPr id="2" name="TextBox 2">
            <a:extLst>
              <a:ext uri="{FF2B5EF4-FFF2-40B4-BE49-F238E27FC236}">
                <a16:creationId xmlns:a16="http://schemas.microsoft.com/office/drawing/2014/main" id="{8502E1EF-DCFD-CD40-241D-B00501DB82DC}"/>
              </a:ext>
            </a:extLst>
          </p:cNvPr>
          <p:cNvSpPr txBox="1"/>
          <p:nvPr/>
        </p:nvSpPr>
        <p:spPr>
          <a:xfrm>
            <a:off x="2209800" y="1797784"/>
            <a:ext cx="7924800" cy="3170099"/>
          </a:xfrm>
          <a:prstGeom prst="rect">
            <a:avLst/>
          </a:prstGeom>
          <a:noFill/>
        </p:spPr>
        <p:txBody>
          <a:bodyPr wrap="square" rtlCol="0">
            <a:spAutoFit/>
          </a:bodyPr>
          <a:lstStyle>
            <a:defPPr>
              <a:defRPr kern="0"/>
            </a:defPPr>
          </a:lstStyle>
          <a:p>
            <a:r>
              <a:rPr lang="en-IN" sz="10000" dirty="0">
                <a:latin typeface="Aptos" panose="020B0004020202020204" pitchFamily="34" charset="0"/>
              </a:rPr>
              <a:t>Cumulative</a:t>
            </a:r>
            <a:br>
              <a:rPr lang="en-IN" sz="10000" dirty="0">
                <a:latin typeface="Aptos" panose="020B0004020202020204" pitchFamily="34" charset="0"/>
              </a:rPr>
            </a:br>
            <a:r>
              <a:rPr lang="en-IN" sz="10000" dirty="0">
                <a:latin typeface="Aptos" panose="020B0004020202020204" pitchFamily="34" charset="0"/>
              </a:rPr>
              <a:t>Transfer</a:t>
            </a:r>
          </a:p>
        </p:txBody>
      </p:sp>
    </p:spTree>
    <p:extLst>
      <p:ext uri="{BB962C8B-B14F-4D97-AF65-F5344CB8AC3E}">
        <p14:creationId xmlns:p14="http://schemas.microsoft.com/office/powerpoint/2010/main" val="16778017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5B13CA-5E76-093B-1CDC-0BC4E33C047F}"/>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C650CDFD-08C2-489C-9BDD-72B33CEDDEE4}"/>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F758E108-C8E7-DB5B-D55F-ADD19916B6B4}"/>
              </a:ext>
            </a:extLst>
          </p:cNvPr>
          <p:cNvPicPr>
            <a:picLocks noChangeAspect="1"/>
          </p:cNvPicPr>
          <p:nvPr/>
        </p:nvPicPr>
        <p:blipFill>
          <a:blip r:embed="rId3"/>
          <a:stretch>
            <a:fillRect/>
          </a:stretch>
        </p:blipFill>
        <p:spPr>
          <a:xfrm>
            <a:off x="9181381" y="65406"/>
            <a:ext cx="2743200" cy="717452"/>
          </a:xfrm>
          <a:prstGeom prst="rect">
            <a:avLst/>
          </a:prstGeom>
        </p:spPr>
      </p:pic>
      <p:sp>
        <p:nvSpPr>
          <p:cNvPr id="2" name="TextBox 4">
            <a:extLst>
              <a:ext uri="{FF2B5EF4-FFF2-40B4-BE49-F238E27FC236}">
                <a16:creationId xmlns:a16="http://schemas.microsoft.com/office/drawing/2014/main" id="{075A1DDD-5770-0F71-3A39-C897EDB33DD3}"/>
              </a:ext>
            </a:extLst>
          </p:cNvPr>
          <p:cNvSpPr txBox="1"/>
          <p:nvPr/>
        </p:nvSpPr>
        <p:spPr>
          <a:xfrm>
            <a:off x="571500" y="328880"/>
            <a:ext cx="3086100" cy="1323439"/>
          </a:xfrm>
          <a:prstGeom prst="rect">
            <a:avLst/>
          </a:prstGeom>
          <a:noFill/>
        </p:spPr>
        <p:txBody>
          <a:bodyPr wrap="square" rtlCol="0">
            <a:spAutoFit/>
          </a:bodyPr>
          <a:lstStyle>
            <a:defPPr>
              <a:defRPr kern="0"/>
            </a:defPPr>
          </a:lstStyle>
          <a:p>
            <a:r>
              <a:rPr lang="en-IN" sz="1600" dirty="0">
                <a:latin typeface="Aptos" panose="020B0004020202020204" pitchFamily="34" charset="0"/>
              </a:rPr>
              <a:t>Simulation 7: </a:t>
            </a:r>
          </a:p>
          <a:p>
            <a:r>
              <a:rPr lang="en-IN" sz="1600" dirty="0">
                <a:latin typeface="Aptos" panose="020B0004020202020204" pitchFamily="34" charset="0"/>
              </a:rPr>
              <a:t>Transit Rule: Cumulative</a:t>
            </a:r>
          </a:p>
          <a:p>
            <a:r>
              <a:rPr lang="en-IN" sz="1600" dirty="0">
                <a:latin typeface="Aptos" panose="020B0004020202020204" pitchFamily="34" charset="0"/>
              </a:rPr>
              <a:t>Type: Transfer</a:t>
            </a:r>
          </a:p>
          <a:p>
            <a:r>
              <a:rPr lang="en-IN" sz="1600" dirty="0">
                <a:latin typeface="Aptos" panose="020B0004020202020204" pitchFamily="34" charset="0"/>
              </a:rPr>
              <a:t>Calendar: Everyday</a:t>
            </a:r>
          </a:p>
          <a:p>
            <a:r>
              <a:rPr lang="en-IN" sz="1600" dirty="0">
                <a:latin typeface="Aptos" panose="020B0004020202020204" pitchFamily="34" charset="0"/>
              </a:rPr>
              <a:t>Site: C1001</a:t>
            </a:r>
          </a:p>
        </p:txBody>
      </p:sp>
      <p:pic>
        <p:nvPicPr>
          <p:cNvPr id="3" name="Picture 2" descr="A screenshot of a computer&#10;&#10;AI-generated content may be incorrect.">
            <a:extLst>
              <a:ext uri="{FF2B5EF4-FFF2-40B4-BE49-F238E27FC236}">
                <a16:creationId xmlns:a16="http://schemas.microsoft.com/office/drawing/2014/main" id="{64D8635B-A127-EB1E-FB72-70ADE42BAC18}"/>
              </a:ext>
            </a:extLst>
          </p:cNvPr>
          <p:cNvPicPr>
            <a:picLocks noChangeAspect="1"/>
          </p:cNvPicPr>
          <p:nvPr/>
        </p:nvPicPr>
        <p:blipFill>
          <a:blip r:embed="rId4"/>
          <a:stretch>
            <a:fillRect/>
          </a:stretch>
        </p:blipFill>
        <p:spPr>
          <a:xfrm>
            <a:off x="575094" y="3942623"/>
            <a:ext cx="11027435" cy="2279545"/>
          </a:xfrm>
          <a:prstGeom prst="rect">
            <a:avLst/>
          </a:prstGeom>
        </p:spPr>
      </p:pic>
    </p:spTree>
    <p:extLst>
      <p:ext uri="{BB962C8B-B14F-4D97-AF65-F5344CB8AC3E}">
        <p14:creationId xmlns:p14="http://schemas.microsoft.com/office/powerpoint/2010/main" val="5316614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9676F-4AD3-C802-3FA7-4D0D9C2B1D86}"/>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FE3E8D5F-F5A8-52C2-BF07-71847EF93C73}"/>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D4EF8AD3-674C-815F-4217-5C9E4F1A2448}"/>
              </a:ext>
            </a:extLst>
          </p:cNvPr>
          <p:cNvPicPr>
            <a:picLocks noChangeAspect="1"/>
          </p:cNvPicPr>
          <p:nvPr/>
        </p:nvPicPr>
        <p:blipFill>
          <a:blip r:embed="rId3"/>
          <a:stretch>
            <a:fillRect/>
          </a:stretch>
        </p:blipFill>
        <p:spPr>
          <a:xfrm>
            <a:off x="9181381" y="65406"/>
            <a:ext cx="2743200" cy="717452"/>
          </a:xfrm>
          <a:prstGeom prst="rect">
            <a:avLst/>
          </a:prstGeom>
        </p:spPr>
      </p:pic>
      <p:pic>
        <p:nvPicPr>
          <p:cNvPr id="3" name="Picture 2" descr="A screenshot of a computer&#10;&#10;AI-generated content may be incorrect.">
            <a:extLst>
              <a:ext uri="{FF2B5EF4-FFF2-40B4-BE49-F238E27FC236}">
                <a16:creationId xmlns:a16="http://schemas.microsoft.com/office/drawing/2014/main" id="{8033885F-0494-1D59-DCEF-7A2E0E43C140}"/>
              </a:ext>
            </a:extLst>
          </p:cNvPr>
          <p:cNvPicPr>
            <a:picLocks noChangeAspect="1"/>
          </p:cNvPicPr>
          <p:nvPr/>
        </p:nvPicPr>
        <p:blipFill>
          <a:blip r:embed="rId4"/>
          <a:stretch>
            <a:fillRect/>
          </a:stretch>
        </p:blipFill>
        <p:spPr>
          <a:xfrm>
            <a:off x="575094" y="3942623"/>
            <a:ext cx="11027435" cy="2279545"/>
          </a:xfrm>
          <a:prstGeom prst="rect">
            <a:avLst/>
          </a:prstGeom>
        </p:spPr>
      </p:pic>
      <p:sp>
        <p:nvSpPr>
          <p:cNvPr id="6" name="TextBox 4">
            <a:extLst>
              <a:ext uri="{FF2B5EF4-FFF2-40B4-BE49-F238E27FC236}">
                <a16:creationId xmlns:a16="http://schemas.microsoft.com/office/drawing/2014/main" id="{CEDE2F00-9BE7-57AD-ECB1-59306C870F42}"/>
              </a:ext>
            </a:extLst>
          </p:cNvPr>
          <p:cNvSpPr txBox="1"/>
          <p:nvPr/>
        </p:nvSpPr>
        <p:spPr>
          <a:xfrm>
            <a:off x="571500" y="328880"/>
            <a:ext cx="3086100" cy="1323439"/>
          </a:xfrm>
          <a:prstGeom prst="rect">
            <a:avLst/>
          </a:prstGeom>
          <a:noFill/>
        </p:spPr>
        <p:txBody>
          <a:bodyPr wrap="square" rtlCol="0">
            <a:spAutoFit/>
          </a:bodyPr>
          <a:lstStyle>
            <a:defPPr>
              <a:defRPr kern="0"/>
            </a:defPPr>
          </a:lstStyle>
          <a:p>
            <a:r>
              <a:rPr lang="en-IN" sz="1600" dirty="0">
                <a:latin typeface="Aptos" panose="020B0004020202020204" pitchFamily="34" charset="0"/>
              </a:rPr>
              <a:t>Simulation 7: </a:t>
            </a:r>
          </a:p>
          <a:p>
            <a:r>
              <a:rPr lang="en-IN" sz="1600" dirty="0">
                <a:latin typeface="Aptos" panose="020B0004020202020204" pitchFamily="34" charset="0"/>
              </a:rPr>
              <a:t>Transit Rule: Cumulative</a:t>
            </a:r>
          </a:p>
          <a:p>
            <a:r>
              <a:rPr lang="en-IN" sz="1600" dirty="0">
                <a:latin typeface="Aptos" panose="020B0004020202020204" pitchFamily="34" charset="0"/>
              </a:rPr>
              <a:t>Type: Transfer</a:t>
            </a:r>
          </a:p>
          <a:p>
            <a:r>
              <a:rPr lang="en-IN" sz="1600" dirty="0">
                <a:latin typeface="Aptos" panose="020B0004020202020204" pitchFamily="34" charset="0"/>
              </a:rPr>
              <a:t>Calendar: Everyday</a:t>
            </a:r>
          </a:p>
          <a:p>
            <a:r>
              <a:rPr lang="en-IN" sz="1600" dirty="0">
                <a:latin typeface="Aptos" panose="020B0004020202020204" pitchFamily="34" charset="0"/>
              </a:rPr>
              <a:t>Site: E3001</a:t>
            </a:r>
          </a:p>
        </p:txBody>
      </p:sp>
    </p:spTree>
    <p:extLst>
      <p:ext uri="{BB962C8B-B14F-4D97-AF65-F5344CB8AC3E}">
        <p14:creationId xmlns:p14="http://schemas.microsoft.com/office/powerpoint/2010/main" val="14418984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457796-3E04-C825-7F53-6495E59333A7}"/>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1AADC384-273F-B65D-49F7-93837AD333FA}"/>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70C3619D-D7F3-EB39-B031-4C5FC40E081F}"/>
              </a:ext>
            </a:extLst>
          </p:cNvPr>
          <p:cNvPicPr>
            <a:picLocks noChangeAspect="1"/>
          </p:cNvPicPr>
          <p:nvPr/>
        </p:nvPicPr>
        <p:blipFill>
          <a:blip r:embed="rId3"/>
          <a:stretch>
            <a:fillRect/>
          </a:stretch>
        </p:blipFill>
        <p:spPr>
          <a:xfrm>
            <a:off x="9181381" y="65406"/>
            <a:ext cx="2743200" cy="717452"/>
          </a:xfrm>
          <a:prstGeom prst="rect">
            <a:avLst/>
          </a:prstGeom>
        </p:spPr>
      </p:pic>
      <p:sp>
        <p:nvSpPr>
          <p:cNvPr id="2" name="TextBox 4">
            <a:extLst>
              <a:ext uri="{FF2B5EF4-FFF2-40B4-BE49-F238E27FC236}">
                <a16:creationId xmlns:a16="http://schemas.microsoft.com/office/drawing/2014/main" id="{61B25014-08B2-C7F9-CE56-146395498775}"/>
              </a:ext>
            </a:extLst>
          </p:cNvPr>
          <p:cNvSpPr txBox="1"/>
          <p:nvPr/>
        </p:nvSpPr>
        <p:spPr>
          <a:xfrm>
            <a:off x="571500" y="328880"/>
            <a:ext cx="3086100" cy="1323439"/>
          </a:xfrm>
          <a:prstGeom prst="rect">
            <a:avLst/>
          </a:prstGeom>
          <a:noFill/>
        </p:spPr>
        <p:txBody>
          <a:bodyPr wrap="square" rtlCol="0">
            <a:spAutoFit/>
          </a:bodyPr>
          <a:lstStyle>
            <a:defPPr>
              <a:defRPr kern="0"/>
            </a:defPPr>
          </a:lstStyle>
          <a:p>
            <a:r>
              <a:rPr lang="en-IN" sz="1600" dirty="0">
                <a:latin typeface="Aptos" panose="020B0004020202020204" pitchFamily="34" charset="0"/>
              </a:rPr>
              <a:t>Simulation 8: </a:t>
            </a:r>
          </a:p>
          <a:p>
            <a:r>
              <a:rPr lang="en-IN" sz="1600" dirty="0">
                <a:latin typeface="Aptos" panose="020B0004020202020204" pitchFamily="34" charset="0"/>
              </a:rPr>
              <a:t>Transit Rule: Cumulative</a:t>
            </a:r>
          </a:p>
          <a:p>
            <a:r>
              <a:rPr lang="en-IN" sz="1600" dirty="0">
                <a:latin typeface="Aptos" panose="020B0004020202020204" pitchFamily="34" charset="0"/>
              </a:rPr>
              <a:t>Type: Transfer</a:t>
            </a:r>
          </a:p>
          <a:p>
            <a:r>
              <a:rPr lang="en-IN" sz="1600" dirty="0">
                <a:latin typeface="Aptos" panose="020B0004020202020204" pitchFamily="34" charset="0"/>
              </a:rPr>
              <a:t>Calendar: Workday</a:t>
            </a:r>
          </a:p>
          <a:p>
            <a:r>
              <a:rPr lang="en-IN" sz="1600" dirty="0">
                <a:latin typeface="Aptos" panose="020B0004020202020204" pitchFamily="34" charset="0"/>
              </a:rPr>
              <a:t>Site: C1001</a:t>
            </a:r>
          </a:p>
        </p:txBody>
      </p:sp>
      <p:pic>
        <p:nvPicPr>
          <p:cNvPr id="3" name="Picture 2" descr="A screenshot of a computer&#10;&#10;AI-generated content may be incorrect.">
            <a:extLst>
              <a:ext uri="{FF2B5EF4-FFF2-40B4-BE49-F238E27FC236}">
                <a16:creationId xmlns:a16="http://schemas.microsoft.com/office/drawing/2014/main" id="{30209A99-3074-E88C-FE0F-B696F40050AF}"/>
              </a:ext>
            </a:extLst>
          </p:cNvPr>
          <p:cNvPicPr>
            <a:picLocks noChangeAspect="1"/>
          </p:cNvPicPr>
          <p:nvPr/>
        </p:nvPicPr>
        <p:blipFill>
          <a:blip r:embed="rId4"/>
          <a:stretch>
            <a:fillRect/>
          </a:stretch>
        </p:blipFill>
        <p:spPr>
          <a:xfrm>
            <a:off x="575094" y="3881460"/>
            <a:ext cx="11156831" cy="2200588"/>
          </a:xfrm>
          <a:prstGeom prst="rect">
            <a:avLst/>
          </a:prstGeom>
        </p:spPr>
      </p:pic>
    </p:spTree>
    <p:extLst>
      <p:ext uri="{BB962C8B-B14F-4D97-AF65-F5344CB8AC3E}">
        <p14:creationId xmlns:p14="http://schemas.microsoft.com/office/powerpoint/2010/main" val="34973175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9C09D3-3771-4E7C-1CB0-AF7F200889FB}"/>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A485067E-0113-F3E7-28CB-AEC1700E8CCE}"/>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DCD3AEA5-FC36-767C-D629-8DE4556A715C}"/>
              </a:ext>
            </a:extLst>
          </p:cNvPr>
          <p:cNvPicPr>
            <a:picLocks noChangeAspect="1"/>
          </p:cNvPicPr>
          <p:nvPr/>
        </p:nvPicPr>
        <p:blipFill>
          <a:blip r:embed="rId3"/>
          <a:stretch>
            <a:fillRect/>
          </a:stretch>
        </p:blipFill>
        <p:spPr>
          <a:xfrm>
            <a:off x="9181381" y="65406"/>
            <a:ext cx="2743200" cy="717452"/>
          </a:xfrm>
          <a:prstGeom prst="rect">
            <a:avLst/>
          </a:prstGeom>
        </p:spPr>
      </p:pic>
      <p:pic>
        <p:nvPicPr>
          <p:cNvPr id="3" name="Picture 2" descr="A screenshot of a computer&#10;&#10;AI-generated content may be incorrect.">
            <a:extLst>
              <a:ext uri="{FF2B5EF4-FFF2-40B4-BE49-F238E27FC236}">
                <a16:creationId xmlns:a16="http://schemas.microsoft.com/office/drawing/2014/main" id="{7EFE8AD3-A19D-8D50-7457-2092357844FF}"/>
              </a:ext>
            </a:extLst>
          </p:cNvPr>
          <p:cNvPicPr>
            <a:picLocks noChangeAspect="1"/>
          </p:cNvPicPr>
          <p:nvPr/>
        </p:nvPicPr>
        <p:blipFill>
          <a:blip r:embed="rId4"/>
          <a:stretch>
            <a:fillRect/>
          </a:stretch>
        </p:blipFill>
        <p:spPr>
          <a:xfrm>
            <a:off x="575094" y="3881460"/>
            <a:ext cx="11156831" cy="2200588"/>
          </a:xfrm>
          <a:prstGeom prst="rect">
            <a:avLst/>
          </a:prstGeom>
        </p:spPr>
      </p:pic>
      <p:sp>
        <p:nvSpPr>
          <p:cNvPr id="6" name="TextBox 4">
            <a:extLst>
              <a:ext uri="{FF2B5EF4-FFF2-40B4-BE49-F238E27FC236}">
                <a16:creationId xmlns:a16="http://schemas.microsoft.com/office/drawing/2014/main" id="{7B7723BC-82BF-9BDE-AD8C-8ACCE5534379}"/>
              </a:ext>
            </a:extLst>
          </p:cNvPr>
          <p:cNvSpPr txBox="1"/>
          <p:nvPr/>
        </p:nvSpPr>
        <p:spPr>
          <a:xfrm>
            <a:off x="571500" y="328880"/>
            <a:ext cx="3086100" cy="1323439"/>
          </a:xfrm>
          <a:prstGeom prst="rect">
            <a:avLst/>
          </a:prstGeom>
          <a:noFill/>
        </p:spPr>
        <p:txBody>
          <a:bodyPr wrap="square" rtlCol="0">
            <a:spAutoFit/>
          </a:bodyPr>
          <a:lstStyle>
            <a:defPPr>
              <a:defRPr kern="0"/>
            </a:defPPr>
          </a:lstStyle>
          <a:p>
            <a:r>
              <a:rPr lang="en-IN" sz="1600" dirty="0">
                <a:latin typeface="Aptos" panose="020B0004020202020204" pitchFamily="34" charset="0"/>
              </a:rPr>
              <a:t>Simulation 8: </a:t>
            </a:r>
          </a:p>
          <a:p>
            <a:r>
              <a:rPr lang="en-IN" sz="1600" dirty="0">
                <a:latin typeface="Aptos" panose="020B0004020202020204" pitchFamily="34" charset="0"/>
              </a:rPr>
              <a:t>Transit Rule: Cumulative</a:t>
            </a:r>
          </a:p>
          <a:p>
            <a:r>
              <a:rPr lang="en-IN" sz="1600" dirty="0">
                <a:latin typeface="Aptos" panose="020B0004020202020204" pitchFamily="34" charset="0"/>
              </a:rPr>
              <a:t>Type: Transfer</a:t>
            </a:r>
          </a:p>
          <a:p>
            <a:r>
              <a:rPr lang="en-IN" sz="1600" dirty="0">
                <a:latin typeface="Aptos" panose="020B0004020202020204" pitchFamily="34" charset="0"/>
              </a:rPr>
              <a:t>Calendar: Workday</a:t>
            </a:r>
          </a:p>
          <a:p>
            <a:r>
              <a:rPr lang="en-IN" sz="1600" dirty="0">
                <a:latin typeface="Aptos" panose="020B0004020202020204" pitchFamily="34" charset="0"/>
              </a:rPr>
              <a:t>Site: E3001</a:t>
            </a:r>
          </a:p>
        </p:txBody>
      </p:sp>
    </p:spTree>
    <p:extLst>
      <p:ext uri="{BB962C8B-B14F-4D97-AF65-F5344CB8AC3E}">
        <p14:creationId xmlns:p14="http://schemas.microsoft.com/office/powerpoint/2010/main" val="254111788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8" descr="Shape, rectangle&#10;&#10;Description automatically generated"/>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p:cNvPicPr>
            <a:picLocks noChangeAspect="1"/>
          </p:cNvPicPr>
          <p:nvPr/>
        </p:nvPicPr>
        <p:blipFill>
          <a:blip r:embed="rId3"/>
          <a:stretch>
            <a:fillRect/>
          </a:stretch>
        </p:blipFill>
        <p:spPr>
          <a:xfrm>
            <a:off x="9181381" y="65406"/>
            <a:ext cx="2743200" cy="717452"/>
          </a:xfrm>
          <a:prstGeom prst="rect">
            <a:avLst/>
          </a:prstGeom>
        </p:spPr>
      </p:pic>
      <p:pic>
        <p:nvPicPr>
          <p:cNvPr id="2" name="Picture 1" descr="A diagram of a diagram&#10;&#10;AI-generated content may be incorrect.">
            <a:extLst>
              <a:ext uri="{FF2B5EF4-FFF2-40B4-BE49-F238E27FC236}">
                <a16:creationId xmlns:a16="http://schemas.microsoft.com/office/drawing/2014/main" id="{AA5EB78E-C3EC-7B53-1EFA-B40E4A97FD13}"/>
              </a:ext>
            </a:extLst>
          </p:cNvPr>
          <p:cNvPicPr>
            <a:picLocks noChangeAspect="1"/>
          </p:cNvPicPr>
          <p:nvPr/>
        </p:nvPicPr>
        <p:blipFill>
          <a:blip r:embed="rId4"/>
          <a:stretch>
            <a:fillRect/>
          </a:stretch>
        </p:blipFill>
        <p:spPr>
          <a:xfrm>
            <a:off x="2381250" y="866775"/>
            <a:ext cx="7429500" cy="512445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47443-63E1-09B4-1721-EECD37D13A9F}"/>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C4F7D310-A8A7-9ADD-C6BA-1A21AD1FEF80}"/>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D5D86936-98CF-DA6E-B199-65836CE1364C}"/>
              </a:ext>
            </a:extLst>
          </p:cNvPr>
          <p:cNvPicPr>
            <a:picLocks noChangeAspect="1"/>
          </p:cNvPicPr>
          <p:nvPr/>
        </p:nvPicPr>
        <p:blipFill>
          <a:blip r:embed="rId3"/>
          <a:stretch>
            <a:fillRect/>
          </a:stretch>
        </p:blipFill>
        <p:spPr>
          <a:xfrm>
            <a:off x="9181381" y="65406"/>
            <a:ext cx="2743200" cy="717452"/>
          </a:xfrm>
          <a:prstGeom prst="rect">
            <a:avLst/>
          </a:prstGeom>
        </p:spPr>
      </p:pic>
      <p:sp>
        <p:nvSpPr>
          <p:cNvPr id="3" name="TextBox 2">
            <a:extLst>
              <a:ext uri="{FF2B5EF4-FFF2-40B4-BE49-F238E27FC236}">
                <a16:creationId xmlns:a16="http://schemas.microsoft.com/office/drawing/2014/main" id="{2EAAAD63-9134-0756-C293-5ADED794C0BA}"/>
              </a:ext>
            </a:extLst>
          </p:cNvPr>
          <p:cNvSpPr txBox="1"/>
          <p:nvPr/>
        </p:nvSpPr>
        <p:spPr>
          <a:xfrm>
            <a:off x="447040" y="421640"/>
            <a:ext cx="609600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t>Cumulative lead time:</a:t>
            </a:r>
            <a:endParaRPr lang="en-US" sz="2800" b="1" dirty="0"/>
          </a:p>
        </p:txBody>
      </p:sp>
      <p:pic>
        <p:nvPicPr>
          <p:cNvPr id="7" name="Picture 6" descr="A diagram of a process&#10;&#10;AI-generated content may be incorrect.">
            <a:extLst>
              <a:ext uri="{FF2B5EF4-FFF2-40B4-BE49-F238E27FC236}">
                <a16:creationId xmlns:a16="http://schemas.microsoft.com/office/drawing/2014/main" id="{7757C319-8D3B-38D6-25F5-8EB7041C7A1C}"/>
              </a:ext>
            </a:extLst>
          </p:cNvPr>
          <p:cNvPicPr>
            <a:picLocks noChangeAspect="1"/>
          </p:cNvPicPr>
          <p:nvPr/>
        </p:nvPicPr>
        <p:blipFill>
          <a:blip r:embed="rId4"/>
          <a:stretch>
            <a:fillRect/>
          </a:stretch>
        </p:blipFill>
        <p:spPr>
          <a:xfrm>
            <a:off x="447880" y="1469239"/>
            <a:ext cx="8496300" cy="46863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26602406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8" descr="Shape, rectangle&#10;&#10;Description automatically generated"/>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p:cNvPicPr>
            <a:picLocks noChangeAspect="1"/>
          </p:cNvPicPr>
          <p:nvPr/>
        </p:nvPicPr>
        <p:blipFill>
          <a:blip r:embed="rId3"/>
          <a:stretch>
            <a:fillRect/>
          </a:stretch>
        </p:blipFill>
        <p:spPr>
          <a:xfrm>
            <a:off x="9181381" y="65406"/>
            <a:ext cx="2743200" cy="717452"/>
          </a:xfrm>
          <a:prstGeom prst="rect">
            <a:avLst/>
          </a:prstGeom>
        </p:spPr>
      </p:pic>
      <p:graphicFrame>
        <p:nvGraphicFramePr>
          <p:cNvPr id="3" name="Table 2">
            <a:extLst>
              <a:ext uri="{FF2B5EF4-FFF2-40B4-BE49-F238E27FC236}">
                <a16:creationId xmlns:a16="http://schemas.microsoft.com/office/drawing/2014/main" id="{BF158276-FC55-D013-2F1C-E6E81D54EE4F}"/>
              </a:ext>
            </a:extLst>
          </p:cNvPr>
          <p:cNvGraphicFramePr>
            <a:graphicFrameLocks noGrp="1"/>
          </p:cNvGraphicFramePr>
          <p:nvPr/>
        </p:nvGraphicFramePr>
        <p:xfrm>
          <a:off x="2011680" y="722376"/>
          <a:ext cx="8168640" cy="2966720"/>
        </p:xfrm>
        <a:graphic>
          <a:graphicData uri="http://schemas.openxmlformats.org/drawingml/2006/table">
            <a:tbl>
              <a:tblPr firstRow="1" bandRow="1">
                <a:tableStyleId>{5C22544A-7EE6-4342-B048-85BDC9FD1C3A}</a:tableStyleId>
              </a:tblPr>
              <a:tblGrid>
                <a:gridCol w="2722880">
                  <a:extLst>
                    <a:ext uri="{9D8B030D-6E8A-4147-A177-3AD203B41FA5}">
                      <a16:colId xmlns:a16="http://schemas.microsoft.com/office/drawing/2014/main" val="2266850949"/>
                    </a:ext>
                  </a:extLst>
                </a:gridCol>
                <a:gridCol w="2722880">
                  <a:extLst>
                    <a:ext uri="{9D8B030D-6E8A-4147-A177-3AD203B41FA5}">
                      <a16:colId xmlns:a16="http://schemas.microsoft.com/office/drawing/2014/main" val="4147753860"/>
                    </a:ext>
                  </a:extLst>
                </a:gridCol>
                <a:gridCol w="2722880">
                  <a:extLst>
                    <a:ext uri="{9D8B030D-6E8A-4147-A177-3AD203B41FA5}">
                      <a16:colId xmlns:a16="http://schemas.microsoft.com/office/drawing/2014/main" val="2635844716"/>
                    </a:ext>
                  </a:extLst>
                </a:gridCol>
              </a:tblGrid>
              <a:tr h="370840">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442057693"/>
                  </a:ext>
                </a:extLst>
              </a:tr>
              <a:tr h="370840">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112855841"/>
                  </a:ext>
                </a:extLst>
              </a:tr>
              <a:tr h="370840">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401275928"/>
                  </a:ext>
                </a:extLst>
              </a:tr>
              <a:tr h="370840">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77011055"/>
                  </a:ext>
                </a:extLst>
              </a:tr>
              <a:tr h="370840">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039445055"/>
                  </a:ext>
                </a:extLst>
              </a:tr>
              <a:tr h="370840">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160095631"/>
                  </a:ext>
                </a:extLst>
              </a:tr>
              <a:tr h="370840">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619911708"/>
                  </a:ext>
                </a:extLst>
              </a:tr>
              <a:tr h="370840">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918878668"/>
                  </a:ext>
                </a:extLst>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00A6D6-6B28-95D2-8718-93D2FFFF82C9}"/>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4EA1D2EA-06B0-3002-D838-AA3DAF3FCF66}"/>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4EFEFB95-40E2-F80A-B3AA-4303807E497F}"/>
              </a:ext>
            </a:extLst>
          </p:cNvPr>
          <p:cNvPicPr>
            <a:picLocks noChangeAspect="1"/>
          </p:cNvPicPr>
          <p:nvPr/>
        </p:nvPicPr>
        <p:blipFill>
          <a:blip r:embed="rId3"/>
          <a:stretch>
            <a:fillRect/>
          </a:stretch>
        </p:blipFill>
        <p:spPr>
          <a:xfrm>
            <a:off x="9181381" y="65406"/>
            <a:ext cx="2743200" cy="717452"/>
          </a:xfrm>
          <a:prstGeom prst="rect">
            <a:avLst/>
          </a:prstGeom>
        </p:spPr>
      </p:pic>
      <p:pic>
        <p:nvPicPr>
          <p:cNvPr id="3" name="Picture 2" descr="A diagram of a lead time&#10;&#10;AI-generated content may be incorrect.">
            <a:extLst>
              <a:ext uri="{FF2B5EF4-FFF2-40B4-BE49-F238E27FC236}">
                <a16:creationId xmlns:a16="http://schemas.microsoft.com/office/drawing/2014/main" id="{5EB37AD2-B165-F6B3-5750-ED5E58AE2CD5}"/>
              </a:ext>
            </a:extLst>
          </p:cNvPr>
          <p:cNvPicPr>
            <a:picLocks noChangeAspect="1"/>
          </p:cNvPicPr>
          <p:nvPr/>
        </p:nvPicPr>
        <p:blipFill>
          <a:blip r:embed="rId4"/>
          <a:stretch>
            <a:fillRect/>
          </a:stretch>
        </p:blipFill>
        <p:spPr>
          <a:xfrm>
            <a:off x="312075" y="66394"/>
            <a:ext cx="7229475" cy="3857625"/>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id="{05197D71-48CB-6BA3-59A0-76EDAAA44D81}"/>
              </a:ext>
            </a:extLst>
          </p:cNvPr>
          <p:cNvPicPr>
            <a:picLocks noChangeAspect="1"/>
          </p:cNvPicPr>
          <p:nvPr/>
        </p:nvPicPr>
        <p:blipFill>
          <a:blip r:embed="rId5"/>
          <a:stretch>
            <a:fillRect/>
          </a:stretch>
        </p:blipFill>
        <p:spPr>
          <a:xfrm>
            <a:off x="3050784" y="1535861"/>
            <a:ext cx="8505825" cy="4533900"/>
          </a:xfrm>
          <a:prstGeom prst="rect">
            <a:avLst/>
          </a:prstGeom>
        </p:spPr>
      </p:pic>
    </p:spTree>
    <p:extLst>
      <p:ext uri="{BB962C8B-B14F-4D97-AF65-F5344CB8AC3E}">
        <p14:creationId xmlns:p14="http://schemas.microsoft.com/office/powerpoint/2010/main" val="101742773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935A78-F0BC-C790-8DB3-E9B8891C3E02}"/>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37D15F06-0BEF-B083-1ED7-C70DAC03FDD0}"/>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14E08EC8-B09B-1F55-4595-75D23EC3C4FB}"/>
              </a:ext>
            </a:extLst>
          </p:cNvPr>
          <p:cNvPicPr>
            <a:picLocks noChangeAspect="1"/>
          </p:cNvPicPr>
          <p:nvPr/>
        </p:nvPicPr>
        <p:blipFill>
          <a:blip r:embed="rId3"/>
          <a:stretch>
            <a:fillRect/>
          </a:stretch>
        </p:blipFill>
        <p:spPr>
          <a:xfrm>
            <a:off x="9181381" y="65406"/>
            <a:ext cx="2743200" cy="717452"/>
          </a:xfrm>
          <a:prstGeom prst="rect">
            <a:avLst/>
          </a:prstGeom>
        </p:spPr>
      </p:pic>
      <p:sp>
        <p:nvSpPr>
          <p:cNvPr id="2" name="TextBox 1">
            <a:extLst>
              <a:ext uri="{FF2B5EF4-FFF2-40B4-BE49-F238E27FC236}">
                <a16:creationId xmlns:a16="http://schemas.microsoft.com/office/drawing/2014/main" id="{9229E7F6-C370-E7C2-DE5F-F8427F98F32E}"/>
              </a:ext>
            </a:extLst>
          </p:cNvPr>
          <p:cNvSpPr txBox="1"/>
          <p:nvPr/>
        </p:nvSpPr>
        <p:spPr>
          <a:xfrm>
            <a:off x="668835" y="2184783"/>
            <a:ext cx="7299960"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9600"/>
              <a:t>Time Phased </a:t>
            </a:r>
          </a:p>
        </p:txBody>
      </p:sp>
    </p:spTree>
    <p:extLst>
      <p:ext uri="{BB962C8B-B14F-4D97-AF65-F5344CB8AC3E}">
        <p14:creationId xmlns:p14="http://schemas.microsoft.com/office/powerpoint/2010/main" val="235540889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8" descr="Shape, rectangle&#10;&#10;Description automatically generated"/>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p:cNvPicPr>
            <a:picLocks noChangeAspect="1"/>
          </p:cNvPicPr>
          <p:nvPr/>
        </p:nvPicPr>
        <p:blipFill>
          <a:blip r:embed="rId3"/>
          <a:stretch>
            <a:fillRect/>
          </a:stretch>
        </p:blipFill>
        <p:spPr>
          <a:xfrm>
            <a:off x="9181381" y="65406"/>
            <a:ext cx="2743200" cy="717452"/>
          </a:xfrm>
          <a:prstGeom prst="rect">
            <a:avLst/>
          </a:prstGeom>
        </p:spPr>
      </p:pic>
      <p:sp>
        <p:nvSpPr>
          <p:cNvPr id="2" name="TextBox 1">
            <a:extLst>
              <a:ext uri="{FF2B5EF4-FFF2-40B4-BE49-F238E27FC236}">
                <a16:creationId xmlns:a16="http://schemas.microsoft.com/office/drawing/2014/main" id="{26B0F919-4867-91F9-DE46-2D888512DABB}"/>
              </a:ext>
            </a:extLst>
          </p:cNvPr>
          <p:cNvSpPr txBox="1"/>
          <p:nvPr/>
        </p:nvSpPr>
        <p:spPr>
          <a:xfrm>
            <a:off x="594360" y="548640"/>
            <a:ext cx="7489167"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Time phased lead time for Transit rule cumulative, type Transfer. Site C1001 as destination and E3001 as a where the part is made and supplied from</a:t>
            </a:r>
          </a:p>
          <a:p>
            <a:endParaRPr lang="en-US" dirty="0"/>
          </a:p>
          <a:p>
            <a:r>
              <a:rPr lang="en-US"/>
              <a:t>Step:</a:t>
            </a:r>
          </a:p>
          <a:p>
            <a:r>
              <a:rPr lang="en-US" dirty="0"/>
              <a:t>In the </a:t>
            </a:r>
            <a:r>
              <a:rPr lang="en-US" dirty="0" err="1"/>
              <a:t>the</a:t>
            </a:r>
            <a:r>
              <a:rPr lang="en-US" dirty="0"/>
              <a:t> </a:t>
            </a:r>
            <a:r>
              <a:rPr lang="en-US" dirty="0" err="1"/>
              <a:t>timephasedpartSourceLeadTime</a:t>
            </a:r>
            <a:r>
              <a:rPr lang="en-US" dirty="0"/>
              <a:t> Worksheet we need to first insert record for both supplier and destination site with proper part </a:t>
            </a:r>
            <a:r>
              <a:rPr lang="en-US" dirty="0" err="1"/>
              <a:t>basekey</a:t>
            </a:r>
            <a:r>
              <a:rPr lang="en-US" dirty="0"/>
              <a:t> used while creating supply chain, Part Name, </a:t>
            </a:r>
            <a:r>
              <a:rPr lang="en-US" dirty="0" err="1"/>
              <a:t>SourceID</a:t>
            </a:r>
            <a:r>
              <a:rPr lang="en-US" dirty="0"/>
              <a:t>, Supplier Site and Supplier ID.</a:t>
            </a:r>
          </a:p>
          <a:p>
            <a:r>
              <a:rPr lang="en-US" dirty="0"/>
              <a:t>Then we can add </a:t>
            </a:r>
            <a:r>
              <a:rPr lang="en-US" err="1"/>
              <a:t>val</a:t>
            </a:r>
            <a:r>
              <a:rPr lang="en-US"/>
              <a:t>ues to the record and use that in our simulation.</a:t>
            </a:r>
          </a:p>
          <a:p>
            <a:endParaRPr lang="en-US" dirty="0"/>
          </a:p>
          <a:p>
            <a:r>
              <a:rPr lang="en-US" dirty="0"/>
              <a:t>For Site C1001; All the lead time will be considered during simulation based on that </a:t>
            </a:r>
            <a:r>
              <a:rPr lang="en-US"/>
              <a:t>it gives us a start date.</a:t>
            </a:r>
            <a:endParaRPr lang="en-US" dirty="0"/>
          </a:p>
          <a:p>
            <a:r>
              <a:rPr lang="en-US" dirty="0"/>
              <a:t>But for site E3001 only the Safety, DTS, Transit and </a:t>
            </a:r>
            <a:r>
              <a:rPr lang="en-US" dirty="0" err="1"/>
              <a:t>Preship</a:t>
            </a:r>
            <a:r>
              <a:rPr lang="en-US" dirty="0"/>
              <a:t> values will be considered from site C1001, and all the lead time for E3001 if any will be considered as well.</a:t>
            </a:r>
          </a:p>
        </p:txBody>
      </p:sp>
      <p:pic>
        <p:nvPicPr>
          <p:cNvPr id="3" name="Picture 2" descr="A screenshot of a computer&#10;&#10;AI-generated content may be incorrect.">
            <a:extLst>
              <a:ext uri="{FF2B5EF4-FFF2-40B4-BE49-F238E27FC236}">
                <a16:creationId xmlns:a16="http://schemas.microsoft.com/office/drawing/2014/main" id="{55E2D17E-53F1-A1FE-59B8-0A0C005B4355}"/>
              </a:ext>
            </a:extLst>
          </p:cNvPr>
          <p:cNvPicPr>
            <a:picLocks noChangeAspect="1"/>
          </p:cNvPicPr>
          <p:nvPr/>
        </p:nvPicPr>
        <p:blipFill>
          <a:blip r:embed="rId4"/>
          <a:stretch>
            <a:fillRect/>
          </a:stretch>
        </p:blipFill>
        <p:spPr>
          <a:xfrm>
            <a:off x="8244205" y="3069908"/>
            <a:ext cx="3486150" cy="3095625"/>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66EEF3-F8FC-FF0D-DF77-150AA19A4CD2}"/>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8B5BA372-1BF4-C15E-84BF-87E081021841}"/>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7DA4E1EE-895C-DDE8-70A7-6D94398A92D9}"/>
              </a:ext>
            </a:extLst>
          </p:cNvPr>
          <p:cNvPicPr>
            <a:picLocks noChangeAspect="1"/>
          </p:cNvPicPr>
          <p:nvPr/>
        </p:nvPicPr>
        <p:blipFill>
          <a:blip r:embed="rId3"/>
          <a:stretch>
            <a:fillRect/>
          </a:stretch>
        </p:blipFill>
        <p:spPr>
          <a:xfrm>
            <a:off x="9181381" y="65406"/>
            <a:ext cx="2743200" cy="717452"/>
          </a:xfrm>
          <a:prstGeom prst="rect">
            <a:avLst/>
          </a:prstGeom>
        </p:spPr>
      </p:pic>
      <p:pic>
        <p:nvPicPr>
          <p:cNvPr id="2" name="Picture 1" descr="A screenshot of a computer&#10;&#10;AI-generated content may be incorrect.">
            <a:extLst>
              <a:ext uri="{FF2B5EF4-FFF2-40B4-BE49-F238E27FC236}">
                <a16:creationId xmlns:a16="http://schemas.microsoft.com/office/drawing/2014/main" id="{DA9819BD-5F74-7AB9-0BB3-0FB80D7FF2A3}"/>
              </a:ext>
            </a:extLst>
          </p:cNvPr>
          <p:cNvPicPr>
            <a:picLocks noChangeAspect="1"/>
          </p:cNvPicPr>
          <p:nvPr/>
        </p:nvPicPr>
        <p:blipFill>
          <a:blip r:embed="rId4"/>
          <a:stretch>
            <a:fillRect/>
          </a:stretch>
        </p:blipFill>
        <p:spPr>
          <a:xfrm>
            <a:off x="2143125" y="1166813"/>
            <a:ext cx="7905750" cy="4524375"/>
          </a:xfrm>
          <a:prstGeom prst="rect">
            <a:avLst/>
          </a:prstGeom>
        </p:spPr>
      </p:pic>
    </p:spTree>
    <p:extLst>
      <p:ext uri="{BB962C8B-B14F-4D97-AF65-F5344CB8AC3E}">
        <p14:creationId xmlns:p14="http://schemas.microsoft.com/office/powerpoint/2010/main" val="56043734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E2E49-6FB0-4A13-2655-45A185431202}"/>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5AB41CC3-BA5E-7996-CD40-4F47276519A1}"/>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29B6C63F-1536-1456-827C-018397D15911}"/>
              </a:ext>
            </a:extLst>
          </p:cNvPr>
          <p:cNvPicPr>
            <a:picLocks noChangeAspect="1"/>
          </p:cNvPicPr>
          <p:nvPr/>
        </p:nvPicPr>
        <p:blipFill>
          <a:blip r:embed="rId3"/>
          <a:stretch>
            <a:fillRect/>
          </a:stretch>
        </p:blipFill>
        <p:spPr>
          <a:xfrm>
            <a:off x="9181381" y="65406"/>
            <a:ext cx="2743200" cy="717452"/>
          </a:xfrm>
          <a:prstGeom prst="rect">
            <a:avLst/>
          </a:prstGeom>
        </p:spPr>
      </p:pic>
      <p:sp>
        <p:nvSpPr>
          <p:cNvPr id="3" name="TextBox 2">
            <a:extLst>
              <a:ext uri="{FF2B5EF4-FFF2-40B4-BE49-F238E27FC236}">
                <a16:creationId xmlns:a16="http://schemas.microsoft.com/office/drawing/2014/main" id="{03416528-B3EB-47D1-7BD4-C835A44C45C4}"/>
              </a:ext>
            </a:extLst>
          </p:cNvPr>
          <p:cNvSpPr txBox="1"/>
          <p:nvPr/>
        </p:nvSpPr>
        <p:spPr>
          <a:xfrm>
            <a:off x="414068" y="1004977"/>
            <a:ext cx="2346960" cy="39703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Time Phased Lead Time </a:t>
            </a:r>
            <a:endParaRPr lang="en-US" dirty="0"/>
          </a:p>
          <a:p>
            <a:endParaRPr lang="en-US" dirty="0"/>
          </a:p>
          <a:p>
            <a:r>
              <a:rPr lang="en-US"/>
              <a:t>Transit Rule: Inclusive</a:t>
            </a:r>
            <a:endParaRPr lang="en-US" dirty="0"/>
          </a:p>
          <a:p>
            <a:r>
              <a:rPr lang="en-US"/>
              <a:t>Type: Make </a:t>
            </a:r>
            <a:endParaRPr lang="en-US" dirty="0"/>
          </a:p>
          <a:p>
            <a:r>
              <a:rPr lang="en-US"/>
              <a:t>Site: C1001</a:t>
            </a:r>
            <a:endParaRPr lang="en-US" dirty="0"/>
          </a:p>
          <a:p>
            <a:endParaRPr lang="en-US" dirty="0"/>
          </a:p>
          <a:p>
            <a:r>
              <a:rPr lang="en-US"/>
              <a:t>Safety = 1</a:t>
            </a:r>
          </a:p>
          <a:p>
            <a:r>
              <a:rPr lang="en-US"/>
              <a:t>DTS = 2</a:t>
            </a:r>
          </a:p>
          <a:p>
            <a:r>
              <a:rPr lang="en-US"/>
              <a:t>Transit = 2</a:t>
            </a:r>
          </a:p>
          <a:p>
            <a:r>
              <a:rPr lang="en-US"/>
              <a:t>Pre-ship =1</a:t>
            </a:r>
          </a:p>
          <a:p>
            <a:r>
              <a:rPr lang="en-US"/>
              <a:t>LTA = 2</a:t>
            </a:r>
            <a:endParaRPr lang="en-US" dirty="0"/>
          </a:p>
          <a:p>
            <a:r>
              <a:rPr lang="en-US"/>
              <a:t>Fixed = 2</a:t>
            </a:r>
            <a:endParaRPr lang="en-US" dirty="0"/>
          </a:p>
          <a:p>
            <a:r>
              <a:rPr lang="en-US"/>
              <a:t>Variable = 0.2*10 =2</a:t>
            </a:r>
            <a:endParaRPr lang="en-US" dirty="0"/>
          </a:p>
        </p:txBody>
      </p:sp>
      <p:sp>
        <p:nvSpPr>
          <p:cNvPr id="6" name="TextBox 5">
            <a:extLst>
              <a:ext uri="{FF2B5EF4-FFF2-40B4-BE49-F238E27FC236}">
                <a16:creationId xmlns:a16="http://schemas.microsoft.com/office/drawing/2014/main" id="{559972AF-3A73-D0EE-0C65-85945301D439}"/>
              </a:ext>
            </a:extLst>
          </p:cNvPr>
          <p:cNvSpPr txBox="1"/>
          <p:nvPr/>
        </p:nvSpPr>
        <p:spPr>
          <a:xfrm>
            <a:off x="4799162" y="1004976"/>
            <a:ext cx="2346960"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Finding: the values are taken from the a day after effective In date for the demand date as same as effective In date it uses the previous values listed for the demand not the current time phased dates.</a:t>
            </a:r>
          </a:p>
        </p:txBody>
      </p:sp>
    </p:spTree>
    <p:extLst>
      <p:ext uri="{BB962C8B-B14F-4D97-AF65-F5344CB8AC3E}">
        <p14:creationId xmlns:p14="http://schemas.microsoft.com/office/powerpoint/2010/main" val="68428924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086C71-0199-EE71-25A8-8B7455361616}"/>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23AF3B38-DD2D-C05F-6D4C-7DD42EB7F676}"/>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B0BD7E04-8455-B083-303F-D1C48FEF0701}"/>
              </a:ext>
            </a:extLst>
          </p:cNvPr>
          <p:cNvPicPr>
            <a:picLocks noChangeAspect="1"/>
          </p:cNvPicPr>
          <p:nvPr/>
        </p:nvPicPr>
        <p:blipFill>
          <a:blip r:embed="rId3"/>
          <a:stretch>
            <a:fillRect/>
          </a:stretch>
        </p:blipFill>
        <p:spPr>
          <a:xfrm>
            <a:off x="9181381" y="65406"/>
            <a:ext cx="2743200" cy="717452"/>
          </a:xfrm>
          <a:prstGeom prst="rect">
            <a:avLst/>
          </a:prstGeom>
        </p:spPr>
      </p:pic>
      <p:graphicFrame>
        <p:nvGraphicFramePr>
          <p:cNvPr id="3" name="Table 2">
            <a:extLst>
              <a:ext uri="{FF2B5EF4-FFF2-40B4-BE49-F238E27FC236}">
                <a16:creationId xmlns:a16="http://schemas.microsoft.com/office/drawing/2014/main" id="{10F1F88D-1492-973E-18A9-137E20156518}"/>
              </a:ext>
            </a:extLst>
          </p:cNvPr>
          <p:cNvGraphicFramePr>
            <a:graphicFrameLocks noGrp="1"/>
          </p:cNvGraphicFramePr>
          <p:nvPr>
            <p:extLst>
              <p:ext uri="{D42A27DB-BD31-4B8C-83A1-F6EECF244321}">
                <p14:modId xmlns:p14="http://schemas.microsoft.com/office/powerpoint/2010/main" val="2557661216"/>
              </p:ext>
            </p:extLst>
          </p:nvPr>
        </p:nvGraphicFramePr>
        <p:xfrm>
          <a:off x="402183" y="4413849"/>
          <a:ext cx="11369172" cy="1483359"/>
        </p:xfrm>
        <a:graphic>
          <a:graphicData uri="http://schemas.openxmlformats.org/drawingml/2006/table">
            <a:tbl>
              <a:tblPr firstRow="1" bandRow="1">
                <a:tableStyleId>{5C22544A-7EE6-4342-B048-85BDC9FD1C3A}</a:tableStyleId>
              </a:tblPr>
              <a:tblGrid>
                <a:gridCol w="1894862">
                  <a:extLst>
                    <a:ext uri="{9D8B030D-6E8A-4147-A177-3AD203B41FA5}">
                      <a16:colId xmlns:a16="http://schemas.microsoft.com/office/drawing/2014/main" val="3360966526"/>
                    </a:ext>
                  </a:extLst>
                </a:gridCol>
                <a:gridCol w="1894862">
                  <a:extLst>
                    <a:ext uri="{9D8B030D-6E8A-4147-A177-3AD203B41FA5}">
                      <a16:colId xmlns:a16="http://schemas.microsoft.com/office/drawing/2014/main" val="2124009587"/>
                    </a:ext>
                  </a:extLst>
                </a:gridCol>
                <a:gridCol w="1894862">
                  <a:extLst>
                    <a:ext uri="{9D8B030D-6E8A-4147-A177-3AD203B41FA5}">
                      <a16:colId xmlns:a16="http://schemas.microsoft.com/office/drawing/2014/main" val="1717059220"/>
                    </a:ext>
                  </a:extLst>
                </a:gridCol>
                <a:gridCol w="1894862">
                  <a:extLst>
                    <a:ext uri="{9D8B030D-6E8A-4147-A177-3AD203B41FA5}">
                      <a16:colId xmlns:a16="http://schemas.microsoft.com/office/drawing/2014/main" val="2827923830"/>
                    </a:ext>
                  </a:extLst>
                </a:gridCol>
                <a:gridCol w="1894862">
                  <a:extLst>
                    <a:ext uri="{9D8B030D-6E8A-4147-A177-3AD203B41FA5}">
                      <a16:colId xmlns:a16="http://schemas.microsoft.com/office/drawing/2014/main" val="2691817167"/>
                    </a:ext>
                  </a:extLst>
                </a:gridCol>
                <a:gridCol w="1894862">
                  <a:extLst>
                    <a:ext uri="{9D8B030D-6E8A-4147-A177-3AD203B41FA5}">
                      <a16:colId xmlns:a16="http://schemas.microsoft.com/office/drawing/2014/main" val="1953319606"/>
                    </a:ext>
                  </a:extLst>
                </a:gridCol>
              </a:tblGrid>
              <a:tr h="370840">
                <a:tc>
                  <a:txBody>
                    <a:bodyPr/>
                    <a:lstStyle/>
                    <a:p>
                      <a:r>
                        <a:rPr lang="en-US" sz="1600"/>
                        <a:t>Demand Date</a:t>
                      </a:r>
                    </a:p>
                  </a:txBody>
                  <a:tcPr/>
                </a:tc>
                <a:tc>
                  <a:txBody>
                    <a:bodyPr/>
                    <a:lstStyle/>
                    <a:p>
                      <a:r>
                        <a:rPr lang="en-US" sz="1600"/>
                        <a:t>Due Date</a:t>
                      </a:r>
                    </a:p>
                  </a:txBody>
                  <a:tcPr/>
                </a:tc>
                <a:tc>
                  <a:txBody>
                    <a:bodyPr/>
                    <a:lstStyle/>
                    <a:p>
                      <a:r>
                        <a:rPr lang="en-US" sz="1600"/>
                        <a:t>Dock Date</a:t>
                      </a:r>
                    </a:p>
                  </a:txBody>
                  <a:tcPr/>
                </a:tc>
                <a:tc>
                  <a:txBody>
                    <a:bodyPr/>
                    <a:lstStyle/>
                    <a:p>
                      <a:r>
                        <a:rPr lang="en-US" sz="1600"/>
                        <a:t>Ship Date</a:t>
                      </a:r>
                    </a:p>
                  </a:txBody>
                  <a:tcPr/>
                </a:tc>
                <a:tc>
                  <a:txBody>
                    <a:bodyPr/>
                    <a:lstStyle/>
                    <a:p>
                      <a:r>
                        <a:rPr lang="en-US" sz="1600"/>
                        <a:t>Build Date</a:t>
                      </a:r>
                    </a:p>
                  </a:txBody>
                  <a:tcPr/>
                </a:tc>
                <a:tc>
                  <a:txBody>
                    <a:bodyPr/>
                    <a:lstStyle/>
                    <a:p>
                      <a:r>
                        <a:rPr lang="en-US" sz="1600"/>
                        <a:t>Start Date</a:t>
                      </a:r>
                    </a:p>
                  </a:txBody>
                  <a:tcPr/>
                </a:tc>
                <a:extLst>
                  <a:ext uri="{0D108BD9-81ED-4DB2-BD59-A6C34878D82A}">
                    <a16:rowId xmlns:a16="http://schemas.microsoft.com/office/drawing/2014/main" val="1230228740"/>
                  </a:ext>
                </a:extLst>
              </a:tr>
              <a:tr h="370839">
                <a:tc>
                  <a:txBody>
                    <a:bodyPr/>
                    <a:lstStyle/>
                    <a:p>
                      <a:pPr lvl="0">
                        <a:buNone/>
                      </a:pPr>
                      <a:r>
                        <a:rPr lang="en-US" sz="1600"/>
                        <a:t>09/25/2026</a:t>
                      </a:r>
                    </a:p>
                  </a:txBody>
                  <a:tcPr/>
                </a:tc>
                <a:tc>
                  <a:txBody>
                    <a:bodyPr/>
                    <a:lstStyle/>
                    <a:p>
                      <a:pPr lvl="0">
                        <a:buNone/>
                      </a:pPr>
                      <a:r>
                        <a:rPr lang="en-US" sz="1600"/>
                        <a:t>09/24/2026</a:t>
                      </a:r>
                    </a:p>
                  </a:txBody>
                  <a:tcPr/>
                </a:tc>
                <a:tc>
                  <a:txBody>
                    <a:bodyPr/>
                    <a:lstStyle/>
                    <a:p>
                      <a:pPr lvl="0">
                        <a:buNone/>
                      </a:pPr>
                      <a:r>
                        <a:rPr lang="en-US" sz="1600"/>
                        <a:t>09/22/2026</a:t>
                      </a:r>
                    </a:p>
                  </a:txBody>
                  <a:tcPr/>
                </a:tc>
                <a:tc>
                  <a:txBody>
                    <a:bodyPr/>
                    <a:lstStyle/>
                    <a:p>
                      <a:pPr lvl="0">
                        <a:buNone/>
                      </a:pPr>
                      <a:r>
                        <a:rPr lang="en-US" sz="1600"/>
                        <a:t>09/20/2026</a:t>
                      </a:r>
                    </a:p>
                  </a:txBody>
                  <a:tcPr/>
                </a:tc>
                <a:tc>
                  <a:txBody>
                    <a:bodyPr/>
                    <a:lstStyle/>
                    <a:p>
                      <a:pPr lvl="0">
                        <a:buNone/>
                      </a:pPr>
                      <a:r>
                        <a:rPr lang="en-US" sz="1600"/>
                        <a:t>09/19/2026</a:t>
                      </a:r>
                    </a:p>
                  </a:txBody>
                  <a:tcPr/>
                </a:tc>
                <a:tc>
                  <a:txBody>
                    <a:bodyPr/>
                    <a:lstStyle/>
                    <a:p>
                      <a:pPr lvl="0">
                        <a:buNone/>
                      </a:pPr>
                      <a:r>
                        <a:rPr lang="en-US" sz="1600"/>
                        <a:t>09/13/2026</a:t>
                      </a:r>
                    </a:p>
                  </a:txBody>
                  <a:tcPr/>
                </a:tc>
                <a:extLst>
                  <a:ext uri="{0D108BD9-81ED-4DB2-BD59-A6C34878D82A}">
                    <a16:rowId xmlns:a16="http://schemas.microsoft.com/office/drawing/2014/main" val="322219961"/>
                  </a:ext>
                </a:extLst>
              </a:tr>
              <a:tr h="370840">
                <a:tc>
                  <a:txBody>
                    <a:bodyPr/>
                    <a:lstStyle/>
                    <a:p>
                      <a:r>
                        <a:rPr lang="en-US" sz="1600"/>
                        <a:t>10/15/2026</a:t>
                      </a:r>
                    </a:p>
                  </a:txBody>
                  <a:tcPr/>
                </a:tc>
                <a:tc>
                  <a:txBody>
                    <a:bodyPr/>
                    <a:lstStyle/>
                    <a:p>
                      <a:r>
                        <a:rPr lang="en-US" sz="1600"/>
                        <a:t>10/14/2026</a:t>
                      </a:r>
                    </a:p>
                  </a:txBody>
                  <a:tcPr/>
                </a:tc>
                <a:tc>
                  <a:txBody>
                    <a:bodyPr/>
                    <a:lstStyle/>
                    <a:p>
                      <a:pPr lvl="0" algn="l">
                        <a:lnSpc>
                          <a:spcPct val="100000"/>
                        </a:lnSpc>
                        <a:spcBef>
                          <a:spcPts val="0"/>
                        </a:spcBef>
                        <a:spcAft>
                          <a:spcPts val="0"/>
                        </a:spcAft>
                        <a:buNone/>
                      </a:pPr>
                      <a:r>
                        <a:rPr lang="en-US" sz="1600" b="0" i="0" u="none" strike="noStrike" noProof="0">
                          <a:solidFill>
                            <a:srgbClr val="000000"/>
                          </a:solidFill>
                          <a:latin typeface="Aptos"/>
                        </a:rPr>
                        <a:t>10/14/2026</a:t>
                      </a:r>
                    </a:p>
                  </a:txBody>
                  <a:tcPr/>
                </a:tc>
                <a:tc>
                  <a:txBody>
                    <a:bodyPr/>
                    <a:lstStyle/>
                    <a:p>
                      <a:pPr lvl="0" algn="l">
                        <a:lnSpc>
                          <a:spcPct val="100000"/>
                        </a:lnSpc>
                        <a:spcBef>
                          <a:spcPts val="0"/>
                        </a:spcBef>
                        <a:spcAft>
                          <a:spcPts val="0"/>
                        </a:spcAft>
                        <a:buNone/>
                      </a:pPr>
                      <a:r>
                        <a:rPr lang="en-US" sz="1600" b="0" i="0" u="none" strike="noStrike" noProof="0">
                          <a:solidFill>
                            <a:srgbClr val="000000"/>
                          </a:solidFill>
                          <a:latin typeface="Aptos"/>
                        </a:rPr>
                        <a:t>10/14/2026</a:t>
                      </a:r>
                    </a:p>
                  </a:txBody>
                  <a:tcPr/>
                </a:tc>
                <a:tc>
                  <a:txBody>
                    <a:bodyPr/>
                    <a:lstStyle/>
                    <a:p>
                      <a:r>
                        <a:rPr lang="en-US" sz="1600"/>
                        <a:t>10/14/2026</a:t>
                      </a:r>
                    </a:p>
                  </a:txBody>
                  <a:tcPr/>
                </a:tc>
                <a:tc>
                  <a:txBody>
                    <a:bodyPr/>
                    <a:lstStyle/>
                    <a:p>
                      <a:r>
                        <a:rPr lang="en-US" sz="1600"/>
                        <a:t>10/05/2026</a:t>
                      </a:r>
                    </a:p>
                  </a:txBody>
                  <a:tcPr/>
                </a:tc>
                <a:extLst>
                  <a:ext uri="{0D108BD9-81ED-4DB2-BD59-A6C34878D82A}">
                    <a16:rowId xmlns:a16="http://schemas.microsoft.com/office/drawing/2014/main" val="565191867"/>
                  </a:ext>
                </a:extLst>
              </a:tr>
              <a:tr h="370840">
                <a:tc>
                  <a:txBody>
                    <a:bodyPr/>
                    <a:lstStyle/>
                    <a:p>
                      <a:r>
                        <a:rPr lang="en-US" sz="1600"/>
                        <a:t>10/20/2026</a:t>
                      </a:r>
                    </a:p>
                  </a:txBody>
                  <a:tcPr/>
                </a:tc>
                <a:tc>
                  <a:txBody>
                    <a:bodyPr/>
                    <a:lstStyle/>
                    <a:p>
                      <a:r>
                        <a:rPr lang="en-US" sz="1600"/>
                        <a:t>10/19/2026</a:t>
                      </a:r>
                    </a:p>
                  </a:txBody>
                  <a:tcPr/>
                </a:tc>
                <a:tc>
                  <a:txBody>
                    <a:bodyPr/>
                    <a:lstStyle/>
                    <a:p>
                      <a:pPr lvl="0" algn="l">
                        <a:lnSpc>
                          <a:spcPct val="100000"/>
                        </a:lnSpc>
                        <a:spcBef>
                          <a:spcPts val="0"/>
                        </a:spcBef>
                        <a:spcAft>
                          <a:spcPts val="0"/>
                        </a:spcAft>
                        <a:buNone/>
                      </a:pPr>
                      <a:r>
                        <a:rPr lang="en-US" sz="1600" b="0" i="0" u="none" strike="noStrike" noProof="0">
                          <a:solidFill>
                            <a:srgbClr val="000000"/>
                          </a:solidFill>
                          <a:latin typeface="Aptos"/>
                        </a:rPr>
                        <a:t>10/19/2026</a:t>
                      </a:r>
                    </a:p>
                  </a:txBody>
                  <a:tcPr/>
                </a:tc>
                <a:tc>
                  <a:txBody>
                    <a:bodyPr/>
                    <a:lstStyle/>
                    <a:p>
                      <a:pPr lvl="0" algn="l">
                        <a:lnSpc>
                          <a:spcPct val="100000"/>
                        </a:lnSpc>
                        <a:spcBef>
                          <a:spcPts val="0"/>
                        </a:spcBef>
                        <a:spcAft>
                          <a:spcPts val="0"/>
                        </a:spcAft>
                        <a:buNone/>
                      </a:pPr>
                      <a:r>
                        <a:rPr lang="en-US" sz="1600" b="0" i="0" u="none" strike="noStrike" noProof="0">
                          <a:solidFill>
                            <a:srgbClr val="000000"/>
                          </a:solidFill>
                          <a:latin typeface="Aptos"/>
                        </a:rPr>
                        <a:t>10/19/2026</a:t>
                      </a:r>
                    </a:p>
                  </a:txBody>
                  <a:tcPr/>
                </a:tc>
                <a:tc>
                  <a:txBody>
                    <a:bodyPr/>
                    <a:lstStyle/>
                    <a:p>
                      <a:r>
                        <a:rPr lang="en-US" sz="1600"/>
                        <a:t>10/19/2026</a:t>
                      </a:r>
                    </a:p>
                  </a:txBody>
                  <a:tcPr/>
                </a:tc>
                <a:tc>
                  <a:txBody>
                    <a:bodyPr/>
                    <a:lstStyle/>
                    <a:p>
                      <a:r>
                        <a:rPr lang="en-US" sz="1600"/>
                        <a:t>10/09/2026</a:t>
                      </a:r>
                    </a:p>
                  </a:txBody>
                  <a:tcPr/>
                </a:tc>
                <a:extLst>
                  <a:ext uri="{0D108BD9-81ED-4DB2-BD59-A6C34878D82A}">
                    <a16:rowId xmlns:a16="http://schemas.microsoft.com/office/drawing/2014/main" val="3999118261"/>
                  </a:ext>
                </a:extLst>
              </a:tr>
            </a:tbl>
          </a:graphicData>
        </a:graphic>
      </p:graphicFrame>
      <p:pic>
        <p:nvPicPr>
          <p:cNvPr id="6" name="Picture 5" descr="A screenshot of a computer&#10;&#10;AI-generated content may be incorrect.">
            <a:extLst>
              <a:ext uri="{FF2B5EF4-FFF2-40B4-BE49-F238E27FC236}">
                <a16:creationId xmlns:a16="http://schemas.microsoft.com/office/drawing/2014/main" id="{5485EDC4-13E6-4739-3486-1F550797693E}"/>
              </a:ext>
            </a:extLst>
          </p:cNvPr>
          <p:cNvPicPr>
            <a:picLocks noChangeAspect="1"/>
          </p:cNvPicPr>
          <p:nvPr/>
        </p:nvPicPr>
        <p:blipFill>
          <a:blip r:embed="rId4"/>
          <a:srcRect l="126" b="23275"/>
          <a:stretch>
            <a:fillRect/>
          </a:stretch>
        </p:blipFill>
        <p:spPr>
          <a:xfrm>
            <a:off x="402566" y="2465157"/>
            <a:ext cx="11358140" cy="171066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7" name="TextBox 6">
            <a:extLst>
              <a:ext uri="{FF2B5EF4-FFF2-40B4-BE49-F238E27FC236}">
                <a16:creationId xmlns:a16="http://schemas.microsoft.com/office/drawing/2014/main" id="{0AD40F95-734E-F59A-833E-3ABB3447A268}"/>
              </a:ext>
            </a:extLst>
          </p:cNvPr>
          <p:cNvSpPr txBox="1"/>
          <p:nvPr/>
        </p:nvSpPr>
        <p:spPr>
          <a:xfrm>
            <a:off x="402565" y="424131"/>
            <a:ext cx="11473131" cy="172354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cs typeface="Arial"/>
              </a:rPr>
              <a:t>Time Phased Simulation 1:</a:t>
            </a:r>
          </a:p>
          <a:p>
            <a:endParaRPr lang="en-US" dirty="0">
              <a:cs typeface="Arial"/>
            </a:endParaRPr>
          </a:p>
          <a:p>
            <a:pPr marL="285750" indent="-285750">
              <a:buFont typeface="Arial,Sans-Serif"/>
              <a:buChar char="•"/>
            </a:pPr>
            <a:r>
              <a:rPr lang="en-US" sz="1600">
                <a:cs typeface="Arial"/>
              </a:rPr>
              <a:t>Transit Rule = Inclusive</a:t>
            </a:r>
            <a:endParaRPr lang="en-US" sz="1600" dirty="0">
              <a:cs typeface="Arial"/>
            </a:endParaRPr>
          </a:p>
          <a:p>
            <a:pPr marL="285750" indent="-285750">
              <a:buFont typeface="Arial"/>
              <a:buChar char="•"/>
            </a:pPr>
            <a:r>
              <a:rPr lang="en-US" sz="1600">
                <a:cs typeface="Arial"/>
              </a:rPr>
              <a:t>Demand Quantity = 10.</a:t>
            </a:r>
            <a:endParaRPr lang="en-US" sz="1600" dirty="0">
              <a:cs typeface="Arial"/>
            </a:endParaRPr>
          </a:p>
          <a:p>
            <a:pPr marL="285750" indent="-285750">
              <a:buFont typeface="Arial"/>
              <a:buChar char="•"/>
            </a:pPr>
            <a:r>
              <a:rPr lang="en-US" sz="1600">
                <a:cs typeface="Arial"/>
              </a:rPr>
              <a:t>Part Source Type = Make</a:t>
            </a:r>
            <a:endParaRPr lang="en-US" sz="1600" dirty="0">
              <a:cs typeface="Arial"/>
            </a:endParaRPr>
          </a:p>
          <a:p>
            <a:pPr marL="285750" indent="-285750">
              <a:buFont typeface="Arial"/>
              <a:buChar char="•"/>
            </a:pPr>
            <a:r>
              <a:rPr lang="en-US" sz="1600">
                <a:cs typeface="Arial"/>
              </a:rPr>
              <a:t>Original/ Destination Site = C1001</a:t>
            </a:r>
            <a:endParaRPr lang="en-US" sz="1600" dirty="0">
              <a:cs typeface="Arial"/>
            </a:endParaRPr>
          </a:p>
        </p:txBody>
      </p:sp>
    </p:spTree>
    <p:extLst>
      <p:ext uri="{BB962C8B-B14F-4D97-AF65-F5344CB8AC3E}">
        <p14:creationId xmlns:p14="http://schemas.microsoft.com/office/powerpoint/2010/main" val="97795879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CE52C4-49DF-A211-9E43-391794352D46}"/>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A0A2389C-5E7B-37B8-B440-D51F275523EA}"/>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CE146B7B-7168-F97C-47CD-6CE1E645ED60}"/>
              </a:ext>
            </a:extLst>
          </p:cNvPr>
          <p:cNvPicPr>
            <a:picLocks noChangeAspect="1"/>
          </p:cNvPicPr>
          <p:nvPr/>
        </p:nvPicPr>
        <p:blipFill>
          <a:blip r:embed="rId3"/>
          <a:stretch>
            <a:fillRect/>
          </a:stretch>
        </p:blipFill>
        <p:spPr>
          <a:xfrm>
            <a:off x="9181381" y="65406"/>
            <a:ext cx="2743200" cy="717452"/>
          </a:xfrm>
          <a:prstGeom prst="rect">
            <a:avLst/>
          </a:prstGeom>
        </p:spPr>
      </p:pic>
      <p:pic>
        <p:nvPicPr>
          <p:cNvPr id="2" name="Picture 1" descr="A screenshot of a computer&#10;&#10;AI-generated content may be incorrect.">
            <a:extLst>
              <a:ext uri="{FF2B5EF4-FFF2-40B4-BE49-F238E27FC236}">
                <a16:creationId xmlns:a16="http://schemas.microsoft.com/office/drawing/2014/main" id="{6E19BDB0-E397-FBCC-225A-346589C99181}"/>
              </a:ext>
            </a:extLst>
          </p:cNvPr>
          <p:cNvPicPr>
            <a:picLocks noChangeAspect="1"/>
          </p:cNvPicPr>
          <p:nvPr/>
        </p:nvPicPr>
        <p:blipFill>
          <a:blip r:embed="rId4"/>
          <a:stretch>
            <a:fillRect/>
          </a:stretch>
        </p:blipFill>
        <p:spPr>
          <a:xfrm>
            <a:off x="230037" y="1028454"/>
            <a:ext cx="11683426" cy="500333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14836380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78AD3-E0B0-530A-9800-B18D40A38336}"/>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F8970616-C67E-46B4-9F83-3B7D5F118E33}"/>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A29B37D9-8FE0-FC00-EF7F-DE6702903269}"/>
              </a:ext>
            </a:extLst>
          </p:cNvPr>
          <p:cNvPicPr>
            <a:picLocks noChangeAspect="1"/>
          </p:cNvPicPr>
          <p:nvPr/>
        </p:nvPicPr>
        <p:blipFill>
          <a:blip r:embed="rId3"/>
          <a:stretch>
            <a:fillRect/>
          </a:stretch>
        </p:blipFill>
        <p:spPr>
          <a:xfrm>
            <a:off x="9181381" y="65406"/>
            <a:ext cx="2743200" cy="717452"/>
          </a:xfrm>
          <a:prstGeom prst="rect">
            <a:avLst/>
          </a:prstGeom>
        </p:spPr>
      </p:pic>
      <p:sp>
        <p:nvSpPr>
          <p:cNvPr id="3" name="TextBox 2">
            <a:extLst>
              <a:ext uri="{FF2B5EF4-FFF2-40B4-BE49-F238E27FC236}">
                <a16:creationId xmlns:a16="http://schemas.microsoft.com/office/drawing/2014/main" id="{0112BCD3-C555-4D87-2D5D-9BC737E6B209}"/>
              </a:ext>
            </a:extLst>
          </p:cNvPr>
          <p:cNvSpPr txBox="1"/>
          <p:nvPr/>
        </p:nvSpPr>
        <p:spPr>
          <a:xfrm>
            <a:off x="414068" y="1004977"/>
            <a:ext cx="2346960" cy="42473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Time Phased Lead Time </a:t>
            </a:r>
            <a:endParaRPr lang="en-US" dirty="0"/>
          </a:p>
          <a:p>
            <a:endParaRPr lang="en-US" dirty="0"/>
          </a:p>
          <a:p>
            <a:r>
              <a:rPr lang="en-US"/>
              <a:t>Transit Rule: Cumulative</a:t>
            </a:r>
            <a:endParaRPr lang="en-US" dirty="0"/>
          </a:p>
          <a:p>
            <a:r>
              <a:rPr lang="en-US"/>
              <a:t>Type: Make </a:t>
            </a:r>
            <a:endParaRPr lang="en-US" dirty="0"/>
          </a:p>
          <a:p>
            <a:r>
              <a:rPr lang="en-US"/>
              <a:t>Site: C1001</a:t>
            </a:r>
            <a:endParaRPr lang="en-US" dirty="0"/>
          </a:p>
          <a:p>
            <a:endParaRPr lang="en-US" dirty="0"/>
          </a:p>
          <a:p>
            <a:r>
              <a:rPr lang="en-US"/>
              <a:t>Safety = 1</a:t>
            </a:r>
          </a:p>
          <a:p>
            <a:r>
              <a:rPr lang="en-US"/>
              <a:t>DTS = 2</a:t>
            </a:r>
          </a:p>
          <a:p>
            <a:r>
              <a:rPr lang="en-US"/>
              <a:t>Transit = 2</a:t>
            </a:r>
          </a:p>
          <a:p>
            <a:r>
              <a:rPr lang="en-US"/>
              <a:t>Pre-ship =1</a:t>
            </a:r>
          </a:p>
          <a:p>
            <a:r>
              <a:rPr lang="en-US"/>
              <a:t>LTA = 2</a:t>
            </a:r>
            <a:endParaRPr lang="en-US" dirty="0"/>
          </a:p>
          <a:p>
            <a:r>
              <a:rPr lang="en-US"/>
              <a:t>Fixed = 2</a:t>
            </a:r>
            <a:endParaRPr lang="en-US" dirty="0"/>
          </a:p>
          <a:p>
            <a:r>
              <a:rPr lang="en-US"/>
              <a:t>Variable = 0.2*10 =2</a:t>
            </a:r>
            <a:endParaRPr lang="en-US" dirty="0"/>
          </a:p>
        </p:txBody>
      </p:sp>
      <p:sp>
        <p:nvSpPr>
          <p:cNvPr id="7" name="TextBox 6">
            <a:extLst>
              <a:ext uri="{FF2B5EF4-FFF2-40B4-BE49-F238E27FC236}">
                <a16:creationId xmlns:a16="http://schemas.microsoft.com/office/drawing/2014/main" id="{6A006624-789D-8F5E-1E4A-398B0FA07355}"/>
              </a:ext>
            </a:extLst>
          </p:cNvPr>
          <p:cNvSpPr txBox="1"/>
          <p:nvPr/>
        </p:nvSpPr>
        <p:spPr>
          <a:xfrm>
            <a:off x="3548332" y="1867618"/>
            <a:ext cx="2346960"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Finding: the values are taken from the a day after effective In date for the demand date as same as effective In date it uses the previous values listed for the demand not the current time phased dates.</a:t>
            </a:r>
          </a:p>
        </p:txBody>
      </p:sp>
    </p:spTree>
    <p:extLst>
      <p:ext uri="{BB962C8B-B14F-4D97-AF65-F5344CB8AC3E}">
        <p14:creationId xmlns:p14="http://schemas.microsoft.com/office/powerpoint/2010/main" val="297211403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09BDF-A196-8376-BD5E-6D4172605593}"/>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62E41CB8-E044-5C83-4964-6125CE69001A}"/>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0147F4EB-7766-2E7A-6D9E-AE644CD712C3}"/>
              </a:ext>
            </a:extLst>
          </p:cNvPr>
          <p:cNvPicPr>
            <a:picLocks noChangeAspect="1"/>
          </p:cNvPicPr>
          <p:nvPr/>
        </p:nvPicPr>
        <p:blipFill>
          <a:blip r:embed="rId3"/>
          <a:stretch>
            <a:fillRect/>
          </a:stretch>
        </p:blipFill>
        <p:spPr>
          <a:xfrm>
            <a:off x="9181381" y="65406"/>
            <a:ext cx="2743200" cy="717452"/>
          </a:xfrm>
          <a:prstGeom prst="rect">
            <a:avLst/>
          </a:prstGeom>
        </p:spPr>
      </p:pic>
      <p:graphicFrame>
        <p:nvGraphicFramePr>
          <p:cNvPr id="3" name="Table 2">
            <a:extLst>
              <a:ext uri="{FF2B5EF4-FFF2-40B4-BE49-F238E27FC236}">
                <a16:creationId xmlns:a16="http://schemas.microsoft.com/office/drawing/2014/main" id="{7AD62DEC-FAE0-B30B-E48E-9B818E612886}"/>
              </a:ext>
            </a:extLst>
          </p:cNvPr>
          <p:cNvGraphicFramePr>
            <a:graphicFrameLocks noGrp="1"/>
          </p:cNvGraphicFramePr>
          <p:nvPr>
            <p:extLst>
              <p:ext uri="{D42A27DB-BD31-4B8C-83A1-F6EECF244321}">
                <p14:modId xmlns:p14="http://schemas.microsoft.com/office/powerpoint/2010/main" val="1141447383"/>
              </p:ext>
            </p:extLst>
          </p:nvPr>
        </p:nvGraphicFramePr>
        <p:xfrm>
          <a:off x="402183" y="4371292"/>
          <a:ext cx="11369172" cy="1854197"/>
        </p:xfrm>
        <a:graphic>
          <a:graphicData uri="http://schemas.openxmlformats.org/drawingml/2006/table">
            <a:tbl>
              <a:tblPr firstRow="1" bandRow="1">
                <a:tableStyleId>{5C22544A-7EE6-4342-B048-85BDC9FD1C3A}</a:tableStyleId>
              </a:tblPr>
              <a:tblGrid>
                <a:gridCol w="1894862">
                  <a:extLst>
                    <a:ext uri="{9D8B030D-6E8A-4147-A177-3AD203B41FA5}">
                      <a16:colId xmlns:a16="http://schemas.microsoft.com/office/drawing/2014/main" val="3360966526"/>
                    </a:ext>
                  </a:extLst>
                </a:gridCol>
                <a:gridCol w="1894862">
                  <a:extLst>
                    <a:ext uri="{9D8B030D-6E8A-4147-A177-3AD203B41FA5}">
                      <a16:colId xmlns:a16="http://schemas.microsoft.com/office/drawing/2014/main" val="2124009587"/>
                    </a:ext>
                  </a:extLst>
                </a:gridCol>
                <a:gridCol w="1894862">
                  <a:extLst>
                    <a:ext uri="{9D8B030D-6E8A-4147-A177-3AD203B41FA5}">
                      <a16:colId xmlns:a16="http://schemas.microsoft.com/office/drawing/2014/main" val="1717059220"/>
                    </a:ext>
                  </a:extLst>
                </a:gridCol>
                <a:gridCol w="1894862">
                  <a:extLst>
                    <a:ext uri="{9D8B030D-6E8A-4147-A177-3AD203B41FA5}">
                      <a16:colId xmlns:a16="http://schemas.microsoft.com/office/drawing/2014/main" val="2827923830"/>
                    </a:ext>
                  </a:extLst>
                </a:gridCol>
                <a:gridCol w="1894862">
                  <a:extLst>
                    <a:ext uri="{9D8B030D-6E8A-4147-A177-3AD203B41FA5}">
                      <a16:colId xmlns:a16="http://schemas.microsoft.com/office/drawing/2014/main" val="2691817167"/>
                    </a:ext>
                  </a:extLst>
                </a:gridCol>
                <a:gridCol w="1894862">
                  <a:extLst>
                    <a:ext uri="{9D8B030D-6E8A-4147-A177-3AD203B41FA5}">
                      <a16:colId xmlns:a16="http://schemas.microsoft.com/office/drawing/2014/main" val="1953319606"/>
                    </a:ext>
                  </a:extLst>
                </a:gridCol>
              </a:tblGrid>
              <a:tr h="370840">
                <a:tc>
                  <a:txBody>
                    <a:bodyPr/>
                    <a:lstStyle/>
                    <a:p>
                      <a:r>
                        <a:rPr lang="en-US" sz="1600"/>
                        <a:t>Demand Date</a:t>
                      </a:r>
                    </a:p>
                  </a:txBody>
                  <a:tcPr/>
                </a:tc>
                <a:tc>
                  <a:txBody>
                    <a:bodyPr/>
                    <a:lstStyle/>
                    <a:p>
                      <a:r>
                        <a:rPr lang="en-US" sz="1600"/>
                        <a:t>Due Date</a:t>
                      </a:r>
                    </a:p>
                  </a:txBody>
                  <a:tcPr/>
                </a:tc>
                <a:tc>
                  <a:txBody>
                    <a:bodyPr/>
                    <a:lstStyle/>
                    <a:p>
                      <a:r>
                        <a:rPr lang="en-US" sz="1600"/>
                        <a:t>Dock Date</a:t>
                      </a:r>
                    </a:p>
                  </a:txBody>
                  <a:tcPr/>
                </a:tc>
                <a:tc>
                  <a:txBody>
                    <a:bodyPr/>
                    <a:lstStyle/>
                    <a:p>
                      <a:r>
                        <a:rPr lang="en-US" sz="1600"/>
                        <a:t>Ship Date</a:t>
                      </a:r>
                    </a:p>
                  </a:txBody>
                  <a:tcPr/>
                </a:tc>
                <a:tc>
                  <a:txBody>
                    <a:bodyPr/>
                    <a:lstStyle/>
                    <a:p>
                      <a:r>
                        <a:rPr lang="en-US" sz="1600"/>
                        <a:t>Build Date</a:t>
                      </a:r>
                    </a:p>
                  </a:txBody>
                  <a:tcPr/>
                </a:tc>
                <a:tc>
                  <a:txBody>
                    <a:bodyPr/>
                    <a:lstStyle/>
                    <a:p>
                      <a:r>
                        <a:rPr lang="en-US" sz="1600"/>
                        <a:t>Start Date</a:t>
                      </a:r>
                    </a:p>
                  </a:txBody>
                  <a:tcPr/>
                </a:tc>
                <a:extLst>
                  <a:ext uri="{0D108BD9-81ED-4DB2-BD59-A6C34878D82A}">
                    <a16:rowId xmlns:a16="http://schemas.microsoft.com/office/drawing/2014/main" val="1230228740"/>
                  </a:ext>
                </a:extLst>
              </a:tr>
              <a:tr h="370839">
                <a:tc>
                  <a:txBody>
                    <a:bodyPr/>
                    <a:lstStyle/>
                    <a:p>
                      <a:pPr lvl="0">
                        <a:buNone/>
                      </a:pPr>
                      <a:r>
                        <a:rPr lang="en-US" sz="1600"/>
                        <a:t>09/25/2026</a:t>
                      </a:r>
                    </a:p>
                  </a:txBody>
                  <a:tcPr/>
                </a:tc>
                <a:tc>
                  <a:txBody>
                    <a:bodyPr/>
                    <a:lstStyle/>
                    <a:p>
                      <a:pPr lvl="0">
                        <a:buNone/>
                      </a:pPr>
                      <a:r>
                        <a:rPr lang="en-US" sz="1600"/>
                        <a:t>09/24/2026</a:t>
                      </a:r>
                    </a:p>
                  </a:txBody>
                  <a:tcPr/>
                </a:tc>
                <a:tc>
                  <a:txBody>
                    <a:bodyPr/>
                    <a:lstStyle/>
                    <a:p>
                      <a:pPr lvl="0">
                        <a:buNone/>
                      </a:pPr>
                      <a:r>
                        <a:rPr lang="en-US" sz="1600"/>
                        <a:t>09/22/2026</a:t>
                      </a:r>
                    </a:p>
                  </a:txBody>
                  <a:tcPr/>
                </a:tc>
                <a:tc>
                  <a:txBody>
                    <a:bodyPr/>
                    <a:lstStyle/>
                    <a:p>
                      <a:pPr lvl="0">
                        <a:buNone/>
                      </a:pPr>
                      <a:r>
                        <a:rPr lang="en-US" sz="1600"/>
                        <a:t>09/20/2026</a:t>
                      </a:r>
                    </a:p>
                  </a:txBody>
                  <a:tcPr/>
                </a:tc>
                <a:tc>
                  <a:txBody>
                    <a:bodyPr/>
                    <a:lstStyle/>
                    <a:p>
                      <a:pPr lvl="0">
                        <a:buNone/>
                      </a:pPr>
                      <a:r>
                        <a:rPr lang="en-US" sz="1600"/>
                        <a:t>09/19/2026</a:t>
                      </a:r>
                    </a:p>
                  </a:txBody>
                  <a:tcPr/>
                </a:tc>
                <a:tc>
                  <a:txBody>
                    <a:bodyPr/>
                    <a:lstStyle/>
                    <a:p>
                      <a:pPr lvl="0">
                        <a:buNone/>
                      </a:pPr>
                      <a:r>
                        <a:rPr lang="en-US" sz="1600"/>
                        <a:t>09/13/2026</a:t>
                      </a:r>
                    </a:p>
                  </a:txBody>
                  <a:tcPr/>
                </a:tc>
                <a:extLst>
                  <a:ext uri="{0D108BD9-81ED-4DB2-BD59-A6C34878D82A}">
                    <a16:rowId xmlns:a16="http://schemas.microsoft.com/office/drawing/2014/main" val="322219961"/>
                  </a:ext>
                </a:extLst>
              </a:tr>
              <a:tr h="370838">
                <a:tc>
                  <a:txBody>
                    <a:bodyPr/>
                    <a:lstStyle/>
                    <a:p>
                      <a:pPr lvl="0">
                        <a:buNone/>
                      </a:pPr>
                      <a:r>
                        <a:rPr lang="en-US" sz="1600"/>
                        <a:t>10/01/2026</a:t>
                      </a:r>
                    </a:p>
                  </a:txBody>
                  <a:tcPr/>
                </a:tc>
                <a:tc>
                  <a:txBody>
                    <a:bodyPr/>
                    <a:lstStyle/>
                    <a:p>
                      <a:pPr lvl="0">
                        <a:buNone/>
                      </a:pPr>
                      <a:r>
                        <a:rPr lang="en-US" sz="1600"/>
                        <a:t>09/30/2026</a:t>
                      </a:r>
                    </a:p>
                  </a:txBody>
                  <a:tcPr/>
                </a:tc>
                <a:tc>
                  <a:txBody>
                    <a:bodyPr/>
                    <a:lstStyle/>
                    <a:p>
                      <a:pPr lvl="0">
                        <a:buNone/>
                      </a:pPr>
                      <a:r>
                        <a:rPr lang="en-US" sz="1600"/>
                        <a:t>09/28/2026</a:t>
                      </a:r>
                    </a:p>
                  </a:txBody>
                  <a:tcPr/>
                </a:tc>
                <a:tc>
                  <a:txBody>
                    <a:bodyPr/>
                    <a:lstStyle/>
                    <a:p>
                      <a:pPr lvl="0">
                        <a:buNone/>
                      </a:pPr>
                      <a:r>
                        <a:rPr lang="en-US" sz="1600"/>
                        <a:t>09/26/2026</a:t>
                      </a:r>
                    </a:p>
                  </a:txBody>
                  <a:tcPr/>
                </a:tc>
                <a:tc>
                  <a:txBody>
                    <a:bodyPr/>
                    <a:lstStyle/>
                    <a:p>
                      <a:pPr lvl="0">
                        <a:buNone/>
                      </a:pPr>
                      <a:r>
                        <a:rPr lang="en-US" sz="1600"/>
                        <a:t>09/25/2026</a:t>
                      </a:r>
                    </a:p>
                  </a:txBody>
                  <a:tcPr/>
                </a:tc>
                <a:tc>
                  <a:txBody>
                    <a:bodyPr/>
                    <a:lstStyle/>
                    <a:p>
                      <a:pPr lvl="0">
                        <a:buNone/>
                      </a:pPr>
                      <a:r>
                        <a:rPr lang="en-US" sz="1600"/>
                        <a:t>09/19/2026</a:t>
                      </a:r>
                    </a:p>
                  </a:txBody>
                  <a:tcPr/>
                </a:tc>
                <a:extLst>
                  <a:ext uri="{0D108BD9-81ED-4DB2-BD59-A6C34878D82A}">
                    <a16:rowId xmlns:a16="http://schemas.microsoft.com/office/drawing/2014/main" val="3047956776"/>
                  </a:ext>
                </a:extLst>
              </a:tr>
              <a:tr h="370840">
                <a:tc>
                  <a:txBody>
                    <a:bodyPr/>
                    <a:lstStyle/>
                    <a:p>
                      <a:r>
                        <a:rPr lang="en-US" sz="1600"/>
                        <a:t>10/15/2026</a:t>
                      </a:r>
                    </a:p>
                  </a:txBody>
                  <a:tcPr/>
                </a:tc>
                <a:tc>
                  <a:txBody>
                    <a:bodyPr/>
                    <a:lstStyle/>
                    <a:p>
                      <a:r>
                        <a:rPr lang="en-US" sz="1600"/>
                        <a:t>10/14/2026</a:t>
                      </a:r>
                    </a:p>
                  </a:txBody>
                  <a:tcPr/>
                </a:tc>
                <a:tc>
                  <a:txBody>
                    <a:bodyPr/>
                    <a:lstStyle/>
                    <a:p>
                      <a:pPr lvl="0" algn="l">
                        <a:lnSpc>
                          <a:spcPct val="100000"/>
                        </a:lnSpc>
                        <a:spcBef>
                          <a:spcPts val="0"/>
                        </a:spcBef>
                        <a:spcAft>
                          <a:spcPts val="0"/>
                        </a:spcAft>
                        <a:buNone/>
                      </a:pPr>
                      <a:r>
                        <a:rPr lang="en-US" sz="1600" b="0" i="0" u="none" strike="noStrike" noProof="0">
                          <a:solidFill>
                            <a:srgbClr val="000000"/>
                          </a:solidFill>
                          <a:latin typeface="Aptos"/>
                        </a:rPr>
                        <a:t>10/13/2026</a:t>
                      </a:r>
                    </a:p>
                  </a:txBody>
                  <a:tcPr/>
                </a:tc>
                <a:tc>
                  <a:txBody>
                    <a:bodyPr/>
                    <a:lstStyle/>
                    <a:p>
                      <a:pPr lvl="0" algn="l">
                        <a:lnSpc>
                          <a:spcPct val="100000"/>
                        </a:lnSpc>
                        <a:spcBef>
                          <a:spcPts val="0"/>
                        </a:spcBef>
                        <a:spcAft>
                          <a:spcPts val="0"/>
                        </a:spcAft>
                        <a:buNone/>
                      </a:pPr>
                      <a:r>
                        <a:rPr lang="en-US" sz="1600" b="0" i="0" u="none" strike="noStrike" noProof="0">
                          <a:solidFill>
                            <a:srgbClr val="000000"/>
                          </a:solidFill>
                          <a:latin typeface="Aptos"/>
                        </a:rPr>
                        <a:t>10/05/2026</a:t>
                      </a:r>
                    </a:p>
                  </a:txBody>
                  <a:tcPr/>
                </a:tc>
                <a:tc>
                  <a:txBody>
                    <a:bodyPr/>
                    <a:lstStyle/>
                    <a:p>
                      <a:r>
                        <a:rPr lang="en-US" sz="1600"/>
                        <a:t>10/03/2026</a:t>
                      </a:r>
                    </a:p>
                  </a:txBody>
                  <a:tcPr/>
                </a:tc>
                <a:tc>
                  <a:txBody>
                    <a:bodyPr/>
                    <a:lstStyle/>
                    <a:p>
                      <a:r>
                        <a:rPr lang="en-US" sz="1600"/>
                        <a:t>09/24/2026</a:t>
                      </a:r>
                    </a:p>
                  </a:txBody>
                  <a:tcPr/>
                </a:tc>
                <a:extLst>
                  <a:ext uri="{0D108BD9-81ED-4DB2-BD59-A6C34878D82A}">
                    <a16:rowId xmlns:a16="http://schemas.microsoft.com/office/drawing/2014/main" val="565191867"/>
                  </a:ext>
                </a:extLst>
              </a:tr>
              <a:tr h="370840">
                <a:tc>
                  <a:txBody>
                    <a:bodyPr/>
                    <a:lstStyle/>
                    <a:p>
                      <a:r>
                        <a:rPr lang="en-US" sz="1600"/>
                        <a:t>10/20/2026</a:t>
                      </a:r>
                    </a:p>
                  </a:txBody>
                  <a:tcPr/>
                </a:tc>
                <a:tc>
                  <a:txBody>
                    <a:bodyPr/>
                    <a:lstStyle/>
                    <a:p>
                      <a:r>
                        <a:rPr lang="en-US" sz="1600"/>
                        <a:t>10/19/2026</a:t>
                      </a:r>
                    </a:p>
                  </a:txBody>
                  <a:tcPr/>
                </a:tc>
                <a:tc>
                  <a:txBody>
                    <a:bodyPr/>
                    <a:lstStyle/>
                    <a:p>
                      <a:pPr lvl="0" algn="l">
                        <a:lnSpc>
                          <a:spcPct val="100000"/>
                        </a:lnSpc>
                        <a:spcBef>
                          <a:spcPts val="0"/>
                        </a:spcBef>
                        <a:spcAft>
                          <a:spcPts val="0"/>
                        </a:spcAft>
                        <a:buNone/>
                      </a:pPr>
                      <a:r>
                        <a:rPr lang="en-US" sz="1600" b="0" i="0" u="none" strike="noStrike" noProof="0">
                          <a:solidFill>
                            <a:srgbClr val="000000"/>
                          </a:solidFill>
                          <a:latin typeface="Aptos"/>
                        </a:rPr>
                        <a:t>10/17/2026</a:t>
                      </a:r>
                    </a:p>
                  </a:txBody>
                  <a:tcPr/>
                </a:tc>
                <a:tc>
                  <a:txBody>
                    <a:bodyPr/>
                    <a:lstStyle/>
                    <a:p>
                      <a:pPr lvl="0" algn="l">
                        <a:lnSpc>
                          <a:spcPct val="100000"/>
                        </a:lnSpc>
                        <a:spcBef>
                          <a:spcPts val="0"/>
                        </a:spcBef>
                        <a:spcAft>
                          <a:spcPts val="0"/>
                        </a:spcAft>
                        <a:buNone/>
                      </a:pPr>
                      <a:r>
                        <a:rPr lang="en-US" sz="1600" b="0" i="0" u="none" strike="noStrike" noProof="0">
                          <a:solidFill>
                            <a:srgbClr val="000000"/>
                          </a:solidFill>
                          <a:latin typeface="Aptos"/>
                        </a:rPr>
                        <a:t>10/15/2026</a:t>
                      </a:r>
                    </a:p>
                  </a:txBody>
                  <a:tcPr/>
                </a:tc>
                <a:tc>
                  <a:txBody>
                    <a:bodyPr/>
                    <a:lstStyle/>
                    <a:p>
                      <a:r>
                        <a:rPr lang="en-US" sz="1600"/>
                        <a:t>10/13/2026</a:t>
                      </a:r>
                    </a:p>
                  </a:txBody>
                  <a:tcPr/>
                </a:tc>
                <a:tc>
                  <a:txBody>
                    <a:bodyPr/>
                    <a:lstStyle/>
                    <a:p>
                      <a:r>
                        <a:rPr lang="en-US" sz="1600"/>
                        <a:t>10/09/2026</a:t>
                      </a:r>
                    </a:p>
                  </a:txBody>
                  <a:tcPr/>
                </a:tc>
                <a:extLst>
                  <a:ext uri="{0D108BD9-81ED-4DB2-BD59-A6C34878D82A}">
                    <a16:rowId xmlns:a16="http://schemas.microsoft.com/office/drawing/2014/main" val="3999118261"/>
                  </a:ext>
                </a:extLst>
              </a:tr>
            </a:tbl>
          </a:graphicData>
        </a:graphic>
      </p:graphicFrame>
      <p:pic>
        <p:nvPicPr>
          <p:cNvPr id="7" name="Picture 6" descr="A screenshot of a computer&#10;&#10;AI-generated content may be incorrect.">
            <a:extLst>
              <a:ext uri="{FF2B5EF4-FFF2-40B4-BE49-F238E27FC236}">
                <a16:creationId xmlns:a16="http://schemas.microsoft.com/office/drawing/2014/main" id="{99350D51-4992-4200-BCF2-79E5D5C6C2DA}"/>
              </a:ext>
            </a:extLst>
          </p:cNvPr>
          <p:cNvPicPr>
            <a:picLocks noChangeAspect="1"/>
          </p:cNvPicPr>
          <p:nvPr/>
        </p:nvPicPr>
        <p:blipFill>
          <a:blip r:embed="rId4"/>
          <a:srcRect l="505" r="-379" b="29105"/>
          <a:stretch>
            <a:fillRect/>
          </a:stretch>
        </p:blipFill>
        <p:spPr>
          <a:xfrm>
            <a:off x="402566" y="2407647"/>
            <a:ext cx="11358140" cy="158068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6" name="TextBox 5">
            <a:extLst>
              <a:ext uri="{FF2B5EF4-FFF2-40B4-BE49-F238E27FC236}">
                <a16:creationId xmlns:a16="http://schemas.microsoft.com/office/drawing/2014/main" id="{BF4B4C48-B348-EEAA-7C97-CACF03876D26}"/>
              </a:ext>
            </a:extLst>
          </p:cNvPr>
          <p:cNvSpPr txBox="1"/>
          <p:nvPr/>
        </p:nvSpPr>
        <p:spPr>
          <a:xfrm>
            <a:off x="402565" y="424131"/>
            <a:ext cx="11473131" cy="172354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cs typeface="Arial"/>
              </a:rPr>
              <a:t>Time Phased Simulation 2:</a:t>
            </a:r>
          </a:p>
          <a:p>
            <a:endParaRPr lang="en-US" dirty="0">
              <a:cs typeface="Arial"/>
            </a:endParaRPr>
          </a:p>
          <a:p>
            <a:pPr marL="285750" indent="-285750">
              <a:buFont typeface="Arial,Sans-Serif"/>
              <a:buChar char="•"/>
            </a:pPr>
            <a:r>
              <a:rPr lang="en-US" sz="1600" dirty="0">
                <a:cs typeface="Arial"/>
              </a:rPr>
              <a:t>Transit Rule = Cumula</a:t>
            </a:r>
            <a:r>
              <a:rPr lang="en-US" sz="1600">
                <a:cs typeface="Arial"/>
              </a:rPr>
              <a:t>tive</a:t>
            </a:r>
            <a:endParaRPr lang="en-US" sz="1600" dirty="0">
              <a:cs typeface="Arial"/>
            </a:endParaRPr>
          </a:p>
          <a:p>
            <a:pPr marL="285750" indent="-285750">
              <a:buFont typeface="Arial"/>
              <a:buChar char="•"/>
            </a:pPr>
            <a:r>
              <a:rPr lang="en-US" sz="1600">
                <a:cs typeface="Arial"/>
              </a:rPr>
              <a:t>Demand Quantity = 10.</a:t>
            </a:r>
            <a:endParaRPr lang="en-US" sz="1600" dirty="0">
              <a:cs typeface="Arial"/>
            </a:endParaRPr>
          </a:p>
          <a:p>
            <a:pPr marL="285750" indent="-285750">
              <a:buFont typeface="Arial"/>
              <a:buChar char="•"/>
            </a:pPr>
            <a:r>
              <a:rPr lang="en-US" sz="1600">
                <a:cs typeface="Arial"/>
              </a:rPr>
              <a:t>Part Source Type = Make</a:t>
            </a:r>
            <a:endParaRPr lang="en-US" sz="1600" dirty="0">
              <a:cs typeface="Arial"/>
            </a:endParaRPr>
          </a:p>
          <a:p>
            <a:pPr marL="285750" indent="-285750">
              <a:buFont typeface="Arial"/>
              <a:buChar char="•"/>
            </a:pPr>
            <a:r>
              <a:rPr lang="en-US" sz="1600">
                <a:cs typeface="Arial"/>
              </a:rPr>
              <a:t>Original/ Destination Site = C1001</a:t>
            </a:r>
            <a:endParaRPr lang="en-US" sz="1600" dirty="0">
              <a:cs typeface="Arial"/>
            </a:endParaRPr>
          </a:p>
        </p:txBody>
      </p:sp>
    </p:spTree>
    <p:extLst>
      <p:ext uri="{BB962C8B-B14F-4D97-AF65-F5344CB8AC3E}">
        <p14:creationId xmlns:p14="http://schemas.microsoft.com/office/powerpoint/2010/main" val="3447012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CD03A-3E37-E797-9A5C-785BB24E10F4}"/>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1A211DA9-925D-B3B9-6528-912CD91CBEC0}"/>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8090C5B9-E2D9-CD8A-DEB3-CB21A9D94BDA}"/>
              </a:ext>
            </a:extLst>
          </p:cNvPr>
          <p:cNvPicPr>
            <a:picLocks noChangeAspect="1"/>
          </p:cNvPicPr>
          <p:nvPr/>
        </p:nvPicPr>
        <p:blipFill>
          <a:blip r:embed="rId3"/>
          <a:stretch>
            <a:fillRect/>
          </a:stretch>
        </p:blipFill>
        <p:spPr>
          <a:xfrm>
            <a:off x="9181381" y="65406"/>
            <a:ext cx="2743200" cy="717452"/>
          </a:xfrm>
          <a:prstGeom prst="rect">
            <a:avLst/>
          </a:prstGeom>
        </p:spPr>
      </p:pic>
      <p:pic>
        <p:nvPicPr>
          <p:cNvPr id="2" name="Picture 1" descr="A screenshot of a computer&#10;&#10;AI-generated content may be incorrect.">
            <a:extLst>
              <a:ext uri="{FF2B5EF4-FFF2-40B4-BE49-F238E27FC236}">
                <a16:creationId xmlns:a16="http://schemas.microsoft.com/office/drawing/2014/main" id="{20DC8441-6302-0C50-B9F0-B3CEE52B0C4E}"/>
              </a:ext>
            </a:extLst>
          </p:cNvPr>
          <p:cNvPicPr>
            <a:picLocks noChangeAspect="1"/>
          </p:cNvPicPr>
          <p:nvPr/>
        </p:nvPicPr>
        <p:blipFill>
          <a:blip r:embed="rId4"/>
          <a:stretch>
            <a:fillRect/>
          </a:stretch>
        </p:blipFill>
        <p:spPr>
          <a:xfrm>
            <a:off x="388188" y="1045081"/>
            <a:ext cx="11300605" cy="509851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45387928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0621BD-ECF9-6E77-A6D1-FE7ED14049CB}"/>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0196163A-0344-7F10-E8D0-9268CB1DAA56}"/>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7B253F21-79D7-C2B6-EDCC-2C55D580F7B7}"/>
              </a:ext>
            </a:extLst>
          </p:cNvPr>
          <p:cNvPicPr>
            <a:picLocks noChangeAspect="1"/>
          </p:cNvPicPr>
          <p:nvPr/>
        </p:nvPicPr>
        <p:blipFill>
          <a:blip r:embed="rId3"/>
          <a:stretch>
            <a:fillRect/>
          </a:stretch>
        </p:blipFill>
        <p:spPr>
          <a:xfrm>
            <a:off x="9181381" y="65406"/>
            <a:ext cx="2743200" cy="717452"/>
          </a:xfrm>
          <a:prstGeom prst="rect">
            <a:avLst/>
          </a:prstGeom>
        </p:spPr>
      </p:pic>
      <p:sp>
        <p:nvSpPr>
          <p:cNvPr id="3" name="TextBox 2">
            <a:extLst>
              <a:ext uri="{FF2B5EF4-FFF2-40B4-BE49-F238E27FC236}">
                <a16:creationId xmlns:a16="http://schemas.microsoft.com/office/drawing/2014/main" id="{44CCFE46-9E19-C275-4B63-3C92E8FF2D16}"/>
              </a:ext>
            </a:extLst>
          </p:cNvPr>
          <p:cNvSpPr txBox="1"/>
          <p:nvPr/>
        </p:nvSpPr>
        <p:spPr>
          <a:xfrm>
            <a:off x="402565" y="424131"/>
            <a:ext cx="11473131" cy="31700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cs typeface="Arial"/>
              </a:rPr>
              <a:t>Summary:</a:t>
            </a:r>
          </a:p>
          <a:p>
            <a:endParaRPr lang="en-US" sz="1600" dirty="0">
              <a:cs typeface="Arial"/>
            </a:endParaRPr>
          </a:p>
          <a:p>
            <a:r>
              <a:rPr lang="en-US" sz="1600" dirty="0">
                <a:cs typeface="Arial"/>
              </a:rPr>
              <a:t>Demand Date between the active Effective-In Date will adopt the values from the </a:t>
            </a:r>
            <a:r>
              <a:rPr lang="en-US" sz="1600" dirty="0" err="1">
                <a:cs typeface="Arial"/>
              </a:rPr>
              <a:t>TimePhasedPartSourceLeadTime</a:t>
            </a:r>
            <a:r>
              <a:rPr lang="en-US" sz="1600" dirty="0">
                <a:cs typeface="Arial"/>
              </a:rPr>
              <a:t> and </a:t>
            </a:r>
            <a:r>
              <a:rPr lang="en-US" sz="1600" dirty="0" err="1">
                <a:cs typeface="Arial"/>
              </a:rPr>
              <a:t>TimePhasedSourceLeadTime</a:t>
            </a:r>
            <a:r>
              <a:rPr lang="en-US" sz="1600" dirty="0">
                <a:cs typeface="Arial"/>
              </a:rPr>
              <a:t> only for Fixed Lead Time, Dock To Stock Lead Time and </a:t>
            </a:r>
            <a:r>
              <a:rPr lang="en-US" sz="1600" dirty="0" err="1">
                <a:cs typeface="Arial"/>
              </a:rPr>
              <a:t>PreShip</a:t>
            </a:r>
            <a:r>
              <a:rPr lang="en-US" sz="1600" dirty="0">
                <a:cs typeface="Arial"/>
              </a:rPr>
              <a:t> Lead Time, Transit Time respectfully.</a:t>
            </a:r>
          </a:p>
          <a:p>
            <a:endParaRPr lang="en-US" sz="1600" dirty="0">
              <a:cs typeface="Arial"/>
            </a:endParaRPr>
          </a:p>
          <a:p>
            <a:r>
              <a:rPr lang="en-US" sz="1600" dirty="0">
                <a:cs typeface="Arial"/>
              </a:rPr>
              <a:t>Any Demand Date less than or equal to Effective-In Date will consider values from previous </a:t>
            </a:r>
            <a:r>
              <a:rPr lang="en-US" sz="1600" dirty="0" err="1">
                <a:cs typeface="Arial"/>
              </a:rPr>
              <a:t>TimePhasedPartSourceLeadTime</a:t>
            </a:r>
            <a:r>
              <a:rPr lang="en-US" sz="1600" dirty="0">
                <a:cs typeface="Arial"/>
              </a:rPr>
              <a:t> and </a:t>
            </a:r>
            <a:r>
              <a:rPr lang="en-US" sz="1600" dirty="0" err="1">
                <a:cs typeface="Arial"/>
              </a:rPr>
              <a:t>TimePhasedSourceLeadTime</a:t>
            </a:r>
            <a:r>
              <a:rPr lang="en-US" sz="1600" dirty="0">
                <a:cs typeface="Arial"/>
              </a:rPr>
              <a:t> if provided else it will take the values from the Part Source Table. Example: If a demand date is 10/01/2026 same as Effective-In Date it will consider Lead Time values from the Part Source as it does not have any previous value.</a:t>
            </a:r>
          </a:p>
          <a:p>
            <a:endParaRPr lang="en-US" sz="1600" dirty="0">
              <a:cs typeface="Arial"/>
            </a:endParaRPr>
          </a:p>
          <a:p>
            <a:r>
              <a:rPr lang="en-US" sz="1600" dirty="0">
                <a:cs typeface="Arial"/>
              </a:rPr>
              <a:t>If any Effective –in date is closed it will always consider the </a:t>
            </a:r>
            <a:r>
              <a:rPr lang="en-US" sz="1600" dirty="0" err="1">
                <a:cs typeface="Arial"/>
              </a:rPr>
              <a:t>TimePhasedPartSourceLeadTime</a:t>
            </a:r>
            <a:r>
              <a:rPr lang="en-US" sz="1600" dirty="0">
                <a:cs typeface="Arial"/>
              </a:rPr>
              <a:t> and </a:t>
            </a:r>
            <a:r>
              <a:rPr lang="en-US" sz="1600" dirty="0" err="1">
                <a:cs typeface="Arial"/>
              </a:rPr>
              <a:t>TimePhasedSourceLeadTime</a:t>
            </a:r>
            <a:r>
              <a:rPr lang="en-US" sz="1600" dirty="0">
                <a:cs typeface="Arial"/>
              </a:rPr>
              <a:t> all the time for the future.</a:t>
            </a:r>
          </a:p>
        </p:txBody>
      </p:sp>
    </p:spTree>
    <p:extLst>
      <p:ext uri="{BB962C8B-B14F-4D97-AF65-F5344CB8AC3E}">
        <p14:creationId xmlns:p14="http://schemas.microsoft.com/office/powerpoint/2010/main" val="367969389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8FA37A-8305-350C-AC3C-A8D0BA651C06}"/>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CAACCEBD-B25C-D052-E47F-106359AF56C8}"/>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44A7C4EE-2730-EC01-BB63-5BB13292A9F8}"/>
              </a:ext>
            </a:extLst>
          </p:cNvPr>
          <p:cNvPicPr>
            <a:picLocks noChangeAspect="1"/>
          </p:cNvPicPr>
          <p:nvPr/>
        </p:nvPicPr>
        <p:blipFill>
          <a:blip r:embed="rId3"/>
          <a:stretch>
            <a:fillRect/>
          </a:stretch>
        </p:blipFill>
        <p:spPr>
          <a:xfrm>
            <a:off x="9181381" y="65406"/>
            <a:ext cx="2743200" cy="717452"/>
          </a:xfrm>
          <a:prstGeom prst="rect">
            <a:avLst/>
          </a:prstGeom>
        </p:spPr>
      </p:pic>
      <p:sp>
        <p:nvSpPr>
          <p:cNvPr id="6" name="TextBox 5">
            <a:extLst>
              <a:ext uri="{FF2B5EF4-FFF2-40B4-BE49-F238E27FC236}">
                <a16:creationId xmlns:a16="http://schemas.microsoft.com/office/drawing/2014/main" id="{8859F650-6695-9AFF-2394-E125E0389652}"/>
              </a:ext>
            </a:extLst>
          </p:cNvPr>
          <p:cNvSpPr txBox="1"/>
          <p:nvPr/>
        </p:nvSpPr>
        <p:spPr>
          <a:xfrm>
            <a:off x="186905" y="64697"/>
            <a:ext cx="11473131" cy="221599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cs typeface="Arial"/>
              </a:rPr>
              <a:t>Time Phased Simulation 3:</a:t>
            </a:r>
          </a:p>
          <a:p>
            <a:endParaRPr lang="en-US" dirty="0">
              <a:cs typeface="Arial"/>
            </a:endParaRPr>
          </a:p>
          <a:p>
            <a:pPr marL="285750" indent="-285750">
              <a:buFont typeface="Arial,Sans-Serif"/>
              <a:buChar char="•"/>
            </a:pPr>
            <a:r>
              <a:rPr lang="en-US" sz="1600" dirty="0">
                <a:cs typeface="Arial"/>
              </a:rPr>
              <a:t>Transit Rule = Cumula</a:t>
            </a:r>
            <a:r>
              <a:rPr lang="en-US" sz="1600">
                <a:cs typeface="Arial"/>
              </a:rPr>
              <a:t>tive</a:t>
            </a:r>
            <a:endParaRPr lang="en-US" sz="1600" dirty="0">
              <a:cs typeface="Arial"/>
            </a:endParaRPr>
          </a:p>
          <a:p>
            <a:pPr marL="285750" indent="-285750">
              <a:buFont typeface="Arial"/>
              <a:buChar char="•"/>
            </a:pPr>
            <a:r>
              <a:rPr lang="en-US" sz="1600">
                <a:cs typeface="Arial"/>
              </a:rPr>
              <a:t>Demand Quantity = 10.</a:t>
            </a:r>
            <a:endParaRPr lang="en-US" sz="1600" dirty="0">
              <a:cs typeface="Arial"/>
            </a:endParaRPr>
          </a:p>
          <a:p>
            <a:pPr marL="285750" indent="-285750">
              <a:buFont typeface="Arial"/>
              <a:buChar char="•"/>
            </a:pPr>
            <a:r>
              <a:rPr lang="en-US" sz="1600">
                <a:cs typeface="Arial"/>
              </a:rPr>
              <a:t>Part Source Type = Transfer</a:t>
            </a:r>
            <a:endParaRPr lang="en-US" sz="1600" dirty="0">
              <a:cs typeface="Arial"/>
            </a:endParaRPr>
          </a:p>
          <a:p>
            <a:pPr marL="285750" indent="-285750">
              <a:buFont typeface="Arial"/>
              <a:buChar char="•"/>
            </a:pPr>
            <a:r>
              <a:rPr lang="en-US" sz="1600">
                <a:cs typeface="Arial"/>
              </a:rPr>
              <a:t>Original/ Destination Site = C1001</a:t>
            </a:r>
            <a:endParaRPr lang="en-US" sz="1600" dirty="0">
              <a:cs typeface="Arial"/>
            </a:endParaRPr>
          </a:p>
          <a:p>
            <a:pPr marL="285750" indent="-285750">
              <a:buFont typeface="Arial"/>
              <a:buChar char="•"/>
            </a:pPr>
            <a:r>
              <a:rPr lang="en-US" sz="1600">
                <a:cs typeface="Arial"/>
              </a:rPr>
              <a:t>Supplier Site: E3001</a:t>
            </a:r>
            <a:endParaRPr lang="en-US" sz="1600" dirty="0">
              <a:cs typeface="Arial"/>
            </a:endParaRPr>
          </a:p>
          <a:p>
            <a:pPr marL="285750" indent="-285750">
              <a:buFont typeface="Arial"/>
              <a:buChar char="•"/>
            </a:pPr>
            <a:r>
              <a:rPr lang="en-US" sz="1600" dirty="0">
                <a:cs typeface="Arial"/>
              </a:rPr>
              <a:t>All the values highlighted in red color are not considered/ used during </a:t>
            </a:r>
            <a:r>
              <a:rPr lang="en-US" sz="1600">
                <a:cs typeface="Arial"/>
              </a:rPr>
              <a:t>calculations.</a:t>
            </a:r>
            <a:endParaRPr lang="en-US" sz="1600" dirty="0">
              <a:cs typeface="Arial"/>
            </a:endParaRPr>
          </a:p>
        </p:txBody>
      </p:sp>
      <p:graphicFrame>
        <p:nvGraphicFramePr>
          <p:cNvPr id="8" name="Table 7">
            <a:extLst>
              <a:ext uri="{FF2B5EF4-FFF2-40B4-BE49-F238E27FC236}">
                <a16:creationId xmlns:a16="http://schemas.microsoft.com/office/drawing/2014/main" id="{4321C976-3BE6-26CA-FC02-EF0880183899}"/>
              </a:ext>
            </a:extLst>
          </p:cNvPr>
          <p:cNvGraphicFramePr>
            <a:graphicFrameLocks noGrp="1"/>
          </p:cNvGraphicFramePr>
          <p:nvPr>
            <p:extLst>
              <p:ext uri="{D42A27DB-BD31-4B8C-83A1-F6EECF244321}">
                <p14:modId xmlns:p14="http://schemas.microsoft.com/office/powerpoint/2010/main" val="946565762"/>
              </p:ext>
            </p:extLst>
          </p:nvPr>
        </p:nvGraphicFramePr>
        <p:xfrm>
          <a:off x="215660" y="3004867"/>
          <a:ext cx="11399724" cy="3261360"/>
        </p:xfrm>
        <a:graphic>
          <a:graphicData uri="http://schemas.openxmlformats.org/drawingml/2006/table">
            <a:tbl>
              <a:tblPr firstRow="1" bandRow="1">
                <a:tableStyleId>{5C22544A-7EE6-4342-B048-85BDC9FD1C3A}</a:tableStyleId>
              </a:tblPr>
              <a:tblGrid>
                <a:gridCol w="1899954">
                  <a:extLst>
                    <a:ext uri="{9D8B030D-6E8A-4147-A177-3AD203B41FA5}">
                      <a16:colId xmlns:a16="http://schemas.microsoft.com/office/drawing/2014/main" val="2516356869"/>
                    </a:ext>
                  </a:extLst>
                </a:gridCol>
                <a:gridCol w="1899954">
                  <a:extLst>
                    <a:ext uri="{9D8B030D-6E8A-4147-A177-3AD203B41FA5}">
                      <a16:colId xmlns:a16="http://schemas.microsoft.com/office/drawing/2014/main" val="2685803324"/>
                    </a:ext>
                  </a:extLst>
                </a:gridCol>
                <a:gridCol w="1899954">
                  <a:extLst>
                    <a:ext uri="{9D8B030D-6E8A-4147-A177-3AD203B41FA5}">
                      <a16:colId xmlns:a16="http://schemas.microsoft.com/office/drawing/2014/main" val="3666996540"/>
                    </a:ext>
                  </a:extLst>
                </a:gridCol>
                <a:gridCol w="1899954">
                  <a:extLst>
                    <a:ext uri="{9D8B030D-6E8A-4147-A177-3AD203B41FA5}">
                      <a16:colId xmlns:a16="http://schemas.microsoft.com/office/drawing/2014/main" val="4025426188"/>
                    </a:ext>
                  </a:extLst>
                </a:gridCol>
                <a:gridCol w="1899954">
                  <a:extLst>
                    <a:ext uri="{9D8B030D-6E8A-4147-A177-3AD203B41FA5}">
                      <a16:colId xmlns:a16="http://schemas.microsoft.com/office/drawing/2014/main" val="608119132"/>
                    </a:ext>
                  </a:extLst>
                </a:gridCol>
                <a:gridCol w="1899954">
                  <a:extLst>
                    <a:ext uri="{9D8B030D-6E8A-4147-A177-3AD203B41FA5}">
                      <a16:colId xmlns:a16="http://schemas.microsoft.com/office/drawing/2014/main" val="1367674639"/>
                    </a:ext>
                  </a:extLst>
                </a:gridCol>
              </a:tblGrid>
              <a:tr h="514983">
                <a:tc>
                  <a:txBody>
                    <a:bodyPr/>
                    <a:lstStyle/>
                    <a:p>
                      <a:r>
                        <a:rPr lang="en-US" sz="1600"/>
                        <a:t>Dates</a:t>
                      </a:r>
                      <a:endParaRPr lang="en-US" sz="1600" dirty="0"/>
                    </a:p>
                  </a:txBody>
                  <a:tcPr/>
                </a:tc>
                <a:tc>
                  <a:txBody>
                    <a:bodyPr/>
                    <a:lstStyle/>
                    <a:p>
                      <a:r>
                        <a:rPr lang="en-US" sz="1600"/>
                        <a:t>Elements</a:t>
                      </a:r>
                      <a:endParaRPr lang="en-US" sz="1600" dirty="0"/>
                    </a:p>
                  </a:txBody>
                  <a:tcPr/>
                </a:tc>
                <a:tc>
                  <a:txBody>
                    <a:bodyPr/>
                    <a:lstStyle/>
                    <a:p>
                      <a:pPr lvl="0">
                        <a:buNone/>
                      </a:pPr>
                      <a:r>
                        <a:rPr lang="en-US" sz="1600"/>
                        <a:t>Values (C1001)</a:t>
                      </a:r>
                      <a:endParaRPr lang="en-US" sz="1600" dirty="0"/>
                    </a:p>
                  </a:txBody>
                  <a:tcPr/>
                </a:tc>
                <a:tc>
                  <a:txBody>
                    <a:bodyPr/>
                    <a:lstStyle/>
                    <a:p>
                      <a:pPr lvl="0" algn="l">
                        <a:lnSpc>
                          <a:spcPct val="100000"/>
                        </a:lnSpc>
                        <a:spcBef>
                          <a:spcPts val="0"/>
                        </a:spcBef>
                        <a:spcAft>
                          <a:spcPts val="0"/>
                        </a:spcAft>
                        <a:buNone/>
                      </a:pPr>
                      <a:r>
                        <a:rPr lang="en-US" sz="1600" b="1" i="0" u="none" strike="noStrike" noProof="0">
                          <a:solidFill>
                            <a:srgbClr val="FFFFFF"/>
                          </a:solidFill>
                          <a:latin typeface="Aptos"/>
                        </a:rPr>
                        <a:t>C1001</a:t>
                      </a:r>
                    </a:p>
                  </a:txBody>
                  <a:tcPr/>
                </a:tc>
                <a:tc>
                  <a:txBody>
                    <a:bodyPr/>
                    <a:lstStyle/>
                    <a:p>
                      <a:pPr lvl="0">
                        <a:buNone/>
                      </a:pPr>
                      <a:r>
                        <a:rPr lang="en-US" sz="1600" b="1" i="0" u="none" strike="noStrike" noProof="0">
                          <a:solidFill>
                            <a:srgbClr val="FFFFFF"/>
                          </a:solidFill>
                          <a:latin typeface="Aptos"/>
                        </a:rPr>
                        <a:t>Values</a:t>
                      </a:r>
                    </a:p>
                    <a:p>
                      <a:pPr lvl="0">
                        <a:buNone/>
                      </a:pPr>
                      <a:r>
                        <a:rPr lang="en-US" sz="1600" b="1" i="0" u="none" strike="noStrike" noProof="0">
                          <a:solidFill>
                            <a:srgbClr val="FFFFFF"/>
                          </a:solidFill>
                          <a:latin typeface="Aptos"/>
                        </a:rPr>
                        <a:t>(C1001 + E3001)</a:t>
                      </a:r>
                    </a:p>
                  </a:txBody>
                  <a:tcPr/>
                </a:tc>
                <a:tc>
                  <a:txBody>
                    <a:bodyPr/>
                    <a:lstStyle/>
                    <a:p>
                      <a:r>
                        <a:rPr lang="en-US" sz="1600"/>
                        <a:t>E3001</a:t>
                      </a:r>
                      <a:endParaRPr lang="en-US" sz="1600" dirty="0"/>
                    </a:p>
                  </a:txBody>
                  <a:tcPr/>
                </a:tc>
                <a:extLst>
                  <a:ext uri="{0D108BD9-81ED-4DB2-BD59-A6C34878D82A}">
                    <a16:rowId xmlns:a16="http://schemas.microsoft.com/office/drawing/2014/main" val="1071926590"/>
                  </a:ext>
                </a:extLst>
              </a:tr>
              <a:tr h="294276">
                <a:tc>
                  <a:txBody>
                    <a:bodyPr/>
                    <a:lstStyle/>
                    <a:p>
                      <a:pPr lvl="0">
                        <a:buNone/>
                      </a:pPr>
                      <a:r>
                        <a:rPr lang="en-US" sz="1600"/>
                        <a:t>Demand Date</a:t>
                      </a:r>
                      <a:endParaRPr lang="en-US" sz="1600" dirty="0"/>
                    </a:p>
                  </a:txBody>
                  <a:tcPr/>
                </a:tc>
                <a:tc>
                  <a:txBody>
                    <a:bodyPr/>
                    <a:lstStyle/>
                    <a:p>
                      <a:pPr lvl="0">
                        <a:buNone/>
                      </a:pPr>
                      <a:endParaRPr lang="en-US" sz="1600" dirty="0"/>
                    </a:p>
                  </a:txBody>
                  <a:tcPr/>
                </a:tc>
                <a:tc>
                  <a:txBody>
                    <a:bodyPr/>
                    <a:lstStyle/>
                    <a:p>
                      <a:pPr lvl="0">
                        <a:buNone/>
                      </a:pPr>
                      <a:endParaRPr lang="en-US" sz="1600" dirty="0"/>
                    </a:p>
                  </a:txBody>
                  <a:tcPr/>
                </a:tc>
                <a:tc>
                  <a:txBody>
                    <a:bodyPr/>
                    <a:lstStyle/>
                    <a:p>
                      <a:pPr lvl="0">
                        <a:buNone/>
                      </a:pPr>
                      <a:r>
                        <a:rPr lang="en-US" sz="1600"/>
                        <a:t>10/15/2026</a:t>
                      </a:r>
                      <a:endParaRPr lang="en-US" sz="1600" dirty="0"/>
                    </a:p>
                  </a:txBody>
                  <a:tcPr/>
                </a:tc>
                <a:tc>
                  <a:txBody>
                    <a:bodyPr/>
                    <a:lstStyle/>
                    <a:p>
                      <a:pPr lvl="0">
                        <a:buNone/>
                      </a:pPr>
                      <a:endParaRPr lang="en-US" sz="1600" dirty="0"/>
                    </a:p>
                  </a:txBody>
                  <a:tcPr/>
                </a:tc>
                <a:tc>
                  <a:txBody>
                    <a:bodyPr/>
                    <a:lstStyle/>
                    <a:p>
                      <a:pPr lvl="0">
                        <a:buNone/>
                      </a:pPr>
                      <a:r>
                        <a:rPr lang="en-US" sz="1600"/>
                        <a:t>10/15/2026</a:t>
                      </a:r>
                      <a:endParaRPr lang="en-US" sz="1600" dirty="0"/>
                    </a:p>
                  </a:txBody>
                  <a:tcPr/>
                </a:tc>
                <a:extLst>
                  <a:ext uri="{0D108BD9-81ED-4DB2-BD59-A6C34878D82A}">
                    <a16:rowId xmlns:a16="http://schemas.microsoft.com/office/drawing/2014/main" val="419148149"/>
                  </a:ext>
                </a:extLst>
              </a:tr>
              <a:tr h="294276">
                <a:tc>
                  <a:txBody>
                    <a:bodyPr/>
                    <a:lstStyle/>
                    <a:p>
                      <a:pPr lvl="0" algn="l">
                        <a:lnSpc>
                          <a:spcPct val="100000"/>
                        </a:lnSpc>
                        <a:spcBef>
                          <a:spcPts val="0"/>
                        </a:spcBef>
                        <a:spcAft>
                          <a:spcPts val="0"/>
                        </a:spcAft>
                        <a:buNone/>
                      </a:pPr>
                      <a:r>
                        <a:rPr lang="en-US" sz="1600" b="0" i="0" u="none" strike="noStrike" noProof="0">
                          <a:solidFill>
                            <a:srgbClr val="000000"/>
                          </a:solidFill>
                          <a:latin typeface="Aptos"/>
                        </a:rPr>
                        <a:t>Due Date</a:t>
                      </a:r>
                    </a:p>
                  </a:txBody>
                  <a:tcPr/>
                </a:tc>
                <a:tc>
                  <a:txBody>
                    <a:bodyPr/>
                    <a:lstStyle/>
                    <a:p>
                      <a:r>
                        <a:rPr lang="en-US" sz="1600"/>
                        <a:t>Safety </a:t>
                      </a:r>
                      <a:endParaRPr lang="en-US" sz="1600" dirty="0"/>
                    </a:p>
                  </a:txBody>
                  <a:tcPr/>
                </a:tc>
                <a:tc>
                  <a:txBody>
                    <a:bodyPr/>
                    <a:lstStyle/>
                    <a:p>
                      <a:pPr lvl="0">
                        <a:buNone/>
                      </a:pPr>
                      <a:r>
                        <a:rPr lang="en-US" sz="1600"/>
                        <a:t>1</a:t>
                      </a:r>
                      <a:endParaRPr lang="en-US" sz="1600" dirty="0"/>
                    </a:p>
                  </a:txBody>
                  <a:tcPr/>
                </a:tc>
                <a:tc>
                  <a:txBody>
                    <a:bodyPr/>
                    <a:lstStyle/>
                    <a:p>
                      <a:pPr lvl="0">
                        <a:buNone/>
                      </a:pPr>
                      <a:r>
                        <a:rPr lang="en-US" sz="1600"/>
                        <a:t>10/14/2026</a:t>
                      </a:r>
                      <a:endParaRPr lang="en-US" sz="1600" dirty="0"/>
                    </a:p>
                  </a:txBody>
                  <a:tcPr/>
                </a:tc>
                <a:tc>
                  <a:txBody>
                    <a:bodyPr/>
                    <a:lstStyle/>
                    <a:p>
                      <a:pPr lvl="0">
                        <a:buNone/>
                      </a:pPr>
                      <a:r>
                        <a:rPr lang="en-US" sz="1600"/>
                        <a:t>1 + 0</a:t>
                      </a:r>
                      <a:endParaRPr lang="en-US" sz="1600" dirty="0"/>
                    </a:p>
                  </a:txBody>
                  <a:tcPr/>
                </a:tc>
                <a:tc>
                  <a:txBody>
                    <a:bodyPr/>
                    <a:lstStyle/>
                    <a:p>
                      <a:r>
                        <a:rPr lang="en-US" sz="1600"/>
                        <a:t>10/14/2026</a:t>
                      </a:r>
                      <a:endParaRPr lang="en-US" sz="1600" dirty="0"/>
                    </a:p>
                  </a:txBody>
                  <a:tcPr/>
                </a:tc>
                <a:extLst>
                  <a:ext uri="{0D108BD9-81ED-4DB2-BD59-A6C34878D82A}">
                    <a16:rowId xmlns:a16="http://schemas.microsoft.com/office/drawing/2014/main" val="477136834"/>
                  </a:ext>
                </a:extLst>
              </a:tr>
              <a:tr h="294276">
                <a:tc>
                  <a:txBody>
                    <a:bodyPr/>
                    <a:lstStyle/>
                    <a:p>
                      <a:pPr lvl="0" algn="l">
                        <a:lnSpc>
                          <a:spcPct val="100000"/>
                        </a:lnSpc>
                        <a:spcBef>
                          <a:spcPts val="0"/>
                        </a:spcBef>
                        <a:spcAft>
                          <a:spcPts val="0"/>
                        </a:spcAft>
                        <a:buNone/>
                      </a:pPr>
                      <a:r>
                        <a:rPr lang="en-US" sz="1600" b="0" i="0" u="none" strike="noStrike" noProof="0">
                          <a:solidFill>
                            <a:srgbClr val="000000"/>
                          </a:solidFill>
                          <a:latin typeface="Aptos"/>
                        </a:rPr>
                        <a:t>Dock Date</a:t>
                      </a:r>
                    </a:p>
                  </a:txBody>
                  <a:tcPr/>
                </a:tc>
                <a:tc>
                  <a:txBody>
                    <a:bodyPr/>
                    <a:lstStyle/>
                    <a:p>
                      <a:r>
                        <a:rPr lang="en-US" sz="1600"/>
                        <a:t>Dock To Stock </a:t>
                      </a:r>
                      <a:endParaRPr lang="en-US" sz="1600" dirty="0"/>
                    </a:p>
                  </a:txBody>
                  <a:tcPr/>
                </a:tc>
                <a:tc>
                  <a:txBody>
                    <a:bodyPr/>
                    <a:lstStyle/>
                    <a:p>
                      <a:pPr lvl="0">
                        <a:buNone/>
                      </a:pPr>
                      <a:r>
                        <a:rPr lang="en-US" sz="1600"/>
                        <a:t>2</a:t>
                      </a:r>
                      <a:endParaRPr lang="en-US" sz="1600" dirty="0"/>
                    </a:p>
                  </a:txBody>
                  <a:tcPr/>
                </a:tc>
                <a:tc>
                  <a:txBody>
                    <a:bodyPr/>
                    <a:lstStyle/>
                    <a:p>
                      <a:pPr lvl="0">
                        <a:buNone/>
                      </a:pPr>
                      <a:r>
                        <a:rPr lang="en-US" sz="1600"/>
                        <a:t>10/12/2026</a:t>
                      </a:r>
                      <a:endParaRPr lang="en-US" sz="1600" dirty="0"/>
                    </a:p>
                  </a:txBody>
                  <a:tcPr/>
                </a:tc>
                <a:tc>
                  <a:txBody>
                    <a:bodyPr/>
                    <a:lstStyle/>
                    <a:p>
                      <a:pPr lvl="0">
                        <a:buNone/>
                      </a:pPr>
                      <a:r>
                        <a:rPr lang="en-US" sz="1600"/>
                        <a:t>2 + 1</a:t>
                      </a:r>
                      <a:endParaRPr lang="en-US" sz="1600" dirty="0"/>
                    </a:p>
                  </a:txBody>
                  <a:tcPr/>
                </a:tc>
                <a:tc>
                  <a:txBody>
                    <a:bodyPr/>
                    <a:lstStyle/>
                    <a:p>
                      <a:r>
                        <a:rPr lang="en-US" sz="1600"/>
                        <a:t>10/11/2026</a:t>
                      </a:r>
                      <a:endParaRPr lang="en-US" sz="1600" dirty="0"/>
                    </a:p>
                  </a:txBody>
                  <a:tcPr/>
                </a:tc>
                <a:extLst>
                  <a:ext uri="{0D108BD9-81ED-4DB2-BD59-A6C34878D82A}">
                    <a16:rowId xmlns:a16="http://schemas.microsoft.com/office/drawing/2014/main" val="2376649581"/>
                  </a:ext>
                </a:extLst>
              </a:tr>
              <a:tr h="294276">
                <a:tc>
                  <a:txBody>
                    <a:bodyPr/>
                    <a:lstStyle/>
                    <a:p>
                      <a:r>
                        <a:rPr lang="en-US" sz="1600"/>
                        <a:t>Ship Date</a:t>
                      </a:r>
                      <a:endParaRPr lang="en-US" sz="1600" dirty="0"/>
                    </a:p>
                  </a:txBody>
                  <a:tcPr/>
                </a:tc>
                <a:tc>
                  <a:txBody>
                    <a:bodyPr/>
                    <a:lstStyle/>
                    <a:p>
                      <a:r>
                        <a:rPr lang="en-US" sz="1600"/>
                        <a:t>Transit Time</a:t>
                      </a:r>
                      <a:endParaRPr lang="en-US" sz="1600" dirty="0"/>
                    </a:p>
                  </a:txBody>
                  <a:tcPr/>
                </a:tc>
                <a:tc>
                  <a:txBody>
                    <a:bodyPr/>
                    <a:lstStyle/>
                    <a:p>
                      <a:pPr lvl="0">
                        <a:buNone/>
                      </a:pPr>
                      <a:r>
                        <a:rPr lang="en-US" sz="1600"/>
                        <a:t>2</a:t>
                      </a:r>
                      <a:endParaRPr lang="en-US" sz="1600" dirty="0"/>
                    </a:p>
                  </a:txBody>
                  <a:tcPr/>
                </a:tc>
                <a:tc>
                  <a:txBody>
                    <a:bodyPr/>
                    <a:lstStyle/>
                    <a:p>
                      <a:pPr lvl="0">
                        <a:buNone/>
                      </a:pPr>
                      <a:r>
                        <a:rPr lang="en-US" sz="1600"/>
                        <a:t>10/10/2026</a:t>
                      </a:r>
                      <a:endParaRPr lang="en-US" sz="1600" dirty="0"/>
                    </a:p>
                  </a:txBody>
                  <a:tcPr/>
                </a:tc>
                <a:tc>
                  <a:txBody>
                    <a:bodyPr/>
                    <a:lstStyle/>
                    <a:p>
                      <a:pPr lvl="0">
                        <a:buNone/>
                      </a:pPr>
                      <a:r>
                        <a:rPr lang="en-US" sz="1600"/>
                        <a:t>2 + 2</a:t>
                      </a:r>
                      <a:endParaRPr lang="en-US" sz="1600" dirty="0"/>
                    </a:p>
                  </a:txBody>
                  <a:tcPr/>
                </a:tc>
                <a:tc>
                  <a:txBody>
                    <a:bodyPr/>
                    <a:lstStyle/>
                    <a:p>
                      <a:r>
                        <a:rPr lang="en-US" sz="1600"/>
                        <a:t>10/07/2026</a:t>
                      </a:r>
                      <a:endParaRPr lang="en-US" sz="1600" dirty="0"/>
                    </a:p>
                  </a:txBody>
                  <a:tcPr/>
                </a:tc>
                <a:extLst>
                  <a:ext uri="{0D108BD9-81ED-4DB2-BD59-A6C34878D82A}">
                    <a16:rowId xmlns:a16="http://schemas.microsoft.com/office/drawing/2014/main" val="1126997416"/>
                  </a:ext>
                </a:extLst>
              </a:tr>
              <a:tr h="294276">
                <a:tc>
                  <a:txBody>
                    <a:bodyPr/>
                    <a:lstStyle/>
                    <a:p>
                      <a:r>
                        <a:rPr lang="en-US" sz="1600"/>
                        <a:t>Build Date</a:t>
                      </a:r>
                      <a:endParaRPr lang="en-US" sz="1600" dirty="0"/>
                    </a:p>
                  </a:txBody>
                  <a:tcPr/>
                </a:tc>
                <a:tc>
                  <a:txBody>
                    <a:bodyPr/>
                    <a:lstStyle/>
                    <a:p>
                      <a:r>
                        <a:rPr lang="en-US" sz="1600"/>
                        <a:t>Pre-Ship</a:t>
                      </a:r>
                      <a:endParaRPr lang="en-US" sz="1600" dirty="0"/>
                    </a:p>
                  </a:txBody>
                  <a:tcPr/>
                </a:tc>
                <a:tc>
                  <a:txBody>
                    <a:bodyPr/>
                    <a:lstStyle/>
                    <a:p>
                      <a:pPr lvl="0">
                        <a:buNone/>
                      </a:pPr>
                      <a:r>
                        <a:rPr lang="en-US" sz="1600"/>
                        <a:t>1</a:t>
                      </a:r>
                      <a:endParaRPr lang="en-US" sz="1600" dirty="0"/>
                    </a:p>
                  </a:txBody>
                  <a:tcPr/>
                </a:tc>
                <a:tc>
                  <a:txBody>
                    <a:bodyPr/>
                    <a:lstStyle/>
                    <a:p>
                      <a:pPr lvl="0">
                        <a:buNone/>
                      </a:pPr>
                      <a:r>
                        <a:rPr lang="en-US" sz="1600"/>
                        <a:t>10/09/2026</a:t>
                      </a:r>
                      <a:endParaRPr lang="en-US" sz="1600" dirty="0"/>
                    </a:p>
                  </a:txBody>
                  <a:tcPr/>
                </a:tc>
                <a:tc>
                  <a:txBody>
                    <a:bodyPr/>
                    <a:lstStyle/>
                    <a:p>
                      <a:pPr lvl="0">
                        <a:buNone/>
                      </a:pPr>
                      <a:r>
                        <a:rPr lang="en-US" sz="1600"/>
                        <a:t>1 + 1</a:t>
                      </a:r>
                      <a:endParaRPr lang="en-US" sz="1600" dirty="0"/>
                    </a:p>
                  </a:txBody>
                  <a:tcPr/>
                </a:tc>
                <a:tc>
                  <a:txBody>
                    <a:bodyPr/>
                    <a:lstStyle/>
                    <a:p>
                      <a:r>
                        <a:rPr lang="en-US" sz="1600"/>
                        <a:t>10/05/2026</a:t>
                      </a:r>
                      <a:endParaRPr lang="en-US" sz="1600" dirty="0"/>
                    </a:p>
                  </a:txBody>
                  <a:tcPr/>
                </a:tc>
                <a:extLst>
                  <a:ext uri="{0D108BD9-81ED-4DB2-BD59-A6C34878D82A}">
                    <a16:rowId xmlns:a16="http://schemas.microsoft.com/office/drawing/2014/main" val="1656075160"/>
                  </a:ext>
                </a:extLst>
              </a:tr>
              <a:tr h="294276">
                <a:tc>
                  <a:txBody>
                    <a:bodyPr/>
                    <a:lstStyle/>
                    <a:p>
                      <a:endParaRPr lang="en-US" sz="1600" dirty="0"/>
                    </a:p>
                  </a:txBody>
                  <a:tcPr/>
                </a:tc>
                <a:tc>
                  <a:txBody>
                    <a:bodyPr/>
                    <a:lstStyle/>
                    <a:p>
                      <a:r>
                        <a:rPr lang="en-US" sz="1600"/>
                        <a:t>LTA </a:t>
                      </a:r>
                      <a:endParaRPr lang="en-US" sz="1600" dirty="0"/>
                    </a:p>
                  </a:txBody>
                  <a:tcPr/>
                </a:tc>
                <a:tc>
                  <a:txBody>
                    <a:bodyPr/>
                    <a:lstStyle/>
                    <a:p>
                      <a:pPr lvl="0">
                        <a:buNone/>
                      </a:pPr>
                      <a:r>
                        <a:rPr lang="en-US" sz="1600"/>
                        <a:t>2</a:t>
                      </a:r>
                      <a:endParaRPr lang="en-US" sz="1600" dirty="0"/>
                    </a:p>
                  </a:txBody>
                  <a:tcPr/>
                </a:tc>
                <a:tc>
                  <a:txBody>
                    <a:bodyPr/>
                    <a:lstStyle/>
                    <a:p>
                      <a:pPr lvl="0">
                        <a:buNone/>
                      </a:pPr>
                      <a:endParaRPr lang="en-US" sz="1600" dirty="0"/>
                    </a:p>
                  </a:txBody>
                  <a:tcPr/>
                </a:tc>
                <a:tc>
                  <a:txBody>
                    <a:bodyPr/>
                    <a:lstStyle/>
                    <a:p>
                      <a:pPr lvl="0">
                        <a:buNone/>
                      </a:pPr>
                      <a:r>
                        <a:rPr lang="en-US" sz="1600">
                          <a:solidFill>
                            <a:srgbClr val="FF0000"/>
                          </a:solidFill>
                        </a:rPr>
                        <a:t>2</a:t>
                      </a:r>
                      <a:r>
                        <a:rPr lang="en-US" sz="1600"/>
                        <a:t> + 1</a:t>
                      </a:r>
                      <a:endParaRPr lang="en-US" sz="1600" dirty="0"/>
                    </a:p>
                  </a:txBody>
                  <a:tcPr/>
                </a:tc>
                <a:tc>
                  <a:txBody>
                    <a:bodyPr/>
                    <a:lstStyle/>
                    <a:p>
                      <a:endParaRPr lang="en-US" sz="1600" dirty="0"/>
                    </a:p>
                  </a:txBody>
                  <a:tcPr/>
                </a:tc>
                <a:extLst>
                  <a:ext uri="{0D108BD9-81ED-4DB2-BD59-A6C34878D82A}">
                    <a16:rowId xmlns:a16="http://schemas.microsoft.com/office/drawing/2014/main" val="3184285421"/>
                  </a:ext>
                </a:extLst>
              </a:tr>
              <a:tr h="294276">
                <a:tc>
                  <a:txBody>
                    <a:bodyPr/>
                    <a:lstStyle/>
                    <a:p>
                      <a:endParaRPr lang="en-US" sz="1600" dirty="0"/>
                    </a:p>
                  </a:txBody>
                  <a:tcPr/>
                </a:tc>
                <a:tc>
                  <a:txBody>
                    <a:bodyPr/>
                    <a:lstStyle/>
                    <a:p>
                      <a:r>
                        <a:rPr lang="en-US" sz="1600"/>
                        <a:t>Fixed</a:t>
                      </a:r>
                      <a:endParaRPr lang="en-US" sz="1600" dirty="0"/>
                    </a:p>
                  </a:txBody>
                  <a:tcPr/>
                </a:tc>
                <a:tc>
                  <a:txBody>
                    <a:bodyPr/>
                    <a:lstStyle/>
                    <a:p>
                      <a:pPr lvl="0">
                        <a:buNone/>
                      </a:pPr>
                      <a:r>
                        <a:rPr lang="en-US" sz="1600"/>
                        <a:t>2</a:t>
                      </a:r>
                      <a:endParaRPr lang="en-US" sz="1600" dirty="0"/>
                    </a:p>
                  </a:txBody>
                  <a:tcPr/>
                </a:tc>
                <a:tc>
                  <a:txBody>
                    <a:bodyPr/>
                    <a:lstStyle/>
                    <a:p>
                      <a:pPr lvl="0">
                        <a:buNone/>
                      </a:pPr>
                      <a:endParaRPr lang="en-US" sz="1600" dirty="0"/>
                    </a:p>
                  </a:txBody>
                  <a:tcPr/>
                </a:tc>
                <a:tc>
                  <a:txBody>
                    <a:bodyPr/>
                    <a:lstStyle/>
                    <a:p>
                      <a:pPr lvl="0">
                        <a:buNone/>
                      </a:pPr>
                      <a:r>
                        <a:rPr lang="en-US" sz="1600">
                          <a:solidFill>
                            <a:srgbClr val="FF0000"/>
                          </a:solidFill>
                        </a:rPr>
                        <a:t>2</a:t>
                      </a:r>
                      <a:r>
                        <a:rPr lang="en-US" sz="1600"/>
                        <a:t> + 1</a:t>
                      </a:r>
                      <a:endParaRPr lang="en-US" sz="1600" dirty="0"/>
                    </a:p>
                  </a:txBody>
                  <a:tcPr/>
                </a:tc>
                <a:tc>
                  <a:txBody>
                    <a:bodyPr/>
                    <a:lstStyle/>
                    <a:p>
                      <a:endParaRPr lang="en-US" sz="1600" dirty="0"/>
                    </a:p>
                  </a:txBody>
                  <a:tcPr/>
                </a:tc>
                <a:extLst>
                  <a:ext uri="{0D108BD9-81ED-4DB2-BD59-A6C34878D82A}">
                    <a16:rowId xmlns:a16="http://schemas.microsoft.com/office/drawing/2014/main" val="277430448"/>
                  </a:ext>
                </a:extLst>
              </a:tr>
              <a:tr h="294276">
                <a:tc>
                  <a:txBody>
                    <a:bodyPr/>
                    <a:lstStyle/>
                    <a:p>
                      <a:pPr lvl="0" algn="l">
                        <a:lnSpc>
                          <a:spcPct val="100000"/>
                        </a:lnSpc>
                        <a:spcBef>
                          <a:spcPts val="0"/>
                        </a:spcBef>
                        <a:spcAft>
                          <a:spcPts val="0"/>
                        </a:spcAft>
                        <a:buNone/>
                      </a:pPr>
                      <a:r>
                        <a:rPr lang="en-US" sz="1600" b="0" i="0" u="none" strike="noStrike" noProof="0">
                          <a:solidFill>
                            <a:srgbClr val="000000"/>
                          </a:solidFill>
                          <a:latin typeface="Aptos"/>
                        </a:rPr>
                        <a:t>Start Date</a:t>
                      </a:r>
                    </a:p>
                  </a:txBody>
                  <a:tcPr/>
                </a:tc>
                <a:tc>
                  <a:txBody>
                    <a:bodyPr/>
                    <a:lstStyle/>
                    <a:p>
                      <a:r>
                        <a:rPr lang="en-US" sz="1600"/>
                        <a:t>Var*Qtd</a:t>
                      </a:r>
                      <a:endParaRPr lang="en-US" sz="1600" dirty="0"/>
                    </a:p>
                  </a:txBody>
                  <a:tcPr/>
                </a:tc>
                <a:tc>
                  <a:txBody>
                    <a:bodyPr/>
                    <a:lstStyle/>
                    <a:p>
                      <a:pPr lvl="0">
                        <a:buNone/>
                      </a:pPr>
                      <a:r>
                        <a:rPr lang="en-US" sz="1600"/>
                        <a:t>0.2*10 = 2</a:t>
                      </a:r>
                      <a:endParaRPr lang="en-US" sz="1600" dirty="0"/>
                    </a:p>
                  </a:txBody>
                  <a:tcPr/>
                </a:tc>
                <a:tc>
                  <a:txBody>
                    <a:bodyPr/>
                    <a:lstStyle/>
                    <a:p>
                      <a:pPr lvl="0" algn="l">
                        <a:lnSpc>
                          <a:spcPct val="100000"/>
                        </a:lnSpc>
                        <a:spcBef>
                          <a:spcPts val="0"/>
                        </a:spcBef>
                        <a:spcAft>
                          <a:spcPts val="0"/>
                        </a:spcAft>
                        <a:buNone/>
                      </a:pPr>
                      <a:r>
                        <a:rPr lang="en-US" sz="1600" b="0" i="0" u="none" strike="noStrike" noProof="0">
                          <a:solidFill>
                            <a:srgbClr val="000000"/>
                          </a:solidFill>
                          <a:latin typeface="Aptos"/>
                        </a:rPr>
                        <a:t>10/03/2026</a:t>
                      </a:r>
                    </a:p>
                  </a:txBody>
                  <a:tcPr/>
                </a:tc>
                <a:tc>
                  <a:txBody>
                    <a:bodyPr/>
                    <a:lstStyle/>
                    <a:p>
                      <a:pPr lvl="0">
                        <a:buNone/>
                      </a:pPr>
                      <a:r>
                        <a:rPr lang="en-US" sz="1600">
                          <a:solidFill>
                            <a:srgbClr val="FF0000"/>
                          </a:solidFill>
                        </a:rPr>
                        <a:t>2</a:t>
                      </a:r>
                      <a:r>
                        <a:rPr lang="en-US" sz="1600"/>
                        <a:t> + 0</a:t>
                      </a:r>
                      <a:endParaRPr lang="en-US" sz="1600" dirty="0"/>
                    </a:p>
                  </a:txBody>
                  <a:tcPr/>
                </a:tc>
                <a:tc>
                  <a:txBody>
                    <a:bodyPr/>
                    <a:lstStyle/>
                    <a:p>
                      <a:pPr lvl="0" algn="l">
                        <a:lnSpc>
                          <a:spcPct val="100000"/>
                        </a:lnSpc>
                        <a:spcBef>
                          <a:spcPts val="0"/>
                        </a:spcBef>
                        <a:spcAft>
                          <a:spcPts val="0"/>
                        </a:spcAft>
                        <a:buNone/>
                      </a:pPr>
                      <a:r>
                        <a:rPr lang="en-US" sz="1600" b="0" i="0" u="none" strike="noStrike" noProof="0">
                          <a:solidFill>
                            <a:srgbClr val="000000"/>
                          </a:solidFill>
                          <a:latin typeface="Aptos"/>
                        </a:rPr>
                        <a:t>10/03/2026</a:t>
                      </a:r>
                    </a:p>
                  </a:txBody>
                  <a:tcPr/>
                </a:tc>
                <a:extLst>
                  <a:ext uri="{0D108BD9-81ED-4DB2-BD59-A6C34878D82A}">
                    <a16:rowId xmlns:a16="http://schemas.microsoft.com/office/drawing/2014/main" val="2133575364"/>
                  </a:ext>
                </a:extLst>
              </a:tr>
            </a:tbl>
          </a:graphicData>
        </a:graphic>
      </p:graphicFrame>
    </p:spTree>
    <p:extLst>
      <p:ext uri="{BB962C8B-B14F-4D97-AF65-F5344CB8AC3E}">
        <p14:creationId xmlns:p14="http://schemas.microsoft.com/office/powerpoint/2010/main" val="359027479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1EE2F9-F141-D91C-593B-D9D56D4AD7FB}"/>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A99A78AC-297D-9618-8F0C-5DE7427A3F1F}"/>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A5CB1B3D-706F-D22D-C956-6146B258DA0A}"/>
              </a:ext>
            </a:extLst>
          </p:cNvPr>
          <p:cNvPicPr>
            <a:picLocks noChangeAspect="1"/>
          </p:cNvPicPr>
          <p:nvPr/>
        </p:nvPicPr>
        <p:blipFill>
          <a:blip r:embed="rId3"/>
          <a:stretch>
            <a:fillRect/>
          </a:stretch>
        </p:blipFill>
        <p:spPr>
          <a:xfrm>
            <a:off x="9181381" y="65406"/>
            <a:ext cx="2743200" cy="717452"/>
          </a:xfrm>
          <a:prstGeom prst="rect">
            <a:avLst/>
          </a:prstGeom>
        </p:spPr>
      </p:pic>
      <p:pic>
        <p:nvPicPr>
          <p:cNvPr id="2" name="Picture 1" descr="A screenshot of a computer&#10;&#10;AI-generated content may be incorrect.">
            <a:extLst>
              <a:ext uri="{FF2B5EF4-FFF2-40B4-BE49-F238E27FC236}">
                <a16:creationId xmlns:a16="http://schemas.microsoft.com/office/drawing/2014/main" id="{078327D7-6D09-E1E1-ACBA-429A08368815}"/>
              </a:ext>
            </a:extLst>
          </p:cNvPr>
          <p:cNvPicPr>
            <a:picLocks noChangeAspect="1"/>
          </p:cNvPicPr>
          <p:nvPr/>
        </p:nvPicPr>
        <p:blipFill>
          <a:blip r:embed="rId4"/>
          <a:stretch>
            <a:fillRect/>
          </a:stretch>
        </p:blipFill>
        <p:spPr>
          <a:xfrm>
            <a:off x="316302" y="864760"/>
            <a:ext cx="11602529" cy="541602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11668231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454716-3122-CE44-E0CE-FBC8B2197A62}"/>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B986B0F7-72F0-346E-F273-E0FF8D76ED13}"/>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A8733060-498A-F85A-097F-9C096B080AA7}"/>
              </a:ext>
            </a:extLst>
          </p:cNvPr>
          <p:cNvPicPr>
            <a:picLocks noChangeAspect="1"/>
          </p:cNvPicPr>
          <p:nvPr/>
        </p:nvPicPr>
        <p:blipFill>
          <a:blip r:embed="rId3"/>
          <a:stretch>
            <a:fillRect/>
          </a:stretch>
        </p:blipFill>
        <p:spPr>
          <a:xfrm>
            <a:off x="9181381" y="65406"/>
            <a:ext cx="2743200" cy="717452"/>
          </a:xfrm>
          <a:prstGeom prst="rect">
            <a:avLst/>
          </a:prstGeom>
        </p:spPr>
      </p:pic>
      <p:sp>
        <p:nvSpPr>
          <p:cNvPr id="3" name="TextBox 2">
            <a:extLst>
              <a:ext uri="{FF2B5EF4-FFF2-40B4-BE49-F238E27FC236}">
                <a16:creationId xmlns:a16="http://schemas.microsoft.com/office/drawing/2014/main" id="{1194338F-BC09-E00C-2CFC-36A7AB579CBB}"/>
              </a:ext>
            </a:extLst>
          </p:cNvPr>
          <p:cNvSpPr txBox="1"/>
          <p:nvPr/>
        </p:nvSpPr>
        <p:spPr>
          <a:xfrm>
            <a:off x="316301" y="64697"/>
            <a:ext cx="11473131" cy="245816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cs typeface="Arial"/>
              </a:rPr>
              <a:t>Time Phased Simulation 4:</a:t>
            </a:r>
            <a:endParaRPr lang="en-US"/>
          </a:p>
          <a:p>
            <a:endParaRPr lang="en-US" dirty="0">
              <a:cs typeface="Arial"/>
            </a:endParaRPr>
          </a:p>
          <a:p>
            <a:pPr marL="285750" indent="-285750">
              <a:buFont typeface="Arial,Sans-Serif"/>
              <a:buChar char="•"/>
            </a:pPr>
            <a:r>
              <a:rPr lang="en-US">
                <a:cs typeface="Arial"/>
              </a:rPr>
              <a:t>Transit Rule = Inclusive</a:t>
            </a:r>
          </a:p>
          <a:p>
            <a:pPr marL="285750" indent="-285750">
              <a:buFont typeface="Arial"/>
              <a:buChar char="•"/>
            </a:pPr>
            <a:r>
              <a:rPr lang="en-US">
                <a:cs typeface="Arial"/>
              </a:rPr>
              <a:t>Demand Quantity = 10.</a:t>
            </a:r>
          </a:p>
          <a:p>
            <a:pPr marL="285750" indent="-285750">
              <a:buFont typeface="Arial"/>
              <a:buChar char="•"/>
            </a:pPr>
            <a:r>
              <a:rPr lang="en-US">
                <a:cs typeface="Arial"/>
              </a:rPr>
              <a:t>Part Source Type = Transfer</a:t>
            </a:r>
          </a:p>
          <a:p>
            <a:pPr marL="285750" indent="-285750">
              <a:buFont typeface="Arial"/>
              <a:buChar char="•"/>
            </a:pPr>
            <a:r>
              <a:rPr lang="en-US">
                <a:cs typeface="Arial"/>
              </a:rPr>
              <a:t>Original/ Destination Site = C1001</a:t>
            </a:r>
          </a:p>
          <a:p>
            <a:pPr marL="285750" indent="-285750">
              <a:buFont typeface="Arial"/>
              <a:buChar char="•"/>
            </a:pPr>
            <a:r>
              <a:rPr lang="en-US">
                <a:cs typeface="Arial"/>
              </a:rPr>
              <a:t>Supplier Site: E3001</a:t>
            </a:r>
          </a:p>
          <a:p>
            <a:pPr marL="285750" indent="-285750">
              <a:buFont typeface="Arial"/>
              <a:buChar char="•"/>
            </a:pPr>
            <a:r>
              <a:rPr lang="en-US" dirty="0">
                <a:cs typeface="Arial"/>
              </a:rPr>
              <a:t>All the values highlighted in red color are not considered/ used during </a:t>
            </a:r>
            <a:r>
              <a:rPr lang="en-US">
                <a:cs typeface="Arial"/>
              </a:rPr>
              <a:t>calculations.</a:t>
            </a:r>
            <a:endParaRPr lang="en-US" dirty="0">
              <a:cs typeface="Arial"/>
            </a:endParaRPr>
          </a:p>
        </p:txBody>
      </p:sp>
      <p:graphicFrame>
        <p:nvGraphicFramePr>
          <p:cNvPr id="7" name="Table 6">
            <a:extLst>
              <a:ext uri="{FF2B5EF4-FFF2-40B4-BE49-F238E27FC236}">
                <a16:creationId xmlns:a16="http://schemas.microsoft.com/office/drawing/2014/main" id="{ADEBB325-4ED0-E013-D809-B4BD8945F5FF}"/>
              </a:ext>
            </a:extLst>
          </p:cNvPr>
          <p:cNvGraphicFramePr>
            <a:graphicFrameLocks noGrp="1"/>
          </p:cNvGraphicFramePr>
          <p:nvPr>
            <p:extLst>
              <p:ext uri="{D42A27DB-BD31-4B8C-83A1-F6EECF244321}">
                <p14:modId xmlns:p14="http://schemas.microsoft.com/office/powerpoint/2010/main" val="2325456469"/>
              </p:ext>
            </p:extLst>
          </p:nvPr>
        </p:nvGraphicFramePr>
        <p:xfrm>
          <a:off x="316301" y="2674188"/>
          <a:ext cx="11338758" cy="3566160"/>
        </p:xfrm>
        <a:graphic>
          <a:graphicData uri="http://schemas.openxmlformats.org/drawingml/2006/table">
            <a:tbl>
              <a:tblPr firstRow="1" bandRow="1">
                <a:tableStyleId>{5C22544A-7EE6-4342-B048-85BDC9FD1C3A}</a:tableStyleId>
              </a:tblPr>
              <a:tblGrid>
                <a:gridCol w="1889793">
                  <a:extLst>
                    <a:ext uri="{9D8B030D-6E8A-4147-A177-3AD203B41FA5}">
                      <a16:colId xmlns:a16="http://schemas.microsoft.com/office/drawing/2014/main" val="2516356869"/>
                    </a:ext>
                  </a:extLst>
                </a:gridCol>
                <a:gridCol w="1889793">
                  <a:extLst>
                    <a:ext uri="{9D8B030D-6E8A-4147-A177-3AD203B41FA5}">
                      <a16:colId xmlns:a16="http://schemas.microsoft.com/office/drawing/2014/main" val="2685803324"/>
                    </a:ext>
                  </a:extLst>
                </a:gridCol>
                <a:gridCol w="1889793">
                  <a:extLst>
                    <a:ext uri="{9D8B030D-6E8A-4147-A177-3AD203B41FA5}">
                      <a16:colId xmlns:a16="http://schemas.microsoft.com/office/drawing/2014/main" val="3666996540"/>
                    </a:ext>
                  </a:extLst>
                </a:gridCol>
                <a:gridCol w="1889793">
                  <a:extLst>
                    <a:ext uri="{9D8B030D-6E8A-4147-A177-3AD203B41FA5}">
                      <a16:colId xmlns:a16="http://schemas.microsoft.com/office/drawing/2014/main" val="4025426188"/>
                    </a:ext>
                  </a:extLst>
                </a:gridCol>
                <a:gridCol w="1889793">
                  <a:extLst>
                    <a:ext uri="{9D8B030D-6E8A-4147-A177-3AD203B41FA5}">
                      <a16:colId xmlns:a16="http://schemas.microsoft.com/office/drawing/2014/main" val="608119132"/>
                    </a:ext>
                  </a:extLst>
                </a:gridCol>
                <a:gridCol w="1889793">
                  <a:extLst>
                    <a:ext uri="{9D8B030D-6E8A-4147-A177-3AD203B41FA5}">
                      <a16:colId xmlns:a16="http://schemas.microsoft.com/office/drawing/2014/main" val="1367674639"/>
                    </a:ext>
                  </a:extLst>
                </a:gridCol>
              </a:tblGrid>
              <a:tr h="484162">
                <a:tc>
                  <a:txBody>
                    <a:bodyPr/>
                    <a:lstStyle/>
                    <a:p>
                      <a:r>
                        <a:rPr lang="en-US"/>
                        <a:t>Dates</a:t>
                      </a:r>
                    </a:p>
                  </a:txBody>
                  <a:tcPr/>
                </a:tc>
                <a:tc>
                  <a:txBody>
                    <a:bodyPr/>
                    <a:lstStyle/>
                    <a:p>
                      <a:r>
                        <a:rPr lang="en-US"/>
                        <a:t>Elements</a:t>
                      </a:r>
                      <a:endParaRPr lang="en-US" dirty="0"/>
                    </a:p>
                  </a:txBody>
                  <a:tcPr/>
                </a:tc>
                <a:tc>
                  <a:txBody>
                    <a:bodyPr/>
                    <a:lstStyle/>
                    <a:p>
                      <a:pPr lvl="0">
                        <a:buNone/>
                      </a:pPr>
                      <a:r>
                        <a:rPr lang="en-US"/>
                        <a:t>Values (C1001)</a:t>
                      </a:r>
                      <a:endParaRPr lang="en-US" dirty="0"/>
                    </a:p>
                  </a:txBody>
                  <a:tcPr/>
                </a:tc>
                <a:tc>
                  <a:txBody>
                    <a:bodyPr/>
                    <a:lstStyle/>
                    <a:p>
                      <a:pPr lvl="0" algn="l">
                        <a:lnSpc>
                          <a:spcPct val="100000"/>
                        </a:lnSpc>
                        <a:spcBef>
                          <a:spcPts val="0"/>
                        </a:spcBef>
                        <a:spcAft>
                          <a:spcPts val="0"/>
                        </a:spcAft>
                        <a:buNone/>
                      </a:pPr>
                      <a:r>
                        <a:rPr lang="en-US" sz="1800" b="1" i="0" u="none" strike="noStrike" noProof="0">
                          <a:solidFill>
                            <a:srgbClr val="FFFFFF"/>
                          </a:solidFill>
                          <a:latin typeface="Aptos"/>
                        </a:rPr>
                        <a:t>C1001</a:t>
                      </a:r>
                    </a:p>
                  </a:txBody>
                  <a:tcPr/>
                </a:tc>
                <a:tc>
                  <a:txBody>
                    <a:bodyPr/>
                    <a:lstStyle/>
                    <a:p>
                      <a:pPr lvl="0">
                        <a:buNone/>
                      </a:pPr>
                      <a:r>
                        <a:rPr lang="en-US"/>
                        <a:t>Values</a:t>
                      </a:r>
                    </a:p>
                    <a:p>
                      <a:pPr lvl="0">
                        <a:buNone/>
                      </a:pPr>
                      <a:r>
                        <a:rPr lang="en-US"/>
                        <a:t>(C1001 + E3001)</a:t>
                      </a:r>
                      <a:endParaRPr lang="en-US" dirty="0"/>
                    </a:p>
                  </a:txBody>
                  <a:tcPr/>
                </a:tc>
                <a:tc>
                  <a:txBody>
                    <a:bodyPr/>
                    <a:lstStyle/>
                    <a:p>
                      <a:r>
                        <a:rPr lang="en-US"/>
                        <a:t>E3001</a:t>
                      </a:r>
                      <a:endParaRPr lang="en-US" dirty="0"/>
                    </a:p>
                  </a:txBody>
                  <a:tcPr/>
                </a:tc>
                <a:extLst>
                  <a:ext uri="{0D108BD9-81ED-4DB2-BD59-A6C34878D82A}">
                    <a16:rowId xmlns:a16="http://schemas.microsoft.com/office/drawing/2014/main" val="1071926590"/>
                  </a:ext>
                </a:extLst>
              </a:tr>
              <a:tr h="276663">
                <a:tc>
                  <a:txBody>
                    <a:bodyPr/>
                    <a:lstStyle/>
                    <a:p>
                      <a:pPr lvl="0">
                        <a:buNone/>
                      </a:pPr>
                      <a:r>
                        <a:rPr lang="en-US"/>
                        <a:t>Demand Date</a:t>
                      </a:r>
                      <a:endParaRPr lang="en-US" dirty="0"/>
                    </a:p>
                  </a:txBody>
                  <a:tcPr/>
                </a:tc>
                <a:tc>
                  <a:txBody>
                    <a:bodyPr/>
                    <a:lstStyle/>
                    <a:p>
                      <a:pPr lvl="0">
                        <a:buNone/>
                      </a:pPr>
                      <a:endParaRPr lang="en-US" dirty="0"/>
                    </a:p>
                  </a:txBody>
                  <a:tcPr/>
                </a:tc>
                <a:tc>
                  <a:txBody>
                    <a:bodyPr/>
                    <a:lstStyle/>
                    <a:p>
                      <a:pPr lvl="0">
                        <a:buNone/>
                      </a:pPr>
                      <a:endParaRPr lang="en-US" dirty="0"/>
                    </a:p>
                  </a:txBody>
                  <a:tcPr/>
                </a:tc>
                <a:tc>
                  <a:txBody>
                    <a:bodyPr/>
                    <a:lstStyle/>
                    <a:p>
                      <a:pPr lvl="0">
                        <a:buNone/>
                      </a:pPr>
                      <a:r>
                        <a:rPr lang="en-US"/>
                        <a:t>10/15/2026</a:t>
                      </a:r>
                      <a:endParaRPr lang="en-US" dirty="0"/>
                    </a:p>
                  </a:txBody>
                  <a:tcPr/>
                </a:tc>
                <a:tc>
                  <a:txBody>
                    <a:bodyPr/>
                    <a:lstStyle/>
                    <a:p>
                      <a:pPr lvl="0">
                        <a:buNone/>
                      </a:pPr>
                      <a:endParaRPr lang="en-US" dirty="0"/>
                    </a:p>
                  </a:txBody>
                  <a:tcPr/>
                </a:tc>
                <a:tc>
                  <a:txBody>
                    <a:bodyPr/>
                    <a:lstStyle/>
                    <a:p>
                      <a:pPr lvl="0">
                        <a:buNone/>
                      </a:pPr>
                      <a:r>
                        <a:rPr lang="en-US"/>
                        <a:t>10/15/2026</a:t>
                      </a:r>
                      <a:endParaRPr lang="en-US" dirty="0"/>
                    </a:p>
                  </a:txBody>
                  <a:tcPr/>
                </a:tc>
                <a:extLst>
                  <a:ext uri="{0D108BD9-81ED-4DB2-BD59-A6C34878D82A}">
                    <a16:rowId xmlns:a16="http://schemas.microsoft.com/office/drawing/2014/main" val="419148149"/>
                  </a:ext>
                </a:extLst>
              </a:tr>
              <a:tr h="276663">
                <a:tc>
                  <a:txBody>
                    <a:bodyPr/>
                    <a:lstStyle/>
                    <a:p>
                      <a:pPr lvl="0" algn="l">
                        <a:lnSpc>
                          <a:spcPct val="100000"/>
                        </a:lnSpc>
                        <a:spcBef>
                          <a:spcPts val="0"/>
                        </a:spcBef>
                        <a:spcAft>
                          <a:spcPts val="0"/>
                        </a:spcAft>
                        <a:buNone/>
                      </a:pPr>
                      <a:r>
                        <a:rPr lang="en-US" sz="1800" b="0" i="0" u="none" strike="noStrike" noProof="0">
                          <a:solidFill>
                            <a:srgbClr val="000000"/>
                          </a:solidFill>
                          <a:latin typeface="Aptos"/>
                        </a:rPr>
                        <a:t>Due Date</a:t>
                      </a:r>
                    </a:p>
                  </a:txBody>
                  <a:tcPr/>
                </a:tc>
                <a:tc>
                  <a:txBody>
                    <a:bodyPr/>
                    <a:lstStyle/>
                    <a:p>
                      <a:r>
                        <a:rPr lang="en-US"/>
                        <a:t>Safety </a:t>
                      </a:r>
                    </a:p>
                  </a:txBody>
                  <a:tcPr/>
                </a:tc>
                <a:tc>
                  <a:txBody>
                    <a:bodyPr/>
                    <a:lstStyle/>
                    <a:p>
                      <a:pPr lvl="0">
                        <a:buNone/>
                      </a:pPr>
                      <a:r>
                        <a:rPr lang="en-US"/>
                        <a:t>1</a:t>
                      </a:r>
                      <a:endParaRPr lang="en-US" dirty="0"/>
                    </a:p>
                  </a:txBody>
                  <a:tcPr/>
                </a:tc>
                <a:tc>
                  <a:txBody>
                    <a:bodyPr/>
                    <a:lstStyle/>
                    <a:p>
                      <a:pPr lvl="0">
                        <a:buNone/>
                      </a:pPr>
                      <a:r>
                        <a:rPr lang="en-US"/>
                        <a:t>10/14/2026</a:t>
                      </a:r>
                      <a:endParaRPr lang="en-US" dirty="0"/>
                    </a:p>
                  </a:txBody>
                  <a:tcPr/>
                </a:tc>
                <a:tc>
                  <a:txBody>
                    <a:bodyPr/>
                    <a:lstStyle/>
                    <a:p>
                      <a:pPr lvl="0">
                        <a:buNone/>
                      </a:pPr>
                      <a:r>
                        <a:rPr lang="en-US"/>
                        <a:t>1 + 0</a:t>
                      </a:r>
                      <a:endParaRPr lang="en-US" dirty="0"/>
                    </a:p>
                  </a:txBody>
                  <a:tcPr/>
                </a:tc>
                <a:tc>
                  <a:txBody>
                    <a:bodyPr/>
                    <a:lstStyle/>
                    <a:p>
                      <a:r>
                        <a:rPr lang="en-US"/>
                        <a:t>10/14/2026</a:t>
                      </a:r>
                    </a:p>
                  </a:txBody>
                  <a:tcPr/>
                </a:tc>
                <a:extLst>
                  <a:ext uri="{0D108BD9-81ED-4DB2-BD59-A6C34878D82A}">
                    <a16:rowId xmlns:a16="http://schemas.microsoft.com/office/drawing/2014/main" val="477136834"/>
                  </a:ext>
                </a:extLst>
              </a:tr>
              <a:tr h="276663">
                <a:tc>
                  <a:txBody>
                    <a:bodyPr/>
                    <a:lstStyle/>
                    <a:p>
                      <a:pPr lvl="0" algn="l">
                        <a:lnSpc>
                          <a:spcPct val="100000"/>
                        </a:lnSpc>
                        <a:spcBef>
                          <a:spcPts val="0"/>
                        </a:spcBef>
                        <a:spcAft>
                          <a:spcPts val="0"/>
                        </a:spcAft>
                        <a:buNone/>
                      </a:pPr>
                      <a:r>
                        <a:rPr lang="en-US" sz="1800" b="0" i="0" u="none" strike="noStrike" noProof="0">
                          <a:solidFill>
                            <a:srgbClr val="000000"/>
                          </a:solidFill>
                          <a:latin typeface="Aptos"/>
                        </a:rPr>
                        <a:t>Dock Date</a:t>
                      </a:r>
                    </a:p>
                  </a:txBody>
                  <a:tcPr/>
                </a:tc>
                <a:tc>
                  <a:txBody>
                    <a:bodyPr/>
                    <a:lstStyle/>
                    <a:p>
                      <a:r>
                        <a:rPr lang="en-US"/>
                        <a:t>Dock To Stock </a:t>
                      </a:r>
                    </a:p>
                  </a:txBody>
                  <a:tcPr/>
                </a:tc>
                <a:tc>
                  <a:txBody>
                    <a:bodyPr/>
                    <a:lstStyle/>
                    <a:p>
                      <a:pPr lvl="0">
                        <a:buNone/>
                      </a:pPr>
                      <a:r>
                        <a:rPr lang="en-US">
                          <a:solidFill>
                            <a:srgbClr val="FF0000"/>
                          </a:solidFill>
                        </a:rPr>
                        <a:t>2</a:t>
                      </a:r>
                    </a:p>
                  </a:txBody>
                  <a:tcPr/>
                </a:tc>
                <a:tc>
                  <a:txBody>
                    <a:bodyPr/>
                    <a:lstStyle/>
                    <a:p>
                      <a:pPr lvl="0">
                        <a:buNone/>
                      </a:pPr>
                      <a:r>
                        <a:rPr lang="en-US"/>
                        <a:t>10/14/2026</a:t>
                      </a:r>
                      <a:endParaRPr lang="en-US" dirty="0"/>
                    </a:p>
                  </a:txBody>
                  <a:tcPr/>
                </a:tc>
                <a:tc>
                  <a:txBody>
                    <a:bodyPr/>
                    <a:lstStyle/>
                    <a:p>
                      <a:pPr lvl="0">
                        <a:buNone/>
                      </a:pPr>
                      <a:r>
                        <a:rPr lang="en-US"/>
                        <a:t>2 + </a:t>
                      </a:r>
                      <a:r>
                        <a:rPr lang="en-US">
                          <a:solidFill>
                            <a:srgbClr val="FF0000"/>
                          </a:solidFill>
                        </a:rPr>
                        <a:t>1</a:t>
                      </a:r>
                      <a:endParaRPr lang="en-US" dirty="0">
                        <a:solidFill>
                          <a:srgbClr val="FF0000"/>
                        </a:solidFill>
                      </a:endParaRPr>
                    </a:p>
                  </a:txBody>
                  <a:tcPr/>
                </a:tc>
                <a:tc>
                  <a:txBody>
                    <a:bodyPr/>
                    <a:lstStyle/>
                    <a:p>
                      <a:r>
                        <a:rPr lang="en-US"/>
                        <a:t>10/12/2026</a:t>
                      </a:r>
                    </a:p>
                  </a:txBody>
                  <a:tcPr/>
                </a:tc>
                <a:extLst>
                  <a:ext uri="{0D108BD9-81ED-4DB2-BD59-A6C34878D82A}">
                    <a16:rowId xmlns:a16="http://schemas.microsoft.com/office/drawing/2014/main" val="2376649581"/>
                  </a:ext>
                </a:extLst>
              </a:tr>
              <a:tr h="276663">
                <a:tc>
                  <a:txBody>
                    <a:bodyPr/>
                    <a:lstStyle/>
                    <a:p>
                      <a:r>
                        <a:rPr lang="en-US"/>
                        <a:t>Ship Date</a:t>
                      </a:r>
                      <a:endParaRPr lang="en-US" dirty="0"/>
                    </a:p>
                  </a:txBody>
                  <a:tcPr/>
                </a:tc>
                <a:tc>
                  <a:txBody>
                    <a:bodyPr/>
                    <a:lstStyle/>
                    <a:p>
                      <a:r>
                        <a:rPr lang="en-US"/>
                        <a:t>Transit Time</a:t>
                      </a:r>
                    </a:p>
                  </a:txBody>
                  <a:tcPr/>
                </a:tc>
                <a:tc>
                  <a:txBody>
                    <a:bodyPr/>
                    <a:lstStyle/>
                    <a:p>
                      <a:pPr lvl="0">
                        <a:buNone/>
                      </a:pPr>
                      <a:r>
                        <a:rPr lang="en-US">
                          <a:solidFill>
                            <a:srgbClr val="FF0000"/>
                          </a:solidFill>
                        </a:rPr>
                        <a:t>2</a:t>
                      </a:r>
                    </a:p>
                  </a:txBody>
                  <a:tcPr/>
                </a:tc>
                <a:tc>
                  <a:txBody>
                    <a:bodyPr/>
                    <a:lstStyle/>
                    <a:p>
                      <a:pPr lvl="0">
                        <a:buNone/>
                      </a:pPr>
                      <a:r>
                        <a:rPr lang="en-US"/>
                        <a:t>10/14/2026</a:t>
                      </a:r>
                      <a:endParaRPr lang="en-US" dirty="0"/>
                    </a:p>
                  </a:txBody>
                  <a:tcPr/>
                </a:tc>
                <a:tc>
                  <a:txBody>
                    <a:bodyPr/>
                    <a:lstStyle/>
                    <a:p>
                      <a:pPr lvl="0">
                        <a:buNone/>
                      </a:pPr>
                      <a:r>
                        <a:rPr lang="en-US"/>
                        <a:t>2 + </a:t>
                      </a:r>
                      <a:r>
                        <a:rPr lang="en-US">
                          <a:solidFill>
                            <a:srgbClr val="FF0000"/>
                          </a:solidFill>
                        </a:rPr>
                        <a:t>2</a:t>
                      </a:r>
                      <a:endParaRPr lang="en-US" dirty="0">
                        <a:solidFill>
                          <a:srgbClr val="FF0000"/>
                        </a:solidFill>
                      </a:endParaRPr>
                    </a:p>
                  </a:txBody>
                  <a:tcPr/>
                </a:tc>
                <a:tc>
                  <a:txBody>
                    <a:bodyPr/>
                    <a:lstStyle/>
                    <a:p>
                      <a:r>
                        <a:rPr lang="en-US"/>
                        <a:t>10/10/2026</a:t>
                      </a:r>
                    </a:p>
                  </a:txBody>
                  <a:tcPr/>
                </a:tc>
                <a:extLst>
                  <a:ext uri="{0D108BD9-81ED-4DB2-BD59-A6C34878D82A}">
                    <a16:rowId xmlns:a16="http://schemas.microsoft.com/office/drawing/2014/main" val="1126997416"/>
                  </a:ext>
                </a:extLst>
              </a:tr>
              <a:tr h="276663">
                <a:tc>
                  <a:txBody>
                    <a:bodyPr/>
                    <a:lstStyle/>
                    <a:p>
                      <a:r>
                        <a:rPr lang="en-US"/>
                        <a:t>Build Date</a:t>
                      </a:r>
                    </a:p>
                  </a:txBody>
                  <a:tcPr/>
                </a:tc>
                <a:tc>
                  <a:txBody>
                    <a:bodyPr/>
                    <a:lstStyle/>
                    <a:p>
                      <a:r>
                        <a:rPr lang="en-US"/>
                        <a:t>Pre-Ship</a:t>
                      </a:r>
                    </a:p>
                  </a:txBody>
                  <a:tcPr/>
                </a:tc>
                <a:tc>
                  <a:txBody>
                    <a:bodyPr/>
                    <a:lstStyle/>
                    <a:p>
                      <a:pPr lvl="0">
                        <a:buNone/>
                      </a:pPr>
                      <a:r>
                        <a:rPr lang="en-US">
                          <a:solidFill>
                            <a:srgbClr val="FF0000"/>
                          </a:solidFill>
                        </a:rPr>
                        <a:t>1</a:t>
                      </a:r>
                    </a:p>
                  </a:txBody>
                  <a:tcPr/>
                </a:tc>
                <a:tc>
                  <a:txBody>
                    <a:bodyPr/>
                    <a:lstStyle/>
                    <a:p>
                      <a:pPr lvl="0">
                        <a:buNone/>
                      </a:pPr>
                      <a:r>
                        <a:rPr lang="en-US"/>
                        <a:t>10/04/2026</a:t>
                      </a:r>
                      <a:endParaRPr lang="en-US" dirty="0"/>
                    </a:p>
                  </a:txBody>
                  <a:tcPr/>
                </a:tc>
                <a:tc>
                  <a:txBody>
                    <a:bodyPr/>
                    <a:lstStyle/>
                    <a:p>
                      <a:pPr lvl="0">
                        <a:buNone/>
                      </a:pPr>
                      <a:r>
                        <a:rPr lang="en-US"/>
                        <a:t>1 + </a:t>
                      </a:r>
                      <a:r>
                        <a:rPr lang="en-US">
                          <a:solidFill>
                            <a:srgbClr val="FF0000"/>
                          </a:solidFill>
                        </a:rPr>
                        <a:t>1</a:t>
                      </a:r>
                      <a:endParaRPr lang="en-US" dirty="0">
                        <a:solidFill>
                          <a:srgbClr val="FF0000"/>
                        </a:solidFill>
                      </a:endParaRPr>
                    </a:p>
                  </a:txBody>
                  <a:tcPr/>
                </a:tc>
                <a:tc>
                  <a:txBody>
                    <a:bodyPr/>
                    <a:lstStyle/>
                    <a:p>
                      <a:r>
                        <a:rPr lang="en-US"/>
                        <a:t>10/09/2026</a:t>
                      </a:r>
                    </a:p>
                  </a:txBody>
                  <a:tcPr/>
                </a:tc>
                <a:extLst>
                  <a:ext uri="{0D108BD9-81ED-4DB2-BD59-A6C34878D82A}">
                    <a16:rowId xmlns:a16="http://schemas.microsoft.com/office/drawing/2014/main" val="1656075160"/>
                  </a:ext>
                </a:extLst>
              </a:tr>
              <a:tr h="276663">
                <a:tc>
                  <a:txBody>
                    <a:bodyPr/>
                    <a:lstStyle/>
                    <a:p>
                      <a:endParaRPr lang="en-US"/>
                    </a:p>
                  </a:txBody>
                  <a:tcPr/>
                </a:tc>
                <a:tc>
                  <a:txBody>
                    <a:bodyPr/>
                    <a:lstStyle/>
                    <a:p>
                      <a:r>
                        <a:rPr lang="en-US"/>
                        <a:t>LTA </a:t>
                      </a:r>
                    </a:p>
                  </a:txBody>
                  <a:tcPr/>
                </a:tc>
                <a:tc>
                  <a:txBody>
                    <a:bodyPr/>
                    <a:lstStyle/>
                    <a:p>
                      <a:pPr lvl="0">
                        <a:buNone/>
                      </a:pPr>
                      <a:r>
                        <a:rPr lang="en-US"/>
                        <a:t>2</a:t>
                      </a:r>
                      <a:endParaRPr lang="en-US" dirty="0"/>
                    </a:p>
                  </a:txBody>
                  <a:tcPr/>
                </a:tc>
                <a:tc>
                  <a:txBody>
                    <a:bodyPr/>
                    <a:lstStyle/>
                    <a:p>
                      <a:pPr lvl="0">
                        <a:buNone/>
                      </a:pPr>
                      <a:endParaRPr lang="en-US" dirty="0"/>
                    </a:p>
                  </a:txBody>
                  <a:tcPr/>
                </a:tc>
                <a:tc>
                  <a:txBody>
                    <a:bodyPr/>
                    <a:lstStyle/>
                    <a:p>
                      <a:pPr lvl="0">
                        <a:buNone/>
                      </a:pPr>
                      <a:r>
                        <a:rPr lang="en-US">
                          <a:solidFill>
                            <a:srgbClr val="FF0000"/>
                          </a:solidFill>
                        </a:rPr>
                        <a:t>2</a:t>
                      </a:r>
                      <a:r>
                        <a:rPr lang="en-US"/>
                        <a:t> + 1</a:t>
                      </a:r>
                      <a:endParaRPr lang="en-US" dirty="0"/>
                    </a:p>
                  </a:txBody>
                  <a:tcPr/>
                </a:tc>
                <a:tc>
                  <a:txBody>
                    <a:bodyPr/>
                    <a:lstStyle/>
                    <a:p>
                      <a:endParaRPr lang="en-US"/>
                    </a:p>
                  </a:txBody>
                  <a:tcPr/>
                </a:tc>
                <a:extLst>
                  <a:ext uri="{0D108BD9-81ED-4DB2-BD59-A6C34878D82A}">
                    <a16:rowId xmlns:a16="http://schemas.microsoft.com/office/drawing/2014/main" val="3184285421"/>
                  </a:ext>
                </a:extLst>
              </a:tr>
              <a:tr h="276663">
                <a:tc>
                  <a:txBody>
                    <a:bodyPr/>
                    <a:lstStyle/>
                    <a:p>
                      <a:endParaRPr lang="en-US"/>
                    </a:p>
                  </a:txBody>
                  <a:tcPr/>
                </a:tc>
                <a:tc>
                  <a:txBody>
                    <a:bodyPr/>
                    <a:lstStyle/>
                    <a:p>
                      <a:r>
                        <a:rPr lang="en-US"/>
                        <a:t>Fixed</a:t>
                      </a:r>
                      <a:endParaRPr lang="en-US" dirty="0"/>
                    </a:p>
                  </a:txBody>
                  <a:tcPr/>
                </a:tc>
                <a:tc>
                  <a:txBody>
                    <a:bodyPr/>
                    <a:lstStyle/>
                    <a:p>
                      <a:pPr lvl="0">
                        <a:buNone/>
                      </a:pPr>
                      <a:r>
                        <a:rPr lang="en-US"/>
                        <a:t>2</a:t>
                      </a:r>
                      <a:endParaRPr lang="en-US" dirty="0"/>
                    </a:p>
                  </a:txBody>
                  <a:tcPr/>
                </a:tc>
                <a:tc>
                  <a:txBody>
                    <a:bodyPr/>
                    <a:lstStyle/>
                    <a:p>
                      <a:pPr lvl="0">
                        <a:buNone/>
                      </a:pPr>
                      <a:endParaRPr lang="en-US" dirty="0"/>
                    </a:p>
                  </a:txBody>
                  <a:tcPr/>
                </a:tc>
                <a:tc>
                  <a:txBody>
                    <a:bodyPr/>
                    <a:lstStyle/>
                    <a:p>
                      <a:pPr lvl="0">
                        <a:buNone/>
                      </a:pPr>
                      <a:r>
                        <a:rPr lang="en-US">
                          <a:solidFill>
                            <a:srgbClr val="FF0000"/>
                          </a:solidFill>
                        </a:rPr>
                        <a:t>2</a:t>
                      </a:r>
                      <a:r>
                        <a:rPr lang="en-US"/>
                        <a:t> + 1</a:t>
                      </a:r>
                      <a:endParaRPr lang="en-US" dirty="0"/>
                    </a:p>
                  </a:txBody>
                  <a:tcPr/>
                </a:tc>
                <a:tc>
                  <a:txBody>
                    <a:bodyPr/>
                    <a:lstStyle/>
                    <a:p>
                      <a:endParaRPr lang="en-US"/>
                    </a:p>
                  </a:txBody>
                  <a:tcPr/>
                </a:tc>
                <a:extLst>
                  <a:ext uri="{0D108BD9-81ED-4DB2-BD59-A6C34878D82A}">
                    <a16:rowId xmlns:a16="http://schemas.microsoft.com/office/drawing/2014/main" val="277430448"/>
                  </a:ext>
                </a:extLst>
              </a:tr>
              <a:tr h="276663">
                <a:tc>
                  <a:txBody>
                    <a:bodyPr/>
                    <a:lstStyle/>
                    <a:p>
                      <a:pPr lvl="0" algn="l">
                        <a:lnSpc>
                          <a:spcPct val="100000"/>
                        </a:lnSpc>
                        <a:spcBef>
                          <a:spcPts val="0"/>
                        </a:spcBef>
                        <a:spcAft>
                          <a:spcPts val="0"/>
                        </a:spcAft>
                        <a:buNone/>
                      </a:pPr>
                      <a:r>
                        <a:rPr lang="en-US" sz="1800" b="0" i="0" u="none" strike="noStrike" noProof="0">
                          <a:solidFill>
                            <a:srgbClr val="000000"/>
                          </a:solidFill>
                          <a:latin typeface="Aptos"/>
                        </a:rPr>
                        <a:t>Start Date</a:t>
                      </a:r>
                    </a:p>
                  </a:txBody>
                  <a:tcPr/>
                </a:tc>
                <a:tc>
                  <a:txBody>
                    <a:bodyPr/>
                    <a:lstStyle/>
                    <a:p>
                      <a:r>
                        <a:rPr lang="en-US"/>
                        <a:t>Var*Qtd</a:t>
                      </a:r>
                    </a:p>
                  </a:txBody>
                  <a:tcPr/>
                </a:tc>
                <a:tc>
                  <a:txBody>
                    <a:bodyPr/>
                    <a:lstStyle/>
                    <a:p>
                      <a:pPr lvl="0">
                        <a:buNone/>
                      </a:pPr>
                      <a:r>
                        <a:rPr lang="en-US" sz="1800" b="0" i="0" u="none" strike="noStrike" noProof="0">
                          <a:solidFill>
                            <a:srgbClr val="000000"/>
                          </a:solidFill>
                          <a:latin typeface="Aptos"/>
                        </a:rPr>
                        <a:t>0.2*10 = </a:t>
                      </a:r>
                      <a:r>
                        <a:rPr lang="en-US" dirty="0"/>
                        <a:t>2</a:t>
                      </a:r>
                    </a:p>
                  </a:txBody>
                  <a:tcPr/>
                </a:tc>
                <a:tc>
                  <a:txBody>
                    <a:bodyPr/>
                    <a:lstStyle/>
                    <a:p>
                      <a:pPr lvl="0" algn="l">
                        <a:lnSpc>
                          <a:spcPct val="100000"/>
                        </a:lnSpc>
                        <a:spcBef>
                          <a:spcPts val="0"/>
                        </a:spcBef>
                        <a:spcAft>
                          <a:spcPts val="0"/>
                        </a:spcAft>
                        <a:buNone/>
                      </a:pPr>
                      <a:r>
                        <a:rPr lang="en-US" sz="1800" b="0" i="0" u="none" strike="noStrike" noProof="0">
                          <a:solidFill>
                            <a:srgbClr val="000000"/>
                          </a:solidFill>
                          <a:latin typeface="Aptos"/>
                        </a:rPr>
                        <a:t>10/08/2026</a:t>
                      </a:r>
                    </a:p>
                  </a:txBody>
                  <a:tcPr/>
                </a:tc>
                <a:tc>
                  <a:txBody>
                    <a:bodyPr/>
                    <a:lstStyle/>
                    <a:p>
                      <a:pPr lvl="0">
                        <a:buNone/>
                      </a:pPr>
                      <a:r>
                        <a:rPr lang="en-US">
                          <a:solidFill>
                            <a:srgbClr val="FF0000"/>
                          </a:solidFill>
                        </a:rPr>
                        <a:t>2</a:t>
                      </a:r>
                      <a:r>
                        <a:rPr lang="en-US"/>
                        <a:t> + 0</a:t>
                      </a:r>
                      <a:endParaRPr lang="en-US" dirty="0"/>
                    </a:p>
                  </a:txBody>
                  <a:tcPr/>
                </a:tc>
                <a:tc>
                  <a:txBody>
                    <a:bodyPr/>
                    <a:lstStyle/>
                    <a:p>
                      <a:pPr lvl="0" algn="l">
                        <a:lnSpc>
                          <a:spcPct val="100000"/>
                        </a:lnSpc>
                        <a:spcBef>
                          <a:spcPts val="0"/>
                        </a:spcBef>
                        <a:spcAft>
                          <a:spcPts val="0"/>
                        </a:spcAft>
                        <a:buNone/>
                      </a:pPr>
                      <a:r>
                        <a:rPr lang="en-US" sz="1800" b="0" i="0" u="none" strike="noStrike" noProof="0">
                          <a:solidFill>
                            <a:srgbClr val="000000"/>
                          </a:solidFill>
                          <a:latin typeface="Aptos"/>
                        </a:rPr>
                        <a:t>10/07/2026</a:t>
                      </a:r>
                    </a:p>
                  </a:txBody>
                  <a:tcPr/>
                </a:tc>
                <a:extLst>
                  <a:ext uri="{0D108BD9-81ED-4DB2-BD59-A6C34878D82A}">
                    <a16:rowId xmlns:a16="http://schemas.microsoft.com/office/drawing/2014/main" val="2133575364"/>
                  </a:ext>
                </a:extLst>
              </a:tr>
            </a:tbl>
          </a:graphicData>
        </a:graphic>
      </p:graphicFrame>
    </p:spTree>
    <p:extLst>
      <p:ext uri="{BB962C8B-B14F-4D97-AF65-F5344CB8AC3E}">
        <p14:creationId xmlns:p14="http://schemas.microsoft.com/office/powerpoint/2010/main" val="47953369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8" descr="Shape, rectangle&#10;&#10;Description automatically generated"/>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p:cNvPicPr>
            <a:picLocks noChangeAspect="1"/>
          </p:cNvPicPr>
          <p:nvPr/>
        </p:nvPicPr>
        <p:blipFill>
          <a:blip r:embed="rId3"/>
          <a:stretch>
            <a:fillRect/>
          </a:stretch>
        </p:blipFill>
        <p:spPr>
          <a:xfrm>
            <a:off x="9181381" y="65406"/>
            <a:ext cx="2743200" cy="717452"/>
          </a:xfrm>
          <a:prstGeom prst="rect">
            <a:avLst/>
          </a:prstGeom>
        </p:spPr>
      </p:pic>
      <p:pic>
        <p:nvPicPr>
          <p:cNvPr id="2" name="Picture 1" descr="A screenshot of a computer&#10;&#10;AI-generated content may be incorrect.">
            <a:extLst>
              <a:ext uri="{FF2B5EF4-FFF2-40B4-BE49-F238E27FC236}">
                <a16:creationId xmlns:a16="http://schemas.microsoft.com/office/drawing/2014/main" id="{69A2F7E2-61E5-54ED-9CED-59EC8A9BB1A2}"/>
              </a:ext>
            </a:extLst>
          </p:cNvPr>
          <p:cNvPicPr>
            <a:picLocks noChangeAspect="1"/>
          </p:cNvPicPr>
          <p:nvPr/>
        </p:nvPicPr>
        <p:blipFill>
          <a:blip r:embed="rId4"/>
          <a:stretch>
            <a:fillRect/>
          </a:stretch>
        </p:blipFill>
        <p:spPr>
          <a:xfrm>
            <a:off x="373811" y="1050693"/>
            <a:ext cx="11300605" cy="515917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3A5BCE-DFA0-F917-3412-16790539715C}"/>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6C3B7B6B-C444-3E5E-0675-BD8C9F48AA35}"/>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9DAD9CB2-0851-E9BA-55CB-83574C2DF832}"/>
              </a:ext>
            </a:extLst>
          </p:cNvPr>
          <p:cNvPicPr>
            <a:picLocks noChangeAspect="1"/>
          </p:cNvPicPr>
          <p:nvPr/>
        </p:nvPicPr>
        <p:blipFill>
          <a:blip r:embed="rId3"/>
          <a:stretch>
            <a:fillRect/>
          </a:stretch>
        </p:blipFill>
        <p:spPr>
          <a:xfrm>
            <a:off x="9181381" y="65406"/>
            <a:ext cx="2743200" cy="717452"/>
          </a:xfrm>
          <a:prstGeom prst="rect">
            <a:avLst/>
          </a:prstGeom>
        </p:spPr>
      </p:pic>
      <p:sp>
        <p:nvSpPr>
          <p:cNvPr id="2" name="TextBox 1">
            <a:extLst>
              <a:ext uri="{FF2B5EF4-FFF2-40B4-BE49-F238E27FC236}">
                <a16:creationId xmlns:a16="http://schemas.microsoft.com/office/drawing/2014/main" id="{9DBDFB95-E757-3818-138D-F4531DD38248}"/>
              </a:ext>
            </a:extLst>
          </p:cNvPr>
          <p:cNvSpPr txBox="1"/>
          <p:nvPr/>
        </p:nvSpPr>
        <p:spPr>
          <a:xfrm>
            <a:off x="668835" y="2184783"/>
            <a:ext cx="7299960"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9600"/>
              <a:t>Rounding</a:t>
            </a:r>
          </a:p>
        </p:txBody>
      </p:sp>
    </p:spTree>
    <p:extLst>
      <p:ext uri="{BB962C8B-B14F-4D97-AF65-F5344CB8AC3E}">
        <p14:creationId xmlns:p14="http://schemas.microsoft.com/office/powerpoint/2010/main" val="206271688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8" descr="Shape, rectangle&#10;&#10;Description automatically generated"/>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p:cNvPicPr>
            <a:picLocks noChangeAspect="1"/>
          </p:cNvPicPr>
          <p:nvPr/>
        </p:nvPicPr>
        <p:blipFill>
          <a:blip r:embed="rId3"/>
          <a:stretch>
            <a:fillRect/>
          </a:stretch>
        </p:blipFill>
        <p:spPr>
          <a:xfrm>
            <a:off x="9181381" y="65406"/>
            <a:ext cx="2743200" cy="717452"/>
          </a:xfrm>
          <a:prstGeom prst="rect">
            <a:avLst/>
          </a:prstGeom>
        </p:spPr>
      </p:pic>
      <p:sp>
        <p:nvSpPr>
          <p:cNvPr id="2" name="TextBox 1">
            <a:extLst>
              <a:ext uri="{FF2B5EF4-FFF2-40B4-BE49-F238E27FC236}">
                <a16:creationId xmlns:a16="http://schemas.microsoft.com/office/drawing/2014/main" id="{D946E5F8-2AD0-3626-F476-E2F3B9CFB0CC}"/>
              </a:ext>
            </a:extLst>
          </p:cNvPr>
          <p:cNvSpPr txBox="1"/>
          <p:nvPr/>
        </p:nvSpPr>
        <p:spPr>
          <a:xfrm>
            <a:off x="630878" y="1080890"/>
            <a:ext cx="10936184" cy="467820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t>Lead Time Rounding:</a:t>
            </a:r>
          </a:p>
          <a:p>
            <a:endParaRPr lang="en-US" dirty="0"/>
          </a:p>
          <a:p>
            <a:r>
              <a:rPr lang="en-US"/>
              <a:t>When a lead time value contains a fractional portion, the effective number of intervals to use in</a:t>
            </a:r>
          </a:p>
          <a:p>
            <a:r>
              <a:rPr lang="en-US"/>
              <a:t>lead time calculations is determined by rounding as follows:</a:t>
            </a:r>
          </a:p>
          <a:p>
            <a:endParaRPr lang="en-US" dirty="0"/>
          </a:p>
          <a:p>
            <a:pPr marL="285750" indent="-285750">
              <a:buFont typeface="Arial"/>
              <a:buChar char="•"/>
            </a:pPr>
            <a:r>
              <a:rPr lang="en-US"/>
              <a:t>If the fractional portion is less than .001, the fractional portion is ignored.</a:t>
            </a:r>
          </a:p>
          <a:p>
            <a:pPr marL="285750" indent="-285750">
              <a:buFont typeface="Arial"/>
              <a:buChar char="•"/>
            </a:pPr>
            <a:r>
              <a:rPr lang="en-US"/>
              <a:t>Otherwise, if the fractional portion is greater than .001, round up to the next integer.</a:t>
            </a:r>
          </a:p>
          <a:p>
            <a:endParaRPr lang="en-US" dirty="0"/>
          </a:p>
          <a:p>
            <a:endParaRPr lang="en-US" dirty="0"/>
          </a:p>
          <a:p>
            <a:r>
              <a:rPr lang="en-US"/>
              <a:t>Assuming an order for 2001 units, the number of days lead time required to build the order is calculated as:</a:t>
            </a:r>
          </a:p>
          <a:p>
            <a:endParaRPr lang="en-US" dirty="0"/>
          </a:p>
          <a:p>
            <a:pPr marL="285750" indent="-285750">
              <a:buFont typeface="Arial"/>
              <a:buChar char="•"/>
            </a:pPr>
            <a:r>
              <a:rPr lang="en-US" dirty="0"/>
              <a:t>(</a:t>
            </a:r>
            <a:r>
              <a:rPr lang="en-US" dirty="0" err="1"/>
              <a:t>FixedLeadTime</a:t>
            </a:r>
            <a:r>
              <a:rPr lang="en-US" dirty="0"/>
              <a:t> + (quantity * VarLeadTime)) </a:t>
            </a:r>
          </a:p>
          <a:p>
            <a:pPr marL="285750" indent="-285750">
              <a:buFont typeface="Arial"/>
              <a:buChar char="•"/>
            </a:pPr>
            <a:r>
              <a:rPr lang="en-US" dirty="0"/>
              <a:t>(10 + (2001 * .0005)) </a:t>
            </a:r>
          </a:p>
          <a:p>
            <a:pPr marL="285750" indent="-285750">
              <a:buFont typeface="Arial"/>
              <a:buChar char="•"/>
            </a:pPr>
            <a:r>
              <a:rPr lang="en-US" dirty="0"/>
              <a:t>(10 + 1.0005) </a:t>
            </a:r>
          </a:p>
          <a:p>
            <a:pPr marL="285750" indent="-285750">
              <a:buFont typeface="Arial"/>
              <a:buChar char="•"/>
            </a:pPr>
            <a:r>
              <a:rPr lang="en-US"/>
              <a:t>11.0005 which by rule is </a:t>
            </a:r>
            <a:r>
              <a:rPr lang="en-US" dirty="0"/>
              <a:t>rounded down to 11.</a:t>
            </a:r>
          </a:p>
          <a:p>
            <a:pPr algn="ctr"/>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A7B88D-0D10-A4E7-C10E-47A125123261}"/>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93F87A0D-BECB-A1C7-BC3D-CF4D333D2CD7}"/>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8E31AE46-CFFB-17EB-9DDD-6762187F80F1}"/>
              </a:ext>
            </a:extLst>
          </p:cNvPr>
          <p:cNvPicPr>
            <a:picLocks noChangeAspect="1"/>
          </p:cNvPicPr>
          <p:nvPr/>
        </p:nvPicPr>
        <p:blipFill>
          <a:blip r:embed="rId3"/>
          <a:stretch>
            <a:fillRect/>
          </a:stretch>
        </p:blipFill>
        <p:spPr>
          <a:xfrm>
            <a:off x="9181381" y="65406"/>
            <a:ext cx="2743200" cy="717452"/>
          </a:xfrm>
          <a:prstGeom prst="rect">
            <a:avLst/>
          </a:prstGeom>
        </p:spPr>
      </p:pic>
      <p:pic>
        <p:nvPicPr>
          <p:cNvPr id="2" name="Picture 1" descr="A screenshot of a computer&#10;&#10;AI-generated content may be incorrect.">
            <a:extLst>
              <a:ext uri="{FF2B5EF4-FFF2-40B4-BE49-F238E27FC236}">
                <a16:creationId xmlns:a16="http://schemas.microsoft.com/office/drawing/2014/main" id="{563AF852-C878-A174-7839-240EA7E24E95}"/>
              </a:ext>
            </a:extLst>
          </p:cNvPr>
          <p:cNvPicPr>
            <a:picLocks noChangeAspect="1"/>
          </p:cNvPicPr>
          <p:nvPr/>
        </p:nvPicPr>
        <p:blipFill>
          <a:blip r:embed="rId4"/>
          <a:stretch>
            <a:fillRect/>
          </a:stretch>
        </p:blipFill>
        <p:spPr>
          <a:xfrm>
            <a:off x="345057" y="1450254"/>
            <a:ext cx="11487510" cy="395749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79687372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D152AF-0ECB-7684-E096-C485EC817003}"/>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C15CB870-BF66-A9BF-B571-A0CF91923BA5}"/>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DBF8C0F5-5734-420C-6E21-7CBB24E6EB64}"/>
              </a:ext>
            </a:extLst>
          </p:cNvPr>
          <p:cNvPicPr>
            <a:picLocks noChangeAspect="1"/>
          </p:cNvPicPr>
          <p:nvPr/>
        </p:nvPicPr>
        <p:blipFill>
          <a:blip r:embed="rId3"/>
          <a:stretch>
            <a:fillRect/>
          </a:stretch>
        </p:blipFill>
        <p:spPr>
          <a:xfrm>
            <a:off x="9181381" y="65406"/>
            <a:ext cx="2743200" cy="717452"/>
          </a:xfrm>
          <a:prstGeom prst="rect">
            <a:avLst/>
          </a:prstGeom>
        </p:spPr>
      </p:pic>
      <p:pic>
        <p:nvPicPr>
          <p:cNvPr id="2" name="Picture 1" descr="A screenshot of a computer&#10;&#10;AI-generated content may be incorrect.">
            <a:extLst>
              <a:ext uri="{FF2B5EF4-FFF2-40B4-BE49-F238E27FC236}">
                <a16:creationId xmlns:a16="http://schemas.microsoft.com/office/drawing/2014/main" id="{67F7C0FA-9452-B11B-EF91-B2FB391CA2D2}"/>
              </a:ext>
            </a:extLst>
          </p:cNvPr>
          <p:cNvPicPr>
            <a:picLocks noChangeAspect="1"/>
          </p:cNvPicPr>
          <p:nvPr/>
        </p:nvPicPr>
        <p:blipFill>
          <a:blip r:embed="rId4"/>
          <a:stretch>
            <a:fillRect/>
          </a:stretch>
        </p:blipFill>
        <p:spPr>
          <a:xfrm>
            <a:off x="287547" y="1987828"/>
            <a:ext cx="11631284" cy="393189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3" name="TextBox 2">
            <a:extLst>
              <a:ext uri="{FF2B5EF4-FFF2-40B4-BE49-F238E27FC236}">
                <a16:creationId xmlns:a16="http://schemas.microsoft.com/office/drawing/2014/main" id="{C79E4223-29B8-8A4A-0441-BBFB3AC5CEA1}"/>
              </a:ext>
            </a:extLst>
          </p:cNvPr>
          <p:cNvSpPr txBox="1"/>
          <p:nvPr/>
        </p:nvSpPr>
        <p:spPr>
          <a:xfrm>
            <a:off x="287547" y="237226"/>
            <a:ext cx="6096000"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lvl="0" indent="-285750" algn="l" rtl="0">
              <a:buFont typeface="Arial,Sans-Serif"/>
              <a:buChar char="•"/>
            </a:pPr>
            <a:r>
              <a:rPr lang="en-US" sz="1800" b="0" i="0" u="none" strike="noStrike" baseline="0" dirty="0">
                <a:solidFill>
                  <a:srgbClr val="000000"/>
                </a:solidFill>
                <a:latin typeface="Aptos"/>
                <a:ea typeface="Arial"/>
                <a:cs typeface="Arial"/>
              </a:rPr>
              <a:t>(</a:t>
            </a:r>
            <a:r>
              <a:rPr lang="en-US" sz="1800" b="0" i="0" u="none" strike="noStrike" baseline="0" dirty="0" err="1">
                <a:solidFill>
                  <a:srgbClr val="000000"/>
                </a:solidFill>
                <a:latin typeface="Aptos"/>
                <a:ea typeface="Arial"/>
                <a:cs typeface="Arial"/>
              </a:rPr>
              <a:t>FixedLeadTime</a:t>
            </a:r>
            <a:r>
              <a:rPr lang="en-US" sz="1800" b="0" i="0" u="none" strike="noStrike" baseline="0" dirty="0">
                <a:solidFill>
                  <a:srgbClr val="000000"/>
                </a:solidFill>
                <a:latin typeface="Aptos"/>
                <a:ea typeface="Arial"/>
                <a:cs typeface="Arial"/>
              </a:rPr>
              <a:t> + (quantity * VarLeadTime)) </a:t>
            </a:r>
            <a:r>
              <a:rPr lang="en-US" sz="1800" b="0" i="0" dirty="0">
                <a:solidFill>
                  <a:srgbClr val="000000"/>
                </a:solidFill>
                <a:latin typeface="Aptos"/>
                <a:ea typeface="Arial"/>
                <a:cs typeface="Arial"/>
              </a:rPr>
              <a:t>​</a:t>
            </a:r>
          </a:p>
          <a:p>
            <a:pPr marL="285750" lvl="0" indent="-285750" algn="l" rtl="0">
              <a:buFont typeface="Arial,Sans-Serif"/>
              <a:buChar char="•"/>
            </a:pPr>
            <a:r>
              <a:rPr lang="en-US" sz="1800" b="0" i="0" u="none" strike="noStrike" baseline="0">
                <a:solidFill>
                  <a:srgbClr val="000000"/>
                </a:solidFill>
                <a:latin typeface="Aptos"/>
                <a:ea typeface="Arial"/>
                <a:cs typeface="Arial"/>
              </a:rPr>
              <a:t>(10 + (</a:t>
            </a:r>
            <a:r>
              <a:rPr lang="en-US">
                <a:solidFill>
                  <a:srgbClr val="000000"/>
                </a:solidFill>
                <a:latin typeface="Aptos"/>
                <a:ea typeface="Arial"/>
                <a:cs typeface="Arial"/>
              </a:rPr>
              <a:t>2002</a:t>
            </a:r>
            <a:r>
              <a:rPr lang="en-US" sz="1800" b="0" i="0" u="none" strike="noStrike" baseline="0">
                <a:solidFill>
                  <a:srgbClr val="000000"/>
                </a:solidFill>
                <a:latin typeface="Aptos"/>
                <a:ea typeface="Arial"/>
                <a:cs typeface="Arial"/>
              </a:rPr>
              <a:t> * .0005)) </a:t>
            </a:r>
            <a:r>
              <a:rPr lang="en-US" sz="1800" b="0" i="0">
                <a:solidFill>
                  <a:srgbClr val="000000"/>
                </a:solidFill>
                <a:latin typeface="Aptos"/>
                <a:ea typeface="Arial"/>
                <a:cs typeface="Arial"/>
              </a:rPr>
              <a:t>​</a:t>
            </a:r>
          </a:p>
          <a:p>
            <a:pPr marL="285750" lvl="0" indent="-285750" algn="l" rtl="0">
              <a:buFont typeface="Arial,Sans-Serif"/>
              <a:buChar char="•"/>
            </a:pPr>
            <a:r>
              <a:rPr lang="en-US" sz="1800" b="0" i="0" u="none" strike="noStrike" baseline="0">
                <a:solidFill>
                  <a:srgbClr val="000000"/>
                </a:solidFill>
                <a:latin typeface="Aptos"/>
                <a:ea typeface="Arial"/>
                <a:cs typeface="Arial"/>
              </a:rPr>
              <a:t>(10 + </a:t>
            </a:r>
            <a:r>
              <a:rPr lang="en-US">
                <a:solidFill>
                  <a:srgbClr val="000000"/>
                </a:solidFill>
                <a:latin typeface="Aptos"/>
                <a:ea typeface="Arial"/>
                <a:cs typeface="Arial"/>
              </a:rPr>
              <a:t>1.001</a:t>
            </a:r>
            <a:r>
              <a:rPr lang="en-US" sz="1800" b="0" i="0" u="none" strike="noStrike" baseline="0">
                <a:solidFill>
                  <a:srgbClr val="000000"/>
                </a:solidFill>
                <a:latin typeface="Aptos"/>
                <a:ea typeface="Arial"/>
                <a:cs typeface="Arial"/>
              </a:rPr>
              <a:t>) </a:t>
            </a:r>
            <a:r>
              <a:rPr lang="en-US" sz="1800" b="0" i="0">
                <a:solidFill>
                  <a:srgbClr val="000000"/>
                </a:solidFill>
                <a:latin typeface="Aptos"/>
                <a:ea typeface="Arial"/>
                <a:cs typeface="Arial"/>
              </a:rPr>
              <a:t>​</a:t>
            </a:r>
          </a:p>
          <a:p>
            <a:pPr marL="285750" lvl="0" indent="-285750" algn="l" rtl="0">
              <a:buFont typeface="Arial,Sans-Serif"/>
              <a:buChar char="•"/>
            </a:pPr>
            <a:r>
              <a:rPr lang="en-US">
                <a:solidFill>
                  <a:srgbClr val="000000"/>
                </a:solidFill>
                <a:latin typeface="Aptos"/>
                <a:ea typeface="Arial"/>
                <a:cs typeface="Arial"/>
              </a:rPr>
              <a:t>11.001</a:t>
            </a:r>
            <a:r>
              <a:rPr lang="en-US" sz="1800" b="0" i="0" u="none" strike="noStrike" baseline="0">
                <a:solidFill>
                  <a:srgbClr val="000000"/>
                </a:solidFill>
                <a:latin typeface="Aptos"/>
                <a:ea typeface="Arial"/>
                <a:cs typeface="Arial"/>
              </a:rPr>
              <a:t> which by rule is rounded down to </a:t>
            </a:r>
            <a:r>
              <a:rPr lang="en-US">
                <a:solidFill>
                  <a:srgbClr val="000000"/>
                </a:solidFill>
                <a:latin typeface="Aptos"/>
                <a:ea typeface="Arial"/>
                <a:cs typeface="Arial"/>
              </a:rPr>
              <a:t>12</a:t>
            </a:r>
            <a:r>
              <a:rPr lang="en-US" sz="1800" b="0" i="0" u="none" strike="noStrike" baseline="0">
                <a:solidFill>
                  <a:srgbClr val="000000"/>
                </a:solidFill>
                <a:latin typeface="Aptos"/>
                <a:ea typeface="Arial"/>
                <a:cs typeface="Arial"/>
              </a:rPr>
              <a:t>.</a:t>
            </a:r>
            <a:r>
              <a:rPr lang="en-US" sz="1800" b="0" i="0">
                <a:solidFill>
                  <a:srgbClr val="000000"/>
                </a:solidFill>
                <a:latin typeface="Aptos"/>
                <a:ea typeface="Arial"/>
                <a:cs typeface="Arial"/>
              </a:rPr>
              <a:t>​</a:t>
            </a:r>
          </a:p>
          <a:p>
            <a:pPr algn="ctr"/>
            <a:endParaRPr lang="en-US"/>
          </a:p>
        </p:txBody>
      </p:sp>
    </p:spTree>
    <p:extLst>
      <p:ext uri="{BB962C8B-B14F-4D97-AF65-F5344CB8AC3E}">
        <p14:creationId xmlns:p14="http://schemas.microsoft.com/office/powerpoint/2010/main" val="41331780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66A530-723A-518D-3C5D-3245553A2636}"/>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3BDD8CE3-8C28-FEED-D2F7-5883CF06E1C2}"/>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AE42FE65-16B0-1EB5-D87A-98F779FF106D}"/>
              </a:ext>
            </a:extLst>
          </p:cNvPr>
          <p:cNvPicPr>
            <a:picLocks noChangeAspect="1"/>
          </p:cNvPicPr>
          <p:nvPr/>
        </p:nvPicPr>
        <p:blipFill>
          <a:blip r:embed="rId3"/>
          <a:stretch>
            <a:fillRect/>
          </a:stretch>
        </p:blipFill>
        <p:spPr>
          <a:xfrm>
            <a:off x="9181381" y="65406"/>
            <a:ext cx="2743200" cy="717452"/>
          </a:xfrm>
          <a:prstGeom prst="rect">
            <a:avLst/>
          </a:prstGeom>
        </p:spPr>
      </p:pic>
      <p:sp>
        <p:nvSpPr>
          <p:cNvPr id="2" name="TextBox 1">
            <a:extLst>
              <a:ext uri="{FF2B5EF4-FFF2-40B4-BE49-F238E27FC236}">
                <a16:creationId xmlns:a16="http://schemas.microsoft.com/office/drawing/2014/main" id="{86A72986-A292-2704-1B72-FED4663816D8}"/>
              </a:ext>
            </a:extLst>
          </p:cNvPr>
          <p:cNvSpPr txBox="1"/>
          <p:nvPr/>
        </p:nvSpPr>
        <p:spPr>
          <a:xfrm>
            <a:off x="503208" y="639792"/>
            <a:ext cx="11013056" cy="13542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t>Lead time overrides from scheduled receipts</a:t>
            </a:r>
          </a:p>
          <a:p>
            <a:pPr algn="ctr"/>
            <a:endParaRPr lang="en-US"/>
          </a:p>
          <a:p>
            <a:r>
              <a:rPr lang="en-US" dirty="0"/>
              <a:t>If necessary, various values stored on the Source and </a:t>
            </a:r>
            <a:r>
              <a:rPr lang="en-US" dirty="0" err="1"/>
              <a:t>PartSource</a:t>
            </a:r>
            <a:r>
              <a:rPr lang="en-US" dirty="0"/>
              <a:t> table used in lead time calculations can be overridden with values stored on a ScheduledReceipt record.</a:t>
            </a:r>
          </a:p>
        </p:txBody>
      </p:sp>
      <p:pic>
        <p:nvPicPr>
          <p:cNvPr id="3" name="Picture 2" descr="A screenshot of a computer&#10;&#10;AI-generated content may be incorrect.">
            <a:extLst>
              <a:ext uri="{FF2B5EF4-FFF2-40B4-BE49-F238E27FC236}">
                <a16:creationId xmlns:a16="http://schemas.microsoft.com/office/drawing/2014/main" id="{04D9B098-CB15-617A-D068-B748AC56D1ED}"/>
              </a:ext>
            </a:extLst>
          </p:cNvPr>
          <p:cNvPicPr>
            <a:picLocks noChangeAspect="1"/>
          </p:cNvPicPr>
          <p:nvPr/>
        </p:nvPicPr>
        <p:blipFill>
          <a:blip r:embed="rId4"/>
          <a:stretch>
            <a:fillRect/>
          </a:stretch>
        </p:blipFill>
        <p:spPr>
          <a:xfrm>
            <a:off x="504555" y="2417733"/>
            <a:ext cx="8048625" cy="302895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94036410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09D721-2D2E-29C2-1B4E-2F38612A201E}"/>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AE54E882-665F-AAE0-E6D3-CB51824016FC}"/>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B5EE3EC2-59CA-F562-38EB-88F8461AC1E6}"/>
              </a:ext>
            </a:extLst>
          </p:cNvPr>
          <p:cNvPicPr>
            <a:picLocks noChangeAspect="1"/>
          </p:cNvPicPr>
          <p:nvPr/>
        </p:nvPicPr>
        <p:blipFill>
          <a:blip r:embed="rId3"/>
          <a:stretch>
            <a:fillRect/>
          </a:stretch>
        </p:blipFill>
        <p:spPr>
          <a:xfrm>
            <a:off x="9181381" y="65406"/>
            <a:ext cx="2743200" cy="717452"/>
          </a:xfrm>
          <a:prstGeom prst="rect">
            <a:avLst/>
          </a:prstGeom>
        </p:spPr>
      </p:pic>
      <p:pic>
        <p:nvPicPr>
          <p:cNvPr id="2" name="Picture 1" descr="A screenshot of a list of items&#10;&#10;AI-generated content may be incorrect.">
            <a:extLst>
              <a:ext uri="{FF2B5EF4-FFF2-40B4-BE49-F238E27FC236}">
                <a16:creationId xmlns:a16="http://schemas.microsoft.com/office/drawing/2014/main" id="{059CC94A-F68E-615A-F184-988F8947EC7A}"/>
              </a:ext>
            </a:extLst>
          </p:cNvPr>
          <p:cNvPicPr>
            <a:picLocks noChangeAspect="1"/>
          </p:cNvPicPr>
          <p:nvPr/>
        </p:nvPicPr>
        <p:blipFill>
          <a:blip r:embed="rId4"/>
          <a:stretch>
            <a:fillRect/>
          </a:stretch>
        </p:blipFill>
        <p:spPr>
          <a:xfrm>
            <a:off x="500603" y="3275253"/>
            <a:ext cx="5267325" cy="292417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6" name="TextBox 5">
            <a:extLst>
              <a:ext uri="{FF2B5EF4-FFF2-40B4-BE49-F238E27FC236}">
                <a16:creationId xmlns:a16="http://schemas.microsoft.com/office/drawing/2014/main" id="{7622667B-8966-4A98-72AA-8192EE8612D2}"/>
              </a:ext>
            </a:extLst>
          </p:cNvPr>
          <p:cNvSpPr txBox="1"/>
          <p:nvPr/>
        </p:nvSpPr>
        <p:spPr>
          <a:xfrm>
            <a:off x="503208" y="625414"/>
            <a:ext cx="8913961" cy="21852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t>Lead time overrides from scheduled receipts</a:t>
            </a:r>
          </a:p>
          <a:p>
            <a:pPr algn="ctr"/>
            <a:endParaRPr lang="en-US"/>
          </a:p>
          <a:p>
            <a:r>
              <a:rPr lang="en-US" dirty="0"/>
              <a:t>To use Scheduled Receipt Fields, create a copy of planning sheet and in the private workbook, inside the Supply Order worksheet. </a:t>
            </a:r>
          </a:p>
          <a:p>
            <a:endParaRPr lang="en-US" dirty="0"/>
          </a:p>
          <a:p>
            <a:r>
              <a:rPr lang="en-US" dirty="0"/>
              <a:t>Add additional columns from the table 14.12. Inside a private scenario we can add </a:t>
            </a:r>
            <a:r>
              <a:rPr lang="en-US"/>
              <a:t>values </a:t>
            </a:r>
            <a:r>
              <a:rPr lang="en-US" dirty="0"/>
              <a:t>to the Scheduled Receipt Fields and see how calculations works.</a:t>
            </a:r>
          </a:p>
        </p:txBody>
      </p:sp>
    </p:spTree>
    <p:extLst>
      <p:ext uri="{BB962C8B-B14F-4D97-AF65-F5344CB8AC3E}">
        <p14:creationId xmlns:p14="http://schemas.microsoft.com/office/powerpoint/2010/main" val="142494661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1DBEEA-D8A6-CFC3-FB65-3EE61366B38E}"/>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4B591F7C-D1EE-85A6-DFFF-150D5A8DD0DE}"/>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2D65067C-5CE4-EB13-37E9-301B399FD7DE}"/>
              </a:ext>
            </a:extLst>
          </p:cNvPr>
          <p:cNvPicPr>
            <a:picLocks noChangeAspect="1"/>
          </p:cNvPicPr>
          <p:nvPr/>
        </p:nvPicPr>
        <p:blipFill>
          <a:blip r:embed="rId3"/>
          <a:stretch>
            <a:fillRect/>
          </a:stretch>
        </p:blipFill>
        <p:spPr>
          <a:xfrm>
            <a:off x="9181381" y="65406"/>
            <a:ext cx="2743200" cy="717452"/>
          </a:xfrm>
          <a:prstGeom prst="rect">
            <a:avLst/>
          </a:prstGeom>
        </p:spPr>
      </p:pic>
      <p:pic>
        <p:nvPicPr>
          <p:cNvPr id="2" name="Picture 1" descr="A screenshot of a computer&#10;&#10;AI-generated content may be incorrect.">
            <a:extLst>
              <a:ext uri="{FF2B5EF4-FFF2-40B4-BE49-F238E27FC236}">
                <a16:creationId xmlns:a16="http://schemas.microsoft.com/office/drawing/2014/main" id="{D6795098-F801-14F7-C2F9-B370B8495580}"/>
              </a:ext>
            </a:extLst>
          </p:cNvPr>
          <p:cNvPicPr>
            <a:picLocks noChangeAspect="1"/>
          </p:cNvPicPr>
          <p:nvPr/>
        </p:nvPicPr>
        <p:blipFill>
          <a:blip r:embed="rId4"/>
          <a:stretch>
            <a:fillRect/>
          </a:stretch>
        </p:blipFill>
        <p:spPr>
          <a:xfrm>
            <a:off x="546340" y="922165"/>
            <a:ext cx="11099321" cy="231072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3" name="Picture 2" descr="A screenshot of a computer&#10;&#10;AI-generated content may be incorrect.">
            <a:extLst>
              <a:ext uri="{FF2B5EF4-FFF2-40B4-BE49-F238E27FC236}">
                <a16:creationId xmlns:a16="http://schemas.microsoft.com/office/drawing/2014/main" id="{5C4C630B-4959-1AFC-014E-20B81C1A537E}"/>
              </a:ext>
            </a:extLst>
          </p:cNvPr>
          <p:cNvPicPr>
            <a:picLocks noChangeAspect="1"/>
          </p:cNvPicPr>
          <p:nvPr/>
        </p:nvPicPr>
        <p:blipFill>
          <a:blip r:embed="rId5"/>
          <a:stretch>
            <a:fillRect/>
          </a:stretch>
        </p:blipFill>
        <p:spPr>
          <a:xfrm>
            <a:off x="547898" y="3997310"/>
            <a:ext cx="11096202" cy="219892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6" name="TextBox 5">
            <a:extLst>
              <a:ext uri="{FF2B5EF4-FFF2-40B4-BE49-F238E27FC236}">
                <a16:creationId xmlns:a16="http://schemas.microsoft.com/office/drawing/2014/main" id="{4B19AF8C-2525-5D47-76E1-7D6AC7944F14}"/>
              </a:ext>
            </a:extLst>
          </p:cNvPr>
          <p:cNvSpPr txBox="1"/>
          <p:nvPr/>
        </p:nvSpPr>
        <p:spPr>
          <a:xfrm>
            <a:off x="546339" y="342900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err="1"/>
              <a:t>SupplyType.LeadTimeRule</a:t>
            </a:r>
            <a:endParaRPr lang="en-US" sz="2000" b="1"/>
          </a:p>
          <a:p>
            <a:pPr algn="ctr"/>
            <a:endParaRPr lang="en-US"/>
          </a:p>
        </p:txBody>
      </p:sp>
      <p:sp>
        <p:nvSpPr>
          <p:cNvPr id="7" name="TextBox 6">
            <a:extLst>
              <a:ext uri="{FF2B5EF4-FFF2-40B4-BE49-F238E27FC236}">
                <a16:creationId xmlns:a16="http://schemas.microsoft.com/office/drawing/2014/main" id="{0EC53015-6396-4E1F-EC1D-3B12B0F20AF3}"/>
              </a:ext>
            </a:extLst>
          </p:cNvPr>
          <p:cNvSpPr txBox="1"/>
          <p:nvPr/>
        </p:nvSpPr>
        <p:spPr>
          <a:xfrm>
            <a:off x="546338" y="237226"/>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err="1"/>
              <a:t>SupplyStatus.LeadTimeOverride</a:t>
            </a:r>
          </a:p>
          <a:p>
            <a:pPr algn="ctr"/>
            <a:endParaRPr lang="en-US"/>
          </a:p>
        </p:txBody>
      </p:sp>
    </p:spTree>
    <p:extLst>
      <p:ext uri="{BB962C8B-B14F-4D97-AF65-F5344CB8AC3E}">
        <p14:creationId xmlns:p14="http://schemas.microsoft.com/office/powerpoint/2010/main" val="211776307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05E6F-0913-CEA0-F3A1-7240CD492311}"/>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E9FAA3DE-BFD9-DF7E-FB1E-3225D9715A6D}"/>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C3A320C0-035D-93E1-A3B4-B32B81B119BA}"/>
              </a:ext>
            </a:extLst>
          </p:cNvPr>
          <p:cNvPicPr>
            <a:picLocks noChangeAspect="1"/>
          </p:cNvPicPr>
          <p:nvPr/>
        </p:nvPicPr>
        <p:blipFill>
          <a:blip r:embed="rId3"/>
          <a:stretch>
            <a:fillRect/>
          </a:stretch>
        </p:blipFill>
        <p:spPr>
          <a:xfrm>
            <a:off x="9181381" y="65406"/>
            <a:ext cx="2743200" cy="717452"/>
          </a:xfrm>
          <a:prstGeom prst="rect">
            <a:avLst/>
          </a:prstGeom>
        </p:spPr>
      </p:pic>
      <p:graphicFrame>
        <p:nvGraphicFramePr>
          <p:cNvPr id="2" name="Table 1">
            <a:extLst>
              <a:ext uri="{FF2B5EF4-FFF2-40B4-BE49-F238E27FC236}">
                <a16:creationId xmlns:a16="http://schemas.microsoft.com/office/drawing/2014/main" id="{03D4E76E-6CF1-5D43-9299-7BED8FB24ABA}"/>
              </a:ext>
            </a:extLst>
          </p:cNvPr>
          <p:cNvGraphicFramePr>
            <a:graphicFrameLocks noGrp="1"/>
          </p:cNvGraphicFramePr>
          <p:nvPr>
            <p:extLst>
              <p:ext uri="{D42A27DB-BD31-4B8C-83A1-F6EECF244321}">
                <p14:modId xmlns:p14="http://schemas.microsoft.com/office/powerpoint/2010/main" val="266526246"/>
              </p:ext>
            </p:extLst>
          </p:nvPr>
        </p:nvGraphicFramePr>
        <p:xfrm>
          <a:off x="287547" y="3076755"/>
          <a:ext cx="11417292" cy="2123437"/>
        </p:xfrm>
        <a:graphic>
          <a:graphicData uri="http://schemas.openxmlformats.org/drawingml/2006/table">
            <a:tbl>
              <a:tblPr firstRow="1" bandRow="1">
                <a:tableStyleId>{5C22544A-7EE6-4342-B048-85BDC9FD1C3A}</a:tableStyleId>
              </a:tblPr>
              <a:tblGrid>
                <a:gridCol w="1902882">
                  <a:extLst>
                    <a:ext uri="{9D8B030D-6E8A-4147-A177-3AD203B41FA5}">
                      <a16:colId xmlns:a16="http://schemas.microsoft.com/office/drawing/2014/main" val="826890805"/>
                    </a:ext>
                  </a:extLst>
                </a:gridCol>
                <a:gridCol w="1902882">
                  <a:extLst>
                    <a:ext uri="{9D8B030D-6E8A-4147-A177-3AD203B41FA5}">
                      <a16:colId xmlns:a16="http://schemas.microsoft.com/office/drawing/2014/main" val="2668874096"/>
                    </a:ext>
                  </a:extLst>
                </a:gridCol>
                <a:gridCol w="1902882">
                  <a:extLst>
                    <a:ext uri="{9D8B030D-6E8A-4147-A177-3AD203B41FA5}">
                      <a16:colId xmlns:a16="http://schemas.microsoft.com/office/drawing/2014/main" val="1770866913"/>
                    </a:ext>
                  </a:extLst>
                </a:gridCol>
                <a:gridCol w="1902882">
                  <a:extLst>
                    <a:ext uri="{9D8B030D-6E8A-4147-A177-3AD203B41FA5}">
                      <a16:colId xmlns:a16="http://schemas.microsoft.com/office/drawing/2014/main" val="2890593018"/>
                    </a:ext>
                  </a:extLst>
                </a:gridCol>
                <a:gridCol w="1902882">
                  <a:extLst>
                    <a:ext uri="{9D8B030D-6E8A-4147-A177-3AD203B41FA5}">
                      <a16:colId xmlns:a16="http://schemas.microsoft.com/office/drawing/2014/main" val="322342306"/>
                    </a:ext>
                  </a:extLst>
                </a:gridCol>
                <a:gridCol w="1902882">
                  <a:extLst>
                    <a:ext uri="{9D8B030D-6E8A-4147-A177-3AD203B41FA5}">
                      <a16:colId xmlns:a16="http://schemas.microsoft.com/office/drawing/2014/main" val="2657107532"/>
                    </a:ext>
                  </a:extLst>
                </a:gridCol>
              </a:tblGrid>
              <a:tr h="370840">
                <a:tc>
                  <a:txBody>
                    <a:bodyPr/>
                    <a:lstStyle/>
                    <a:p>
                      <a:r>
                        <a:rPr lang="en-US"/>
                        <a:t>Demand Date</a:t>
                      </a:r>
                    </a:p>
                  </a:txBody>
                  <a:tcPr/>
                </a:tc>
                <a:tc>
                  <a:txBody>
                    <a:bodyPr/>
                    <a:lstStyle/>
                    <a:p>
                      <a:r>
                        <a:rPr lang="en-US"/>
                        <a:t>Due Date</a:t>
                      </a:r>
                    </a:p>
                  </a:txBody>
                  <a:tcPr/>
                </a:tc>
                <a:tc>
                  <a:txBody>
                    <a:bodyPr/>
                    <a:lstStyle/>
                    <a:p>
                      <a:r>
                        <a:rPr lang="en-US"/>
                        <a:t>Dock Date</a:t>
                      </a:r>
                    </a:p>
                  </a:txBody>
                  <a:tcPr/>
                </a:tc>
                <a:tc>
                  <a:txBody>
                    <a:bodyPr/>
                    <a:lstStyle/>
                    <a:p>
                      <a:r>
                        <a:rPr lang="en-US"/>
                        <a:t>Ship Date</a:t>
                      </a:r>
                    </a:p>
                  </a:txBody>
                  <a:tcPr/>
                </a:tc>
                <a:tc>
                  <a:txBody>
                    <a:bodyPr/>
                    <a:lstStyle/>
                    <a:p>
                      <a:r>
                        <a:rPr lang="en-US"/>
                        <a:t>Build Date</a:t>
                      </a:r>
                    </a:p>
                  </a:txBody>
                  <a:tcPr/>
                </a:tc>
                <a:tc>
                  <a:txBody>
                    <a:bodyPr/>
                    <a:lstStyle/>
                    <a:p>
                      <a:r>
                        <a:rPr lang="en-US"/>
                        <a:t>Start Date</a:t>
                      </a:r>
                    </a:p>
                  </a:txBody>
                  <a:tcPr/>
                </a:tc>
                <a:extLst>
                  <a:ext uri="{0D108BD9-81ED-4DB2-BD59-A6C34878D82A}">
                    <a16:rowId xmlns:a16="http://schemas.microsoft.com/office/drawing/2014/main" val="3434628265"/>
                  </a:ext>
                </a:extLst>
              </a:tr>
              <a:tr h="370840">
                <a:tc>
                  <a:txBody>
                    <a:bodyPr/>
                    <a:lstStyle/>
                    <a:p>
                      <a:r>
                        <a:rPr lang="en-US"/>
                        <a:t>Safety Time (1)</a:t>
                      </a:r>
                    </a:p>
                  </a:txBody>
                  <a:tcPr/>
                </a:tc>
                <a:tc>
                  <a:txBody>
                    <a:bodyPr/>
                    <a:lstStyle/>
                    <a:p>
                      <a:r>
                        <a:rPr lang="en-US"/>
                        <a:t>Dock To Stock (2)</a:t>
                      </a:r>
                    </a:p>
                  </a:txBody>
                  <a:tcPr/>
                </a:tc>
                <a:tc>
                  <a:txBody>
                    <a:bodyPr/>
                    <a:lstStyle/>
                    <a:p>
                      <a:r>
                        <a:rPr lang="en-US"/>
                        <a:t>Transit Time (3)</a:t>
                      </a:r>
                    </a:p>
                  </a:txBody>
                  <a:tcPr/>
                </a:tc>
                <a:tc>
                  <a:txBody>
                    <a:bodyPr/>
                    <a:lstStyle/>
                    <a:p>
                      <a:r>
                        <a:rPr lang="en-US"/>
                        <a:t>Pre-Ship Time (1)</a:t>
                      </a:r>
                      <a:endParaRPr lang="en-US" dirty="0"/>
                    </a:p>
                  </a:txBody>
                  <a:tcPr/>
                </a:tc>
                <a:tc>
                  <a:txBody>
                    <a:bodyPr/>
                    <a:lstStyle/>
                    <a:p>
                      <a:r>
                        <a:rPr lang="en-US"/>
                        <a:t>Lead Time Adjust (1)</a:t>
                      </a:r>
                    </a:p>
                  </a:txBody>
                  <a:tcPr/>
                </a:tc>
                <a:tc>
                  <a:txBody>
                    <a:bodyPr/>
                    <a:lstStyle/>
                    <a:p>
                      <a:endParaRPr lang="en-US"/>
                    </a:p>
                  </a:txBody>
                  <a:tcPr/>
                </a:tc>
                <a:extLst>
                  <a:ext uri="{0D108BD9-81ED-4DB2-BD59-A6C34878D82A}">
                    <a16:rowId xmlns:a16="http://schemas.microsoft.com/office/drawing/2014/main" val="169593582"/>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r>
                        <a:rPr lang="en-US"/>
                        <a:t>Fixed (2)</a:t>
                      </a:r>
                    </a:p>
                  </a:txBody>
                  <a:tcPr/>
                </a:tc>
                <a:tc>
                  <a:txBody>
                    <a:bodyPr/>
                    <a:lstStyle/>
                    <a:p>
                      <a:endParaRPr lang="en-US"/>
                    </a:p>
                  </a:txBody>
                  <a:tcPr/>
                </a:tc>
                <a:extLst>
                  <a:ext uri="{0D108BD9-81ED-4DB2-BD59-A6C34878D82A}">
                    <a16:rowId xmlns:a16="http://schemas.microsoft.com/office/drawing/2014/main" val="3769563568"/>
                  </a:ext>
                </a:extLst>
              </a:tr>
              <a:tr h="370839">
                <a:tc>
                  <a:txBody>
                    <a:bodyPr/>
                    <a:lstStyle/>
                    <a:p>
                      <a:pPr lvl="0">
                        <a:buNone/>
                      </a:pPr>
                      <a:endParaRPr lang="en-US" dirty="0"/>
                    </a:p>
                  </a:txBody>
                  <a:tcPr/>
                </a:tc>
                <a:tc>
                  <a:txBody>
                    <a:bodyPr/>
                    <a:lstStyle/>
                    <a:p>
                      <a:pPr lvl="0">
                        <a:buNone/>
                      </a:pPr>
                      <a:endParaRPr lang="en-US" dirty="0"/>
                    </a:p>
                  </a:txBody>
                  <a:tcPr/>
                </a:tc>
                <a:tc>
                  <a:txBody>
                    <a:bodyPr/>
                    <a:lstStyle/>
                    <a:p>
                      <a:pPr lvl="0">
                        <a:buNone/>
                      </a:pPr>
                      <a:endParaRPr lang="en-US" dirty="0"/>
                    </a:p>
                  </a:txBody>
                  <a:tcPr/>
                </a:tc>
                <a:tc>
                  <a:txBody>
                    <a:bodyPr/>
                    <a:lstStyle/>
                    <a:p>
                      <a:pPr lvl="0">
                        <a:buNone/>
                      </a:pPr>
                      <a:endParaRPr lang="en-US" dirty="0"/>
                    </a:p>
                  </a:txBody>
                  <a:tcPr/>
                </a:tc>
                <a:tc>
                  <a:txBody>
                    <a:bodyPr/>
                    <a:lstStyle/>
                    <a:p>
                      <a:pPr lvl="0">
                        <a:buNone/>
                      </a:pPr>
                      <a:r>
                        <a:rPr lang="en-US"/>
                        <a:t>Variable (1*2)</a:t>
                      </a:r>
                      <a:endParaRPr lang="en-US" dirty="0"/>
                    </a:p>
                  </a:txBody>
                  <a:tcPr/>
                </a:tc>
                <a:tc>
                  <a:txBody>
                    <a:bodyPr/>
                    <a:lstStyle/>
                    <a:p>
                      <a:pPr lvl="0">
                        <a:buNone/>
                      </a:pPr>
                      <a:endParaRPr lang="en-US" dirty="0"/>
                    </a:p>
                  </a:txBody>
                  <a:tcPr/>
                </a:tc>
                <a:extLst>
                  <a:ext uri="{0D108BD9-81ED-4DB2-BD59-A6C34878D82A}">
                    <a16:rowId xmlns:a16="http://schemas.microsoft.com/office/drawing/2014/main" val="496422798"/>
                  </a:ext>
                </a:extLst>
              </a:tr>
              <a:tr h="370838">
                <a:tc>
                  <a:txBody>
                    <a:bodyPr/>
                    <a:lstStyle/>
                    <a:p>
                      <a:pPr lvl="0">
                        <a:buNone/>
                      </a:pPr>
                      <a:endParaRPr lang="en-US" dirty="0"/>
                    </a:p>
                  </a:txBody>
                  <a:tcPr/>
                </a:tc>
                <a:tc>
                  <a:txBody>
                    <a:bodyPr/>
                    <a:lstStyle/>
                    <a:p>
                      <a:pPr lvl="0">
                        <a:buNone/>
                      </a:pPr>
                      <a:r>
                        <a:rPr lang="en-US"/>
                        <a:t>10/13/2026</a:t>
                      </a:r>
                      <a:endParaRPr lang="en-US" dirty="0"/>
                    </a:p>
                  </a:txBody>
                  <a:tcPr/>
                </a:tc>
                <a:tc>
                  <a:txBody>
                    <a:bodyPr/>
                    <a:lstStyle/>
                    <a:p>
                      <a:pPr lvl="0">
                        <a:buNone/>
                      </a:pPr>
                      <a:r>
                        <a:rPr lang="en-US"/>
                        <a:t>10/11/2026</a:t>
                      </a:r>
                      <a:endParaRPr lang="en-US" dirty="0"/>
                    </a:p>
                  </a:txBody>
                  <a:tcPr/>
                </a:tc>
                <a:tc>
                  <a:txBody>
                    <a:bodyPr/>
                    <a:lstStyle/>
                    <a:p>
                      <a:pPr lvl="0">
                        <a:buNone/>
                      </a:pPr>
                      <a:r>
                        <a:rPr lang="en-US"/>
                        <a:t>10/08/11</a:t>
                      </a:r>
                      <a:endParaRPr lang="en-US" dirty="0"/>
                    </a:p>
                  </a:txBody>
                  <a:tcPr/>
                </a:tc>
                <a:tc>
                  <a:txBody>
                    <a:bodyPr/>
                    <a:lstStyle/>
                    <a:p>
                      <a:pPr lvl="0">
                        <a:buNone/>
                      </a:pPr>
                      <a:r>
                        <a:rPr lang="en-US"/>
                        <a:t>10/07/2026</a:t>
                      </a:r>
                      <a:endParaRPr lang="en-US" dirty="0"/>
                    </a:p>
                  </a:txBody>
                  <a:tcPr/>
                </a:tc>
                <a:tc>
                  <a:txBody>
                    <a:bodyPr/>
                    <a:lstStyle/>
                    <a:p>
                      <a:pPr lvl="0">
                        <a:buNone/>
                      </a:pPr>
                      <a:r>
                        <a:rPr lang="en-US"/>
                        <a:t>10/02/2026</a:t>
                      </a:r>
                      <a:endParaRPr lang="en-US" dirty="0"/>
                    </a:p>
                  </a:txBody>
                  <a:tcPr/>
                </a:tc>
                <a:extLst>
                  <a:ext uri="{0D108BD9-81ED-4DB2-BD59-A6C34878D82A}">
                    <a16:rowId xmlns:a16="http://schemas.microsoft.com/office/drawing/2014/main" val="4209623429"/>
                  </a:ext>
                </a:extLst>
              </a:tr>
            </a:tbl>
          </a:graphicData>
        </a:graphic>
      </p:graphicFrame>
      <p:sp>
        <p:nvSpPr>
          <p:cNvPr id="6" name="TextBox 5">
            <a:extLst>
              <a:ext uri="{FF2B5EF4-FFF2-40B4-BE49-F238E27FC236}">
                <a16:creationId xmlns:a16="http://schemas.microsoft.com/office/drawing/2014/main" id="{C859EC87-3B82-ABA5-C5CF-0EE819694452}"/>
              </a:ext>
            </a:extLst>
          </p:cNvPr>
          <p:cNvSpPr txBox="1"/>
          <p:nvPr/>
        </p:nvSpPr>
        <p:spPr>
          <a:xfrm>
            <a:off x="287547" y="424131"/>
            <a:ext cx="11415622" cy="212365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cs typeface="Arial"/>
              </a:rPr>
              <a:t>Simulation 1:</a:t>
            </a:r>
          </a:p>
          <a:p>
            <a:endParaRPr lang="en-US" dirty="0">
              <a:cs typeface="Arial"/>
            </a:endParaRPr>
          </a:p>
          <a:p>
            <a:pPr marL="285750" indent="-285750">
              <a:buFont typeface="Arial"/>
              <a:buChar char="•"/>
            </a:pPr>
            <a:r>
              <a:rPr lang="en-US" dirty="0" err="1">
                <a:cs typeface="Arial"/>
              </a:rPr>
              <a:t>SupplyType.LeadTimeRule</a:t>
            </a:r>
            <a:r>
              <a:rPr lang="en-US" dirty="0">
                <a:cs typeface="Arial"/>
              </a:rPr>
              <a:t> = Override/Ignore</a:t>
            </a:r>
          </a:p>
          <a:p>
            <a:pPr marL="285750" indent="-285750">
              <a:buFont typeface="Arial"/>
              <a:buChar char="•"/>
            </a:pPr>
            <a:r>
              <a:rPr lang="en-US" dirty="0" err="1">
                <a:cs typeface="Arial"/>
              </a:rPr>
              <a:t>SupplyStatus.LeadTimeOverride</a:t>
            </a:r>
            <a:r>
              <a:rPr lang="en-US" dirty="0">
                <a:cs typeface="Arial"/>
              </a:rPr>
              <a:t> = Yes</a:t>
            </a:r>
          </a:p>
          <a:p>
            <a:pPr marL="285750" indent="-285750">
              <a:buFont typeface="Arial,Sans-Serif"/>
              <a:buChar char="•"/>
            </a:pPr>
            <a:r>
              <a:rPr lang="en-US">
                <a:cs typeface="Arial"/>
              </a:rPr>
              <a:t>Transit Rule = Cumulative</a:t>
            </a:r>
          </a:p>
          <a:p>
            <a:pPr marL="285750" indent="-285750">
              <a:buFont typeface="Arial"/>
              <a:buChar char="•"/>
            </a:pPr>
            <a:r>
              <a:rPr lang="en-US">
                <a:cs typeface="Arial"/>
              </a:rPr>
              <a:t>Scheduled Receipt for Qtd (2).</a:t>
            </a:r>
          </a:p>
          <a:p>
            <a:pPr marL="285750" indent="-285750">
              <a:buFont typeface="Arial,Sans-Serif"/>
              <a:buChar char="•"/>
            </a:pPr>
            <a:r>
              <a:rPr lang="en-US">
                <a:cs typeface="Arial"/>
              </a:rPr>
              <a:t>Lead Time Value come from Scheduled Receipt Table. All the Lead time elements are involved in Calculations.</a:t>
            </a:r>
          </a:p>
        </p:txBody>
      </p:sp>
    </p:spTree>
    <p:extLst>
      <p:ext uri="{BB962C8B-B14F-4D97-AF65-F5344CB8AC3E}">
        <p14:creationId xmlns:p14="http://schemas.microsoft.com/office/powerpoint/2010/main" val="229494089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E73BDB-DD00-B915-E113-C55D4962214F}"/>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F56ABA59-5A9E-16EA-259E-5428A32AE53F}"/>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A6B42693-9FDA-51B3-E052-030CB2E89FD7}"/>
              </a:ext>
            </a:extLst>
          </p:cNvPr>
          <p:cNvPicPr>
            <a:picLocks noChangeAspect="1"/>
          </p:cNvPicPr>
          <p:nvPr/>
        </p:nvPicPr>
        <p:blipFill>
          <a:blip r:embed="rId3"/>
          <a:stretch>
            <a:fillRect/>
          </a:stretch>
        </p:blipFill>
        <p:spPr>
          <a:xfrm>
            <a:off x="9181381" y="65406"/>
            <a:ext cx="2743200" cy="717452"/>
          </a:xfrm>
          <a:prstGeom prst="rect">
            <a:avLst/>
          </a:prstGeom>
        </p:spPr>
      </p:pic>
      <p:pic>
        <p:nvPicPr>
          <p:cNvPr id="2" name="Picture 1" descr="A screenshot of a computer&#10;&#10;AI-generated content may be incorrect.">
            <a:extLst>
              <a:ext uri="{FF2B5EF4-FFF2-40B4-BE49-F238E27FC236}">
                <a16:creationId xmlns:a16="http://schemas.microsoft.com/office/drawing/2014/main" id="{65E66D1E-71B5-ACC9-A643-A7F3678F3DAB}"/>
              </a:ext>
            </a:extLst>
          </p:cNvPr>
          <p:cNvPicPr>
            <a:picLocks noChangeAspect="1"/>
          </p:cNvPicPr>
          <p:nvPr/>
        </p:nvPicPr>
        <p:blipFill>
          <a:blip r:embed="rId4"/>
          <a:stretch>
            <a:fillRect/>
          </a:stretch>
        </p:blipFill>
        <p:spPr>
          <a:xfrm>
            <a:off x="460075" y="811674"/>
            <a:ext cx="11257473" cy="532091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53308351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96493E-873D-FDA5-A9B5-9DE409DA4D71}"/>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D0329DD6-B4B7-B845-5DFC-A90883A1845C}"/>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34912342-7B9E-F8D9-178E-BE2A3DAB1021}"/>
              </a:ext>
            </a:extLst>
          </p:cNvPr>
          <p:cNvPicPr>
            <a:picLocks noChangeAspect="1"/>
          </p:cNvPicPr>
          <p:nvPr/>
        </p:nvPicPr>
        <p:blipFill>
          <a:blip r:embed="rId3"/>
          <a:stretch>
            <a:fillRect/>
          </a:stretch>
        </p:blipFill>
        <p:spPr>
          <a:xfrm>
            <a:off x="9181381" y="65406"/>
            <a:ext cx="2743200" cy="717452"/>
          </a:xfrm>
          <a:prstGeom prst="rect">
            <a:avLst/>
          </a:prstGeom>
        </p:spPr>
      </p:pic>
      <p:graphicFrame>
        <p:nvGraphicFramePr>
          <p:cNvPr id="3" name="Table 2">
            <a:extLst>
              <a:ext uri="{FF2B5EF4-FFF2-40B4-BE49-F238E27FC236}">
                <a16:creationId xmlns:a16="http://schemas.microsoft.com/office/drawing/2014/main" id="{3BAEB48A-2DE3-80DE-998B-7A03F6F87EE6}"/>
              </a:ext>
            </a:extLst>
          </p:cNvPr>
          <p:cNvGraphicFramePr>
            <a:graphicFrameLocks noGrp="1"/>
          </p:cNvGraphicFramePr>
          <p:nvPr>
            <p:extLst>
              <p:ext uri="{D42A27DB-BD31-4B8C-83A1-F6EECF244321}">
                <p14:modId xmlns:p14="http://schemas.microsoft.com/office/powerpoint/2010/main" val="4187310678"/>
              </p:ext>
            </p:extLst>
          </p:nvPr>
        </p:nvGraphicFramePr>
        <p:xfrm>
          <a:off x="287547" y="3076755"/>
          <a:ext cx="11417292" cy="2123437"/>
        </p:xfrm>
        <a:graphic>
          <a:graphicData uri="http://schemas.openxmlformats.org/drawingml/2006/table">
            <a:tbl>
              <a:tblPr firstRow="1" bandRow="1">
                <a:tableStyleId>{5C22544A-7EE6-4342-B048-85BDC9FD1C3A}</a:tableStyleId>
              </a:tblPr>
              <a:tblGrid>
                <a:gridCol w="1902882">
                  <a:extLst>
                    <a:ext uri="{9D8B030D-6E8A-4147-A177-3AD203B41FA5}">
                      <a16:colId xmlns:a16="http://schemas.microsoft.com/office/drawing/2014/main" val="826890805"/>
                    </a:ext>
                  </a:extLst>
                </a:gridCol>
                <a:gridCol w="1902882">
                  <a:extLst>
                    <a:ext uri="{9D8B030D-6E8A-4147-A177-3AD203B41FA5}">
                      <a16:colId xmlns:a16="http://schemas.microsoft.com/office/drawing/2014/main" val="2668874096"/>
                    </a:ext>
                  </a:extLst>
                </a:gridCol>
                <a:gridCol w="1902882">
                  <a:extLst>
                    <a:ext uri="{9D8B030D-6E8A-4147-A177-3AD203B41FA5}">
                      <a16:colId xmlns:a16="http://schemas.microsoft.com/office/drawing/2014/main" val="1770866913"/>
                    </a:ext>
                  </a:extLst>
                </a:gridCol>
                <a:gridCol w="1902882">
                  <a:extLst>
                    <a:ext uri="{9D8B030D-6E8A-4147-A177-3AD203B41FA5}">
                      <a16:colId xmlns:a16="http://schemas.microsoft.com/office/drawing/2014/main" val="2890593018"/>
                    </a:ext>
                  </a:extLst>
                </a:gridCol>
                <a:gridCol w="1902882">
                  <a:extLst>
                    <a:ext uri="{9D8B030D-6E8A-4147-A177-3AD203B41FA5}">
                      <a16:colId xmlns:a16="http://schemas.microsoft.com/office/drawing/2014/main" val="322342306"/>
                    </a:ext>
                  </a:extLst>
                </a:gridCol>
                <a:gridCol w="1902882">
                  <a:extLst>
                    <a:ext uri="{9D8B030D-6E8A-4147-A177-3AD203B41FA5}">
                      <a16:colId xmlns:a16="http://schemas.microsoft.com/office/drawing/2014/main" val="2657107532"/>
                    </a:ext>
                  </a:extLst>
                </a:gridCol>
              </a:tblGrid>
              <a:tr h="370840">
                <a:tc>
                  <a:txBody>
                    <a:bodyPr/>
                    <a:lstStyle/>
                    <a:p>
                      <a:r>
                        <a:rPr lang="en-US"/>
                        <a:t>Demand Date</a:t>
                      </a:r>
                    </a:p>
                  </a:txBody>
                  <a:tcPr/>
                </a:tc>
                <a:tc>
                  <a:txBody>
                    <a:bodyPr/>
                    <a:lstStyle/>
                    <a:p>
                      <a:r>
                        <a:rPr lang="en-US"/>
                        <a:t>Due Date</a:t>
                      </a:r>
                    </a:p>
                  </a:txBody>
                  <a:tcPr/>
                </a:tc>
                <a:tc>
                  <a:txBody>
                    <a:bodyPr/>
                    <a:lstStyle/>
                    <a:p>
                      <a:r>
                        <a:rPr lang="en-US"/>
                        <a:t>Dock Date</a:t>
                      </a:r>
                    </a:p>
                  </a:txBody>
                  <a:tcPr/>
                </a:tc>
                <a:tc>
                  <a:txBody>
                    <a:bodyPr/>
                    <a:lstStyle/>
                    <a:p>
                      <a:r>
                        <a:rPr lang="en-US"/>
                        <a:t>Ship Date</a:t>
                      </a:r>
                    </a:p>
                  </a:txBody>
                  <a:tcPr/>
                </a:tc>
                <a:tc>
                  <a:txBody>
                    <a:bodyPr/>
                    <a:lstStyle/>
                    <a:p>
                      <a:r>
                        <a:rPr lang="en-US"/>
                        <a:t>Build Date</a:t>
                      </a:r>
                    </a:p>
                  </a:txBody>
                  <a:tcPr/>
                </a:tc>
                <a:tc>
                  <a:txBody>
                    <a:bodyPr/>
                    <a:lstStyle/>
                    <a:p>
                      <a:r>
                        <a:rPr lang="en-US"/>
                        <a:t>Start Date</a:t>
                      </a:r>
                    </a:p>
                  </a:txBody>
                  <a:tcPr/>
                </a:tc>
                <a:extLst>
                  <a:ext uri="{0D108BD9-81ED-4DB2-BD59-A6C34878D82A}">
                    <a16:rowId xmlns:a16="http://schemas.microsoft.com/office/drawing/2014/main" val="3434628265"/>
                  </a:ext>
                </a:extLst>
              </a:tr>
              <a:tr h="370840">
                <a:tc>
                  <a:txBody>
                    <a:bodyPr/>
                    <a:lstStyle/>
                    <a:p>
                      <a:r>
                        <a:rPr lang="en-US"/>
                        <a:t>Safety Time (1)</a:t>
                      </a:r>
                    </a:p>
                  </a:txBody>
                  <a:tcPr/>
                </a:tc>
                <a:tc>
                  <a:txBody>
                    <a:bodyPr/>
                    <a:lstStyle/>
                    <a:p>
                      <a:r>
                        <a:rPr lang="en-US"/>
                        <a:t>Dock To Stock (1)</a:t>
                      </a:r>
                    </a:p>
                  </a:txBody>
                  <a:tcPr/>
                </a:tc>
                <a:tc>
                  <a:txBody>
                    <a:bodyPr/>
                    <a:lstStyle/>
                    <a:p>
                      <a:r>
                        <a:rPr lang="en-US"/>
                        <a:t>Transit Time (2)</a:t>
                      </a:r>
                    </a:p>
                  </a:txBody>
                  <a:tcPr/>
                </a:tc>
                <a:tc>
                  <a:txBody>
                    <a:bodyPr/>
                    <a:lstStyle/>
                    <a:p>
                      <a:r>
                        <a:rPr lang="en-US"/>
                        <a:t>Pre-Ship Time (0)</a:t>
                      </a:r>
                      <a:endParaRPr lang="en-US" dirty="0"/>
                    </a:p>
                  </a:txBody>
                  <a:tcPr/>
                </a:tc>
                <a:tc>
                  <a:txBody>
                    <a:bodyPr/>
                    <a:lstStyle/>
                    <a:p>
                      <a:r>
                        <a:rPr lang="en-US"/>
                        <a:t>Lead Time Adjust (1)</a:t>
                      </a:r>
                    </a:p>
                  </a:txBody>
                  <a:tcPr/>
                </a:tc>
                <a:tc>
                  <a:txBody>
                    <a:bodyPr/>
                    <a:lstStyle/>
                    <a:p>
                      <a:endParaRPr lang="en-US"/>
                    </a:p>
                  </a:txBody>
                  <a:tcPr/>
                </a:tc>
                <a:extLst>
                  <a:ext uri="{0D108BD9-81ED-4DB2-BD59-A6C34878D82A}">
                    <a16:rowId xmlns:a16="http://schemas.microsoft.com/office/drawing/2014/main" val="169593582"/>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r>
                        <a:rPr lang="en-US"/>
                        <a:t>Fixed (1)</a:t>
                      </a:r>
                    </a:p>
                  </a:txBody>
                  <a:tcPr/>
                </a:tc>
                <a:tc>
                  <a:txBody>
                    <a:bodyPr/>
                    <a:lstStyle/>
                    <a:p>
                      <a:endParaRPr lang="en-US"/>
                    </a:p>
                  </a:txBody>
                  <a:tcPr/>
                </a:tc>
                <a:extLst>
                  <a:ext uri="{0D108BD9-81ED-4DB2-BD59-A6C34878D82A}">
                    <a16:rowId xmlns:a16="http://schemas.microsoft.com/office/drawing/2014/main" val="3769563568"/>
                  </a:ext>
                </a:extLst>
              </a:tr>
              <a:tr h="370839">
                <a:tc>
                  <a:txBody>
                    <a:bodyPr/>
                    <a:lstStyle/>
                    <a:p>
                      <a:pPr lvl="0">
                        <a:buNone/>
                      </a:pPr>
                      <a:endParaRPr lang="en-US" dirty="0"/>
                    </a:p>
                  </a:txBody>
                  <a:tcPr/>
                </a:tc>
                <a:tc>
                  <a:txBody>
                    <a:bodyPr/>
                    <a:lstStyle/>
                    <a:p>
                      <a:pPr lvl="0">
                        <a:buNone/>
                      </a:pPr>
                      <a:endParaRPr lang="en-US" dirty="0"/>
                    </a:p>
                  </a:txBody>
                  <a:tcPr/>
                </a:tc>
                <a:tc>
                  <a:txBody>
                    <a:bodyPr/>
                    <a:lstStyle/>
                    <a:p>
                      <a:pPr lvl="0">
                        <a:buNone/>
                      </a:pPr>
                      <a:endParaRPr lang="en-US" dirty="0"/>
                    </a:p>
                  </a:txBody>
                  <a:tcPr/>
                </a:tc>
                <a:tc>
                  <a:txBody>
                    <a:bodyPr/>
                    <a:lstStyle/>
                    <a:p>
                      <a:pPr lvl="0">
                        <a:buNone/>
                      </a:pPr>
                      <a:endParaRPr lang="en-US" dirty="0"/>
                    </a:p>
                  </a:txBody>
                  <a:tcPr/>
                </a:tc>
                <a:tc>
                  <a:txBody>
                    <a:bodyPr/>
                    <a:lstStyle/>
                    <a:p>
                      <a:pPr lvl="0">
                        <a:buNone/>
                      </a:pPr>
                      <a:r>
                        <a:rPr lang="en-US"/>
                        <a:t>Variable (0*2)</a:t>
                      </a:r>
                      <a:endParaRPr lang="en-US" dirty="0"/>
                    </a:p>
                  </a:txBody>
                  <a:tcPr/>
                </a:tc>
                <a:tc>
                  <a:txBody>
                    <a:bodyPr/>
                    <a:lstStyle/>
                    <a:p>
                      <a:pPr lvl="0">
                        <a:buNone/>
                      </a:pPr>
                      <a:endParaRPr lang="en-US" dirty="0"/>
                    </a:p>
                  </a:txBody>
                  <a:tcPr/>
                </a:tc>
                <a:extLst>
                  <a:ext uri="{0D108BD9-81ED-4DB2-BD59-A6C34878D82A}">
                    <a16:rowId xmlns:a16="http://schemas.microsoft.com/office/drawing/2014/main" val="496422798"/>
                  </a:ext>
                </a:extLst>
              </a:tr>
              <a:tr h="370838">
                <a:tc>
                  <a:txBody>
                    <a:bodyPr/>
                    <a:lstStyle/>
                    <a:p>
                      <a:pPr lvl="0">
                        <a:buNone/>
                      </a:pPr>
                      <a:endParaRPr lang="en-US" dirty="0"/>
                    </a:p>
                  </a:txBody>
                  <a:tcPr/>
                </a:tc>
                <a:tc>
                  <a:txBody>
                    <a:bodyPr/>
                    <a:lstStyle/>
                    <a:p>
                      <a:pPr lvl="0">
                        <a:buNone/>
                      </a:pPr>
                      <a:r>
                        <a:rPr lang="en-US"/>
                        <a:t>10/13/2026</a:t>
                      </a:r>
                      <a:endParaRPr lang="en-US" dirty="0"/>
                    </a:p>
                  </a:txBody>
                  <a:tcPr/>
                </a:tc>
                <a:tc>
                  <a:txBody>
                    <a:bodyPr/>
                    <a:lstStyle/>
                    <a:p>
                      <a:pPr lvl="0">
                        <a:buNone/>
                      </a:pPr>
                      <a:r>
                        <a:rPr lang="en-US"/>
                        <a:t>10/12/2026</a:t>
                      </a:r>
                      <a:endParaRPr lang="en-US" dirty="0"/>
                    </a:p>
                  </a:txBody>
                  <a:tcPr/>
                </a:tc>
                <a:tc>
                  <a:txBody>
                    <a:bodyPr/>
                    <a:lstStyle/>
                    <a:p>
                      <a:pPr lvl="0">
                        <a:buNone/>
                      </a:pPr>
                      <a:r>
                        <a:rPr lang="en-US"/>
                        <a:t>10/10/2026</a:t>
                      </a:r>
                      <a:endParaRPr lang="en-US" dirty="0"/>
                    </a:p>
                  </a:txBody>
                  <a:tcPr/>
                </a:tc>
                <a:tc>
                  <a:txBody>
                    <a:bodyPr/>
                    <a:lstStyle/>
                    <a:p>
                      <a:pPr lvl="0">
                        <a:buNone/>
                      </a:pPr>
                      <a:r>
                        <a:rPr lang="en-US"/>
                        <a:t>10/10/2026</a:t>
                      </a:r>
                      <a:endParaRPr lang="en-US" dirty="0"/>
                    </a:p>
                  </a:txBody>
                  <a:tcPr/>
                </a:tc>
                <a:tc>
                  <a:txBody>
                    <a:bodyPr/>
                    <a:lstStyle/>
                    <a:p>
                      <a:pPr lvl="0">
                        <a:buNone/>
                      </a:pPr>
                      <a:r>
                        <a:rPr lang="en-US"/>
                        <a:t>10/08/2026</a:t>
                      </a:r>
                      <a:endParaRPr lang="en-US" dirty="0"/>
                    </a:p>
                  </a:txBody>
                  <a:tcPr/>
                </a:tc>
                <a:extLst>
                  <a:ext uri="{0D108BD9-81ED-4DB2-BD59-A6C34878D82A}">
                    <a16:rowId xmlns:a16="http://schemas.microsoft.com/office/drawing/2014/main" val="4209623429"/>
                  </a:ext>
                </a:extLst>
              </a:tr>
            </a:tbl>
          </a:graphicData>
        </a:graphic>
      </p:graphicFrame>
      <p:sp>
        <p:nvSpPr>
          <p:cNvPr id="7" name="TextBox 6">
            <a:extLst>
              <a:ext uri="{FF2B5EF4-FFF2-40B4-BE49-F238E27FC236}">
                <a16:creationId xmlns:a16="http://schemas.microsoft.com/office/drawing/2014/main" id="{B5A5989A-6FC3-36BC-942F-6F3624ECE9EA}"/>
              </a:ext>
            </a:extLst>
          </p:cNvPr>
          <p:cNvSpPr txBox="1"/>
          <p:nvPr/>
        </p:nvSpPr>
        <p:spPr>
          <a:xfrm>
            <a:off x="287547" y="424131"/>
            <a:ext cx="11415622" cy="240065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cs typeface="Arial"/>
              </a:rPr>
              <a:t>Simulation 2:</a:t>
            </a:r>
          </a:p>
          <a:p>
            <a:endParaRPr lang="en-US" dirty="0">
              <a:cs typeface="Arial"/>
            </a:endParaRPr>
          </a:p>
          <a:p>
            <a:pPr marL="285750" indent="-285750">
              <a:buFont typeface="Arial"/>
              <a:buChar char="•"/>
            </a:pPr>
            <a:r>
              <a:rPr lang="en-US" dirty="0" err="1">
                <a:cs typeface="Arial"/>
              </a:rPr>
              <a:t>SupplyType.LeadTimeRule</a:t>
            </a:r>
            <a:r>
              <a:rPr lang="en-US" dirty="0">
                <a:cs typeface="Arial"/>
              </a:rPr>
              <a:t> = Ignore</a:t>
            </a:r>
          </a:p>
          <a:p>
            <a:pPr marL="285750" indent="-285750">
              <a:buFont typeface="Arial"/>
              <a:buChar char="•"/>
            </a:pPr>
            <a:r>
              <a:rPr lang="en-US" dirty="0" err="1">
                <a:cs typeface="Arial"/>
              </a:rPr>
              <a:t>SupplyStatus.LeadTimeOverride</a:t>
            </a:r>
            <a:r>
              <a:rPr lang="en-US" dirty="0">
                <a:cs typeface="Arial"/>
              </a:rPr>
              <a:t> = FromOrder</a:t>
            </a:r>
          </a:p>
          <a:p>
            <a:pPr marL="285750" indent="-285750">
              <a:buFont typeface="Arial,Sans-Serif"/>
              <a:buChar char="•"/>
            </a:pPr>
            <a:r>
              <a:rPr lang="en-US">
                <a:cs typeface="Arial"/>
              </a:rPr>
              <a:t>Transit Rule = Cumulative</a:t>
            </a:r>
          </a:p>
          <a:p>
            <a:pPr marL="285750" indent="-285750">
              <a:buFont typeface="Arial"/>
              <a:buChar char="•"/>
            </a:pPr>
            <a:r>
              <a:rPr lang="en-US">
                <a:cs typeface="Arial"/>
              </a:rPr>
              <a:t>Scheduled Receipt for Qtd (2).</a:t>
            </a:r>
          </a:p>
          <a:p>
            <a:pPr marL="285750" indent="-285750">
              <a:buFont typeface="Arial,Sans-Serif"/>
              <a:buChar char="•"/>
            </a:pPr>
            <a:r>
              <a:rPr lang="en-US">
                <a:cs typeface="Arial"/>
              </a:rPr>
              <a:t>Lead Time Value come from Part Source Table. All the Lead time elements are involved in Calculations.</a:t>
            </a:r>
          </a:p>
          <a:p>
            <a:pPr marL="285750" indent="-285750">
              <a:buFont typeface="Arial"/>
              <a:buChar char="•"/>
            </a:pPr>
            <a:endParaRPr lang="en-US" dirty="0">
              <a:cs typeface="Arial"/>
            </a:endParaRPr>
          </a:p>
        </p:txBody>
      </p:sp>
    </p:spTree>
    <p:extLst>
      <p:ext uri="{BB962C8B-B14F-4D97-AF65-F5344CB8AC3E}">
        <p14:creationId xmlns:p14="http://schemas.microsoft.com/office/powerpoint/2010/main" val="111892745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EA7D81-2495-7E0B-119B-EF75A5AF3094}"/>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3EA00B4B-A62F-7151-C181-9C16CD9FA5F2}"/>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E7A3D444-5711-85E5-A6F4-B915B3C6D134}"/>
              </a:ext>
            </a:extLst>
          </p:cNvPr>
          <p:cNvPicPr>
            <a:picLocks noChangeAspect="1"/>
          </p:cNvPicPr>
          <p:nvPr/>
        </p:nvPicPr>
        <p:blipFill>
          <a:blip r:embed="rId3"/>
          <a:stretch>
            <a:fillRect/>
          </a:stretch>
        </p:blipFill>
        <p:spPr>
          <a:xfrm>
            <a:off x="9181381" y="65406"/>
            <a:ext cx="2743200" cy="717452"/>
          </a:xfrm>
          <a:prstGeom prst="rect">
            <a:avLst/>
          </a:prstGeom>
        </p:spPr>
      </p:pic>
      <p:pic>
        <p:nvPicPr>
          <p:cNvPr id="2" name="Picture 1" descr="A screenshot of a computer&#10;&#10;AI-generated content may be incorrect.">
            <a:extLst>
              <a:ext uri="{FF2B5EF4-FFF2-40B4-BE49-F238E27FC236}">
                <a16:creationId xmlns:a16="http://schemas.microsoft.com/office/drawing/2014/main" id="{B3989E5D-FA8E-6BD1-0195-3B4B03746C78}"/>
              </a:ext>
            </a:extLst>
          </p:cNvPr>
          <p:cNvPicPr>
            <a:picLocks noChangeAspect="1"/>
          </p:cNvPicPr>
          <p:nvPr/>
        </p:nvPicPr>
        <p:blipFill>
          <a:blip r:embed="rId4"/>
          <a:stretch>
            <a:fillRect/>
          </a:stretch>
        </p:blipFill>
        <p:spPr>
          <a:xfrm>
            <a:off x="359434" y="973562"/>
            <a:ext cx="11473133" cy="522717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51131743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21A56-69BD-BB11-6818-EF83F638814D}"/>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1B23CFFC-1646-7154-6F88-6F7A9AD5F070}"/>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66AC3599-CABA-8DFF-E81D-96F9CB8D6350}"/>
              </a:ext>
            </a:extLst>
          </p:cNvPr>
          <p:cNvPicPr>
            <a:picLocks noChangeAspect="1"/>
          </p:cNvPicPr>
          <p:nvPr/>
        </p:nvPicPr>
        <p:blipFill>
          <a:blip r:embed="rId3"/>
          <a:stretch>
            <a:fillRect/>
          </a:stretch>
        </p:blipFill>
        <p:spPr>
          <a:xfrm>
            <a:off x="9181381" y="65406"/>
            <a:ext cx="2743200" cy="717452"/>
          </a:xfrm>
          <a:prstGeom prst="rect">
            <a:avLst/>
          </a:prstGeom>
        </p:spPr>
      </p:pic>
      <p:graphicFrame>
        <p:nvGraphicFramePr>
          <p:cNvPr id="3" name="Table 2">
            <a:extLst>
              <a:ext uri="{FF2B5EF4-FFF2-40B4-BE49-F238E27FC236}">
                <a16:creationId xmlns:a16="http://schemas.microsoft.com/office/drawing/2014/main" id="{EE2D6763-4E15-97A3-E8C3-8DEBAEC715BC}"/>
              </a:ext>
            </a:extLst>
          </p:cNvPr>
          <p:cNvGraphicFramePr>
            <a:graphicFrameLocks noGrp="1"/>
          </p:cNvGraphicFramePr>
          <p:nvPr>
            <p:extLst>
              <p:ext uri="{D42A27DB-BD31-4B8C-83A1-F6EECF244321}">
                <p14:modId xmlns:p14="http://schemas.microsoft.com/office/powerpoint/2010/main" val="3787692440"/>
              </p:ext>
            </p:extLst>
          </p:nvPr>
        </p:nvGraphicFramePr>
        <p:xfrm>
          <a:off x="287547" y="3076755"/>
          <a:ext cx="11417292" cy="2123437"/>
        </p:xfrm>
        <a:graphic>
          <a:graphicData uri="http://schemas.openxmlformats.org/drawingml/2006/table">
            <a:tbl>
              <a:tblPr firstRow="1" bandRow="1">
                <a:tableStyleId>{5C22544A-7EE6-4342-B048-85BDC9FD1C3A}</a:tableStyleId>
              </a:tblPr>
              <a:tblGrid>
                <a:gridCol w="1902882">
                  <a:extLst>
                    <a:ext uri="{9D8B030D-6E8A-4147-A177-3AD203B41FA5}">
                      <a16:colId xmlns:a16="http://schemas.microsoft.com/office/drawing/2014/main" val="826890805"/>
                    </a:ext>
                  </a:extLst>
                </a:gridCol>
                <a:gridCol w="1902882">
                  <a:extLst>
                    <a:ext uri="{9D8B030D-6E8A-4147-A177-3AD203B41FA5}">
                      <a16:colId xmlns:a16="http://schemas.microsoft.com/office/drawing/2014/main" val="2668874096"/>
                    </a:ext>
                  </a:extLst>
                </a:gridCol>
                <a:gridCol w="1902882">
                  <a:extLst>
                    <a:ext uri="{9D8B030D-6E8A-4147-A177-3AD203B41FA5}">
                      <a16:colId xmlns:a16="http://schemas.microsoft.com/office/drawing/2014/main" val="1770866913"/>
                    </a:ext>
                  </a:extLst>
                </a:gridCol>
                <a:gridCol w="1902882">
                  <a:extLst>
                    <a:ext uri="{9D8B030D-6E8A-4147-A177-3AD203B41FA5}">
                      <a16:colId xmlns:a16="http://schemas.microsoft.com/office/drawing/2014/main" val="2890593018"/>
                    </a:ext>
                  </a:extLst>
                </a:gridCol>
                <a:gridCol w="1902882">
                  <a:extLst>
                    <a:ext uri="{9D8B030D-6E8A-4147-A177-3AD203B41FA5}">
                      <a16:colId xmlns:a16="http://schemas.microsoft.com/office/drawing/2014/main" val="322342306"/>
                    </a:ext>
                  </a:extLst>
                </a:gridCol>
                <a:gridCol w="1902882">
                  <a:extLst>
                    <a:ext uri="{9D8B030D-6E8A-4147-A177-3AD203B41FA5}">
                      <a16:colId xmlns:a16="http://schemas.microsoft.com/office/drawing/2014/main" val="2657107532"/>
                    </a:ext>
                  </a:extLst>
                </a:gridCol>
              </a:tblGrid>
              <a:tr h="370840">
                <a:tc>
                  <a:txBody>
                    <a:bodyPr/>
                    <a:lstStyle/>
                    <a:p>
                      <a:r>
                        <a:rPr lang="en-US"/>
                        <a:t>Demand Date</a:t>
                      </a:r>
                    </a:p>
                  </a:txBody>
                  <a:tcPr/>
                </a:tc>
                <a:tc>
                  <a:txBody>
                    <a:bodyPr/>
                    <a:lstStyle/>
                    <a:p>
                      <a:r>
                        <a:rPr lang="en-US"/>
                        <a:t>Due Date</a:t>
                      </a:r>
                    </a:p>
                  </a:txBody>
                  <a:tcPr/>
                </a:tc>
                <a:tc>
                  <a:txBody>
                    <a:bodyPr/>
                    <a:lstStyle/>
                    <a:p>
                      <a:r>
                        <a:rPr lang="en-US"/>
                        <a:t>Dock Date</a:t>
                      </a:r>
                    </a:p>
                  </a:txBody>
                  <a:tcPr/>
                </a:tc>
                <a:tc>
                  <a:txBody>
                    <a:bodyPr/>
                    <a:lstStyle/>
                    <a:p>
                      <a:r>
                        <a:rPr lang="en-US"/>
                        <a:t>Ship Date</a:t>
                      </a:r>
                    </a:p>
                  </a:txBody>
                  <a:tcPr/>
                </a:tc>
                <a:tc>
                  <a:txBody>
                    <a:bodyPr/>
                    <a:lstStyle/>
                    <a:p>
                      <a:r>
                        <a:rPr lang="en-US"/>
                        <a:t>Build Date</a:t>
                      </a:r>
                    </a:p>
                  </a:txBody>
                  <a:tcPr/>
                </a:tc>
                <a:tc>
                  <a:txBody>
                    <a:bodyPr/>
                    <a:lstStyle/>
                    <a:p>
                      <a:r>
                        <a:rPr lang="en-US"/>
                        <a:t>Start Date</a:t>
                      </a:r>
                    </a:p>
                  </a:txBody>
                  <a:tcPr/>
                </a:tc>
                <a:extLst>
                  <a:ext uri="{0D108BD9-81ED-4DB2-BD59-A6C34878D82A}">
                    <a16:rowId xmlns:a16="http://schemas.microsoft.com/office/drawing/2014/main" val="3434628265"/>
                  </a:ext>
                </a:extLst>
              </a:tr>
              <a:tr h="370840">
                <a:tc>
                  <a:txBody>
                    <a:bodyPr/>
                    <a:lstStyle/>
                    <a:p>
                      <a:r>
                        <a:rPr lang="en-US"/>
                        <a:t>Safety Time (1)</a:t>
                      </a:r>
                    </a:p>
                  </a:txBody>
                  <a:tcPr/>
                </a:tc>
                <a:tc>
                  <a:txBody>
                    <a:bodyPr/>
                    <a:lstStyle/>
                    <a:p>
                      <a:r>
                        <a:rPr lang="en-US"/>
                        <a:t>Dock To Stock (2)</a:t>
                      </a:r>
                    </a:p>
                  </a:txBody>
                  <a:tcPr/>
                </a:tc>
                <a:tc>
                  <a:txBody>
                    <a:bodyPr/>
                    <a:lstStyle/>
                    <a:p>
                      <a:r>
                        <a:rPr lang="en-US"/>
                        <a:t>Transit Time (3)</a:t>
                      </a:r>
                    </a:p>
                  </a:txBody>
                  <a:tcPr/>
                </a:tc>
                <a:tc>
                  <a:txBody>
                    <a:bodyPr/>
                    <a:lstStyle/>
                    <a:p>
                      <a:r>
                        <a:rPr lang="en-US"/>
                        <a:t>Pre-Ship Time (1)</a:t>
                      </a:r>
                      <a:endParaRPr lang="en-US" dirty="0"/>
                    </a:p>
                  </a:txBody>
                  <a:tcPr/>
                </a:tc>
                <a:tc>
                  <a:txBody>
                    <a:bodyPr/>
                    <a:lstStyle/>
                    <a:p>
                      <a:r>
                        <a:rPr lang="en-US"/>
                        <a:t>Lead Time Adjust (1)</a:t>
                      </a:r>
                    </a:p>
                  </a:txBody>
                  <a:tcPr/>
                </a:tc>
                <a:tc>
                  <a:txBody>
                    <a:bodyPr/>
                    <a:lstStyle/>
                    <a:p>
                      <a:endParaRPr lang="en-US"/>
                    </a:p>
                  </a:txBody>
                  <a:tcPr/>
                </a:tc>
                <a:extLst>
                  <a:ext uri="{0D108BD9-81ED-4DB2-BD59-A6C34878D82A}">
                    <a16:rowId xmlns:a16="http://schemas.microsoft.com/office/drawing/2014/main" val="169593582"/>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r>
                        <a:rPr lang="en-US"/>
                        <a:t>Fixed (2)</a:t>
                      </a:r>
                    </a:p>
                  </a:txBody>
                  <a:tcPr/>
                </a:tc>
                <a:tc>
                  <a:txBody>
                    <a:bodyPr/>
                    <a:lstStyle/>
                    <a:p>
                      <a:endParaRPr lang="en-US"/>
                    </a:p>
                  </a:txBody>
                  <a:tcPr/>
                </a:tc>
                <a:extLst>
                  <a:ext uri="{0D108BD9-81ED-4DB2-BD59-A6C34878D82A}">
                    <a16:rowId xmlns:a16="http://schemas.microsoft.com/office/drawing/2014/main" val="3769563568"/>
                  </a:ext>
                </a:extLst>
              </a:tr>
              <a:tr h="370839">
                <a:tc>
                  <a:txBody>
                    <a:bodyPr/>
                    <a:lstStyle/>
                    <a:p>
                      <a:pPr lvl="0">
                        <a:buNone/>
                      </a:pPr>
                      <a:endParaRPr lang="en-US" dirty="0"/>
                    </a:p>
                  </a:txBody>
                  <a:tcPr/>
                </a:tc>
                <a:tc>
                  <a:txBody>
                    <a:bodyPr/>
                    <a:lstStyle/>
                    <a:p>
                      <a:pPr lvl="0">
                        <a:buNone/>
                      </a:pPr>
                      <a:endParaRPr lang="en-US" dirty="0"/>
                    </a:p>
                  </a:txBody>
                  <a:tcPr/>
                </a:tc>
                <a:tc>
                  <a:txBody>
                    <a:bodyPr/>
                    <a:lstStyle/>
                    <a:p>
                      <a:pPr lvl="0">
                        <a:buNone/>
                      </a:pPr>
                      <a:endParaRPr lang="en-US" dirty="0"/>
                    </a:p>
                  </a:txBody>
                  <a:tcPr/>
                </a:tc>
                <a:tc>
                  <a:txBody>
                    <a:bodyPr/>
                    <a:lstStyle/>
                    <a:p>
                      <a:pPr lvl="0">
                        <a:buNone/>
                      </a:pPr>
                      <a:endParaRPr lang="en-US" dirty="0"/>
                    </a:p>
                  </a:txBody>
                  <a:tcPr/>
                </a:tc>
                <a:tc>
                  <a:txBody>
                    <a:bodyPr/>
                    <a:lstStyle/>
                    <a:p>
                      <a:pPr lvl="0">
                        <a:buNone/>
                      </a:pPr>
                      <a:r>
                        <a:rPr lang="en-US"/>
                        <a:t>Variable (1*2)</a:t>
                      </a:r>
                      <a:endParaRPr lang="en-US" dirty="0"/>
                    </a:p>
                  </a:txBody>
                  <a:tcPr/>
                </a:tc>
                <a:tc>
                  <a:txBody>
                    <a:bodyPr/>
                    <a:lstStyle/>
                    <a:p>
                      <a:pPr lvl="0">
                        <a:buNone/>
                      </a:pPr>
                      <a:endParaRPr lang="en-US" dirty="0"/>
                    </a:p>
                  </a:txBody>
                  <a:tcPr/>
                </a:tc>
                <a:extLst>
                  <a:ext uri="{0D108BD9-81ED-4DB2-BD59-A6C34878D82A}">
                    <a16:rowId xmlns:a16="http://schemas.microsoft.com/office/drawing/2014/main" val="496422798"/>
                  </a:ext>
                </a:extLst>
              </a:tr>
              <a:tr h="370838">
                <a:tc>
                  <a:txBody>
                    <a:bodyPr/>
                    <a:lstStyle/>
                    <a:p>
                      <a:pPr lvl="0">
                        <a:buNone/>
                      </a:pPr>
                      <a:endParaRPr lang="en-US" dirty="0"/>
                    </a:p>
                  </a:txBody>
                  <a:tcPr/>
                </a:tc>
                <a:tc>
                  <a:txBody>
                    <a:bodyPr/>
                    <a:lstStyle/>
                    <a:p>
                      <a:pPr lvl="0">
                        <a:buNone/>
                      </a:pPr>
                      <a:r>
                        <a:rPr lang="en-US"/>
                        <a:t>10/13/2026</a:t>
                      </a:r>
                      <a:endParaRPr lang="en-US" dirty="0"/>
                    </a:p>
                  </a:txBody>
                  <a:tcPr/>
                </a:tc>
                <a:tc>
                  <a:txBody>
                    <a:bodyPr/>
                    <a:lstStyle/>
                    <a:p>
                      <a:pPr lvl="0">
                        <a:buNone/>
                      </a:pPr>
                      <a:r>
                        <a:rPr lang="en-US"/>
                        <a:t>10/11/2026</a:t>
                      </a:r>
                      <a:endParaRPr lang="en-US" dirty="0"/>
                    </a:p>
                  </a:txBody>
                  <a:tcPr/>
                </a:tc>
                <a:tc>
                  <a:txBody>
                    <a:bodyPr/>
                    <a:lstStyle/>
                    <a:p>
                      <a:pPr lvl="0">
                        <a:buNone/>
                      </a:pPr>
                      <a:r>
                        <a:rPr lang="en-US"/>
                        <a:t>10/08/11</a:t>
                      </a:r>
                      <a:endParaRPr lang="en-US" dirty="0"/>
                    </a:p>
                  </a:txBody>
                  <a:tcPr/>
                </a:tc>
                <a:tc>
                  <a:txBody>
                    <a:bodyPr/>
                    <a:lstStyle/>
                    <a:p>
                      <a:pPr lvl="0">
                        <a:buNone/>
                      </a:pPr>
                      <a:r>
                        <a:rPr lang="en-US"/>
                        <a:t>10/07/2026</a:t>
                      </a:r>
                      <a:endParaRPr lang="en-US" dirty="0"/>
                    </a:p>
                  </a:txBody>
                  <a:tcPr/>
                </a:tc>
                <a:tc>
                  <a:txBody>
                    <a:bodyPr/>
                    <a:lstStyle/>
                    <a:p>
                      <a:pPr lvl="0">
                        <a:buNone/>
                      </a:pPr>
                      <a:r>
                        <a:rPr lang="en-US"/>
                        <a:t>10/02/2026</a:t>
                      </a:r>
                      <a:endParaRPr lang="en-US" dirty="0"/>
                    </a:p>
                  </a:txBody>
                  <a:tcPr/>
                </a:tc>
                <a:extLst>
                  <a:ext uri="{0D108BD9-81ED-4DB2-BD59-A6C34878D82A}">
                    <a16:rowId xmlns:a16="http://schemas.microsoft.com/office/drawing/2014/main" val="4209623429"/>
                  </a:ext>
                </a:extLst>
              </a:tr>
            </a:tbl>
          </a:graphicData>
        </a:graphic>
      </p:graphicFrame>
      <p:sp>
        <p:nvSpPr>
          <p:cNvPr id="7" name="TextBox 6">
            <a:extLst>
              <a:ext uri="{FF2B5EF4-FFF2-40B4-BE49-F238E27FC236}">
                <a16:creationId xmlns:a16="http://schemas.microsoft.com/office/drawing/2014/main" id="{6BFC2AF8-4A7D-B3E3-2EE2-AAD8114E3669}"/>
              </a:ext>
            </a:extLst>
          </p:cNvPr>
          <p:cNvSpPr txBox="1"/>
          <p:nvPr/>
        </p:nvSpPr>
        <p:spPr>
          <a:xfrm>
            <a:off x="287547" y="424131"/>
            <a:ext cx="11415622" cy="212365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cs typeface="Arial"/>
              </a:rPr>
              <a:t>Simulation 3:</a:t>
            </a:r>
          </a:p>
          <a:p>
            <a:endParaRPr lang="en-US" dirty="0">
              <a:cs typeface="Arial"/>
            </a:endParaRPr>
          </a:p>
          <a:p>
            <a:pPr marL="285750" indent="-285750">
              <a:buFont typeface="Arial"/>
              <a:buChar char="•"/>
            </a:pPr>
            <a:r>
              <a:rPr lang="en-US" dirty="0" err="1">
                <a:cs typeface="Arial"/>
              </a:rPr>
              <a:t>SupplyType.LeadTimeRule</a:t>
            </a:r>
            <a:r>
              <a:rPr lang="en-US" dirty="0">
                <a:cs typeface="Arial"/>
              </a:rPr>
              <a:t> = Override</a:t>
            </a:r>
          </a:p>
          <a:p>
            <a:pPr marL="285750" indent="-285750">
              <a:buFont typeface="Arial"/>
              <a:buChar char="•"/>
            </a:pPr>
            <a:r>
              <a:rPr lang="en-US" dirty="0" err="1">
                <a:cs typeface="Arial"/>
              </a:rPr>
              <a:t>SupplyStatus.LeadTimeOverride</a:t>
            </a:r>
            <a:r>
              <a:rPr lang="en-US" dirty="0">
                <a:cs typeface="Arial"/>
              </a:rPr>
              <a:t> = </a:t>
            </a:r>
            <a:r>
              <a:rPr lang="en-US" dirty="0" err="1">
                <a:cs typeface="Arial"/>
              </a:rPr>
              <a:t>FromOrder</a:t>
            </a:r>
          </a:p>
          <a:p>
            <a:pPr marL="285750" indent="-285750">
              <a:buFont typeface="Arial,Sans-Serif"/>
              <a:buChar char="•"/>
            </a:pPr>
            <a:r>
              <a:rPr lang="en-US">
                <a:cs typeface="Arial"/>
              </a:rPr>
              <a:t>Transit Rule = Cumulative</a:t>
            </a:r>
          </a:p>
          <a:p>
            <a:pPr marL="285750" indent="-285750">
              <a:buFont typeface="Arial"/>
              <a:buChar char="•"/>
            </a:pPr>
            <a:r>
              <a:rPr lang="en-US">
                <a:cs typeface="Arial"/>
              </a:rPr>
              <a:t>Scheduled Receipt for Qtd (2).</a:t>
            </a:r>
          </a:p>
          <a:p>
            <a:pPr marL="285750" indent="-285750">
              <a:buFont typeface="Arial,Sans-Serif"/>
              <a:buChar char="•"/>
            </a:pPr>
            <a:r>
              <a:rPr lang="en-US" dirty="0">
                <a:cs typeface="Arial"/>
              </a:rPr>
              <a:t>Lead Time Value come from Scheduled Receipt Table. All the Lead time </a:t>
            </a:r>
            <a:r>
              <a:rPr lang="en-US">
                <a:cs typeface="Arial"/>
              </a:rPr>
              <a:t>elements are involved in Calculations.</a:t>
            </a:r>
            <a:endParaRPr lang="en-US" dirty="0">
              <a:cs typeface="Arial"/>
            </a:endParaRPr>
          </a:p>
        </p:txBody>
      </p:sp>
    </p:spTree>
    <p:extLst>
      <p:ext uri="{BB962C8B-B14F-4D97-AF65-F5344CB8AC3E}">
        <p14:creationId xmlns:p14="http://schemas.microsoft.com/office/powerpoint/2010/main" val="150123057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0DDB2C-D4B2-E0DB-8990-A618EC783256}"/>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FC3CEF3E-93F7-2DFC-F440-7852749781BF}"/>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07C3B02B-DC21-9EB3-F6E3-F24428908767}"/>
              </a:ext>
            </a:extLst>
          </p:cNvPr>
          <p:cNvPicPr>
            <a:picLocks noChangeAspect="1"/>
          </p:cNvPicPr>
          <p:nvPr/>
        </p:nvPicPr>
        <p:blipFill>
          <a:blip r:embed="rId3"/>
          <a:stretch>
            <a:fillRect/>
          </a:stretch>
        </p:blipFill>
        <p:spPr>
          <a:xfrm>
            <a:off x="9181381" y="65406"/>
            <a:ext cx="2743200" cy="717452"/>
          </a:xfrm>
          <a:prstGeom prst="rect">
            <a:avLst/>
          </a:prstGeom>
        </p:spPr>
      </p:pic>
      <p:pic>
        <p:nvPicPr>
          <p:cNvPr id="2" name="Picture 1" descr="A screenshot of a computer&#10;&#10;AI-generated content may be incorrect.">
            <a:extLst>
              <a:ext uri="{FF2B5EF4-FFF2-40B4-BE49-F238E27FC236}">
                <a16:creationId xmlns:a16="http://schemas.microsoft.com/office/drawing/2014/main" id="{6D44236C-63CD-9F48-CA17-1D19A2042857}"/>
              </a:ext>
            </a:extLst>
          </p:cNvPr>
          <p:cNvPicPr>
            <a:picLocks noChangeAspect="1"/>
          </p:cNvPicPr>
          <p:nvPr/>
        </p:nvPicPr>
        <p:blipFill>
          <a:blip r:embed="rId4"/>
          <a:stretch>
            <a:fillRect/>
          </a:stretch>
        </p:blipFill>
        <p:spPr>
          <a:xfrm>
            <a:off x="416943" y="956997"/>
            <a:ext cx="11358114" cy="517404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07814452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31BDB3-8496-53B7-541E-951B0118859F}"/>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6EF6278E-8536-763A-F910-7FE9C6151E81}"/>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9F5EFE35-2D5A-0694-269D-D97DD0E004D3}"/>
              </a:ext>
            </a:extLst>
          </p:cNvPr>
          <p:cNvPicPr>
            <a:picLocks noChangeAspect="1"/>
          </p:cNvPicPr>
          <p:nvPr/>
        </p:nvPicPr>
        <p:blipFill>
          <a:blip r:embed="rId3"/>
          <a:stretch>
            <a:fillRect/>
          </a:stretch>
        </p:blipFill>
        <p:spPr>
          <a:xfrm>
            <a:off x="9181381" y="65406"/>
            <a:ext cx="2743200" cy="717452"/>
          </a:xfrm>
          <a:prstGeom prst="rect">
            <a:avLst/>
          </a:prstGeom>
        </p:spPr>
      </p:pic>
      <p:graphicFrame>
        <p:nvGraphicFramePr>
          <p:cNvPr id="3" name="Table 2">
            <a:extLst>
              <a:ext uri="{FF2B5EF4-FFF2-40B4-BE49-F238E27FC236}">
                <a16:creationId xmlns:a16="http://schemas.microsoft.com/office/drawing/2014/main" id="{E4A696A8-ACB9-5EE9-452A-C5EBC60BE321}"/>
              </a:ext>
            </a:extLst>
          </p:cNvPr>
          <p:cNvGraphicFramePr>
            <a:graphicFrameLocks noGrp="1"/>
          </p:cNvGraphicFramePr>
          <p:nvPr>
            <p:extLst>
              <p:ext uri="{D42A27DB-BD31-4B8C-83A1-F6EECF244321}">
                <p14:modId xmlns:p14="http://schemas.microsoft.com/office/powerpoint/2010/main" val="1519639756"/>
              </p:ext>
            </p:extLst>
          </p:nvPr>
        </p:nvGraphicFramePr>
        <p:xfrm>
          <a:off x="287547" y="3076755"/>
          <a:ext cx="11417292" cy="2123437"/>
        </p:xfrm>
        <a:graphic>
          <a:graphicData uri="http://schemas.openxmlformats.org/drawingml/2006/table">
            <a:tbl>
              <a:tblPr firstRow="1" bandRow="1">
                <a:tableStyleId>{5C22544A-7EE6-4342-B048-85BDC9FD1C3A}</a:tableStyleId>
              </a:tblPr>
              <a:tblGrid>
                <a:gridCol w="1902882">
                  <a:extLst>
                    <a:ext uri="{9D8B030D-6E8A-4147-A177-3AD203B41FA5}">
                      <a16:colId xmlns:a16="http://schemas.microsoft.com/office/drawing/2014/main" val="826890805"/>
                    </a:ext>
                  </a:extLst>
                </a:gridCol>
                <a:gridCol w="1902882">
                  <a:extLst>
                    <a:ext uri="{9D8B030D-6E8A-4147-A177-3AD203B41FA5}">
                      <a16:colId xmlns:a16="http://schemas.microsoft.com/office/drawing/2014/main" val="2668874096"/>
                    </a:ext>
                  </a:extLst>
                </a:gridCol>
                <a:gridCol w="1902882">
                  <a:extLst>
                    <a:ext uri="{9D8B030D-6E8A-4147-A177-3AD203B41FA5}">
                      <a16:colId xmlns:a16="http://schemas.microsoft.com/office/drawing/2014/main" val="1770866913"/>
                    </a:ext>
                  </a:extLst>
                </a:gridCol>
                <a:gridCol w="1902882">
                  <a:extLst>
                    <a:ext uri="{9D8B030D-6E8A-4147-A177-3AD203B41FA5}">
                      <a16:colId xmlns:a16="http://schemas.microsoft.com/office/drawing/2014/main" val="2890593018"/>
                    </a:ext>
                  </a:extLst>
                </a:gridCol>
                <a:gridCol w="1902882">
                  <a:extLst>
                    <a:ext uri="{9D8B030D-6E8A-4147-A177-3AD203B41FA5}">
                      <a16:colId xmlns:a16="http://schemas.microsoft.com/office/drawing/2014/main" val="322342306"/>
                    </a:ext>
                  </a:extLst>
                </a:gridCol>
                <a:gridCol w="1902882">
                  <a:extLst>
                    <a:ext uri="{9D8B030D-6E8A-4147-A177-3AD203B41FA5}">
                      <a16:colId xmlns:a16="http://schemas.microsoft.com/office/drawing/2014/main" val="2657107532"/>
                    </a:ext>
                  </a:extLst>
                </a:gridCol>
              </a:tblGrid>
              <a:tr h="370840">
                <a:tc>
                  <a:txBody>
                    <a:bodyPr/>
                    <a:lstStyle/>
                    <a:p>
                      <a:r>
                        <a:rPr lang="en-US"/>
                        <a:t>Demand Date</a:t>
                      </a:r>
                    </a:p>
                  </a:txBody>
                  <a:tcPr/>
                </a:tc>
                <a:tc>
                  <a:txBody>
                    <a:bodyPr/>
                    <a:lstStyle/>
                    <a:p>
                      <a:r>
                        <a:rPr lang="en-US"/>
                        <a:t>Due Date</a:t>
                      </a:r>
                    </a:p>
                  </a:txBody>
                  <a:tcPr/>
                </a:tc>
                <a:tc>
                  <a:txBody>
                    <a:bodyPr/>
                    <a:lstStyle/>
                    <a:p>
                      <a:r>
                        <a:rPr lang="en-US"/>
                        <a:t>Dock Date</a:t>
                      </a:r>
                    </a:p>
                  </a:txBody>
                  <a:tcPr/>
                </a:tc>
                <a:tc>
                  <a:txBody>
                    <a:bodyPr/>
                    <a:lstStyle/>
                    <a:p>
                      <a:r>
                        <a:rPr lang="en-US"/>
                        <a:t>Ship Date</a:t>
                      </a:r>
                    </a:p>
                  </a:txBody>
                  <a:tcPr/>
                </a:tc>
                <a:tc>
                  <a:txBody>
                    <a:bodyPr/>
                    <a:lstStyle/>
                    <a:p>
                      <a:r>
                        <a:rPr lang="en-US"/>
                        <a:t>Build Date</a:t>
                      </a:r>
                    </a:p>
                  </a:txBody>
                  <a:tcPr/>
                </a:tc>
                <a:tc>
                  <a:txBody>
                    <a:bodyPr/>
                    <a:lstStyle/>
                    <a:p>
                      <a:r>
                        <a:rPr lang="en-US"/>
                        <a:t>Start Date</a:t>
                      </a:r>
                    </a:p>
                  </a:txBody>
                  <a:tcPr/>
                </a:tc>
                <a:extLst>
                  <a:ext uri="{0D108BD9-81ED-4DB2-BD59-A6C34878D82A}">
                    <a16:rowId xmlns:a16="http://schemas.microsoft.com/office/drawing/2014/main" val="3434628265"/>
                  </a:ext>
                </a:extLst>
              </a:tr>
              <a:tr h="370840">
                <a:tc>
                  <a:txBody>
                    <a:bodyPr/>
                    <a:lstStyle/>
                    <a:p>
                      <a:r>
                        <a:rPr lang="en-US"/>
                        <a:t>Safety Time (1)</a:t>
                      </a:r>
                    </a:p>
                  </a:txBody>
                  <a:tcPr/>
                </a:tc>
                <a:tc>
                  <a:txBody>
                    <a:bodyPr/>
                    <a:lstStyle/>
                    <a:p>
                      <a:r>
                        <a:rPr lang="en-US">
                          <a:solidFill>
                            <a:srgbClr val="FF0000"/>
                          </a:solidFill>
                        </a:rPr>
                        <a:t>Dock To Stock (2)</a:t>
                      </a:r>
                    </a:p>
                  </a:txBody>
                  <a:tcPr/>
                </a:tc>
                <a:tc>
                  <a:txBody>
                    <a:bodyPr/>
                    <a:lstStyle/>
                    <a:p>
                      <a:r>
                        <a:rPr lang="en-US">
                          <a:solidFill>
                            <a:srgbClr val="FF0000"/>
                          </a:solidFill>
                        </a:rPr>
                        <a:t>Transit Time (3)</a:t>
                      </a:r>
                    </a:p>
                  </a:txBody>
                  <a:tcPr/>
                </a:tc>
                <a:tc>
                  <a:txBody>
                    <a:bodyPr/>
                    <a:lstStyle/>
                    <a:p>
                      <a:r>
                        <a:rPr lang="en-US">
                          <a:solidFill>
                            <a:srgbClr val="FF0000"/>
                          </a:solidFill>
                        </a:rPr>
                        <a:t>Pre-Ship Time (1)</a:t>
                      </a:r>
                    </a:p>
                  </a:txBody>
                  <a:tcPr/>
                </a:tc>
                <a:tc>
                  <a:txBody>
                    <a:bodyPr/>
                    <a:lstStyle/>
                    <a:p>
                      <a:r>
                        <a:rPr lang="en-US"/>
                        <a:t>Lead Time Adjust (1)</a:t>
                      </a:r>
                    </a:p>
                  </a:txBody>
                  <a:tcPr/>
                </a:tc>
                <a:tc>
                  <a:txBody>
                    <a:bodyPr/>
                    <a:lstStyle/>
                    <a:p>
                      <a:endParaRPr lang="en-US"/>
                    </a:p>
                  </a:txBody>
                  <a:tcPr/>
                </a:tc>
                <a:extLst>
                  <a:ext uri="{0D108BD9-81ED-4DB2-BD59-A6C34878D82A}">
                    <a16:rowId xmlns:a16="http://schemas.microsoft.com/office/drawing/2014/main" val="169593582"/>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r>
                        <a:rPr lang="en-US"/>
                        <a:t>Fixed (2)</a:t>
                      </a:r>
                    </a:p>
                  </a:txBody>
                  <a:tcPr/>
                </a:tc>
                <a:tc>
                  <a:txBody>
                    <a:bodyPr/>
                    <a:lstStyle/>
                    <a:p>
                      <a:endParaRPr lang="en-US"/>
                    </a:p>
                  </a:txBody>
                  <a:tcPr/>
                </a:tc>
                <a:extLst>
                  <a:ext uri="{0D108BD9-81ED-4DB2-BD59-A6C34878D82A}">
                    <a16:rowId xmlns:a16="http://schemas.microsoft.com/office/drawing/2014/main" val="3769563568"/>
                  </a:ext>
                </a:extLst>
              </a:tr>
              <a:tr h="370839">
                <a:tc>
                  <a:txBody>
                    <a:bodyPr/>
                    <a:lstStyle/>
                    <a:p>
                      <a:pPr lvl="0">
                        <a:buNone/>
                      </a:pPr>
                      <a:endParaRPr lang="en-US" dirty="0"/>
                    </a:p>
                  </a:txBody>
                  <a:tcPr/>
                </a:tc>
                <a:tc>
                  <a:txBody>
                    <a:bodyPr/>
                    <a:lstStyle/>
                    <a:p>
                      <a:pPr lvl="0">
                        <a:buNone/>
                      </a:pPr>
                      <a:endParaRPr lang="en-US" dirty="0"/>
                    </a:p>
                  </a:txBody>
                  <a:tcPr/>
                </a:tc>
                <a:tc>
                  <a:txBody>
                    <a:bodyPr/>
                    <a:lstStyle/>
                    <a:p>
                      <a:pPr lvl="0">
                        <a:buNone/>
                      </a:pPr>
                      <a:endParaRPr lang="en-US" dirty="0"/>
                    </a:p>
                  </a:txBody>
                  <a:tcPr/>
                </a:tc>
                <a:tc>
                  <a:txBody>
                    <a:bodyPr/>
                    <a:lstStyle/>
                    <a:p>
                      <a:pPr lvl="0">
                        <a:buNone/>
                      </a:pPr>
                      <a:endParaRPr lang="en-US" dirty="0"/>
                    </a:p>
                  </a:txBody>
                  <a:tcPr/>
                </a:tc>
                <a:tc>
                  <a:txBody>
                    <a:bodyPr/>
                    <a:lstStyle/>
                    <a:p>
                      <a:pPr lvl="0">
                        <a:buNone/>
                      </a:pPr>
                      <a:r>
                        <a:rPr lang="en-US"/>
                        <a:t>Variable (1*2)</a:t>
                      </a:r>
                      <a:endParaRPr lang="en-US" dirty="0"/>
                    </a:p>
                  </a:txBody>
                  <a:tcPr/>
                </a:tc>
                <a:tc>
                  <a:txBody>
                    <a:bodyPr/>
                    <a:lstStyle/>
                    <a:p>
                      <a:pPr lvl="0">
                        <a:buNone/>
                      </a:pPr>
                      <a:endParaRPr lang="en-US" dirty="0"/>
                    </a:p>
                  </a:txBody>
                  <a:tcPr/>
                </a:tc>
                <a:extLst>
                  <a:ext uri="{0D108BD9-81ED-4DB2-BD59-A6C34878D82A}">
                    <a16:rowId xmlns:a16="http://schemas.microsoft.com/office/drawing/2014/main" val="496422798"/>
                  </a:ext>
                </a:extLst>
              </a:tr>
              <a:tr h="370838">
                <a:tc>
                  <a:txBody>
                    <a:bodyPr/>
                    <a:lstStyle/>
                    <a:p>
                      <a:pPr lvl="0">
                        <a:buNone/>
                      </a:pPr>
                      <a:endParaRPr lang="en-US" dirty="0"/>
                    </a:p>
                  </a:txBody>
                  <a:tcPr/>
                </a:tc>
                <a:tc>
                  <a:txBody>
                    <a:bodyPr/>
                    <a:lstStyle/>
                    <a:p>
                      <a:pPr lvl="0">
                        <a:buNone/>
                      </a:pPr>
                      <a:r>
                        <a:rPr lang="en-US"/>
                        <a:t>10/13/2026</a:t>
                      </a:r>
                      <a:endParaRPr lang="en-US" dirty="0"/>
                    </a:p>
                  </a:txBody>
                  <a:tcPr/>
                </a:tc>
                <a:tc>
                  <a:txBody>
                    <a:bodyPr/>
                    <a:lstStyle/>
                    <a:p>
                      <a:pPr lvl="0">
                        <a:buNone/>
                      </a:pPr>
                      <a:r>
                        <a:rPr lang="en-US"/>
                        <a:t>10/13/2026</a:t>
                      </a:r>
                      <a:endParaRPr lang="en-US" dirty="0"/>
                    </a:p>
                  </a:txBody>
                  <a:tcPr/>
                </a:tc>
                <a:tc>
                  <a:txBody>
                    <a:bodyPr/>
                    <a:lstStyle/>
                    <a:p>
                      <a:pPr lvl="0">
                        <a:buNone/>
                      </a:pPr>
                      <a:r>
                        <a:rPr lang="en-US"/>
                        <a:t>10/13/11</a:t>
                      </a:r>
                      <a:endParaRPr lang="en-US" dirty="0"/>
                    </a:p>
                  </a:txBody>
                  <a:tcPr/>
                </a:tc>
                <a:tc>
                  <a:txBody>
                    <a:bodyPr/>
                    <a:lstStyle/>
                    <a:p>
                      <a:pPr lvl="0">
                        <a:buNone/>
                      </a:pPr>
                      <a:r>
                        <a:rPr lang="en-US"/>
                        <a:t>10/13/2026</a:t>
                      </a:r>
                      <a:endParaRPr lang="en-US" dirty="0"/>
                    </a:p>
                  </a:txBody>
                  <a:tcPr/>
                </a:tc>
                <a:tc>
                  <a:txBody>
                    <a:bodyPr/>
                    <a:lstStyle/>
                    <a:p>
                      <a:pPr lvl="0">
                        <a:buNone/>
                      </a:pPr>
                      <a:r>
                        <a:rPr lang="en-US"/>
                        <a:t>10/08/2026</a:t>
                      </a:r>
                      <a:endParaRPr lang="en-US" dirty="0"/>
                    </a:p>
                  </a:txBody>
                  <a:tcPr/>
                </a:tc>
                <a:extLst>
                  <a:ext uri="{0D108BD9-81ED-4DB2-BD59-A6C34878D82A}">
                    <a16:rowId xmlns:a16="http://schemas.microsoft.com/office/drawing/2014/main" val="4209623429"/>
                  </a:ext>
                </a:extLst>
              </a:tr>
            </a:tbl>
          </a:graphicData>
        </a:graphic>
      </p:graphicFrame>
      <p:sp>
        <p:nvSpPr>
          <p:cNvPr id="7" name="TextBox 6">
            <a:extLst>
              <a:ext uri="{FF2B5EF4-FFF2-40B4-BE49-F238E27FC236}">
                <a16:creationId xmlns:a16="http://schemas.microsoft.com/office/drawing/2014/main" id="{567E1BCD-331E-0066-9BEB-F0B3E0F65DEC}"/>
              </a:ext>
            </a:extLst>
          </p:cNvPr>
          <p:cNvSpPr txBox="1"/>
          <p:nvPr/>
        </p:nvSpPr>
        <p:spPr>
          <a:xfrm>
            <a:off x="287547" y="424131"/>
            <a:ext cx="11415622" cy="26776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cs typeface="Arial"/>
              </a:rPr>
              <a:t>Simulation 4:</a:t>
            </a:r>
          </a:p>
          <a:p>
            <a:endParaRPr lang="en-US" dirty="0">
              <a:cs typeface="Arial"/>
            </a:endParaRPr>
          </a:p>
          <a:p>
            <a:pPr marL="285750" indent="-285750">
              <a:buFont typeface="Arial"/>
              <a:buChar char="•"/>
            </a:pPr>
            <a:r>
              <a:rPr lang="en-US" dirty="0" err="1">
                <a:cs typeface="Arial"/>
              </a:rPr>
              <a:t>SupplyType.LeadTimeRule</a:t>
            </a:r>
            <a:r>
              <a:rPr lang="en-US" dirty="0">
                <a:cs typeface="Arial"/>
              </a:rPr>
              <a:t> = Override</a:t>
            </a:r>
          </a:p>
          <a:p>
            <a:pPr marL="285750" indent="-285750">
              <a:buFont typeface="Arial"/>
              <a:buChar char="•"/>
            </a:pPr>
            <a:r>
              <a:rPr lang="en-US" dirty="0" err="1">
                <a:cs typeface="Arial"/>
              </a:rPr>
              <a:t>SupplyStatus.LeadTimeOverride</a:t>
            </a:r>
            <a:r>
              <a:rPr lang="en-US" dirty="0">
                <a:cs typeface="Arial"/>
              </a:rPr>
              <a:t> = </a:t>
            </a:r>
            <a:r>
              <a:rPr lang="en-US" dirty="0" err="1">
                <a:cs typeface="Arial"/>
              </a:rPr>
              <a:t>FromOrder</a:t>
            </a:r>
          </a:p>
          <a:p>
            <a:pPr marL="285750" indent="-285750">
              <a:buFont typeface="Arial"/>
              <a:buChar char="•"/>
            </a:pPr>
            <a:r>
              <a:rPr lang="en-US">
                <a:cs typeface="Arial"/>
              </a:rPr>
              <a:t>Transit Rule = Inclusive</a:t>
            </a:r>
            <a:endParaRPr lang="en-US" dirty="0">
              <a:cs typeface="Arial"/>
            </a:endParaRPr>
          </a:p>
          <a:p>
            <a:pPr marL="285750" indent="-285750">
              <a:buFont typeface="Arial"/>
              <a:buChar char="•"/>
            </a:pPr>
            <a:r>
              <a:rPr lang="en-US">
                <a:cs typeface="Arial"/>
              </a:rPr>
              <a:t>Scheduled Receipt for Qtd (2).</a:t>
            </a:r>
          </a:p>
          <a:p>
            <a:pPr marL="285750" indent="-285750">
              <a:buFont typeface="Arial,Sans-Serif"/>
              <a:buChar char="•"/>
            </a:pPr>
            <a:r>
              <a:rPr lang="en-US">
                <a:cs typeface="Arial"/>
              </a:rPr>
              <a:t>Lead Time Value come from Scheduled Receipt Table, without considering lead time elements DTS, Transit and Pre-Ship Time into calculations.</a:t>
            </a:r>
          </a:p>
          <a:p>
            <a:pPr marL="285750" indent="-285750">
              <a:buFont typeface="Arial"/>
              <a:buChar char="•"/>
            </a:pPr>
            <a:endParaRPr lang="en-US" dirty="0">
              <a:cs typeface="Arial"/>
            </a:endParaRPr>
          </a:p>
        </p:txBody>
      </p:sp>
    </p:spTree>
    <p:extLst>
      <p:ext uri="{BB962C8B-B14F-4D97-AF65-F5344CB8AC3E}">
        <p14:creationId xmlns:p14="http://schemas.microsoft.com/office/powerpoint/2010/main" val="95067906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4F1F55-DB38-5B2A-55CF-89FA39955AC3}"/>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FA95384F-B0F0-B041-0A97-A81FE01629F6}"/>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9FEE3446-6080-0AB5-2E37-708073CFEBF4}"/>
              </a:ext>
            </a:extLst>
          </p:cNvPr>
          <p:cNvPicPr>
            <a:picLocks noChangeAspect="1"/>
          </p:cNvPicPr>
          <p:nvPr/>
        </p:nvPicPr>
        <p:blipFill>
          <a:blip r:embed="rId3"/>
          <a:stretch>
            <a:fillRect/>
          </a:stretch>
        </p:blipFill>
        <p:spPr>
          <a:xfrm>
            <a:off x="9181381" y="65406"/>
            <a:ext cx="2743200" cy="717452"/>
          </a:xfrm>
          <a:prstGeom prst="rect">
            <a:avLst/>
          </a:prstGeom>
        </p:spPr>
      </p:pic>
      <p:pic>
        <p:nvPicPr>
          <p:cNvPr id="2" name="Picture 1" descr="A screenshot of a computer&#10;&#10;AI-generated content may be incorrect.">
            <a:extLst>
              <a:ext uri="{FF2B5EF4-FFF2-40B4-BE49-F238E27FC236}">
                <a16:creationId xmlns:a16="http://schemas.microsoft.com/office/drawing/2014/main" id="{D9309EEC-ABCC-3AEB-3EF6-7B13C64F6746}"/>
              </a:ext>
            </a:extLst>
          </p:cNvPr>
          <p:cNvPicPr>
            <a:picLocks noChangeAspect="1"/>
          </p:cNvPicPr>
          <p:nvPr/>
        </p:nvPicPr>
        <p:blipFill>
          <a:blip r:embed="rId4"/>
          <a:stretch>
            <a:fillRect/>
          </a:stretch>
        </p:blipFill>
        <p:spPr>
          <a:xfrm>
            <a:off x="416943" y="966174"/>
            <a:ext cx="11343737" cy="518444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53261210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35313F-8949-0F1B-92BA-8FCA8F03E615}"/>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F88D5D64-59B5-B00D-41CA-C0ED4E01FC15}"/>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6505EDC7-94E6-71AA-5609-83D78154021E}"/>
              </a:ext>
            </a:extLst>
          </p:cNvPr>
          <p:cNvPicPr>
            <a:picLocks noChangeAspect="1"/>
          </p:cNvPicPr>
          <p:nvPr/>
        </p:nvPicPr>
        <p:blipFill>
          <a:blip r:embed="rId3"/>
          <a:stretch>
            <a:fillRect/>
          </a:stretch>
        </p:blipFill>
        <p:spPr>
          <a:xfrm>
            <a:off x="9181381" y="65406"/>
            <a:ext cx="2743200" cy="717452"/>
          </a:xfrm>
          <a:prstGeom prst="rect">
            <a:avLst/>
          </a:prstGeom>
        </p:spPr>
      </p:pic>
      <p:graphicFrame>
        <p:nvGraphicFramePr>
          <p:cNvPr id="3" name="Table 2">
            <a:extLst>
              <a:ext uri="{FF2B5EF4-FFF2-40B4-BE49-F238E27FC236}">
                <a16:creationId xmlns:a16="http://schemas.microsoft.com/office/drawing/2014/main" id="{DB79BDAE-587B-C410-4368-2E77CAB166C5}"/>
              </a:ext>
            </a:extLst>
          </p:cNvPr>
          <p:cNvGraphicFramePr>
            <a:graphicFrameLocks noGrp="1"/>
          </p:cNvGraphicFramePr>
          <p:nvPr>
            <p:extLst>
              <p:ext uri="{D42A27DB-BD31-4B8C-83A1-F6EECF244321}">
                <p14:modId xmlns:p14="http://schemas.microsoft.com/office/powerpoint/2010/main" val="3616754744"/>
              </p:ext>
            </p:extLst>
          </p:nvPr>
        </p:nvGraphicFramePr>
        <p:xfrm>
          <a:off x="287547" y="3076755"/>
          <a:ext cx="11417292" cy="2123437"/>
        </p:xfrm>
        <a:graphic>
          <a:graphicData uri="http://schemas.openxmlformats.org/drawingml/2006/table">
            <a:tbl>
              <a:tblPr firstRow="1" bandRow="1">
                <a:tableStyleId>{5C22544A-7EE6-4342-B048-85BDC9FD1C3A}</a:tableStyleId>
              </a:tblPr>
              <a:tblGrid>
                <a:gridCol w="1902882">
                  <a:extLst>
                    <a:ext uri="{9D8B030D-6E8A-4147-A177-3AD203B41FA5}">
                      <a16:colId xmlns:a16="http://schemas.microsoft.com/office/drawing/2014/main" val="826890805"/>
                    </a:ext>
                  </a:extLst>
                </a:gridCol>
                <a:gridCol w="1902882">
                  <a:extLst>
                    <a:ext uri="{9D8B030D-6E8A-4147-A177-3AD203B41FA5}">
                      <a16:colId xmlns:a16="http://schemas.microsoft.com/office/drawing/2014/main" val="2668874096"/>
                    </a:ext>
                  </a:extLst>
                </a:gridCol>
                <a:gridCol w="1902882">
                  <a:extLst>
                    <a:ext uri="{9D8B030D-6E8A-4147-A177-3AD203B41FA5}">
                      <a16:colId xmlns:a16="http://schemas.microsoft.com/office/drawing/2014/main" val="1770866913"/>
                    </a:ext>
                  </a:extLst>
                </a:gridCol>
                <a:gridCol w="1902882">
                  <a:extLst>
                    <a:ext uri="{9D8B030D-6E8A-4147-A177-3AD203B41FA5}">
                      <a16:colId xmlns:a16="http://schemas.microsoft.com/office/drawing/2014/main" val="2890593018"/>
                    </a:ext>
                  </a:extLst>
                </a:gridCol>
                <a:gridCol w="1902882">
                  <a:extLst>
                    <a:ext uri="{9D8B030D-6E8A-4147-A177-3AD203B41FA5}">
                      <a16:colId xmlns:a16="http://schemas.microsoft.com/office/drawing/2014/main" val="322342306"/>
                    </a:ext>
                  </a:extLst>
                </a:gridCol>
                <a:gridCol w="1902882">
                  <a:extLst>
                    <a:ext uri="{9D8B030D-6E8A-4147-A177-3AD203B41FA5}">
                      <a16:colId xmlns:a16="http://schemas.microsoft.com/office/drawing/2014/main" val="2657107532"/>
                    </a:ext>
                  </a:extLst>
                </a:gridCol>
              </a:tblGrid>
              <a:tr h="370840">
                <a:tc>
                  <a:txBody>
                    <a:bodyPr/>
                    <a:lstStyle/>
                    <a:p>
                      <a:r>
                        <a:rPr lang="en-US"/>
                        <a:t>Demand Date</a:t>
                      </a:r>
                    </a:p>
                  </a:txBody>
                  <a:tcPr/>
                </a:tc>
                <a:tc>
                  <a:txBody>
                    <a:bodyPr/>
                    <a:lstStyle/>
                    <a:p>
                      <a:r>
                        <a:rPr lang="en-US"/>
                        <a:t>Due Date</a:t>
                      </a:r>
                    </a:p>
                  </a:txBody>
                  <a:tcPr/>
                </a:tc>
                <a:tc>
                  <a:txBody>
                    <a:bodyPr/>
                    <a:lstStyle/>
                    <a:p>
                      <a:r>
                        <a:rPr lang="en-US"/>
                        <a:t>Dock Date</a:t>
                      </a:r>
                    </a:p>
                  </a:txBody>
                  <a:tcPr/>
                </a:tc>
                <a:tc>
                  <a:txBody>
                    <a:bodyPr/>
                    <a:lstStyle/>
                    <a:p>
                      <a:r>
                        <a:rPr lang="en-US"/>
                        <a:t>Ship Date</a:t>
                      </a:r>
                    </a:p>
                  </a:txBody>
                  <a:tcPr/>
                </a:tc>
                <a:tc>
                  <a:txBody>
                    <a:bodyPr/>
                    <a:lstStyle/>
                    <a:p>
                      <a:r>
                        <a:rPr lang="en-US"/>
                        <a:t>Build Date</a:t>
                      </a:r>
                    </a:p>
                  </a:txBody>
                  <a:tcPr/>
                </a:tc>
                <a:tc>
                  <a:txBody>
                    <a:bodyPr/>
                    <a:lstStyle/>
                    <a:p>
                      <a:r>
                        <a:rPr lang="en-US"/>
                        <a:t>Start Date</a:t>
                      </a:r>
                    </a:p>
                  </a:txBody>
                  <a:tcPr/>
                </a:tc>
                <a:extLst>
                  <a:ext uri="{0D108BD9-81ED-4DB2-BD59-A6C34878D82A}">
                    <a16:rowId xmlns:a16="http://schemas.microsoft.com/office/drawing/2014/main" val="3434628265"/>
                  </a:ext>
                </a:extLst>
              </a:tr>
              <a:tr h="370840">
                <a:tc>
                  <a:txBody>
                    <a:bodyPr/>
                    <a:lstStyle/>
                    <a:p>
                      <a:r>
                        <a:rPr lang="en-US"/>
                        <a:t>Safety Time (1)</a:t>
                      </a:r>
                    </a:p>
                  </a:txBody>
                  <a:tcPr/>
                </a:tc>
                <a:tc>
                  <a:txBody>
                    <a:bodyPr/>
                    <a:lstStyle/>
                    <a:p>
                      <a:r>
                        <a:rPr lang="en-US">
                          <a:solidFill>
                            <a:srgbClr val="FF0000"/>
                          </a:solidFill>
                        </a:rPr>
                        <a:t>Dock To Stock (1)</a:t>
                      </a:r>
                    </a:p>
                  </a:txBody>
                  <a:tcPr/>
                </a:tc>
                <a:tc>
                  <a:txBody>
                    <a:bodyPr/>
                    <a:lstStyle/>
                    <a:p>
                      <a:r>
                        <a:rPr lang="en-US">
                          <a:solidFill>
                            <a:srgbClr val="FF0000"/>
                          </a:solidFill>
                        </a:rPr>
                        <a:t>Transit Time (2)</a:t>
                      </a:r>
                    </a:p>
                  </a:txBody>
                  <a:tcPr/>
                </a:tc>
                <a:tc>
                  <a:txBody>
                    <a:bodyPr/>
                    <a:lstStyle/>
                    <a:p>
                      <a:r>
                        <a:rPr lang="en-US">
                          <a:solidFill>
                            <a:srgbClr val="FF0000"/>
                          </a:solidFill>
                        </a:rPr>
                        <a:t>Pre-Ship Time (0)</a:t>
                      </a:r>
                    </a:p>
                  </a:txBody>
                  <a:tcPr/>
                </a:tc>
                <a:tc>
                  <a:txBody>
                    <a:bodyPr/>
                    <a:lstStyle/>
                    <a:p>
                      <a:r>
                        <a:rPr lang="en-US"/>
                        <a:t>Lead Time Adjust (1)</a:t>
                      </a:r>
                    </a:p>
                  </a:txBody>
                  <a:tcPr/>
                </a:tc>
                <a:tc>
                  <a:txBody>
                    <a:bodyPr/>
                    <a:lstStyle/>
                    <a:p>
                      <a:endParaRPr lang="en-US"/>
                    </a:p>
                  </a:txBody>
                  <a:tcPr/>
                </a:tc>
                <a:extLst>
                  <a:ext uri="{0D108BD9-81ED-4DB2-BD59-A6C34878D82A}">
                    <a16:rowId xmlns:a16="http://schemas.microsoft.com/office/drawing/2014/main" val="169593582"/>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r>
                        <a:rPr lang="en-US"/>
                        <a:t>Fixed (1)</a:t>
                      </a:r>
                    </a:p>
                  </a:txBody>
                  <a:tcPr/>
                </a:tc>
                <a:tc>
                  <a:txBody>
                    <a:bodyPr/>
                    <a:lstStyle/>
                    <a:p>
                      <a:endParaRPr lang="en-US"/>
                    </a:p>
                  </a:txBody>
                  <a:tcPr/>
                </a:tc>
                <a:extLst>
                  <a:ext uri="{0D108BD9-81ED-4DB2-BD59-A6C34878D82A}">
                    <a16:rowId xmlns:a16="http://schemas.microsoft.com/office/drawing/2014/main" val="3769563568"/>
                  </a:ext>
                </a:extLst>
              </a:tr>
              <a:tr h="370839">
                <a:tc>
                  <a:txBody>
                    <a:bodyPr/>
                    <a:lstStyle/>
                    <a:p>
                      <a:pPr lvl="0">
                        <a:buNone/>
                      </a:pPr>
                      <a:endParaRPr lang="en-US" dirty="0"/>
                    </a:p>
                  </a:txBody>
                  <a:tcPr/>
                </a:tc>
                <a:tc>
                  <a:txBody>
                    <a:bodyPr/>
                    <a:lstStyle/>
                    <a:p>
                      <a:pPr lvl="0">
                        <a:buNone/>
                      </a:pPr>
                      <a:endParaRPr lang="en-US" dirty="0"/>
                    </a:p>
                  </a:txBody>
                  <a:tcPr/>
                </a:tc>
                <a:tc>
                  <a:txBody>
                    <a:bodyPr/>
                    <a:lstStyle/>
                    <a:p>
                      <a:pPr lvl="0">
                        <a:buNone/>
                      </a:pPr>
                      <a:endParaRPr lang="en-US" dirty="0"/>
                    </a:p>
                  </a:txBody>
                  <a:tcPr/>
                </a:tc>
                <a:tc>
                  <a:txBody>
                    <a:bodyPr/>
                    <a:lstStyle/>
                    <a:p>
                      <a:pPr lvl="0">
                        <a:buNone/>
                      </a:pPr>
                      <a:endParaRPr lang="en-US" dirty="0"/>
                    </a:p>
                  </a:txBody>
                  <a:tcPr/>
                </a:tc>
                <a:tc>
                  <a:txBody>
                    <a:bodyPr/>
                    <a:lstStyle/>
                    <a:p>
                      <a:pPr lvl="0">
                        <a:buNone/>
                      </a:pPr>
                      <a:r>
                        <a:rPr lang="en-US"/>
                        <a:t>Variable (0*2)</a:t>
                      </a:r>
                      <a:endParaRPr lang="en-US" dirty="0"/>
                    </a:p>
                  </a:txBody>
                  <a:tcPr/>
                </a:tc>
                <a:tc>
                  <a:txBody>
                    <a:bodyPr/>
                    <a:lstStyle/>
                    <a:p>
                      <a:pPr lvl="0">
                        <a:buNone/>
                      </a:pPr>
                      <a:endParaRPr lang="en-US" dirty="0"/>
                    </a:p>
                  </a:txBody>
                  <a:tcPr/>
                </a:tc>
                <a:extLst>
                  <a:ext uri="{0D108BD9-81ED-4DB2-BD59-A6C34878D82A}">
                    <a16:rowId xmlns:a16="http://schemas.microsoft.com/office/drawing/2014/main" val="496422798"/>
                  </a:ext>
                </a:extLst>
              </a:tr>
              <a:tr h="370838">
                <a:tc>
                  <a:txBody>
                    <a:bodyPr/>
                    <a:lstStyle/>
                    <a:p>
                      <a:pPr lvl="0">
                        <a:buNone/>
                      </a:pPr>
                      <a:endParaRPr lang="en-US" dirty="0"/>
                    </a:p>
                  </a:txBody>
                  <a:tcPr/>
                </a:tc>
                <a:tc>
                  <a:txBody>
                    <a:bodyPr/>
                    <a:lstStyle/>
                    <a:p>
                      <a:pPr lvl="0">
                        <a:buNone/>
                      </a:pPr>
                      <a:r>
                        <a:rPr lang="en-US"/>
                        <a:t>10/13/2026</a:t>
                      </a:r>
                      <a:endParaRPr lang="en-US" dirty="0"/>
                    </a:p>
                  </a:txBody>
                  <a:tcPr/>
                </a:tc>
                <a:tc>
                  <a:txBody>
                    <a:bodyPr/>
                    <a:lstStyle/>
                    <a:p>
                      <a:pPr lvl="0">
                        <a:buNone/>
                      </a:pPr>
                      <a:r>
                        <a:rPr lang="en-US"/>
                        <a:t>10/13/2026</a:t>
                      </a:r>
                      <a:endParaRPr lang="en-US" dirty="0"/>
                    </a:p>
                  </a:txBody>
                  <a:tcPr/>
                </a:tc>
                <a:tc>
                  <a:txBody>
                    <a:bodyPr/>
                    <a:lstStyle/>
                    <a:p>
                      <a:pPr lvl="0">
                        <a:buNone/>
                      </a:pPr>
                      <a:r>
                        <a:rPr lang="en-US"/>
                        <a:t>10/13/2026</a:t>
                      </a:r>
                      <a:endParaRPr lang="en-US" dirty="0"/>
                    </a:p>
                  </a:txBody>
                  <a:tcPr/>
                </a:tc>
                <a:tc>
                  <a:txBody>
                    <a:bodyPr/>
                    <a:lstStyle/>
                    <a:p>
                      <a:pPr lvl="0">
                        <a:buNone/>
                      </a:pPr>
                      <a:r>
                        <a:rPr lang="en-US"/>
                        <a:t>10/13/2026</a:t>
                      </a:r>
                      <a:endParaRPr lang="en-US" dirty="0"/>
                    </a:p>
                  </a:txBody>
                  <a:tcPr/>
                </a:tc>
                <a:tc>
                  <a:txBody>
                    <a:bodyPr/>
                    <a:lstStyle/>
                    <a:p>
                      <a:pPr lvl="0">
                        <a:buNone/>
                      </a:pPr>
                      <a:r>
                        <a:rPr lang="en-US"/>
                        <a:t>10/11/2026</a:t>
                      </a:r>
                      <a:endParaRPr lang="en-US" dirty="0"/>
                    </a:p>
                  </a:txBody>
                  <a:tcPr/>
                </a:tc>
                <a:extLst>
                  <a:ext uri="{0D108BD9-81ED-4DB2-BD59-A6C34878D82A}">
                    <a16:rowId xmlns:a16="http://schemas.microsoft.com/office/drawing/2014/main" val="4209623429"/>
                  </a:ext>
                </a:extLst>
              </a:tr>
            </a:tbl>
          </a:graphicData>
        </a:graphic>
      </p:graphicFrame>
      <p:sp>
        <p:nvSpPr>
          <p:cNvPr id="7" name="TextBox 6">
            <a:extLst>
              <a:ext uri="{FF2B5EF4-FFF2-40B4-BE49-F238E27FC236}">
                <a16:creationId xmlns:a16="http://schemas.microsoft.com/office/drawing/2014/main" id="{CB603781-698F-9A28-1D9D-F38AC152C32B}"/>
              </a:ext>
            </a:extLst>
          </p:cNvPr>
          <p:cNvSpPr txBox="1"/>
          <p:nvPr/>
        </p:nvSpPr>
        <p:spPr>
          <a:xfrm>
            <a:off x="287547" y="424131"/>
            <a:ext cx="11415622" cy="26776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cs typeface="Arial"/>
              </a:rPr>
              <a:t>Simulation 5:</a:t>
            </a:r>
          </a:p>
          <a:p>
            <a:endParaRPr lang="en-US" dirty="0">
              <a:cs typeface="Arial"/>
            </a:endParaRPr>
          </a:p>
          <a:p>
            <a:pPr marL="285750" indent="-285750">
              <a:buFont typeface="Arial"/>
              <a:buChar char="•"/>
            </a:pPr>
            <a:r>
              <a:rPr lang="en-US" dirty="0" err="1">
                <a:cs typeface="Arial"/>
              </a:rPr>
              <a:t>SupplyType.LeadTimeRule</a:t>
            </a:r>
            <a:r>
              <a:rPr lang="en-US" dirty="0">
                <a:cs typeface="Arial"/>
              </a:rPr>
              <a:t> = Ignore</a:t>
            </a:r>
          </a:p>
          <a:p>
            <a:pPr marL="285750" indent="-285750">
              <a:buFont typeface="Arial"/>
              <a:buChar char="•"/>
            </a:pPr>
            <a:r>
              <a:rPr lang="en-US" dirty="0" err="1">
                <a:cs typeface="Arial"/>
              </a:rPr>
              <a:t>SupplyStatus.LeadTimeOverride</a:t>
            </a:r>
            <a:r>
              <a:rPr lang="en-US" dirty="0">
                <a:cs typeface="Arial"/>
              </a:rPr>
              <a:t> = </a:t>
            </a:r>
            <a:r>
              <a:rPr lang="en-US" dirty="0" err="1">
                <a:cs typeface="Arial"/>
              </a:rPr>
              <a:t>FromOrder</a:t>
            </a:r>
            <a:endParaRPr lang="en-US">
              <a:cs typeface="Arial"/>
            </a:endParaRPr>
          </a:p>
          <a:p>
            <a:pPr marL="285750" indent="-285750">
              <a:buFont typeface="Arial,Sans-Serif"/>
              <a:buChar char="•"/>
            </a:pPr>
            <a:r>
              <a:rPr lang="en-US">
                <a:cs typeface="Arial"/>
              </a:rPr>
              <a:t>Transit Rule = Inclusive</a:t>
            </a:r>
          </a:p>
          <a:p>
            <a:pPr marL="285750" indent="-285750">
              <a:buFont typeface="Arial"/>
              <a:buChar char="•"/>
            </a:pPr>
            <a:r>
              <a:rPr lang="en-US">
                <a:cs typeface="Arial"/>
              </a:rPr>
              <a:t>Scheduled Receipt for Qtd (2).</a:t>
            </a:r>
          </a:p>
          <a:p>
            <a:pPr marL="285750" indent="-285750">
              <a:buFont typeface="Arial,Sans-Serif"/>
              <a:buChar char="•"/>
            </a:pPr>
            <a:r>
              <a:rPr lang="en-US">
                <a:cs typeface="Arial"/>
              </a:rPr>
              <a:t>Lead Time Value come from Part Source Table, without considering lead time elements DTS, Transit and Pre-Ship Time into calculations.</a:t>
            </a:r>
          </a:p>
          <a:p>
            <a:pPr marL="285750" indent="-285750">
              <a:buFont typeface="Arial"/>
              <a:buChar char="•"/>
            </a:pPr>
            <a:endParaRPr lang="en-US" dirty="0">
              <a:cs typeface="Arial"/>
            </a:endParaRPr>
          </a:p>
        </p:txBody>
      </p:sp>
    </p:spTree>
    <p:extLst>
      <p:ext uri="{BB962C8B-B14F-4D97-AF65-F5344CB8AC3E}">
        <p14:creationId xmlns:p14="http://schemas.microsoft.com/office/powerpoint/2010/main" val="385648391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D24D3A-E495-612F-511D-31EBC17CBB5D}"/>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AE39126B-F08A-036C-85E4-318EA890C2CB}"/>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01E3BB75-F831-B9D9-F71B-951630EC59CF}"/>
              </a:ext>
            </a:extLst>
          </p:cNvPr>
          <p:cNvPicPr>
            <a:picLocks noChangeAspect="1"/>
          </p:cNvPicPr>
          <p:nvPr/>
        </p:nvPicPr>
        <p:blipFill>
          <a:blip r:embed="rId3"/>
          <a:stretch>
            <a:fillRect/>
          </a:stretch>
        </p:blipFill>
        <p:spPr>
          <a:xfrm>
            <a:off x="9181381" y="65406"/>
            <a:ext cx="2743200" cy="717452"/>
          </a:xfrm>
          <a:prstGeom prst="rect">
            <a:avLst/>
          </a:prstGeom>
        </p:spPr>
      </p:pic>
      <p:pic>
        <p:nvPicPr>
          <p:cNvPr id="2" name="Picture 1" descr="A screenshot of a computer&#10;&#10;AI-generated content may be incorrect.">
            <a:extLst>
              <a:ext uri="{FF2B5EF4-FFF2-40B4-BE49-F238E27FC236}">
                <a16:creationId xmlns:a16="http://schemas.microsoft.com/office/drawing/2014/main" id="{642EFE4E-D60A-4BBE-CDE3-DC791A89BDAE}"/>
              </a:ext>
            </a:extLst>
          </p:cNvPr>
          <p:cNvPicPr>
            <a:picLocks noChangeAspect="1"/>
          </p:cNvPicPr>
          <p:nvPr/>
        </p:nvPicPr>
        <p:blipFill>
          <a:blip r:embed="rId4"/>
          <a:stretch>
            <a:fillRect/>
          </a:stretch>
        </p:blipFill>
        <p:spPr>
          <a:xfrm>
            <a:off x="460074" y="978333"/>
            <a:ext cx="11271851" cy="521763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99985914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9FEA90-437C-8B31-71E7-C2B289FEFD43}"/>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74FFDB2B-1CB4-9B25-616C-7360B97CA049}"/>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D7EDF4FF-5E8F-B4B0-7F5E-8BD7CAFCDB9C}"/>
              </a:ext>
            </a:extLst>
          </p:cNvPr>
          <p:cNvPicPr>
            <a:picLocks noChangeAspect="1"/>
          </p:cNvPicPr>
          <p:nvPr/>
        </p:nvPicPr>
        <p:blipFill>
          <a:blip r:embed="rId3"/>
          <a:stretch>
            <a:fillRect/>
          </a:stretch>
        </p:blipFill>
        <p:spPr>
          <a:xfrm>
            <a:off x="9181381" y="65406"/>
            <a:ext cx="2743200" cy="717452"/>
          </a:xfrm>
          <a:prstGeom prst="rect">
            <a:avLst/>
          </a:prstGeom>
        </p:spPr>
      </p:pic>
      <p:graphicFrame>
        <p:nvGraphicFramePr>
          <p:cNvPr id="3" name="Table 2">
            <a:extLst>
              <a:ext uri="{FF2B5EF4-FFF2-40B4-BE49-F238E27FC236}">
                <a16:creationId xmlns:a16="http://schemas.microsoft.com/office/drawing/2014/main" id="{CDA67754-C5C5-9CB0-9B51-C0CF224A8F44}"/>
              </a:ext>
            </a:extLst>
          </p:cNvPr>
          <p:cNvGraphicFramePr>
            <a:graphicFrameLocks noGrp="1"/>
          </p:cNvGraphicFramePr>
          <p:nvPr>
            <p:extLst>
              <p:ext uri="{D42A27DB-BD31-4B8C-83A1-F6EECF244321}">
                <p14:modId xmlns:p14="http://schemas.microsoft.com/office/powerpoint/2010/main" val="521197483"/>
              </p:ext>
            </p:extLst>
          </p:nvPr>
        </p:nvGraphicFramePr>
        <p:xfrm>
          <a:off x="287547" y="3076755"/>
          <a:ext cx="11417292" cy="2123437"/>
        </p:xfrm>
        <a:graphic>
          <a:graphicData uri="http://schemas.openxmlformats.org/drawingml/2006/table">
            <a:tbl>
              <a:tblPr firstRow="1" bandRow="1">
                <a:tableStyleId>{5C22544A-7EE6-4342-B048-85BDC9FD1C3A}</a:tableStyleId>
              </a:tblPr>
              <a:tblGrid>
                <a:gridCol w="1902882">
                  <a:extLst>
                    <a:ext uri="{9D8B030D-6E8A-4147-A177-3AD203B41FA5}">
                      <a16:colId xmlns:a16="http://schemas.microsoft.com/office/drawing/2014/main" val="826890805"/>
                    </a:ext>
                  </a:extLst>
                </a:gridCol>
                <a:gridCol w="1902882">
                  <a:extLst>
                    <a:ext uri="{9D8B030D-6E8A-4147-A177-3AD203B41FA5}">
                      <a16:colId xmlns:a16="http://schemas.microsoft.com/office/drawing/2014/main" val="2668874096"/>
                    </a:ext>
                  </a:extLst>
                </a:gridCol>
                <a:gridCol w="1902882">
                  <a:extLst>
                    <a:ext uri="{9D8B030D-6E8A-4147-A177-3AD203B41FA5}">
                      <a16:colId xmlns:a16="http://schemas.microsoft.com/office/drawing/2014/main" val="1770866913"/>
                    </a:ext>
                  </a:extLst>
                </a:gridCol>
                <a:gridCol w="1902882">
                  <a:extLst>
                    <a:ext uri="{9D8B030D-6E8A-4147-A177-3AD203B41FA5}">
                      <a16:colId xmlns:a16="http://schemas.microsoft.com/office/drawing/2014/main" val="2890593018"/>
                    </a:ext>
                  </a:extLst>
                </a:gridCol>
                <a:gridCol w="1902882">
                  <a:extLst>
                    <a:ext uri="{9D8B030D-6E8A-4147-A177-3AD203B41FA5}">
                      <a16:colId xmlns:a16="http://schemas.microsoft.com/office/drawing/2014/main" val="322342306"/>
                    </a:ext>
                  </a:extLst>
                </a:gridCol>
                <a:gridCol w="1902882">
                  <a:extLst>
                    <a:ext uri="{9D8B030D-6E8A-4147-A177-3AD203B41FA5}">
                      <a16:colId xmlns:a16="http://schemas.microsoft.com/office/drawing/2014/main" val="2657107532"/>
                    </a:ext>
                  </a:extLst>
                </a:gridCol>
              </a:tblGrid>
              <a:tr h="370840">
                <a:tc>
                  <a:txBody>
                    <a:bodyPr/>
                    <a:lstStyle/>
                    <a:p>
                      <a:r>
                        <a:rPr lang="en-US"/>
                        <a:t>Demand Date</a:t>
                      </a:r>
                    </a:p>
                  </a:txBody>
                  <a:tcPr/>
                </a:tc>
                <a:tc>
                  <a:txBody>
                    <a:bodyPr/>
                    <a:lstStyle/>
                    <a:p>
                      <a:r>
                        <a:rPr lang="en-US"/>
                        <a:t>Due Date</a:t>
                      </a:r>
                    </a:p>
                  </a:txBody>
                  <a:tcPr/>
                </a:tc>
                <a:tc>
                  <a:txBody>
                    <a:bodyPr/>
                    <a:lstStyle/>
                    <a:p>
                      <a:r>
                        <a:rPr lang="en-US"/>
                        <a:t>Dock Date</a:t>
                      </a:r>
                    </a:p>
                  </a:txBody>
                  <a:tcPr/>
                </a:tc>
                <a:tc>
                  <a:txBody>
                    <a:bodyPr/>
                    <a:lstStyle/>
                    <a:p>
                      <a:r>
                        <a:rPr lang="en-US"/>
                        <a:t>Ship Date</a:t>
                      </a:r>
                    </a:p>
                  </a:txBody>
                  <a:tcPr/>
                </a:tc>
                <a:tc>
                  <a:txBody>
                    <a:bodyPr/>
                    <a:lstStyle/>
                    <a:p>
                      <a:r>
                        <a:rPr lang="en-US"/>
                        <a:t>Build Date</a:t>
                      </a:r>
                    </a:p>
                  </a:txBody>
                  <a:tcPr/>
                </a:tc>
                <a:tc>
                  <a:txBody>
                    <a:bodyPr/>
                    <a:lstStyle/>
                    <a:p>
                      <a:r>
                        <a:rPr lang="en-US"/>
                        <a:t>Start Date</a:t>
                      </a:r>
                    </a:p>
                  </a:txBody>
                  <a:tcPr/>
                </a:tc>
                <a:extLst>
                  <a:ext uri="{0D108BD9-81ED-4DB2-BD59-A6C34878D82A}">
                    <a16:rowId xmlns:a16="http://schemas.microsoft.com/office/drawing/2014/main" val="3434628265"/>
                  </a:ext>
                </a:extLst>
              </a:tr>
              <a:tr h="370840">
                <a:tc>
                  <a:txBody>
                    <a:bodyPr/>
                    <a:lstStyle/>
                    <a:p>
                      <a:r>
                        <a:rPr lang="en-US"/>
                        <a:t>Safety Time (1)</a:t>
                      </a:r>
                    </a:p>
                  </a:txBody>
                  <a:tcPr/>
                </a:tc>
                <a:tc>
                  <a:txBody>
                    <a:bodyPr/>
                    <a:lstStyle/>
                    <a:p>
                      <a:r>
                        <a:rPr lang="en-US">
                          <a:solidFill>
                            <a:srgbClr val="FF0000"/>
                          </a:solidFill>
                        </a:rPr>
                        <a:t>Dock To Stock (2)</a:t>
                      </a:r>
                    </a:p>
                  </a:txBody>
                  <a:tcPr/>
                </a:tc>
                <a:tc>
                  <a:txBody>
                    <a:bodyPr/>
                    <a:lstStyle/>
                    <a:p>
                      <a:r>
                        <a:rPr lang="en-US">
                          <a:solidFill>
                            <a:srgbClr val="FF0000"/>
                          </a:solidFill>
                        </a:rPr>
                        <a:t>Transit Time (3)</a:t>
                      </a:r>
                    </a:p>
                  </a:txBody>
                  <a:tcPr/>
                </a:tc>
                <a:tc>
                  <a:txBody>
                    <a:bodyPr/>
                    <a:lstStyle/>
                    <a:p>
                      <a:r>
                        <a:rPr lang="en-US">
                          <a:solidFill>
                            <a:srgbClr val="FF0000"/>
                          </a:solidFill>
                        </a:rPr>
                        <a:t>Pre-Ship Time (1)</a:t>
                      </a:r>
                    </a:p>
                  </a:txBody>
                  <a:tcPr/>
                </a:tc>
                <a:tc>
                  <a:txBody>
                    <a:bodyPr/>
                    <a:lstStyle/>
                    <a:p>
                      <a:r>
                        <a:rPr lang="en-US"/>
                        <a:t>Lead Time Adjust (1)</a:t>
                      </a:r>
                    </a:p>
                  </a:txBody>
                  <a:tcPr/>
                </a:tc>
                <a:tc>
                  <a:txBody>
                    <a:bodyPr/>
                    <a:lstStyle/>
                    <a:p>
                      <a:endParaRPr lang="en-US"/>
                    </a:p>
                  </a:txBody>
                  <a:tcPr/>
                </a:tc>
                <a:extLst>
                  <a:ext uri="{0D108BD9-81ED-4DB2-BD59-A6C34878D82A}">
                    <a16:rowId xmlns:a16="http://schemas.microsoft.com/office/drawing/2014/main" val="169593582"/>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r>
                        <a:rPr lang="en-US"/>
                        <a:t>Fixed (2)</a:t>
                      </a:r>
                    </a:p>
                  </a:txBody>
                  <a:tcPr/>
                </a:tc>
                <a:tc>
                  <a:txBody>
                    <a:bodyPr/>
                    <a:lstStyle/>
                    <a:p>
                      <a:endParaRPr lang="en-US"/>
                    </a:p>
                  </a:txBody>
                  <a:tcPr/>
                </a:tc>
                <a:extLst>
                  <a:ext uri="{0D108BD9-81ED-4DB2-BD59-A6C34878D82A}">
                    <a16:rowId xmlns:a16="http://schemas.microsoft.com/office/drawing/2014/main" val="3769563568"/>
                  </a:ext>
                </a:extLst>
              </a:tr>
              <a:tr h="370839">
                <a:tc>
                  <a:txBody>
                    <a:bodyPr/>
                    <a:lstStyle/>
                    <a:p>
                      <a:pPr lvl="0">
                        <a:buNone/>
                      </a:pPr>
                      <a:endParaRPr lang="en-US" dirty="0"/>
                    </a:p>
                  </a:txBody>
                  <a:tcPr/>
                </a:tc>
                <a:tc>
                  <a:txBody>
                    <a:bodyPr/>
                    <a:lstStyle/>
                    <a:p>
                      <a:pPr lvl="0">
                        <a:buNone/>
                      </a:pPr>
                      <a:endParaRPr lang="en-US" dirty="0"/>
                    </a:p>
                  </a:txBody>
                  <a:tcPr/>
                </a:tc>
                <a:tc>
                  <a:txBody>
                    <a:bodyPr/>
                    <a:lstStyle/>
                    <a:p>
                      <a:pPr lvl="0">
                        <a:buNone/>
                      </a:pPr>
                      <a:endParaRPr lang="en-US" dirty="0"/>
                    </a:p>
                  </a:txBody>
                  <a:tcPr/>
                </a:tc>
                <a:tc>
                  <a:txBody>
                    <a:bodyPr/>
                    <a:lstStyle/>
                    <a:p>
                      <a:pPr lvl="0">
                        <a:buNone/>
                      </a:pPr>
                      <a:endParaRPr lang="en-US" dirty="0"/>
                    </a:p>
                  </a:txBody>
                  <a:tcPr/>
                </a:tc>
                <a:tc>
                  <a:txBody>
                    <a:bodyPr/>
                    <a:lstStyle/>
                    <a:p>
                      <a:pPr lvl="0">
                        <a:buNone/>
                      </a:pPr>
                      <a:r>
                        <a:rPr lang="en-US"/>
                        <a:t>Variable (1*2)</a:t>
                      </a:r>
                      <a:endParaRPr lang="en-US" dirty="0"/>
                    </a:p>
                  </a:txBody>
                  <a:tcPr/>
                </a:tc>
                <a:tc>
                  <a:txBody>
                    <a:bodyPr/>
                    <a:lstStyle/>
                    <a:p>
                      <a:pPr lvl="0">
                        <a:buNone/>
                      </a:pPr>
                      <a:endParaRPr lang="en-US" dirty="0"/>
                    </a:p>
                  </a:txBody>
                  <a:tcPr/>
                </a:tc>
                <a:extLst>
                  <a:ext uri="{0D108BD9-81ED-4DB2-BD59-A6C34878D82A}">
                    <a16:rowId xmlns:a16="http://schemas.microsoft.com/office/drawing/2014/main" val="496422798"/>
                  </a:ext>
                </a:extLst>
              </a:tr>
              <a:tr h="370838">
                <a:tc>
                  <a:txBody>
                    <a:bodyPr/>
                    <a:lstStyle/>
                    <a:p>
                      <a:pPr lvl="0">
                        <a:buNone/>
                      </a:pPr>
                      <a:endParaRPr lang="en-US" dirty="0"/>
                    </a:p>
                  </a:txBody>
                  <a:tcPr/>
                </a:tc>
                <a:tc>
                  <a:txBody>
                    <a:bodyPr/>
                    <a:lstStyle/>
                    <a:p>
                      <a:pPr lvl="0">
                        <a:buNone/>
                      </a:pPr>
                      <a:r>
                        <a:rPr lang="en-US"/>
                        <a:t>10/13/2026</a:t>
                      </a:r>
                      <a:endParaRPr lang="en-US" dirty="0"/>
                    </a:p>
                  </a:txBody>
                  <a:tcPr/>
                </a:tc>
                <a:tc>
                  <a:txBody>
                    <a:bodyPr/>
                    <a:lstStyle/>
                    <a:p>
                      <a:pPr lvl="0">
                        <a:buNone/>
                      </a:pPr>
                      <a:r>
                        <a:rPr lang="en-US"/>
                        <a:t>10/13/2026</a:t>
                      </a:r>
                      <a:endParaRPr lang="en-US" dirty="0"/>
                    </a:p>
                  </a:txBody>
                  <a:tcPr/>
                </a:tc>
                <a:tc>
                  <a:txBody>
                    <a:bodyPr/>
                    <a:lstStyle/>
                    <a:p>
                      <a:pPr lvl="0">
                        <a:buNone/>
                      </a:pPr>
                      <a:r>
                        <a:rPr lang="en-US"/>
                        <a:t>10/13/11</a:t>
                      </a:r>
                      <a:endParaRPr lang="en-US" dirty="0"/>
                    </a:p>
                  </a:txBody>
                  <a:tcPr/>
                </a:tc>
                <a:tc>
                  <a:txBody>
                    <a:bodyPr/>
                    <a:lstStyle/>
                    <a:p>
                      <a:pPr lvl="0">
                        <a:buNone/>
                      </a:pPr>
                      <a:r>
                        <a:rPr lang="en-US"/>
                        <a:t>10/13/2026</a:t>
                      </a:r>
                      <a:endParaRPr lang="en-US" dirty="0"/>
                    </a:p>
                  </a:txBody>
                  <a:tcPr/>
                </a:tc>
                <a:tc>
                  <a:txBody>
                    <a:bodyPr/>
                    <a:lstStyle/>
                    <a:p>
                      <a:pPr lvl="0">
                        <a:buNone/>
                      </a:pPr>
                      <a:r>
                        <a:rPr lang="en-US"/>
                        <a:t>10/08/2026</a:t>
                      </a:r>
                      <a:endParaRPr lang="en-US" dirty="0"/>
                    </a:p>
                  </a:txBody>
                  <a:tcPr/>
                </a:tc>
                <a:extLst>
                  <a:ext uri="{0D108BD9-81ED-4DB2-BD59-A6C34878D82A}">
                    <a16:rowId xmlns:a16="http://schemas.microsoft.com/office/drawing/2014/main" val="4209623429"/>
                  </a:ext>
                </a:extLst>
              </a:tr>
            </a:tbl>
          </a:graphicData>
        </a:graphic>
      </p:graphicFrame>
      <p:sp>
        <p:nvSpPr>
          <p:cNvPr id="7" name="TextBox 6">
            <a:extLst>
              <a:ext uri="{FF2B5EF4-FFF2-40B4-BE49-F238E27FC236}">
                <a16:creationId xmlns:a16="http://schemas.microsoft.com/office/drawing/2014/main" id="{300D8525-2187-6B96-6FEB-95C94EE2DBCB}"/>
              </a:ext>
            </a:extLst>
          </p:cNvPr>
          <p:cNvSpPr txBox="1"/>
          <p:nvPr/>
        </p:nvSpPr>
        <p:spPr>
          <a:xfrm>
            <a:off x="287547" y="424131"/>
            <a:ext cx="11415622" cy="241503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cs typeface="Arial"/>
              </a:rPr>
              <a:t>Simulation 6:</a:t>
            </a:r>
          </a:p>
          <a:p>
            <a:endParaRPr lang="en-US" dirty="0">
              <a:cs typeface="Arial"/>
            </a:endParaRPr>
          </a:p>
          <a:p>
            <a:pPr marL="285750" indent="-285750">
              <a:buFont typeface="Arial"/>
              <a:buChar char="•"/>
            </a:pPr>
            <a:r>
              <a:rPr lang="en-US" dirty="0" err="1">
                <a:cs typeface="Arial"/>
              </a:rPr>
              <a:t>SupplyType.LeadTimeRule</a:t>
            </a:r>
            <a:r>
              <a:rPr lang="en-US" dirty="0">
                <a:cs typeface="Arial"/>
              </a:rPr>
              <a:t> = Override/Ignore</a:t>
            </a:r>
          </a:p>
          <a:p>
            <a:pPr marL="285750" indent="-285750">
              <a:buFont typeface="Arial"/>
              <a:buChar char="•"/>
            </a:pPr>
            <a:r>
              <a:rPr lang="en-US" dirty="0" err="1">
                <a:cs typeface="Arial"/>
              </a:rPr>
              <a:t>SupplyStatus.LeadTimeOverride</a:t>
            </a:r>
            <a:r>
              <a:rPr lang="en-US" dirty="0">
                <a:cs typeface="Arial"/>
              </a:rPr>
              <a:t> = Yes</a:t>
            </a:r>
          </a:p>
          <a:p>
            <a:pPr marL="285750" indent="-285750">
              <a:buFont typeface="Arial,Sans-Serif"/>
              <a:buChar char="•"/>
            </a:pPr>
            <a:r>
              <a:rPr lang="en-US">
                <a:cs typeface="Arial"/>
              </a:rPr>
              <a:t>Transit Rule = Inclusive</a:t>
            </a:r>
          </a:p>
          <a:p>
            <a:pPr marL="285750" indent="-285750">
              <a:buFont typeface="Arial"/>
              <a:buChar char="•"/>
            </a:pPr>
            <a:r>
              <a:rPr lang="en-US">
                <a:cs typeface="Arial"/>
              </a:rPr>
              <a:t>Scheduled Receipt for Qtd (2).</a:t>
            </a:r>
          </a:p>
          <a:p>
            <a:pPr marL="285750" indent="-285750">
              <a:buFont typeface="Arial"/>
              <a:buChar char="•"/>
            </a:pPr>
            <a:r>
              <a:rPr lang="en-US">
                <a:cs typeface="Arial"/>
              </a:rPr>
              <a:t>Lead Time Value come from Scheduled Receipt Table, without considering lead time elements DTS, Transit and Pre-Ship Time into calculations.</a:t>
            </a:r>
            <a:endParaRPr lang="en-US" dirty="0">
              <a:cs typeface="Arial"/>
            </a:endParaRPr>
          </a:p>
        </p:txBody>
      </p:sp>
    </p:spTree>
    <p:extLst>
      <p:ext uri="{BB962C8B-B14F-4D97-AF65-F5344CB8AC3E}">
        <p14:creationId xmlns:p14="http://schemas.microsoft.com/office/powerpoint/2010/main" val="164696323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D3E9AD-34C8-BE7F-BCEA-01AB41E16BFB}"/>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1E169563-AA6A-F4F8-9AE3-9E8C00578751}"/>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E8F13A44-70EC-9282-BF15-A2B219B843A1}"/>
              </a:ext>
            </a:extLst>
          </p:cNvPr>
          <p:cNvPicPr>
            <a:picLocks noChangeAspect="1"/>
          </p:cNvPicPr>
          <p:nvPr/>
        </p:nvPicPr>
        <p:blipFill>
          <a:blip r:embed="rId3"/>
          <a:stretch>
            <a:fillRect/>
          </a:stretch>
        </p:blipFill>
        <p:spPr>
          <a:xfrm>
            <a:off x="9181381" y="65406"/>
            <a:ext cx="2743200" cy="717452"/>
          </a:xfrm>
          <a:prstGeom prst="rect">
            <a:avLst/>
          </a:prstGeom>
        </p:spPr>
      </p:pic>
      <p:pic>
        <p:nvPicPr>
          <p:cNvPr id="2" name="Picture 1" descr="A screenshot of a computer&#10;&#10;AI-generated content may be incorrect.">
            <a:extLst>
              <a:ext uri="{FF2B5EF4-FFF2-40B4-BE49-F238E27FC236}">
                <a16:creationId xmlns:a16="http://schemas.microsoft.com/office/drawing/2014/main" id="{CA665D37-BF99-0CBD-B745-BF9696C404B2}"/>
              </a:ext>
            </a:extLst>
          </p:cNvPr>
          <p:cNvPicPr>
            <a:picLocks noChangeAspect="1"/>
          </p:cNvPicPr>
          <p:nvPr/>
        </p:nvPicPr>
        <p:blipFill>
          <a:blip r:embed="rId4"/>
          <a:stretch>
            <a:fillRect/>
          </a:stretch>
        </p:blipFill>
        <p:spPr>
          <a:xfrm>
            <a:off x="517585" y="985751"/>
            <a:ext cx="11156831" cy="511653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29443054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340F12-2EE9-ECC1-4236-1E0BE8FD4752}"/>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5EAB11BB-4EE6-2DF1-3A2F-D72EA01C91DF}"/>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009C20BF-3280-E28D-11CB-DD26DFC39EC8}"/>
              </a:ext>
            </a:extLst>
          </p:cNvPr>
          <p:cNvPicPr>
            <a:picLocks noChangeAspect="1"/>
          </p:cNvPicPr>
          <p:nvPr/>
        </p:nvPicPr>
        <p:blipFill>
          <a:blip r:embed="rId3"/>
          <a:stretch>
            <a:fillRect/>
          </a:stretch>
        </p:blipFill>
        <p:spPr>
          <a:xfrm>
            <a:off x="9181381" y="65406"/>
            <a:ext cx="2743200" cy="717452"/>
          </a:xfrm>
          <a:prstGeom prst="rect">
            <a:avLst/>
          </a:prstGeom>
        </p:spPr>
      </p:pic>
      <p:graphicFrame>
        <p:nvGraphicFramePr>
          <p:cNvPr id="3" name="Table 2">
            <a:extLst>
              <a:ext uri="{FF2B5EF4-FFF2-40B4-BE49-F238E27FC236}">
                <a16:creationId xmlns:a16="http://schemas.microsoft.com/office/drawing/2014/main" id="{D93179C5-A0B1-B62A-999D-ECD2AF780F52}"/>
              </a:ext>
            </a:extLst>
          </p:cNvPr>
          <p:cNvGraphicFramePr>
            <a:graphicFrameLocks noGrp="1"/>
          </p:cNvGraphicFramePr>
          <p:nvPr>
            <p:extLst>
              <p:ext uri="{D42A27DB-BD31-4B8C-83A1-F6EECF244321}">
                <p14:modId xmlns:p14="http://schemas.microsoft.com/office/powerpoint/2010/main" val="1923966887"/>
              </p:ext>
            </p:extLst>
          </p:nvPr>
        </p:nvGraphicFramePr>
        <p:xfrm>
          <a:off x="287547" y="3076755"/>
          <a:ext cx="11417292" cy="2123437"/>
        </p:xfrm>
        <a:graphic>
          <a:graphicData uri="http://schemas.openxmlformats.org/drawingml/2006/table">
            <a:tbl>
              <a:tblPr firstRow="1" bandRow="1">
                <a:tableStyleId>{5C22544A-7EE6-4342-B048-85BDC9FD1C3A}</a:tableStyleId>
              </a:tblPr>
              <a:tblGrid>
                <a:gridCol w="1902882">
                  <a:extLst>
                    <a:ext uri="{9D8B030D-6E8A-4147-A177-3AD203B41FA5}">
                      <a16:colId xmlns:a16="http://schemas.microsoft.com/office/drawing/2014/main" val="826890805"/>
                    </a:ext>
                  </a:extLst>
                </a:gridCol>
                <a:gridCol w="1902882">
                  <a:extLst>
                    <a:ext uri="{9D8B030D-6E8A-4147-A177-3AD203B41FA5}">
                      <a16:colId xmlns:a16="http://schemas.microsoft.com/office/drawing/2014/main" val="2668874096"/>
                    </a:ext>
                  </a:extLst>
                </a:gridCol>
                <a:gridCol w="1902882">
                  <a:extLst>
                    <a:ext uri="{9D8B030D-6E8A-4147-A177-3AD203B41FA5}">
                      <a16:colId xmlns:a16="http://schemas.microsoft.com/office/drawing/2014/main" val="1770866913"/>
                    </a:ext>
                  </a:extLst>
                </a:gridCol>
                <a:gridCol w="1902882">
                  <a:extLst>
                    <a:ext uri="{9D8B030D-6E8A-4147-A177-3AD203B41FA5}">
                      <a16:colId xmlns:a16="http://schemas.microsoft.com/office/drawing/2014/main" val="2890593018"/>
                    </a:ext>
                  </a:extLst>
                </a:gridCol>
                <a:gridCol w="1902882">
                  <a:extLst>
                    <a:ext uri="{9D8B030D-6E8A-4147-A177-3AD203B41FA5}">
                      <a16:colId xmlns:a16="http://schemas.microsoft.com/office/drawing/2014/main" val="322342306"/>
                    </a:ext>
                  </a:extLst>
                </a:gridCol>
                <a:gridCol w="1902882">
                  <a:extLst>
                    <a:ext uri="{9D8B030D-6E8A-4147-A177-3AD203B41FA5}">
                      <a16:colId xmlns:a16="http://schemas.microsoft.com/office/drawing/2014/main" val="2657107532"/>
                    </a:ext>
                  </a:extLst>
                </a:gridCol>
              </a:tblGrid>
              <a:tr h="370840">
                <a:tc>
                  <a:txBody>
                    <a:bodyPr/>
                    <a:lstStyle/>
                    <a:p>
                      <a:r>
                        <a:rPr lang="en-US"/>
                        <a:t>Demand Date</a:t>
                      </a:r>
                    </a:p>
                  </a:txBody>
                  <a:tcPr/>
                </a:tc>
                <a:tc>
                  <a:txBody>
                    <a:bodyPr/>
                    <a:lstStyle/>
                    <a:p>
                      <a:r>
                        <a:rPr lang="en-US"/>
                        <a:t>Due Date</a:t>
                      </a:r>
                    </a:p>
                  </a:txBody>
                  <a:tcPr/>
                </a:tc>
                <a:tc>
                  <a:txBody>
                    <a:bodyPr/>
                    <a:lstStyle/>
                    <a:p>
                      <a:r>
                        <a:rPr lang="en-US"/>
                        <a:t>Dock Date</a:t>
                      </a:r>
                    </a:p>
                  </a:txBody>
                  <a:tcPr/>
                </a:tc>
                <a:tc>
                  <a:txBody>
                    <a:bodyPr/>
                    <a:lstStyle/>
                    <a:p>
                      <a:r>
                        <a:rPr lang="en-US"/>
                        <a:t>Ship Date</a:t>
                      </a:r>
                    </a:p>
                  </a:txBody>
                  <a:tcPr/>
                </a:tc>
                <a:tc>
                  <a:txBody>
                    <a:bodyPr/>
                    <a:lstStyle/>
                    <a:p>
                      <a:r>
                        <a:rPr lang="en-US"/>
                        <a:t>Build Date</a:t>
                      </a:r>
                    </a:p>
                  </a:txBody>
                  <a:tcPr/>
                </a:tc>
                <a:tc>
                  <a:txBody>
                    <a:bodyPr/>
                    <a:lstStyle/>
                    <a:p>
                      <a:r>
                        <a:rPr lang="en-US"/>
                        <a:t>Start Date</a:t>
                      </a:r>
                    </a:p>
                  </a:txBody>
                  <a:tcPr/>
                </a:tc>
                <a:extLst>
                  <a:ext uri="{0D108BD9-81ED-4DB2-BD59-A6C34878D82A}">
                    <a16:rowId xmlns:a16="http://schemas.microsoft.com/office/drawing/2014/main" val="3434628265"/>
                  </a:ext>
                </a:extLst>
              </a:tr>
              <a:tr h="370840">
                <a:tc>
                  <a:txBody>
                    <a:bodyPr/>
                    <a:lstStyle/>
                    <a:p>
                      <a:r>
                        <a:rPr lang="en-US"/>
                        <a:t>Safety Time (1)</a:t>
                      </a:r>
                    </a:p>
                  </a:txBody>
                  <a:tcPr/>
                </a:tc>
                <a:tc>
                  <a:txBody>
                    <a:bodyPr/>
                    <a:lstStyle/>
                    <a:p>
                      <a:r>
                        <a:rPr lang="en-US"/>
                        <a:t>Dock To Stock (1)</a:t>
                      </a:r>
                    </a:p>
                  </a:txBody>
                  <a:tcPr/>
                </a:tc>
                <a:tc>
                  <a:txBody>
                    <a:bodyPr/>
                    <a:lstStyle/>
                    <a:p>
                      <a:r>
                        <a:rPr lang="en-US"/>
                        <a:t>Transit Time (2)</a:t>
                      </a:r>
                    </a:p>
                  </a:txBody>
                  <a:tcPr/>
                </a:tc>
                <a:tc>
                  <a:txBody>
                    <a:bodyPr/>
                    <a:lstStyle/>
                    <a:p>
                      <a:r>
                        <a:rPr lang="en-US"/>
                        <a:t>Pre-Ship Time (0)</a:t>
                      </a:r>
                      <a:endParaRPr lang="en-US" dirty="0"/>
                    </a:p>
                  </a:txBody>
                  <a:tcPr/>
                </a:tc>
                <a:tc>
                  <a:txBody>
                    <a:bodyPr/>
                    <a:lstStyle/>
                    <a:p>
                      <a:r>
                        <a:rPr lang="en-US"/>
                        <a:t>Lead Time Adjust (1)</a:t>
                      </a:r>
                    </a:p>
                  </a:txBody>
                  <a:tcPr/>
                </a:tc>
                <a:tc>
                  <a:txBody>
                    <a:bodyPr/>
                    <a:lstStyle/>
                    <a:p>
                      <a:endParaRPr lang="en-US"/>
                    </a:p>
                  </a:txBody>
                  <a:tcPr/>
                </a:tc>
                <a:extLst>
                  <a:ext uri="{0D108BD9-81ED-4DB2-BD59-A6C34878D82A}">
                    <a16:rowId xmlns:a16="http://schemas.microsoft.com/office/drawing/2014/main" val="169593582"/>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r>
                        <a:rPr lang="en-US"/>
                        <a:t>Fixed (1)</a:t>
                      </a:r>
                    </a:p>
                  </a:txBody>
                  <a:tcPr/>
                </a:tc>
                <a:tc>
                  <a:txBody>
                    <a:bodyPr/>
                    <a:lstStyle/>
                    <a:p>
                      <a:endParaRPr lang="en-US"/>
                    </a:p>
                  </a:txBody>
                  <a:tcPr/>
                </a:tc>
                <a:extLst>
                  <a:ext uri="{0D108BD9-81ED-4DB2-BD59-A6C34878D82A}">
                    <a16:rowId xmlns:a16="http://schemas.microsoft.com/office/drawing/2014/main" val="3769563568"/>
                  </a:ext>
                </a:extLst>
              </a:tr>
              <a:tr h="370839">
                <a:tc>
                  <a:txBody>
                    <a:bodyPr/>
                    <a:lstStyle/>
                    <a:p>
                      <a:pPr lvl="0">
                        <a:buNone/>
                      </a:pPr>
                      <a:endParaRPr lang="en-US" dirty="0"/>
                    </a:p>
                  </a:txBody>
                  <a:tcPr/>
                </a:tc>
                <a:tc>
                  <a:txBody>
                    <a:bodyPr/>
                    <a:lstStyle/>
                    <a:p>
                      <a:pPr lvl="0">
                        <a:buNone/>
                      </a:pPr>
                      <a:endParaRPr lang="en-US" dirty="0"/>
                    </a:p>
                  </a:txBody>
                  <a:tcPr/>
                </a:tc>
                <a:tc>
                  <a:txBody>
                    <a:bodyPr/>
                    <a:lstStyle/>
                    <a:p>
                      <a:pPr lvl="0">
                        <a:buNone/>
                      </a:pPr>
                      <a:endParaRPr lang="en-US" dirty="0"/>
                    </a:p>
                  </a:txBody>
                  <a:tcPr/>
                </a:tc>
                <a:tc>
                  <a:txBody>
                    <a:bodyPr/>
                    <a:lstStyle/>
                    <a:p>
                      <a:pPr lvl="0">
                        <a:buNone/>
                      </a:pPr>
                      <a:endParaRPr lang="en-US" dirty="0"/>
                    </a:p>
                  </a:txBody>
                  <a:tcPr/>
                </a:tc>
                <a:tc>
                  <a:txBody>
                    <a:bodyPr/>
                    <a:lstStyle/>
                    <a:p>
                      <a:pPr lvl="0">
                        <a:buNone/>
                      </a:pPr>
                      <a:r>
                        <a:rPr lang="en-US"/>
                        <a:t>Variable (0*2)</a:t>
                      </a:r>
                      <a:endParaRPr lang="en-US" dirty="0"/>
                    </a:p>
                  </a:txBody>
                  <a:tcPr/>
                </a:tc>
                <a:tc>
                  <a:txBody>
                    <a:bodyPr/>
                    <a:lstStyle/>
                    <a:p>
                      <a:pPr lvl="0">
                        <a:buNone/>
                      </a:pPr>
                      <a:endParaRPr lang="en-US" dirty="0"/>
                    </a:p>
                  </a:txBody>
                  <a:tcPr/>
                </a:tc>
                <a:extLst>
                  <a:ext uri="{0D108BD9-81ED-4DB2-BD59-A6C34878D82A}">
                    <a16:rowId xmlns:a16="http://schemas.microsoft.com/office/drawing/2014/main" val="496422798"/>
                  </a:ext>
                </a:extLst>
              </a:tr>
              <a:tr h="370838">
                <a:tc>
                  <a:txBody>
                    <a:bodyPr/>
                    <a:lstStyle/>
                    <a:p>
                      <a:pPr lvl="0">
                        <a:buNone/>
                      </a:pPr>
                      <a:endParaRPr lang="en-US" dirty="0"/>
                    </a:p>
                  </a:txBody>
                  <a:tcPr/>
                </a:tc>
                <a:tc>
                  <a:txBody>
                    <a:bodyPr/>
                    <a:lstStyle/>
                    <a:p>
                      <a:pPr lvl="0">
                        <a:buNone/>
                      </a:pPr>
                      <a:r>
                        <a:rPr lang="en-US"/>
                        <a:t>10/13/2026</a:t>
                      </a:r>
                      <a:endParaRPr lang="en-US" dirty="0"/>
                    </a:p>
                  </a:txBody>
                  <a:tcPr/>
                </a:tc>
                <a:tc>
                  <a:txBody>
                    <a:bodyPr/>
                    <a:lstStyle/>
                    <a:p>
                      <a:pPr lvl="0">
                        <a:buNone/>
                      </a:pPr>
                      <a:r>
                        <a:rPr lang="en-US"/>
                        <a:t>10/12/2026</a:t>
                      </a:r>
                      <a:endParaRPr lang="en-US" dirty="0"/>
                    </a:p>
                  </a:txBody>
                  <a:tcPr/>
                </a:tc>
                <a:tc>
                  <a:txBody>
                    <a:bodyPr/>
                    <a:lstStyle/>
                    <a:p>
                      <a:pPr lvl="0">
                        <a:buNone/>
                      </a:pPr>
                      <a:r>
                        <a:rPr lang="en-US"/>
                        <a:t>10/10/2026</a:t>
                      </a:r>
                      <a:endParaRPr lang="en-US" dirty="0"/>
                    </a:p>
                  </a:txBody>
                  <a:tcPr/>
                </a:tc>
                <a:tc>
                  <a:txBody>
                    <a:bodyPr/>
                    <a:lstStyle/>
                    <a:p>
                      <a:pPr lvl="0">
                        <a:buNone/>
                      </a:pPr>
                      <a:r>
                        <a:rPr lang="en-US"/>
                        <a:t>10/10/2026</a:t>
                      </a:r>
                      <a:endParaRPr lang="en-US" dirty="0"/>
                    </a:p>
                  </a:txBody>
                  <a:tcPr/>
                </a:tc>
                <a:tc>
                  <a:txBody>
                    <a:bodyPr/>
                    <a:lstStyle/>
                    <a:p>
                      <a:pPr lvl="0">
                        <a:buNone/>
                      </a:pPr>
                      <a:r>
                        <a:rPr lang="en-US"/>
                        <a:t>10/08/2026</a:t>
                      </a:r>
                      <a:endParaRPr lang="en-US" dirty="0"/>
                    </a:p>
                  </a:txBody>
                  <a:tcPr/>
                </a:tc>
                <a:extLst>
                  <a:ext uri="{0D108BD9-81ED-4DB2-BD59-A6C34878D82A}">
                    <a16:rowId xmlns:a16="http://schemas.microsoft.com/office/drawing/2014/main" val="4209623429"/>
                  </a:ext>
                </a:extLst>
              </a:tr>
            </a:tbl>
          </a:graphicData>
        </a:graphic>
      </p:graphicFrame>
      <p:sp>
        <p:nvSpPr>
          <p:cNvPr id="7" name="TextBox 6">
            <a:extLst>
              <a:ext uri="{FF2B5EF4-FFF2-40B4-BE49-F238E27FC236}">
                <a16:creationId xmlns:a16="http://schemas.microsoft.com/office/drawing/2014/main" id="{6470617E-354C-B2B4-C4B6-B349D1B0CC9E}"/>
              </a:ext>
            </a:extLst>
          </p:cNvPr>
          <p:cNvSpPr txBox="1"/>
          <p:nvPr/>
        </p:nvSpPr>
        <p:spPr>
          <a:xfrm>
            <a:off x="287547" y="424131"/>
            <a:ext cx="11415622" cy="240065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cs typeface="Arial"/>
              </a:rPr>
              <a:t>Simulation 7:</a:t>
            </a:r>
          </a:p>
          <a:p>
            <a:endParaRPr lang="en-US" dirty="0">
              <a:cs typeface="Arial"/>
            </a:endParaRPr>
          </a:p>
          <a:p>
            <a:pPr marL="285750" indent="-285750">
              <a:buFont typeface="Arial"/>
              <a:buChar char="•"/>
            </a:pPr>
            <a:r>
              <a:rPr lang="en-US" dirty="0" err="1">
                <a:cs typeface="Arial"/>
              </a:rPr>
              <a:t>SupplyType.LeadTimeRule</a:t>
            </a:r>
            <a:r>
              <a:rPr lang="en-US" dirty="0">
                <a:cs typeface="Arial"/>
              </a:rPr>
              <a:t> = Ignore/Override</a:t>
            </a:r>
          </a:p>
          <a:p>
            <a:pPr marL="285750" indent="-285750">
              <a:buFont typeface="Arial"/>
              <a:buChar char="•"/>
            </a:pPr>
            <a:r>
              <a:rPr lang="en-US" dirty="0" err="1">
                <a:cs typeface="Arial"/>
              </a:rPr>
              <a:t>SupplyStatus.LeadTimeOverride</a:t>
            </a:r>
            <a:r>
              <a:rPr lang="en-US" dirty="0">
                <a:cs typeface="Arial"/>
              </a:rPr>
              <a:t> = No</a:t>
            </a:r>
          </a:p>
          <a:p>
            <a:pPr marL="285750" indent="-285750">
              <a:buFont typeface="Arial,Sans-Serif"/>
              <a:buChar char="•"/>
            </a:pPr>
            <a:r>
              <a:rPr lang="en-US">
                <a:cs typeface="Arial"/>
              </a:rPr>
              <a:t>Transit Rule = Cumulative</a:t>
            </a:r>
          </a:p>
          <a:p>
            <a:pPr marL="285750" indent="-285750">
              <a:buFont typeface="Arial"/>
              <a:buChar char="•"/>
            </a:pPr>
            <a:r>
              <a:rPr lang="en-US">
                <a:cs typeface="Arial"/>
              </a:rPr>
              <a:t>Scheduled Receipt for Qtd (2).</a:t>
            </a:r>
          </a:p>
          <a:p>
            <a:pPr marL="285750" indent="-285750">
              <a:buFont typeface="Arial,Sans-Serif"/>
              <a:buChar char="•"/>
            </a:pPr>
            <a:r>
              <a:rPr lang="en-US">
                <a:cs typeface="Arial"/>
              </a:rPr>
              <a:t>Lead Time Value come from Part Source Table. All the Lead time elements are involved in Calculations.</a:t>
            </a:r>
          </a:p>
          <a:p>
            <a:pPr marL="285750" indent="-285750">
              <a:buFont typeface="Arial"/>
              <a:buChar char="•"/>
            </a:pPr>
            <a:endParaRPr lang="en-US" dirty="0">
              <a:cs typeface="Arial"/>
            </a:endParaRPr>
          </a:p>
        </p:txBody>
      </p:sp>
    </p:spTree>
    <p:extLst>
      <p:ext uri="{BB962C8B-B14F-4D97-AF65-F5344CB8AC3E}">
        <p14:creationId xmlns:p14="http://schemas.microsoft.com/office/powerpoint/2010/main" val="48488676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DFBC0B-42F9-9536-0D0C-89F958911375}"/>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224D2F5D-2931-D080-8055-E6BB3D72A09F}"/>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7F19534F-5E29-4CF2-DA16-09A6885196ED}"/>
              </a:ext>
            </a:extLst>
          </p:cNvPr>
          <p:cNvPicPr>
            <a:picLocks noChangeAspect="1"/>
          </p:cNvPicPr>
          <p:nvPr/>
        </p:nvPicPr>
        <p:blipFill>
          <a:blip r:embed="rId3"/>
          <a:stretch>
            <a:fillRect/>
          </a:stretch>
        </p:blipFill>
        <p:spPr>
          <a:xfrm>
            <a:off x="9181381" y="65406"/>
            <a:ext cx="2743200" cy="717452"/>
          </a:xfrm>
          <a:prstGeom prst="rect">
            <a:avLst/>
          </a:prstGeom>
        </p:spPr>
      </p:pic>
      <p:pic>
        <p:nvPicPr>
          <p:cNvPr id="3" name="Picture 2" descr="A screenshot of a computer&#10;&#10;AI-generated content may be incorrect.">
            <a:extLst>
              <a:ext uri="{FF2B5EF4-FFF2-40B4-BE49-F238E27FC236}">
                <a16:creationId xmlns:a16="http://schemas.microsoft.com/office/drawing/2014/main" id="{A954CFB2-654B-2299-5A4D-F611892F3128}"/>
              </a:ext>
            </a:extLst>
          </p:cNvPr>
          <p:cNvPicPr>
            <a:picLocks noChangeAspect="1"/>
          </p:cNvPicPr>
          <p:nvPr/>
        </p:nvPicPr>
        <p:blipFill>
          <a:blip r:embed="rId4"/>
          <a:stretch>
            <a:fillRect/>
          </a:stretch>
        </p:blipFill>
        <p:spPr>
          <a:xfrm>
            <a:off x="287547" y="899498"/>
            <a:ext cx="11616906" cy="536092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45852250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898A02-F316-20D7-2DC4-F5DA5618D26C}"/>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2A130A1C-9E46-942F-0FB3-1E799DBA553D}"/>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0E59D970-7ACF-C5F3-FE1B-2F7951D4C206}"/>
              </a:ext>
            </a:extLst>
          </p:cNvPr>
          <p:cNvPicPr>
            <a:picLocks noChangeAspect="1"/>
          </p:cNvPicPr>
          <p:nvPr/>
        </p:nvPicPr>
        <p:blipFill>
          <a:blip r:embed="rId3"/>
          <a:stretch>
            <a:fillRect/>
          </a:stretch>
        </p:blipFill>
        <p:spPr>
          <a:xfrm>
            <a:off x="9181381" y="65406"/>
            <a:ext cx="2743200" cy="717452"/>
          </a:xfrm>
          <a:prstGeom prst="rect">
            <a:avLst/>
          </a:prstGeom>
        </p:spPr>
      </p:pic>
      <p:graphicFrame>
        <p:nvGraphicFramePr>
          <p:cNvPr id="3" name="Table 2">
            <a:extLst>
              <a:ext uri="{FF2B5EF4-FFF2-40B4-BE49-F238E27FC236}">
                <a16:creationId xmlns:a16="http://schemas.microsoft.com/office/drawing/2014/main" id="{FCD563D5-00A2-BBFF-D22F-C093C0F0E50E}"/>
              </a:ext>
            </a:extLst>
          </p:cNvPr>
          <p:cNvGraphicFramePr>
            <a:graphicFrameLocks noGrp="1"/>
          </p:cNvGraphicFramePr>
          <p:nvPr>
            <p:extLst>
              <p:ext uri="{D42A27DB-BD31-4B8C-83A1-F6EECF244321}">
                <p14:modId xmlns:p14="http://schemas.microsoft.com/office/powerpoint/2010/main" val="1590394019"/>
              </p:ext>
            </p:extLst>
          </p:nvPr>
        </p:nvGraphicFramePr>
        <p:xfrm>
          <a:off x="287547" y="3076755"/>
          <a:ext cx="11417292" cy="2123437"/>
        </p:xfrm>
        <a:graphic>
          <a:graphicData uri="http://schemas.openxmlformats.org/drawingml/2006/table">
            <a:tbl>
              <a:tblPr firstRow="1" bandRow="1">
                <a:tableStyleId>{5C22544A-7EE6-4342-B048-85BDC9FD1C3A}</a:tableStyleId>
              </a:tblPr>
              <a:tblGrid>
                <a:gridCol w="1902882">
                  <a:extLst>
                    <a:ext uri="{9D8B030D-6E8A-4147-A177-3AD203B41FA5}">
                      <a16:colId xmlns:a16="http://schemas.microsoft.com/office/drawing/2014/main" val="826890805"/>
                    </a:ext>
                  </a:extLst>
                </a:gridCol>
                <a:gridCol w="1902882">
                  <a:extLst>
                    <a:ext uri="{9D8B030D-6E8A-4147-A177-3AD203B41FA5}">
                      <a16:colId xmlns:a16="http://schemas.microsoft.com/office/drawing/2014/main" val="2668874096"/>
                    </a:ext>
                  </a:extLst>
                </a:gridCol>
                <a:gridCol w="1902882">
                  <a:extLst>
                    <a:ext uri="{9D8B030D-6E8A-4147-A177-3AD203B41FA5}">
                      <a16:colId xmlns:a16="http://schemas.microsoft.com/office/drawing/2014/main" val="1770866913"/>
                    </a:ext>
                  </a:extLst>
                </a:gridCol>
                <a:gridCol w="1902882">
                  <a:extLst>
                    <a:ext uri="{9D8B030D-6E8A-4147-A177-3AD203B41FA5}">
                      <a16:colId xmlns:a16="http://schemas.microsoft.com/office/drawing/2014/main" val="2890593018"/>
                    </a:ext>
                  </a:extLst>
                </a:gridCol>
                <a:gridCol w="1902882">
                  <a:extLst>
                    <a:ext uri="{9D8B030D-6E8A-4147-A177-3AD203B41FA5}">
                      <a16:colId xmlns:a16="http://schemas.microsoft.com/office/drawing/2014/main" val="322342306"/>
                    </a:ext>
                  </a:extLst>
                </a:gridCol>
                <a:gridCol w="1902882">
                  <a:extLst>
                    <a:ext uri="{9D8B030D-6E8A-4147-A177-3AD203B41FA5}">
                      <a16:colId xmlns:a16="http://schemas.microsoft.com/office/drawing/2014/main" val="2657107532"/>
                    </a:ext>
                  </a:extLst>
                </a:gridCol>
              </a:tblGrid>
              <a:tr h="370840">
                <a:tc>
                  <a:txBody>
                    <a:bodyPr/>
                    <a:lstStyle/>
                    <a:p>
                      <a:r>
                        <a:rPr lang="en-US"/>
                        <a:t>Demand Date</a:t>
                      </a:r>
                    </a:p>
                  </a:txBody>
                  <a:tcPr/>
                </a:tc>
                <a:tc>
                  <a:txBody>
                    <a:bodyPr/>
                    <a:lstStyle/>
                    <a:p>
                      <a:r>
                        <a:rPr lang="en-US"/>
                        <a:t>Due Date</a:t>
                      </a:r>
                    </a:p>
                  </a:txBody>
                  <a:tcPr/>
                </a:tc>
                <a:tc>
                  <a:txBody>
                    <a:bodyPr/>
                    <a:lstStyle/>
                    <a:p>
                      <a:r>
                        <a:rPr lang="en-US"/>
                        <a:t>Dock Date</a:t>
                      </a:r>
                    </a:p>
                  </a:txBody>
                  <a:tcPr/>
                </a:tc>
                <a:tc>
                  <a:txBody>
                    <a:bodyPr/>
                    <a:lstStyle/>
                    <a:p>
                      <a:r>
                        <a:rPr lang="en-US"/>
                        <a:t>Ship Date</a:t>
                      </a:r>
                    </a:p>
                  </a:txBody>
                  <a:tcPr/>
                </a:tc>
                <a:tc>
                  <a:txBody>
                    <a:bodyPr/>
                    <a:lstStyle/>
                    <a:p>
                      <a:r>
                        <a:rPr lang="en-US"/>
                        <a:t>Build Date</a:t>
                      </a:r>
                    </a:p>
                  </a:txBody>
                  <a:tcPr/>
                </a:tc>
                <a:tc>
                  <a:txBody>
                    <a:bodyPr/>
                    <a:lstStyle/>
                    <a:p>
                      <a:r>
                        <a:rPr lang="en-US"/>
                        <a:t>Start Date</a:t>
                      </a:r>
                    </a:p>
                  </a:txBody>
                  <a:tcPr/>
                </a:tc>
                <a:extLst>
                  <a:ext uri="{0D108BD9-81ED-4DB2-BD59-A6C34878D82A}">
                    <a16:rowId xmlns:a16="http://schemas.microsoft.com/office/drawing/2014/main" val="3434628265"/>
                  </a:ext>
                </a:extLst>
              </a:tr>
              <a:tr h="370840">
                <a:tc>
                  <a:txBody>
                    <a:bodyPr/>
                    <a:lstStyle/>
                    <a:p>
                      <a:r>
                        <a:rPr lang="en-US"/>
                        <a:t>Safety Time (1)</a:t>
                      </a:r>
                    </a:p>
                  </a:txBody>
                  <a:tcPr/>
                </a:tc>
                <a:tc>
                  <a:txBody>
                    <a:bodyPr/>
                    <a:lstStyle/>
                    <a:p>
                      <a:r>
                        <a:rPr lang="en-US">
                          <a:solidFill>
                            <a:srgbClr val="FF0000"/>
                          </a:solidFill>
                        </a:rPr>
                        <a:t>Dock To Stock (1)</a:t>
                      </a:r>
                    </a:p>
                  </a:txBody>
                  <a:tcPr/>
                </a:tc>
                <a:tc>
                  <a:txBody>
                    <a:bodyPr/>
                    <a:lstStyle/>
                    <a:p>
                      <a:r>
                        <a:rPr lang="en-US">
                          <a:solidFill>
                            <a:srgbClr val="FF0000"/>
                          </a:solidFill>
                        </a:rPr>
                        <a:t>Transit Time (2)</a:t>
                      </a:r>
                    </a:p>
                  </a:txBody>
                  <a:tcPr/>
                </a:tc>
                <a:tc>
                  <a:txBody>
                    <a:bodyPr/>
                    <a:lstStyle/>
                    <a:p>
                      <a:r>
                        <a:rPr lang="en-US">
                          <a:solidFill>
                            <a:srgbClr val="FF0000"/>
                          </a:solidFill>
                        </a:rPr>
                        <a:t>Pre-Ship Time (0)</a:t>
                      </a:r>
                    </a:p>
                  </a:txBody>
                  <a:tcPr/>
                </a:tc>
                <a:tc>
                  <a:txBody>
                    <a:bodyPr/>
                    <a:lstStyle/>
                    <a:p>
                      <a:r>
                        <a:rPr lang="en-US"/>
                        <a:t>Lead Time Adjust (1)</a:t>
                      </a:r>
                    </a:p>
                  </a:txBody>
                  <a:tcPr/>
                </a:tc>
                <a:tc>
                  <a:txBody>
                    <a:bodyPr/>
                    <a:lstStyle/>
                    <a:p>
                      <a:endParaRPr lang="en-US"/>
                    </a:p>
                  </a:txBody>
                  <a:tcPr/>
                </a:tc>
                <a:extLst>
                  <a:ext uri="{0D108BD9-81ED-4DB2-BD59-A6C34878D82A}">
                    <a16:rowId xmlns:a16="http://schemas.microsoft.com/office/drawing/2014/main" val="169593582"/>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r>
                        <a:rPr lang="en-US"/>
                        <a:t>Fixed (1)</a:t>
                      </a:r>
                    </a:p>
                  </a:txBody>
                  <a:tcPr/>
                </a:tc>
                <a:tc>
                  <a:txBody>
                    <a:bodyPr/>
                    <a:lstStyle/>
                    <a:p>
                      <a:endParaRPr lang="en-US"/>
                    </a:p>
                  </a:txBody>
                  <a:tcPr/>
                </a:tc>
                <a:extLst>
                  <a:ext uri="{0D108BD9-81ED-4DB2-BD59-A6C34878D82A}">
                    <a16:rowId xmlns:a16="http://schemas.microsoft.com/office/drawing/2014/main" val="3769563568"/>
                  </a:ext>
                </a:extLst>
              </a:tr>
              <a:tr h="370839">
                <a:tc>
                  <a:txBody>
                    <a:bodyPr/>
                    <a:lstStyle/>
                    <a:p>
                      <a:pPr lvl="0">
                        <a:buNone/>
                      </a:pPr>
                      <a:endParaRPr lang="en-US" dirty="0"/>
                    </a:p>
                  </a:txBody>
                  <a:tcPr/>
                </a:tc>
                <a:tc>
                  <a:txBody>
                    <a:bodyPr/>
                    <a:lstStyle/>
                    <a:p>
                      <a:pPr lvl="0">
                        <a:buNone/>
                      </a:pPr>
                      <a:endParaRPr lang="en-US" dirty="0"/>
                    </a:p>
                  </a:txBody>
                  <a:tcPr/>
                </a:tc>
                <a:tc>
                  <a:txBody>
                    <a:bodyPr/>
                    <a:lstStyle/>
                    <a:p>
                      <a:pPr lvl="0">
                        <a:buNone/>
                      </a:pPr>
                      <a:endParaRPr lang="en-US" dirty="0"/>
                    </a:p>
                  </a:txBody>
                  <a:tcPr/>
                </a:tc>
                <a:tc>
                  <a:txBody>
                    <a:bodyPr/>
                    <a:lstStyle/>
                    <a:p>
                      <a:pPr lvl="0">
                        <a:buNone/>
                      </a:pPr>
                      <a:endParaRPr lang="en-US" dirty="0"/>
                    </a:p>
                  </a:txBody>
                  <a:tcPr/>
                </a:tc>
                <a:tc>
                  <a:txBody>
                    <a:bodyPr/>
                    <a:lstStyle/>
                    <a:p>
                      <a:pPr lvl="0">
                        <a:buNone/>
                      </a:pPr>
                      <a:r>
                        <a:rPr lang="en-US"/>
                        <a:t>Variable (0*2)</a:t>
                      </a:r>
                      <a:endParaRPr lang="en-US" dirty="0"/>
                    </a:p>
                  </a:txBody>
                  <a:tcPr/>
                </a:tc>
                <a:tc>
                  <a:txBody>
                    <a:bodyPr/>
                    <a:lstStyle/>
                    <a:p>
                      <a:pPr lvl="0">
                        <a:buNone/>
                      </a:pPr>
                      <a:endParaRPr lang="en-US" dirty="0"/>
                    </a:p>
                  </a:txBody>
                  <a:tcPr/>
                </a:tc>
                <a:extLst>
                  <a:ext uri="{0D108BD9-81ED-4DB2-BD59-A6C34878D82A}">
                    <a16:rowId xmlns:a16="http://schemas.microsoft.com/office/drawing/2014/main" val="496422798"/>
                  </a:ext>
                </a:extLst>
              </a:tr>
              <a:tr h="370838">
                <a:tc>
                  <a:txBody>
                    <a:bodyPr/>
                    <a:lstStyle/>
                    <a:p>
                      <a:pPr lvl="0">
                        <a:buNone/>
                      </a:pPr>
                      <a:endParaRPr lang="en-US" dirty="0"/>
                    </a:p>
                  </a:txBody>
                  <a:tcPr/>
                </a:tc>
                <a:tc>
                  <a:txBody>
                    <a:bodyPr/>
                    <a:lstStyle/>
                    <a:p>
                      <a:pPr lvl="0">
                        <a:buNone/>
                      </a:pPr>
                      <a:r>
                        <a:rPr lang="en-US"/>
                        <a:t>10/13/2026</a:t>
                      </a:r>
                      <a:endParaRPr lang="en-US" dirty="0"/>
                    </a:p>
                  </a:txBody>
                  <a:tcPr/>
                </a:tc>
                <a:tc>
                  <a:txBody>
                    <a:bodyPr/>
                    <a:lstStyle/>
                    <a:p>
                      <a:pPr lvl="0">
                        <a:buNone/>
                      </a:pPr>
                      <a:r>
                        <a:rPr lang="en-US"/>
                        <a:t>10/13/2026</a:t>
                      </a:r>
                      <a:endParaRPr lang="en-US" dirty="0"/>
                    </a:p>
                  </a:txBody>
                  <a:tcPr/>
                </a:tc>
                <a:tc>
                  <a:txBody>
                    <a:bodyPr/>
                    <a:lstStyle/>
                    <a:p>
                      <a:pPr lvl="0">
                        <a:buNone/>
                      </a:pPr>
                      <a:r>
                        <a:rPr lang="en-US"/>
                        <a:t>10/13/2026</a:t>
                      </a:r>
                      <a:endParaRPr lang="en-US" dirty="0"/>
                    </a:p>
                  </a:txBody>
                  <a:tcPr/>
                </a:tc>
                <a:tc>
                  <a:txBody>
                    <a:bodyPr/>
                    <a:lstStyle/>
                    <a:p>
                      <a:pPr lvl="0">
                        <a:buNone/>
                      </a:pPr>
                      <a:r>
                        <a:rPr lang="en-US"/>
                        <a:t>10/13/2026</a:t>
                      </a:r>
                      <a:endParaRPr lang="en-US" dirty="0"/>
                    </a:p>
                  </a:txBody>
                  <a:tcPr/>
                </a:tc>
                <a:tc>
                  <a:txBody>
                    <a:bodyPr/>
                    <a:lstStyle/>
                    <a:p>
                      <a:pPr lvl="0">
                        <a:buNone/>
                      </a:pPr>
                      <a:r>
                        <a:rPr lang="en-US"/>
                        <a:t>10/11/2026</a:t>
                      </a:r>
                      <a:endParaRPr lang="en-US" dirty="0"/>
                    </a:p>
                  </a:txBody>
                  <a:tcPr/>
                </a:tc>
                <a:extLst>
                  <a:ext uri="{0D108BD9-81ED-4DB2-BD59-A6C34878D82A}">
                    <a16:rowId xmlns:a16="http://schemas.microsoft.com/office/drawing/2014/main" val="4209623429"/>
                  </a:ext>
                </a:extLst>
              </a:tr>
            </a:tbl>
          </a:graphicData>
        </a:graphic>
      </p:graphicFrame>
      <p:sp>
        <p:nvSpPr>
          <p:cNvPr id="7" name="TextBox 6">
            <a:extLst>
              <a:ext uri="{FF2B5EF4-FFF2-40B4-BE49-F238E27FC236}">
                <a16:creationId xmlns:a16="http://schemas.microsoft.com/office/drawing/2014/main" id="{02D30D9F-589F-2865-0DCE-55C736A88173}"/>
              </a:ext>
            </a:extLst>
          </p:cNvPr>
          <p:cNvSpPr txBox="1"/>
          <p:nvPr/>
        </p:nvSpPr>
        <p:spPr>
          <a:xfrm>
            <a:off x="287547" y="424131"/>
            <a:ext cx="11415622" cy="240065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cs typeface="Arial"/>
              </a:rPr>
              <a:t>Simulation 8:</a:t>
            </a:r>
          </a:p>
          <a:p>
            <a:endParaRPr lang="en-US" dirty="0">
              <a:cs typeface="Arial"/>
            </a:endParaRPr>
          </a:p>
          <a:p>
            <a:pPr marL="285750" indent="-285750">
              <a:buFont typeface="Arial"/>
              <a:buChar char="•"/>
            </a:pPr>
            <a:r>
              <a:rPr lang="en-US" dirty="0" err="1">
                <a:cs typeface="Arial"/>
              </a:rPr>
              <a:t>SupplyType.LeadTimeRule</a:t>
            </a:r>
            <a:r>
              <a:rPr lang="en-US" dirty="0">
                <a:cs typeface="Arial"/>
              </a:rPr>
              <a:t> = Ignore/Override</a:t>
            </a:r>
          </a:p>
          <a:p>
            <a:pPr marL="285750" indent="-285750">
              <a:buFont typeface="Arial"/>
              <a:buChar char="•"/>
            </a:pPr>
            <a:r>
              <a:rPr lang="en-US" dirty="0" err="1">
                <a:cs typeface="Arial"/>
              </a:rPr>
              <a:t>SupplyStatus.LeadTimeOverride</a:t>
            </a:r>
            <a:r>
              <a:rPr lang="en-US" dirty="0">
                <a:cs typeface="Arial"/>
              </a:rPr>
              <a:t> = No</a:t>
            </a:r>
          </a:p>
          <a:p>
            <a:pPr marL="285750" indent="-285750">
              <a:buFont typeface="Arial,Sans-Serif"/>
              <a:buChar char="•"/>
            </a:pPr>
            <a:r>
              <a:rPr lang="en-US">
                <a:cs typeface="Arial"/>
              </a:rPr>
              <a:t>Transit Rule = Inclusive</a:t>
            </a:r>
          </a:p>
          <a:p>
            <a:pPr marL="285750" indent="-285750">
              <a:buFont typeface="Arial"/>
              <a:buChar char="•"/>
            </a:pPr>
            <a:r>
              <a:rPr lang="en-US">
                <a:cs typeface="Arial"/>
              </a:rPr>
              <a:t>Scheduled Receipt for Qtd (2).</a:t>
            </a:r>
          </a:p>
          <a:p>
            <a:pPr marL="285750" indent="-285750">
              <a:buFont typeface="Arial,Sans-Serif"/>
              <a:buChar char="•"/>
            </a:pPr>
            <a:r>
              <a:rPr lang="en-US">
                <a:cs typeface="Arial"/>
              </a:rPr>
              <a:t>Lead Time Value come from Part Source Table, without considering lead time elements DTS, Transit and Pre-Ship Time into calculations.</a:t>
            </a:r>
          </a:p>
        </p:txBody>
      </p:sp>
    </p:spTree>
    <p:extLst>
      <p:ext uri="{BB962C8B-B14F-4D97-AF65-F5344CB8AC3E}">
        <p14:creationId xmlns:p14="http://schemas.microsoft.com/office/powerpoint/2010/main" val="37476818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4FAACB-0259-6452-F138-2E28E00FFD9B}"/>
            </a:ext>
          </a:extLst>
        </p:cNvPr>
        <p:cNvGrpSpPr/>
        <p:nvPr/>
      </p:nvGrpSpPr>
      <p:grpSpPr>
        <a:xfrm>
          <a:off x="0" y="0"/>
          <a:ext cx="0" cy="0"/>
          <a:chOff x="0" y="0"/>
          <a:chExt cx="0" cy="0"/>
        </a:xfrm>
      </p:grpSpPr>
      <p:pic>
        <p:nvPicPr>
          <p:cNvPr id="4" name="Picture 8" descr="Shape, rectangle&#10;&#10;Description automatically generated">
            <a:extLst>
              <a:ext uri="{FF2B5EF4-FFF2-40B4-BE49-F238E27FC236}">
                <a16:creationId xmlns:a16="http://schemas.microsoft.com/office/drawing/2014/main" id="{0414E678-2BD7-C0D4-7208-5555C655E748}"/>
              </a:ext>
            </a:extLst>
          </p:cNvPr>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a:extLst>
              <a:ext uri="{FF2B5EF4-FFF2-40B4-BE49-F238E27FC236}">
                <a16:creationId xmlns:a16="http://schemas.microsoft.com/office/drawing/2014/main" id="{191D4049-4201-43D5-2230-22C6F0108A05}"/>
              </a:ext>
            </a:extLst>
          </p:cNvPr>
          <p:cNvPicPr>
            <a:picLocks noChangeAspect="1"/>
          </p:cNvPicPr>
          <p:nvPr/>
        </p:nvPicPr>
        <p:blipFill>
          <a:blip r:embed="rId3"/>
          <a:stretch>
            <a:fillRect/>
          </a:stretch>
        </p:blipFill>
        <p:spPr>
          <a:xfrm>
            <a:off x="9181381" y="65406"/>
            <a:ext cx="2743200" cy="717452"/>
          </a:xfrm>
          <a:prstGeom prst="rect">
            <a:avLst/>
          </a:prstGeom>
        </p:spPr>
      </p:pic>
      <p:pic>
        <p:nvPicPr>
          <p:cNvPr id="2" name="Picture 1" descr="A screenshot of a computer&#10;&#10;AI-generated content may be incorrect.">
            <a:extLst>
              <a:ext uri="{FF2B5EF4-FFF2-40B4-BE49-F238E27FC236}">
                <a16:creationId xmlns:a16="http://schemas.microsoft.com/office/drawing/2014/main" id="{336B7634-DD59-E9A4-06B9-B4ADF4471A82}"/>
              </a:ext>
            </a:extLst>
          </p:cNvPr>
          <p:cNvPicPr>
            <a:picLocks noChangeAspect="1"/>
          </p:cNvPicPr>
          <p:nvPr/>
        </p:nvPicPr>
        <p:blipFill>
          <a:blip r:embed="rId4"/>
          <a:stretch>
            <a:fillRect/>
          </a:stretch>
        </p:blipFill>
        <p:spPr>
          <a:xfrm>
            <a:off x="359433" y="942630"/>
            <a:ext cx="11415624" cy="531779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91832938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8" descr="Shape, rectangle&#10;&#10;Description automatically generated"/>
          <p:cNvPicPr>
            <a:picLocks noChangeAspect="1"/>
          </p:cNvPicPr>
          <p:nvPr/>
        </p:nvPicPr>
        <p:blipFill>
          <a:blip r:embed="rId2"/>
          <a:stretch>
            <a:fillRect/>
          </a:stretch>
        </p:blipFill>
        <p:spPr>
          <a:xfrm>
            <a:off x="-5750" y="6391881"/>
            <a:ext cx="12203499" cy="429029"/>
          </a:xfrm>
          <a:prstGeom prst="rect">
            <a:avLst/>
          </a:prstGeom>
        </p:spPr>
      </p:pic>
      <p:pic>
        <p:nvPicPr>
          <p:cNvPr id="5" name="Picture 6" descr="Text&#10;&#10;Description automatically generated"/>
          <p:cNvPicPr>
            <a:picLocks noChangeAspect="1"/>
          </p:cNvPicPr>
          <p:nvPr/>
        </p:nvPicPr>
        <p:blipFill>
          <a:blip r:embed="rId3"/>
          <a:stretch>
            <a:fillRect/>
          </a:stretch>
        </p:blipFill>
        <p:spPr>
          <a:xfrm>
            <a:off x="9181381" y="65406"/>
            <a:ext cx="2743200" cy="717452"/>
          </a:xfrm>
          <a:prstGeom prst="rect">
            <a:avLst/>
          </a:prstGeom>
        </p:spPr>
      </p:pic>
      <p:sp>
        <p:nvSpPr>
          <p:cNvPr id="2" name="TextBox 1"/>
          <p:cNvSpPr txBox="1"/>
          <p:nvPr/>
        </p:nvSpPr>
        <p:spPr>
          <a:xfrm>
            <a:off x="2916162" y="2345267"/>
            <a:ext cx="5978977" cy="144526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8800" b="1">
                <a:solidFill>
                  <a:srgbClr val="1E4E79"/>
                </a:solidFill>
                <a:cs typeface="Calibri" panose="020F0502020204030204"/>
              </a:rPr>
              <a:t>Thank You</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RESOURCE_RECORD_KEY" val="{&quot;70&quot;:[3321480,3322080,3321686,3323038]}"/>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9</Words>
  <Application>Microsoft Office PowerPoint</Application>
  <PresentationFormat>Widescreen</PresentationFormat>
  <Paragraphs>2</Paragraphs>
  <Slides>80</Slides>
  <Notes>0</Notes>
  <HiddenSlides>0</HiddenSlides>
  <MMClips>0</MMClips>
  <ScaleCrop>false</ScaleCrop>
  <HeadingPairs>
    <vt:vector size="4" baseType="variant">
      <vt:variant>
        <vt:lpstr>Theme</vt:lpstr>
      </vt:variant>
      <vt:variant>
        <vt:i4>1</vt:i4>
      </vt:variant>
      <vt:variant>
        <vt:lpstr>Slide Titles</vt:lpstr>
      </vt:variant>
      <vt:variant>
        <vt:i4>80</vt:i4>
      </vt:variant>
    </vt:vector>
  </HeadingPairs>
  <TitlesOfParts>
    <vt:vector size="8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WPS_1780398705</cp:lastModifiedBy>
  <cp:revision>1032</cp:revision>
  <dcterms:created xsi:type="dcterms:W3CDTF">2025-03-18T11:16:00Z</dcterms:created>
  <dcterms:modified xsi:type="dcterms:W3CDTF">2026-10-19T12:46:53Z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3593189EF8544E67B78418572E7958D7_12</vt:lpwstr>
  </property>
  <property fmtid="{D5CDD505-2E9C-101B-9397-08002B2CF9AE}" pid="3" name="KSOProductBuildVer">
    <vt:lpwstr>1033-12.1.0.27458</vt:lpwstr>
  </property>
</Properties>
</file>