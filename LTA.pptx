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34" r:id="rId2"/>
    <p:sldId id="336" r:id="rId3"/>
    <p:sldId id="337" r:id="rId4"/>
    <p:sldId id="338" r:id="rId5"/>
    <p:sldId id="340" r:id="rId6"/>
    <p:sldId id="341" r:id="rId7"/>
    <p:sldId id="342" r:id="rId8"/>
    <p:sldId id="347" r:id="rId9"/>
    <p:sldId id="339" r:id="rId10"/>
    <p:sldId id="343" r:id="rId11"/>
    <p:sldId id="344" r:id="rId12"/>
    <p:sldId id="345" r:id="rId13"/>
    <p:sldId id="346" r:id="rId14"/>
    <p:sldId id="361" r:id="rId15"/>
    <p:sldId id="348" r:id="rId16"/>
    <p:sldId id="349" r:id="rId17"/>
    <p:sldId id="354" r:id="rId18"/>
    <p:sldId id="350" r:id="rId19"/>
    <p:sldId id="351" r:id="rId20"/>
    <p:sldId id="352" r:id="rId21"/>
    <p:sldId id="353" r:id="rId22"/>
    <p:sldId id="362" r:id="rId23"/>
    <p:sldId id="355" r:id="rId24"/>
    <p:sldId id="364" r:id="rId25"/>
    <p:sldId id="363" r:id="rId26"/>
    <p:sldId id="365" r:id="rId27"/>
    <p:sldId id="366" r:id="rId28"/>
    <p:sldId id="356" r:id="rId29"/>
    <p:sldId id="357" r:id="rId30"/>
    <p:sldId id="367" r:id="rId31"/>
    <p:sldId id="359" r:id="rId32"/>
    <p:sldId id="360" r:id="rId33"/>
    <p:sldId id="368" r:id="rId34"/>
    <p:sldId id="369" r:id="rId35"/>
    <p:sldId id="370" r:id="rId36"/>
    <p:sldId id="371" r:id="rId37"/>
    <p:sldId id="372" r:id="rId38"/>
    <p:sldId id="373" r:id="rId39"/>
    <p:sldId id="374" r:id="rId40"/>
    <p:sldId id="375" r:id="rId41"/>
    <p:sldId id="376" r:id="rId42"/>
    <p:sldId id="377" r:id="rId43"/>
    <p:sldId id="378" r:id="rId44"/>
    <p:sldId id="379" r:id="rId45"/>
    <p:sldId id="397" r:id="rId46"/>
    <p:sldId id="380" r:id="rId47"/>
    <p:sldId id="381" r:id="rId48"/>
    <p:sldId id="382" r:id="rId49"/>
    <p:sldId id="383" r:id="rId50"/>
    <p:sldId id="384" r:id="rId51"/>
    <p:sldId id="385" r:id="rId52"/>
    <p:sldId id="386" r:id="rId53"/>
    <p:sldId id="387" r:id="rId54"/>
    <p:sldId id="396" r:id="rId55"/>
    <p:sldId id="388" r:id="rId56"/>
    <p:sldId id="389" r:id="rId57"/>
    <p:sldId id="390" r:id="rId58"/>
    <p:sldId id="391" r:id="rId59"/>
    <p:sldId id="392" r:id="rId60"/>
    <p:sldId id="393" r:id="rId61"/>
    <p:sldId id="394" r:id="rId62"/>
    <p:sldId id="335" r:id="rId63"/>
  </p:sldIdLst>
  <p:sldSz cx="12192000" cy="6858000"/>
  <p:notesSz cx="6858000" cy="9144000"/>
  <p:custDataLst>
    <p:tags r:id="rId6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359541-BF54-B542-8BA5-3CAD2E9FF5FE}" v="6552" dt="2026-10-19T12:46:04.5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660"/>
  </p:normalViewPr>
  <p:slideViewPr>
    <p:cSldViewPr snapToGrid="0">
      <p:cViewPr>
        <p:scale>
          <a:sx n="70" d="100"/>
          <a:sy n="70" d="100"/>
        </p:scale>
        <p:origin x="1003" y="38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gs" Target="tags/tag1.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sp>
        <p:nvSpPr>
          <p:cNvPr id="2" name="TextBox 1"/>
          <p:cNvSpPr txBox="1"/>
          <p:nvPr/>
        </p:nvSpPr>
        <p:spPr>
          <a:xfrm>
            <a:off x="3944953" y="2226350"/>
            <a:ext cx="5978977"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5000" b="1" dirty="0">
                <a:cs typeface="Calibri" panose="020F0502020204030204"/>
              </a:rPr>
              <a:t>Lead Time Algorithm</a:t>
            </a:r>
          </a:p>
        </p:txBody>
      </p:sp>
      <p:sp>
        <p:nvSpPr>
          <p:cNvPr id="6" name="TextBox 5">
            <a:extLst>
              <a:ext uri="{FF2B5EF4-FFF2-40B4-BE49-F238E27FC236}">
                <a16:creationId xmlns:a16="http://schemas.microsoft.com/office/drawing/2014/main" id="{88962565-AB29-BBA4-B51D-6D47FC44DA2A}"/>
              </a:ext>
            </a:extLst>
          </p:cNvPr>
          <p:cNvSpPr txBox="1"/>
          <p:nvPr/>
        </p:nvSpPr>
        <p:spPr>
          <a:xfrm>
            <a:off x="7326798" y="3973933"/>
            <a:ext cx="259713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000" b="1" dirty="0">
                <a:cs typeface="Calibri" panose="020F0502020204030204"/>
              </a:rPr>
              <a:t>Anush Kundu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DF038-F31E-3CCE-56E4-3F7BED64B53D}"/>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910BB5C6-E126-4597-2492-FD01F28DA43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462A9B4B-7EA0-9633-B5D8-9F131CBE11F3}"/>
              </a:ext>
            </a:extLst>
          </p:cNvPr>
          <p:cNvPicPr>
            <a:picLocks noChangeAspect="1"/>
          </p:cNvPicPr>
          <p:nvPr/>
        </p:nvPicPr>
        <p:blipFill>
          <a:blip r:embed="rId3"/>
          <a:stretch>
            <a:fillRect/>
          </a:stretch>
        </p:blipFill>
        <p:spPr>
          <a:xfrm>
            <a:off x="9181381" y="65406"/>
            <a:ext cx="2743200" cy="717452"/>
          </a:xfrm>
          <a:prstGeom prst="rect">
            <a:avLst/>
          </a:prstGeom>
        </p:spPr>
      </p:pic>
      <p:sp>
        <p:nvSpPr>
          <p:cNvPr id="6" name="TextBox 72">
            <a:extLst>
              <a:ext uri="{FF2B5EF4-FFF2-40B4-BE49-F238E27FC236}">
                <a16:creationId xmlns:a16="http://schemas.microsoft.com/office/drawing/2014/main" id="{64666386-91CD-09B5-B0F4-A537D3FFF963}"/>
              </a:ext>
            </a:extLst>
          </p:cNvPr>
          <p:cNvSpPr txBox="1"/>
          <p:nvPr/>
        </p:nvSpPr>
        <p:spPr>
          <a:xfrm>
            <a:off x="990600" y="1366897"/>
            <a:ext cx="10515600" cy="4339650"/>
          </a:xfrm>
          <a:prstGeom prst="rect">
            <a:avLst/>
          </a:prstGeom>
          <a:noFill/>
        </p:spPr>
        <p:txBody>
          <a:bodyPr wrap="square">
            <a:spAutoFit/>
          </a:bodyPr>
          <a:lstStyle>
            <a:defPPr>
              <a:defRPr kern="0"/>
            </a:defPPr>
          </a:lstStyle>
          <a:p>
            <a:pPr rtl="0"/>
            <a:r>
              <a:rPr lang="en-IN" sz="2400" b="1" u="sng" dirty="0">
                <a:latin typeface="Aptos" panose="020B0004020202020204" pitchFamily="34" charset="0"/>
              </a:rPr>
              <a:t>Lead Time Dates</a:t>
            </a:r>
          </a:p>
          <a:p>
            <a:pPr marL="285750" indent="-285750" rtl="0">
              <a:buFont typeface="Arial" panose="020B0604020202020204" pitchFamily="34" charset="0"/>
              <a:buChar char="•"/>
            </a:pPr>
            <a:endParaRPr lang="en-IN" sz="1400" b="1" dirty="0">
              <a:latin typeface="Aptos" panose="020B0004020202020204" pitchFamily="34" charset="0"/>
            </a:endParaRPr>
          </a:p>
          <a:p>
            <a:pPr marL="285750" indent="-285750" rtl="0">
              <a:buFont typeface="Arial" panose="020B0604020202020204" pitchFamily="34" charset="0"/>
              <a:buChar char="•"/>
            </a:pPr>
            <a:endParaRPr lang="en-IN" sz="1400" b="1"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Demand Date (Need Date / Requirement Date):</a:t>
            </a:r>
            <a:r>
              <a:rPr lang="en-IN" sz="1400" dirty="0">
                <a:latin typeface="Aptos" panose="020B0004020202020204" pitchFamily="34" charset="0"/>
              </a:rPr>
              <a:t> When the customer or consuming process needs the material available. This is the anchor everything else is calculated from.</a:t>
            </a:r>
          </a:p>
          <a:p>
            <a:pPr marL="285750" indent="-285750" rtl="0">
              <a:buFont typeface="Arial" panose="020B0604020202020204" pitchFamily="34" charset="0"/>
              <a:buChar char="•"/>
            </a:pPr>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Due Date:</a:t>
            </a:r>
            <a:r>
              <a:rPr lang="en-IN" sz="1400" dirty="0">
                <a:latin typeface="Aptos" panose="020B0004020202020204" pitchFamily="34" charset="0"/>
              </a:rPr>
              <a:t> When the order must be complete or received to meet the demand. In MRP it is often the demand date minus safety lead time (a buffer).</a:t>
            </a:r>
          </a:p>
          <a:p>
            <a:pPr marL="285750" indent="-285750" rtl="0">
              <a:buFont typeface="Arial" panose="020B0604020202020204" pitchFamily="34" charset="0"/>
              <a:buChar char="•"/>
            </a:pPr>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Dock Date:</a:t>
            </a:r>
            <a:r>
              <a:rPr lang="en-IN" sz="1400" dirty="0">
                <a:latin typeface="Aptos" panose="020B0004020202020204" pitchFamily="34" charset="0"/>
              </a:rPr>
              <a:t> When the goods arrive at your receiving dock. This is the date the supplier or upstream plant needs to deliver to.</a:t>
            </a:r>
          </a:p>
          <a:p>
            <a:pPr rtl="0"/>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Stock Date:</a:t>
            </a:r>
            <a:r>
              <a:rPr lang="en-IN" sz="1400" dirty="0">
                <a:latin typeface="Aptos" panose="020B0004020202020204" pitchFamily="34" charset="0"/>
              </a:rPr>
              <a:t> When the material is received, inspected, put away, and available for use. Dock date plus dock-to-stock time.</a:t>
            </a:r>
          </a:p>
          <a:p>
            <a:pPr marL="285750" indent="-285750" rtl="0">
              <a:buFont typeface="Arial" panose="020B0604020202020204" pitchFamily="34" charset="0"/>
              <a:buChar char="•"/>
            </a:pPr>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Ship Date:</a:t>
            </a:r>
            <a:r>
              <a:rPr lang="en-IN" sz="1400" dirty="0">
                <a:latin typeface="Aptos" panose="020B0004020202020204" pitchFamily="34" charset="0"/>
              </a:rPr>
              <a:t> When the supplier or origin plant actually ships. Dock date minus transit time.</a:t>
            </a:r>
          </a:p>
          <a:p>
            <a:pPr rtl="0"/>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Build Date (Production/Completion Date):</a:t>
            </a:r>
            <a:r>
              <a:rPr lang="en-IN" sz="1400" dirty="0">
                <a:latin typeface="Aptos" panose="020B0004020202020204" pitchFamily="34" charset="0"/>
              </a:rPr>
              <a:t> When production finishes and goods are ready to ship.</a:t>
            </a:r>
          </a:p>
          <a:p>
            <a:pPr marL="285750" indent="-285750" rtl="0">
              <a:buFont typeface="Arial" panose="020B0604020202020204" pitchFamily="34" charset="0"/>
              <a:buChar char="•"/>
            </a:pPr>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Start Date (Release Date / Order Start):</a:t>
            </a:r>
            <a:r>
              <a:rPr lang="en-IN" sz="1400" dirty="0">
                <a:latin typeface="Aptos" panose="020B0004020202020204" pitchFamily="34" charset="0"/>
              </a:rPr>
              <a:t> When the work order or purchase order must be released or begin, so that it completes on time. Due date minus the lead time.</a:t>
            </a:r>
          </a:p>
        </p:txBody>
      </p:sp>
    </p:spTree>
    <p:extLst>
      <p:ext uri="{BB962C8B-B14F-4D97-AF65-F5344CB8AC3E}">
        <p14:creationId xmlns:p14="http://schemas.microsoft.com/office/powerpoint/2010/main" val="3560559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B83E4-6CFB-BE77-0D70-57E2CBE25DE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456C3B6F-D05E-DB88-5CBF-97DB5753F3CD}"/>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2E45E95F-42F3-768B-109D-06B32DA76117}"/>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7847F71D-6BF5-1152-A028-157982EFBB57}"/>
              </a:ext>
            </a:extLst>
          </p:cNvPr>
          <p:cNvSpPr txBox="1"/>
          <p:nvPr/>
        </p:nvSpPr>
        <p:spPr>
          <a:xfrm>
            <a:off x="457200" y="457200"/>
            <a:ext cx="11049000" cy="5416868"/>
          </a:xfrm>
          <a:prstGeom prst="rect">
            <a:avLst/>
          </a:prstGeom>
          <a:noFill/>
        </p:spPr>
        <p:txBody>
          <a:bodyPr wrap="square" rtlCol="0">
            <a:spAutoFit/>
          </a:bodyPr>
          <a:lstStyle>
            <a:defPPr>
              <a:defRPr kern="0"/>
            </a:defPPr>
          </a:lstStyle>
          <a:p>
            <a:r>
              <a:rPr lang="en-US" sz="2400" b="1" u="sng" dirty="0">
                <a:latin typeface="Aptos" panose="020B0004020202020204" pitchFamily="34" charset="0"/>
              </a:rPr>
              <a:t>Lead Time Elements</a:t>
            </a:r>
          </a:p>
          <a:p>
            <a:pPr marL="285750" indent="-285750">
              <a:buFont typeface="Arial" panose="020B0604020202020204" pitchFamily="34" charset="0"/>
              <a:buChar char="•"/>
            </a:pPr>
            <a:endParaRPr lang="en-US" sz="1400" b="1"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Pre-ship time: </a:t>
            </a:r>
            <a:r>
              <a:rPr lang="en-US" sz="1400" dirty="0">
                <a:latin typeface="Aptos" panose="020B0004020202020204" pitchFamily="34" charset="0"/>
              </a:rPr>
              <a:t>The time the supplier needs to get your order ready before it leaves their warehouse. They receive the PO, find or make the goods, pack them, and do the paperwork. Example: you place the order on Nov 12, and the box is ready to leave on Nov 17. Pre-ship is 5 days.</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Transit time: </a:t>
            </a:r>
            <a:r>
              <a:rPr lang="en-US" sz="1400" dirty="0">
                <a:latin typeface="Aptos" panose="020B0004020202020204" pitchFamily="34" charset="0"/>
              </a:rPr>
              <a:t>The time the goods spend traveling, from the supplier’s door to yours, whether by truck, ship, or plane (including customs if it crosses a border). Example: the truck takes 10 days.</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Dock-to-stock time: </a:t>
            </a:r>
            <a:r>
              <a:rPr lang="en-US" sz="1400" dirty="0">
                <a:latin typeface="Aptos" panose="020B0004020202020204" pitchFamily="34" charset="0"/>
              </a:rPr>
              <a:t>The time between the truck arriving at your gate and the goods being ready to sell or use. Staff have to unload, count, check for damage, and put the items on shelves. Example: the truck arrives, and it takes 1 day before the phones can be sold.</a:t>
            </a:r>
          </a:p>
          <a:p>
            <a:pPr marL="285750" indent="-285750">
              <a:buFont typeface="Arial" panose="020B0604020202020204" pitchFamily="34" charset="0"/>
              <a:buChar char="•"/>
            </a:pPr>
            <a:endParaRPr lang="en-US" sz="1400" b="1"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Safety lead time: </a:t>
            </a:r>
            <a:r>
              <a:rPr lang="en-US" sz="1400" dirty="0">
                <a:latin typeface="Aptos" panose="020B0004020202020204" pitchFamily="34" charset="0"/>
              </a:rPr>
              <a:t>A cushion of extra time you add on purpose. You plan for the goods to arrive earlier than you need them, so a late truck or a slow supplier doesn’t cause a problem. Example: you need the phones on Nov 30, but you plan to have them by Nov 28. The 2 days in between are your safety lead time.</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Fixed lead time: </a:t>
            </a:r>
            <a:r>
              <a:rPr lang="en-US" sz="1400" dirty="0">
                <a:latin typeface="Aptos" panose="020B0004020202020204" pitchFamily="34" charset="0"/>
              </a:rPr>
              <a:t>The part of the wait that is the same whether you order 1 unit or 1,000. It covers things like machine setup, approvals, waiting in the queue, and transit. Example: a factory always needs 2 days to set up the machine, however many brackets you order.</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Variable lead time: </a:t>
            </a:r>
            <a:r>
              <a:rPr lang="en-US" sz="1400" dirty="0">
                <a:latin typeface="Aptos" panose="020B0004020202020204" pitchFamily="34" charset="0"/>
              </a:rPr>
              <a:t>The part of the wait that grows with the quantity. More units means more production time. Example: the factory makes 100 brackets per day, so an order of 500 takes 5 days and an order of 100 takes 1 day.</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Lead time adjust (offset): </a:t>
            </a:r>
            <a:r>
              <a:rPr lang="en-US" sz="1400" dirty="0">
                <a:latin typeface="Aptos" panose="020B0004020202020204" pitchFamily="34" charset="0"/>
              </a:rPr>
              <a:t>A manual correction to the normal lead time when you know conditions are different from usual. It can be an increase or a decrease. Example: the normal transit time is 10 days, but during the festival season trucks are slower, so you add 2 days.</a:t>
            </a:r>
            <a:endParaRPr lang="en-IN" sz="1400" dirty="0">
              <a:latin typeface="Aptos" panose="020B0004020202020204" pitchFamily="34" charset="0"/>
            </a:endParaRPr>
          </a:p>
        </p:txBody>
      </p:sp>
    </p:spTree>
    <p:extLst>
      <p:ext uri="{BB962C8B-B14F-4D97-AF65-F5344CB8AC3E}">
        <p14:creationId xmlns:p14="http://schemas.microsoft.com/office/powerpoint/2010/main" val="3678117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5F18B-062B-770C-B849-53D897B1145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4D75284-84EF-EAF1-5D22-1EE7EF88745B}"/>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304677DC-DA96-FE35-D673-1C3E0C20148A}"/>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8" descr="Shape, rectangle&#10;&#10;Description automatically generated">
            <a:extLst>
              <a:ext uri="{FF2B5EF4-FFF2-40B4-BE49-F238E27FC236}">
                <a16:creationId xmlns:a16="http://schemas.microsoft.com/office/drawing/2014/main" id="{AC00C0F2-799B-1545-E427-E8FCF760933C}"/>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7" name="Picture 6" descr="Text&#10;&#10;Description automatically generated">
            <a:extLst>
              <a:ext uri="{FF2B5EF4-FFF2-40B4-BE49-F238E27FC236}">
                <a16:creationId xmlns:a16="http://schemas.microsoft.com/office/drawing/2014/main" id="{CA7B6F17-E7E1-E1FD-F6EE-1E1B2AF7EA34}"/>
              </a:ext>
            </a:extLst>
          </p:cNvPr>
          <p:cNvPicPr>
            <a:picLocks noChangeAspect="1"/>
          </p:cNvPicPr>
          <p:nvPr/>
        </p:nvPicPr>
        <p:blipFill>
          <a:blip r:embed="rId3"/>
          <a:stretch>
            <a:fillRect/>
          </a:stretch>
        </p:blipFill>
        <p:spPr>
          <a:xfrm>
            <a:off x="9181381" y="65406"/>
            <a:ext cx="2743200" cy="717452"/>
          </a:xfrm>
          <a:prstGeom prst="rect">
            <a:avLst/>
          </a:prstGeom>
        </p:spPr>
      </p:pic>
      <p:sp>
        <p:nvSpPr>
          <p:cNvPr id="9" name="Text 1">
            <a:extLst>
              <a:ext uri="{FF2B5EF4-FFF2-40B4-BE49-F238E27FC236}">
                <a16:creationId xmlns:a16="http://schemas.microsoft.com/office/drawing/2014/main" id="{401D7FC2-DF7F-EC2F-BDB1-317E2F235F8A}"/>
              </a:ext>
            </a:extLst>
          </p:cNvPr>
          <p:cNvSpPr txBox="1"/>
          <p:nvPr/>
        </p:nvSpPr>
        <p:spPr>
          <a:xfrm>
            <a:off x="2072640" y="914400"/>
            <a:ext cx="8046720" cy="640080"/>
          </a:xfrm>
          <a:prstGeom prst="rect">
            <a:avLst/>
          </a:prstGeom>
          <a:noFill/>
          <a:ln/>
        </p:spPr>
        <p:txBody>
          <a:bodyPr wrap="square" lIns="0" tIns="0" rIns="0" bIns="0" rtlCol="0" anchor="ctr"/>
          <a:lstStyle>
            <a:defPPr>
              <a:defRPr kern="0"/>
            </a:defPPr>
          </a:lstStyle>
          <a:p>
            <a:pPr marL="0" indent="0">
              <a:buNone/>
            </a:pPr>
            <a:r>
              <a:rPr lang="en-US" sz="2000" b="1" dirty="0">
                <a:solidFill>
                  <a:srgbClr val="1F2A44"/>
                </a:solidFill>
                <a:latin typeface="Aptos" panose="020B0004020202020204" pitchFamily="34" charset="0"/>
                <a:ea typeface="Calibri" pitchFamily="34" charset="-122"/>
                <a:cs typeface="Calibri" pitchFamily="34" charset="-120"/>
              </a:rPr>
              <a:t>Example: Diwali Stock of Smartphones</a:t>
            </a:r>
            <a:endParaRPr lang="en-US" sz="2000" dirty="0">
              <a:latin typeface="Aptos" panose="020B0004020202020204" pitchFamily="34" charset="0"/>
            </a:endParaRPr>
          </a:p>
        </p:txBody>
      </p:sp>
      <p:sp>
        <p:nvSpPr>
          <p:cNvPr id="11" name="Text 2">
            <a:extLst>
              <a:ext uri="{FF2B5EF4-FFF2-40B4-BE49-F238E27FC236}">
                <a16:creationId xmlns:a16="http://schemas.microsoft.com/office/drawing/2014/main" id="{92827317-B82D-8411-E815-AA45226BCEF9}"/>
              </a:ext>
            </a:extLst>
          </p:cNvPr>
          <p:cNvSpPr txBox="1"/>
          <p:nvPr/>
        </p:nvSpPr>
        <p:spPr>
          <a:xfrm>
            <a:off x="2072640" y="1554480"/>
            <a:ext cx="8439912" cy="548640"/>
          </a:xfrm>
          <a:prstGeom prst="rect">
            <a:avLst/>
          </a:prstGeom>
          <a:noFill/>
          <a:ln/>
        </p:spPr>
        <p:txBody>
          <a:bodyPr wrap="square" lIns="0" tIns="0" rIns="0" bIns="0" rtlCol="0" anchor="ctr"/>
          <a:lstStyle>
            <a:defPPr>
              <a:defRPr kern="0"/>
            </a:defPPr>
          </a:lstStyle>
          <a:p>
            <a:pPr marL="0" indent="0">
              <a:buNone/>
            </a:pPr>
            <a:r>
              <a:rPr lang="en-US" sz="1400" dirty="0">
                <a:solidFill>
                  <a:schemeClr val="tx1"/>
                </a:solidFill>
                <a:latin typeface="Aptos" panose="020B0004020202020204" pitchFamily="34" charset="0"/>
                <a:ea typeface="Calibri" pitchFamily="34" charset="-122"/>
                <a:cs typeface="Calibri" pitchFamily="34" charset="-120"/>
              </a:rPr>
              <a:t>A Nagpur electronics retailer needs phones on shelves by Nov 30 for the festival sale. Supplier is in Delhi.</a:t>
            </a:r>
            <a:endParaRPr lang="en-US" sz="1400" dirty="0">
              <a:solidFill>
                <a:schemeClr val="tx1"/>
              </a:solidFill>
              <a:latin typeface="Aptos" panose="020B0004020202020204" pitchFamily="34" charset="0"/>
            </a:endParaRPr>
          </a:p>
        </p:txBody>
      </p:sp>
      <p:sp>
        <p:nvSpPr>
          <p:cNvPr id="13" name="Shape 3">
            <a:extLst>
              <a:ext uri="{FF2B5EF4-FFF2-40B4-BE49-F238E27FC236}">
                <a16:creationId xmlns:a16="http://schemas.microsoft.com/office/drawing/2014/main" id="{A2776FD8-8BB8-4C88-9D05-53EA9A13E5A3}"/>
              </a:ext>
            </a:extLst>
          </p:cNvPr>
          <p:cNvSpPr/>
          <p:nvPr/>
        </p:nvSpPr>
        <p:spPr>
          <a:xfrm>
            <a:off x="2392680" y="3291840"/>
            <a:ext cx="7406640" cy="0"/>
          </a:xfrm>
          <a:prstGeom prst="line">
            <a:avLst/>
          </a:prstGeom>
          <a:noFill/>
          <a:ln w="31750">
            <a:solidFill>
              <a:srgbClr val="1F2A44"/>
            </a:solidFill>
            <a:prstDash val="solid"/>
          </a:ln>
        </p:spPr>
        <p:txBody>
          <a:bodyPr/>
          <a:lstStyle/>
          <a:p>
            <a:endParaRPr lang="en-US"/>
          </a:p>
        </p:txBody>
      </p:sp>
      <p:sp>
        <p:nvSpPr>
          <p:cNvPr id="15" name="Text 5">
            <a:extLst>
              <a:ext uri="{FF2B5EF4-FFF2-40B4-BE49-F238E27FC236}">
                <a16:creationId xmlns:a16="http://schemas.microsoft.com/office/drawing/2014/main" id="{F7526028-C0E2-0275-6777-449B712F4B51}"/>
              </a:ext>
            </a:extLst>
          </p:cNvPr>
          <p:cNvSpPr txBox="1"/>
          <p:nvPr/>
        </p:nvSpPr>
        <p:spPr>
          <a:xfrm>
            <a:off x="1706880"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12</a:t>
            </a:r>
            <a:endParaRPr lang="en-US" sz="1400" dirty="0">
              <a:latin typeface="Aptos" panose="020B0004020202020204" pitchFamily="34" charset="0"/>
            </a:endParaRPr>
          </a:p>
        </p:txBody>
      </p:sp>
      <p:sp>
        <p:nvSpPr>
          <p:cNvPr id="17" name="Text 6">
            <a:extLst>
              <a:ext uri="{FF2B5EF4-FFF2-40B4-BE49-F238E27FC236}">
                <a16:creationId xmlns:a16="http://schemas.microsoft.com/office/drawing/2014/main" id="{30173F54-83AB-2AAE-152F-690BB0EAED99}"/>
              </a:ext>
            </a:extLst>
          </p:cNvPr>
          <p:cNvSpPr txBox="1"/>
          <p:nvPr/>
        </p:nvSpPr>
        <p:spPr>
          <a:xfrm>
            <a:off x="1679448"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Start Date</a:t>
            </a:r>
            <a:endParaRPr lang="en-US" sz="1400" dirty="0">
              <a:solidFill>
                <a:schemeClr val="tx1"/>
              </a:solidFill>
              <a:latin typeface="Aptos" panose="020B0004020202020204" pitchFamily="34" charset="0"/>
            </a:endParaRPr>
          </a:p>
        </p:txBody>
      </p:sp>
      <p:sp>
        <p:nvSpPr>
          <p:cNvPr id="19" name="Text 8">
            <a:extLst>
              <a:ext uri="{FF2B5EF4-FFF2-40B4-BE49-F238E27FC236}">
                <a16:creationId xmlns:a16="http://schemas.microsoft.com/office/drawing/2014/main" id="{EFB724DE-6911-793C-E9FC-02289CC1367B}"/>
              </a:ext>
            </a:extLst>
          </p:cNvPr>
          <p:cNvSpPr txBox="1"/>
          <p:nvPr/>
        </p:nvSpPr>
        <p:spPr>
          <a:xfrm>
            <a:off x="3188208"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16</a:t>
            </a:r>
            <a:endParaRPr lang="en-US" sz="1400" dirty="0">
              <a:latin typeface="Aptos" panose="020B0004020202020204" pitchFamily="34" charset="0"/>
            </a:endParaRPr>
          </a:p>
        </p:txBody>
      </p:sp>
      <p:sp>
        <p:nvSpPr>
          <p:cNvPr id="21" name="Text 9">
            <a:extLst>
              <a:ext uri="{FF2B5EF4-FFF2-40B4-BE49-F238E27FC236}">
                <a16:creationId xmlns:a16="http://schemas.microsoft.com/office/drawing/2014/main" id="{26FC2E07-AFAE-CBCD-F205-D56BDC2EA973}"/>
              </a:ext>
            </a:extLst>
          </p:cNvPr>
          <p:cNvSpPr txBox="1"/>
          <p:nvPr/>
        </p:nvSpPr>
        <p:spPr>
          <a:xfrm>
            <a:off x="3160776"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Build Date</a:t>
            </a:r>
            <a:endParaRPr lang="en-US" sz="1400" dirty="0">
              <a:solidFill>
                <a:schemeClr val="tx1"/>
              </a:solidFill>
              <a:latin typeface="Aptos" panose="020B0004020202020204" pitchFamily="34" charset="0"/>
            </a:endParaRPr>
          </a:p>
        </p:txBody>
      </p:sp>
      <p:sp>
        <p:nvSpPr>
          <p:cNvPr id="23" name="Text 11">
            <a:extLst>
              <a:ext uri="{FF2B5EF4-FFF2-40B4-BE49-F238E27FC236}">
                <a16:creationId xmlns:a16="http://schemas.microsoft.com/office/drawing/2014/main" id="{A442AEA0-025B-DAF2-C804-4ADA79597B8A}"/>
              </a:ext>
            </a:extLst>
          </p:cNvPr>
          <p:cNvSpPr txBox="1"/>
          <p:nvPr/>
        </p:nvSpPr>
        <p:spPr>
          <a:xfrm>
            <a:off x="4669536"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17</a:t>
            </a:r>
            <a:endParaRPr lang="en-US" sz="1400" dirty="0">
              <a:latin typeface="Aptos" panose="020B0004020202020204" pitchFamily="34" charset="0"/>
            </a:endParaRPr>
          </a:p>
        </p:txBody>
      </p:sp>
      <p:sp>
        <p:nvSpPr>
          <p:cNvPr id="25" name="Text 12">
            <a:extLst>
              <a:ext uri="{FF2B5EF4-FFF2-40B4-BE49-F238E27FC236}">
                <a16:creationId xmlns:a16="http://schemas.microsoft.com/office/drawing/2014/main" id="{8E46F58A-8AD1-2988-B2EA-D19DBACA8043}"/>
              </a:ext>
            </a:extLst>
          </p:cNvPr>
          <p:cNvSpPr txBox="1"/>
          <p:nvPr/>
        </p:nvSpPr>
        <p:spPr>
          <a:xfrm>
            <a:off x="4642104"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Ship Date</a:t>
            </a:r>
            <a:endParaRPr lang="en-US" sz="1400" dirty="0">
              <a:solidFill>
                <a:schemeClr val="tx1"/>
              </a:solidFill>
              <a:latin typeface="Aptos" panose="020B0004020202020204" pitchFamily="34" charset="0"/>
            </a:endParaRPr>
          </a:p>
        </p:txBody>
      </p:sp>
      <p:sp>
        <p:nvSpPr>
          <p:cNvPr id="27" name="Text 14">
            <a:extLst>
              <a:ext uri="{FF2B5EF4-FFF2-40B4-BE49-F238E27FC236}">
                <a16:creationId xmlns:a16="http://schemas.microsoft.com/office/drawing/2014/main" id="{48D65F23-C5C1-7B30-743A-EEC08C768603}"/>
              </a:ext>
            </a:extLst>
          </p:cNvPr>
          <p:cNvSpPr txBox="1"/>
          <p:nvPr/>
        </p:nvSpPr>
        <p:spPr>
          <a:xfrm>
            <a:off x="6150864"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27</a:t>
            </a:r>
            <a:endParaRPr lang="en-US" sz="1400" dirty="0">
              <a:latin typeface="Aptos" panose="020B0004020202020204" pitchFamily="34" charset="0"/>
            </a:endParaRPr>
          </a:p>
        </p:txBody>
      </p:sp>
      <p:sp>
        <p:nvSpPr>
          <p:cNvPr id="29" name="Text 15">
            <a:extLst>
              <a:ext uri="{FF2B5EF4-FFF2-40B4-BE49-F238E27FC236}">
                <a16:creationId xmlns:a16="http://schemas.microsoft.com/office/drawing/2014/main" id="{F3E1E1D3-B54C-89E8-AF96-494EAA11C202}"/>
              </a:ext>
            </a:extLst>
          </p:cNvPr>
          <p:cNvSpPr txBox="1"/>
          <p:nvPr/>
        </p:nvSpPr>
        <p:spPr>
          <a:xfrm>
            <a:off x="6123432"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Dock Date</a:t>
            </a:r>
            <a:endParaRPr lang="en-US" sz="1400" dirty="0">
              <a:solidFill>
                <a:schemeClr val="tx1"/>
              </a:solidFill>
              <a:latin typeface="Aptos" panose="020B0004020202020204" pitchFamily="34" charset="0"/>
            </a:endParaRPr>
          </a:p>
        </p:txBody>
      </p:sp>
      <p:sp>
        <p:nvSpPr>
          <p:cNvPr id="31" name="Text 17">
            <a:extLst>
              <a:ext uri="{FF2B5EF4-FFF2-40B4-BE49-F238E27FC236}">
                <a16:creationId xmlns:a16="http://schemas.microsoft.com/office/drawing/2014/main" id="{5439F97F-21E4-481F-415B-9F9136C61706}"/>
              </a:ext>
            </a:extLst>
          </p:cNvPr>
          <p:cNvSpPr txBox="1"/>
          <p:nvPr/>
        </p:nvSpPr>
        <p:spPr>
          <a:xfrm>
            <a:off x="7632192"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28</a:t>
            </a:r>
            <a:endParaRPr lang="en-US" sz="1400" dirty="0">
              <a:latin typeface="Aptos" panose="020B0004020202020204" pitchFamily="34" charset="0"/>
            </a:endParaRPr>
          </a:p>
        </p:txBody>
      </p:sp>
      <p:sp>
        <p:nvSpPr>
          <p:cNvPr id="33" name="Text 18">
            <a:extLst>
              <a:ext uri="{FF2B5EF4-FFF2-40B4-BE49-F238E27FC236}">
                <a16:creationId xmlns:a16="http://schemas.microsoft.com/office/drawing/2014/main" id="{54A500D3-29A6-79FC-B16C-A54AED225F4B}"/>
              </a:ext>
            </a:extLst>
          </p:cNvPr>
          <p:cNvSpPr txBox="1"/>
          <p:nvPr/>
        </p:nvSpPr>
        <p:spPr>
          <a:xfrm>
            <a:off x="7604760"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Due / Stock Date</a:t>
            </a:r>
            <a:endParaRPr lang="en-US" sz="1400" dirty="0">
              <a:solidFill>
                <a:schemeClr val="tx1"/>
              </a:solidFill>
              <a:latin typeface="Aptos" panose="020B0004020202020204" pitchFamily="34" charset="0"/>
            </a:endParaRPr>
          </a:p>
        </p:txBody>
      </p:sp>
      <p:sp>
        <p:nvSpPr>
          <p:cNvPr id="35" name="Text 20">
            <a:extLst>
              <a:ext uri="{FF2B5EF4-FFF2-40B4-BE49-F238E27FC236}">
                <a16:creationId xmlns:a16="http://schemas.microsoft.com/office/drawing/2014/main" id="{5FCA9DAD-23FC-558D-45B1-107E93BF81E1}"/>
              </a:ext>
            </a:extLst>
          </p:cNvPr>
          <p:cNvSpPr txBox="1"/>
          <p:nvPr/>
        </p:nvSpPr>
        <p:spPr>
          <a:xfrm>
            <a:off x="9113520"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30</a:t>
            </a:r>
            <a:endParaRPr lang="en-US" sz="1400" dirty="0">
              <a:latin typeface="Aptos" panose="020B0004020202020204" pitchFamily="34" charset="0"/>
            </a:endParaRPr>
          </a:p>
        </p:txBody>
      </p:sp>
      <p:sp>
        <p:nvSpPr>
          <p:cNvPr id="37" name="Text 21">
            <a:extLst>
              <a:ext uri="{FF2B5EF4-FFF2-40B4-BE49-F238E27FC236}">
                <a16:creationId xmlns:a16="http://schemas.microsoft.com/office/drawing/2014/main" id="{D2A8FCB2-5D14-F85E-2D81-91CC0455C5BD}"/>
              </a:ext>
            </a:extLst>
          </p:cNvPr>
          <p:cNvSpPr txBox="1"/>
          <p:nvPr/>
        </p:nvSpPr>
        <p:spPr>
          <a:xfrm>
            <a:off x="9086088"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Demand Date</a:t>
            </a:r>
            <a:endParaRPr lang="en-US" sz="1400" dirty="0">
              <a:solidFill>
                <a:schemeClr val="tx1"/>
              </a:solidFill>
              <a:latin typeface="Aptos" panose="020B0004020202020204" pitchFamily="34" charset="0"/>
            </a:endParaRPr>
          </a:p>
        </p:txBody>
      </p:sp>
      <p:sp>
        <p:nvSpPr>
          <p:cNvPr id="39" name="Text 23">
            <a:extLst>
              <a:ext uri="{FF2B5EF4-FFF2-40B4-BE49-F238E27FC236}">
                <a16:creationId xmlns:a16="http://schemas.microsoft.com/office/drawing/2014/main" id="{23AE91C3-2888-DE02-045D-3059A26CE718}"/>
              </a:ext>
            </a:extLst>
          </p:cNvPr>
          <p:cNvSpPr txBox="1"/>
          <p:nvPr/>
        </p:nvSpPr>
        <p:spPr>
          <a:xfrm>
            <a:off x="2456688"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Build time</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4 days</a:t>
            </a:r>
            <a:endParaRPr lang="en-US" sz="1200" dirty="0">
              <a:latin typeface="Aptos" panose="020B0004020202020204" pitchFamily="34" charset="0"/>
            </a:endParaRPr>
          </a:p>
        </p:txBody>
      </p:sp>
      <p:sp>
        <p:nvSpPr>
          <p:cNvPr id="41" name="Text 25">
            <a:extLst>
              <a:ext uri="{FF2B5EF4-FFF2-40B4-BE49-F238E27FC236}">
                <a16:creationId xmlns:a16="http://schemas.microsoft.com/office/drawing/2014/main" id="{45A15A50-B4A1-0CEC-100E-D24D9ECE56AA}"/>
              </a:ext>
            </a:extLst>
          </p:cNvPr>
          <p:cNvSpPr txBox="1"/>
          <p:nvPr/>
        </p:nvSpPr>
        <p:spPr>
          <a:xfrm>
            <a:off x="3938016"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Pack &amp; ship prep</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1 day</a:t>
            </a:r>
            <a:endParaRPr lang="en-US" sz="1200" dirty="0">
              <a:latin typeface="Aptos" panose="020B0004020202020204" pitchFamily="34" charset="0"/>
            </a:endParaRPr>
          </a:p>
        </p:txBody>
      </p:sp>
      <p:sp>
        <p:nvSpPr>
          <p:cNvPr id="43" name="Text 27">
            <a:extLst>
              <a:ext uri="{FF2B5EF4-FFF2-40B4-BE49-F238E27FC236}">
                <a16:creationId xmlns:a16="http://schemas.microsoft.com/office/drawing/2014/main" id="{64943B95-DD03-D235-5269-345ABBE0787C}"/>
              </a:ext>
            </a:extLst>
          </p:cNvPr>
          <p:cNvSpPr txBox="1"/>
          <p:nvPr/>
        </p:nvSpPr>
        <p:spPr>
          <a:xfrm>
            <a:off x="5419344"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Transit</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10 days</a:t>
            </a:r>
            <a:endParaRPr lang="en-US" sz="1200" dirty="0">
              <a:latin typeface="Aptos" panose="020B0004020202020204" pitchFamily="34" charset="0"/>
            </a:endParaRPr>
          </a:p>
        </p:txBody>
      </p:sp>
      <p:sp>
        <p:nvSpPr>
          <p:cNvPr id="45" name="Text 29">
            <a:extLst>
              <a:ext uri="{FF2B5EF4-FFF2-40B4-BE49-F238E27FC236}">
                <a16:creationId xmlns:a16="http://schemas.microsoft.com/office/drawing/2014/main" id="{8724D7C0-8986-9266-54F0-E4EA19064E2A}"/>
              </a:ext>
            </a:extLst>
          </p:cNvPr>
          <p:cNvSpPr txBox="1"/>
          <p:nvPr/>
        </p:nvSpPr>
        <p:spPr>
          <a:xfrm>
            <a:off x="6900672"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Dock-to-stock</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1 day</a:t>
            </a:r>
            <a:endParaRPr lang="en-US" sz="1200" dirty="0">
              <a:latin typeface="Aptos" panose="020B0004020202020204" pitchFamily="34" charset="0"/>
            </a:endParaRPr>
          </a:p>
        </p:txBody>
      </p:sp>
      <p:sp>
        <p:nvSpPr>
          <p:cNvPr id="47" name="Text 31">
            <a:extLst>
              <a:ext uri="{FF2B5EF4-FFF2-40B4-BE49-F238E27FC236}">
                <a16:creationId xmlns:a16="http://schemas.microsoft.com/office/drawing/2014/main" id="{A71F8079-194F-52ED-7B5B-A0B8C700FAD5}"/>
              </a:ext>
            </a:extLst>
          </p:cNvPr>
          <p:cNvSpPr txBox="1"/>
          <p:nvPr/>
        </p:nvSpPr>
        <p:spPr>
          <a:xfrm>
            <a:off x="8382000"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Safety lead time</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2 days</a:t>
            </a:r>
            <a:endParaRPr lang="en-US" sz="1200" dirty="0">
              <a:latin typeface="Aptos" panose="020B0004020202020204" pitchFamily="34" charset="0"/>
            </a:endParaRPr>
          </a:p>
        </p:txBody>
      </p:sp>
      <p:sp>
        <p:nvSpPr>
          <p:cNvPr id="49" name="Text 32">
            <a:extLst>
              <a:ext uri="{FF2B5EF4-FFF2-40B4-BE49-F238E27FC236}">
                <a16:creationId xmlns:a16="http://schemas.microsoft.com/office/drawing/2014/main" id="{AF346EC0-608C-B3E6-D195-89D626F6717A}"/>
              </a:ext>
            </a:extLst>
          </p:cNvPr>
          <p:cNvSpPr txBox="1"/>
          <p:nvPr/>
        </p:nvSpPr>
        <p:spPr>
          <a:xfrm>
            <a:off x="2072640" y="5074920"/>
            <a:ext cx="8046720" cy="411480"/>
          </a:xfrm>
          <a:prstGeom prst="rect">
            <a:avLst/>
          </a:prstGeom>
          <a:noFill/>
          <a:ln/>
        </p:spPr>
        <p:txBody>
          <a:bodyPr wrap="square" lIns="0" tIns="0" rIns="0" bIns="0" rtlCol="0" anchor="ctr"/>
          <a:lstStyle>
            <a:defPPr>
              <a:defRPr kern="0"/>
            </a:defPPr>
          </a:lstStyle>
          <a:p>
            <a:pPr marL="0" indent="0">
              <a:buNone/>
            </a:pPr>
            <a:r>
              <a:rPr lang="en-US" sz="1400" b="1" dirty="0">
                <a:solidFill>
                  <a:schemeClr val="tx1"/>
                </a:solidFill>
                <a:latin typeface="Aptos" panose="020B0004020202020204" pitchFamily="34" charset="0"/>
                <a:ea typeface="Calibri" pitchFamily="34" charset="-122"/>
                <a:cs typeface="Calibri" pitchFamily="34" charset="-120"/>
              </a:rPr>
              <a:t>Total lead time = 4 + 1 + 10 + 1 + 2 = 18 days.</a:t>
            </a:r>
            <a:endParaRPr lang="en-US" sz="1400" dirty="0">
              <a:solidFill>
                <a:schemeClr val="tx1"/>
              </a:solidFill>
              <a:latin typeface="Aptos" panose="020B0004020202020204" pitchFamily="34" charset="0"/>
            </a:endParaRPr>
          </a:p>
        </p:txBody>
      </p:sp>
      <p:sp>
        <p:nvSpPr>
          <p:cNvPr id="51" name="Oval 50">
            <a:extLst>
              <a:ext uri="{FF2B5EF4-FFF2-40B4-BE49-F238E27FC236}">
                <a16:creationId xmlns:a16="http://schemas.microsoft.com/office/drawing/2014/main" id="{ED97534B-7C00-6C20-B502-5790912FD858}"/>
              </a:ext>
            </a:extLst>
          </p:cNvPr>
          <p:cNvSpPr/>
          <p:nvPr/>
        </p:nvSpPr>
        <p:spPr>
          <a:xfrm>
            <a:off x="2181908" y="3158993"/>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5400CCD5-9CA3-7D47-E855-9BE6A7A0063D}"/>
              </a:ext>
            </a:extLst>
          </p:cNvPr>
          <p:cNvSpPr/>
          <p:nvPr/>
        </p:nvSpPr>
        <p:spPr>
          <a:xfrm>
            <a:off x="3734662" y="3158992"/>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AA0BBF47-4DEA-3F52-0FCB-807C2F285987}"/>
              </a:ext>
            </a:extLst>
          </p:cNvPr>
          <p:cNvSpPr/>
          <p:nvPr/>
        </p:nvSpPr>
        <p:spPr>
          <a:xfrm>
            <a:off x="5215530" y="3158993"/>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08B7903A-61B0-F177-D80C-9653C5BD9A03}"/>
              </a:ext>
            </a:extLst>
          </p:cNvPr>
          <p:cNvSpPr/>
          <p:nvPr/>
        </p:nvSpPr>
        <p:spPr>
          <a:xfrm>
            <a:off x="6696398" y="3158992"/>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5AF1F75E-1F1C-CD37-E043-68D2F6980F25}"/>
              </a:ext>
            </a:extLst>
          </p:cNvPr>
          <p:cNvSpPr/>
          <p:nvPr/>
        </p:nvSpPr>
        <p:spPr>
          <a:xfrm>
            <a:off x="8177266" y="3158993"/>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67DE0078-2FAE-685E-E694-856CE9A4180E}"/>
              </a:ext>
            </a:extLst>
          </p:cNvPr>
          <p:cNvSpPr/>
          <p:nvPr/>
        </p:nvSpPr>
        <p:spPr>
          <a:xfrm>
            <a:off x="9672511" y="3158992"/>
            <a:ext cx="274320" cy="27432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9141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5CE03-58E2-A0AE-21E0-92946075DF7F}"/>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3A0ECB2-C4CF-2FCD-0D3C-15EB23BFD48E}"/>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83BB7E3E-7840-AAE0-1E7D-EE4BBE928A53}"/>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diagram of a diagram&#10;&#10;AI-generated content may be incorrect.">
            <a:extLst>
              <a:ext uri="{FF2B5EF4-FFF2-40B4-BE49-F238E27FC236}">
                <a16:creationId xmlns:a16="http://schemas.microsoft.com/office/drawing/2014/main" id="{D83F0382-8124-56B7-1805-1E0D6E898C7F}"/>
              </a:ext>
            </a:extLst>
          </p:cNvPr>
          <p:cNvPicPr>
            <a:picLocks noChangeAspect="1"/>
          </p:cNvPicPr>
          <p:nvPr/>
        </p:nvPicPr>
        <p:blipFill>
          <a:blip r:embed="rId4"/>
          <a:stretch>
            <a:fillRect/>
          </a:stretch>
        </p:blipFill>
        <p:spPr>
          <a:xfrm>
            <a:off x="543486" y="1025144"/>
            <a:ext cx="7429500" cy="51244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24148A64-28F4-9BE5-5450-64D7ACBB0C7F}"/>
              </a:ext>
            </a:extLst>
          </p:cNvPr>
          <p:cNvSpPr txBox="1"/>
          <p:nvPr/>
        </p:nvSpPr>
        <p:spPr>
          <a:xfrm>
            <a:off x="420145" y="259637"/>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t>Inclusive Lead Time:</a:t>
            </a:r>
          </a:p>
        </p:txBody>
      </p:sp>
    </p:spTree>
    <p:extLst>
      <p:ext uri="{BB962C8B-B14F-4D97-AF65-F5344CB8AC3E}">
        <p14:creationId xmlns:p14="http://schemas.microsoft.com/office/powerpoint/2010/main" val="3597467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62BF8-B3F0-0E1E-6D85-22C5137378E7}"/>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BAB7D9EE-A30F-F61C-97A1-CB177AA9472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635336C5-D799-22FA-2079-94021474822D}"/>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A5434F69-4835-2F34-192E-962D10DEDAAB}"/>
              </a:ext>
            </a:extLst>
          </p:cNvPr>
          <p:cNvGraphicFramePr>
            <a:graphicFrameLocks noGrp="1"/>
          </p:cNvGraphicFramePr>
          <p:nvPr>
            <p:extLst>
              <p:ext uri="{D42A27DB-BD31-4B8C-83A1-F6EECF244321}">
                <p14:modId xmlns:p14="http://schemas.microsoft.com/office/powerpoint/2010/main" val="833810198"/>
              </p:ext>
            </p:extLst>
          </p:nvPr>
        </p:nvGraphicFramePr>
        <p:xfrm>
          <a:off x="5954026" y="1984289"/>
          <a:ext cx="5271308" cy="3206160"/>
        </p:xfrm>
        <a:graphic>
          <a:graphicData uri="http://schemas.openxmlformats.org/drawingml/2006/table">
            <a:tbl>
              <a:tblPr firstRow="1" bandRow="1">
                <a:tableStyleId>{5C22544A-7EE6-4342-B048-85BDC9FD1C3A}</a:tableStyleId>
              </a:tblPr>
              <a:tblGrid>
                <a:gridCol w="2314928">
                  <a:extLst>
                    <a:ext uri="{9D8B030D-6E8A-4147-A177-3AD203B41FA5}">
                      <a16:colId xmlns:a16="http://schemas.microsoft.com/office/drawing/2014/main" val="2266850949"/>
                    </a:ext>
                  </a:extLst>
                </a:gridCol>
                <a:gridCol w="948773">
                  <a:extLst>
                    <a:ext uri="{9D8B030D-6E8A-4147-A177-3AD203B41FA5}">
                      <a16:colId xmlns:a16="http://schemas.microsoft.com/office/drawing/2014/main" val="4147753860"/>
                    </a:ext>
                  </a:extLst>
                </a:gridCol>
                <a:gridCol w="1055222">
                  <a:extLst>
                    <a:ext uri="{9D8B030D-6E8A-4147-A177-3AD203B41FA5}">
                      <a16:colId xmlns:a16="http://schemas.microsoft.com/office/drawing/2014/main" val="2635844716"/>
                    </a:ext>
                  </a:extLst>
                </a:gridCol>
                <a:gridCol w="952385">
                  <a:extLst>
                    <a:ext uri="{9D8B030D-6E8A-4147-A177-3AD203B41FA5}">
                      <a16:colId xmlns:a16="http://schemas.microsoft.com/office/drawing/2014/main" val="3517565816"/>
                    </a:ext>
                  </a:extLst>
                </a:gridCol>
              </a:tblGrid>
              <a:tr h="356240">
                <a:tc>
                  <a:txBody>
                    <a:bodyPr/>
                    <a:lstStyle/>
                    <a:p>
                      <a:pPr algn="ctr"/>
                      <a:r>
                        <a:rPr lang="en-US" sz="1400" dirty="0"/>
                        <a:t>Lead Time Elements</a:t>
                      </a:r>
                    </a:p>
                  </a:txBody>
                  <a:tcPr/>
                </a:tc>
                <a:tc>
                  <a:txBody>
                    <a:bodyPr/>
                    <a:lstStyle/>
                    <a:p>
                      <a:pPr algn="ctr"/>
                      <a:r>
                        <a:rPr lang="en-US" sz="1400" dirty="0"/>
                        <a:t>Make</a:t>
                      </a:r>
                    </a:p>
                  </a:txBody>
                  <a:tcPr/>
                </a:tc>
                <a:tc>
                  <a:txBody>
                    <a:bodyPr/>
                    <a:lstStyle/>
                    <a:p>
                      <a:pPr algn="ctr"/>
                      <a:r>
                        <a:rPr lang="en-US" sz="1400" dirty="0"/>
                        <a:t>Buy</a:t>
                      </a:r>
                    </a:p>
                  </a:txBody>
                  <a:tcPr/>
                </a:tc>
                <a:tc>
                  <a:txBody>
                    <a:bodyPr/>
                    <a:lstStyle/>
                    <a:p>
                      <a:pPr algn="ctr"/>
                      <a:r>
                        <a:rPr lang="en-US" sz="1400" dirty="0"/>
                        <a:t>Transfer</a:t>
                      </a:r>
                    </a:p>
                  </a:txBody>
                  <a:tcPr/>
                </a:tc>
                <a:extLst>
                  <a:ext uri="{0D108BD9-81ED-4DB2-BD59-A6C34878D82A}">
                    <a16:rowId xmlns:a16="http://schemas.microsoft.com/office/drawing/2014/main" val="1442057693"/>
                  </a:ext>
                </a:extLst>
              </a:tr>
              <a:tr h="356240">
                <a:tc>
                  <a:txBody>
                    <a:bodyPr/>
                    <a:lstStyle/>
                    <a:p>
                      <a:pPr algn="ctr"/>
                      <a:r>
                        <a:rPr lang="en-US" sz="1400" dirty="0"/>
                        <a:t>Safety Lead Time</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1</a:t>
                      </a:r>
                    </a:p>
                  </a:txBody>
                  <a:tcPr/>
                </a:tc>
                <a:extLst>
                  <a:ext uri="{0D108BD9-81ED-4DB2-BD59-A6C34878D82A}">
                    <a16:rowId xmlns:a16="http://schemas.microsoft.com/office/drawing/2014/main" val="1112855841"/>
                  </a:ext>
                </a:extLst>
              </a:tr>
              <a:tr h="356240">
                <a:tc>
                  <a:txBody>
                    <a:bodyPr/>
                    <a:lstStyle/>
                    <a:p>
                      <a:pPr algn="ctr"/>
                      <a:r>
                        <a:rPr lang="en-US" sz="1400" dirty="0"/>
                        <a:t>Dock To Stock Time</a:t>
                      </a:r>
                    </a:p>
                  </a:txBody>
                  <a:tcPr/>
                </a:tc>
                <a:tc>
                  <a:txBody>
                    <a:bodyPr/>
                    <a:lstStyle/>
                    <a:p>
                      <a:pPr algn="ctr"/>
                      <a:r>
                        <a:rPr lang="en-US" sz="1400" dirty="0"/>
                        <a:t>0</a:t>
                      </a:r>
                    </a:p>
                  </a:txBody>
                  <a:tcPr/>
                </a:tc>
                <a:tc>
                  <a:txBody>
                    <a:bodyPr/>
                    <a:lstStyle/>
                    <a:p>
                      <a:pPr algn="ctr"/>
                      <a:r>
                        <a:rPr lang="en-US" sz="1400" dirty="0"/>
                        <a:t>0</a:t>
                      </a:r>
                    </a:p>
                  </a:txBody>
                  <a:tcPr/>
                </a:tc>
                <a:tc>
                  <a:txBody>
                    <a:bodyPr/>
                    <a:lstStyle/>
                    <a:p>
                      <a:pPr algn="ctr"/>
                      <a:r>
                        <a:rPr lang="en-US" sz="1400" dirty="0"/>
                        <a:t>1</a:t>
                      </a:r>
                    </a:p>
                  </a:txBody>
                  <a:tcPr/>
                </a:tc>
                <a:extLst>
                  <a:ext uri="{0D108BD9-81ED-4DB2-BD59-A6C34878D82A}">
                    <a16:rowId xmlns:a16="http://schemas.microsoft.com/office/drawing/2014/main" val="2401275928"/>
                  </a:ext>
                </a:extLst>
              </a:tr>
              <a:tr h="356240">
                <a:tc>
                  <a:txBody>
                    <a:bodyPr/>
                    <a:lstStyle/>
                    <a:p>
                      <a:pPr algn="ctr"/>
                      <a:r>
                        <a:rPr lang="en-US" sz="1400" dirty="0"/>
                        <a:t>Transit Time</a:t>
                      </a:r>
                    </a:p>
                  </a:txBody>
                  <a:tcPr/>
                </a:tc>
                <a:tc>
                  <a:txBody>
                    <a:bodyPr/>
                    <a:lstStyle/>
                    <a:p>
                      <a:pPr algn="ctr"/>
                      <a:r>
                        <a:rPr lang="en-US" sz="1400" dirty="0"/>
                        <a:t>0</a:t>
                      </a:r>
                    </a:p>
                  </a:txBody>
                  <a:tcPr/>
                </a:tc>
                <a:tc>
                  <a:txBody>
                    <a:bodyPr/>
                    <a:lstStyle/>
                    <a:p>
                      <a:pPr algn="ctr"/>
                      <a:r>
                        <a:rPr lang="en-US" sz="1400" dirty="0"/>
                        <a:t>0</a:t>
                      </a:r>
                    </a:p>
                  </a:txBody>
                  <a:tcPr/>
                </a:tc>
                <a:tc>
                  <a:txBody>
                    <a:bodyPr/>
                    <a:lstStyle/>
                    <a:p>
                      <a:pPr algn="ctr"/>
                      <a:r>
                        <a:rPr lang="en-US" sz="1400" dirty="0"/>
                        <a:t>1</a:t>
                      </a:r>
                    </a:p>
                  </a:txBody>
                  <a:tcPr/>
                </a:tc>
                <a:extLst>
                  <a:ext uri="{0D108BD9-81ED-4DB2-BD59-A6C34878D82A}">
                    <a16:rowId xmlns:a16="http://schemas.microsoft.com/office/drawing/2014/main" val="177011055"/>
                  </a:ext>
                </a:extLst>
              </a:tr>
              <a:tr h="356240">
                <a:tc>
                  <a:txBody>
                    <a:bodyPr/>
                    <a:lstStyle/>
                    <a:p>
                      <a:pPr algn="ctr"/>
                      <a:r>
                        <a:rPr lang="en-US" sz="1400" dirty="0"/>
                        <a:t>Pre-Ship Lead Time</a:t>
                      </a:r>
                    </a:p>
                  </a:txBody>
                  <a:tcPr/>
                </a:tc>
                <a:tc>
                  <a:txBody>
                    <a:bodyPr/>
                    <a:lstStyle/>
                    <a:p>
                      <a:pPr algn="ctr"/>
                      <a:r>
                        <a:rPr lang="en-US" sz="1400" dirty="0"/>
                        <a:t>0</a:t>
                      </a:r>
                    </a:p>
                  </a:txBody>
                  <a:tcPr/>
                </a:tc>
                <a:tc>
                  <a:txBody>
                    <a:bodyPr/>
                    <a:lstStyle/>
                    <a:p>
                      <a:pPr algn="ctr"/>
                      <a:r>
                        <a:rPr lang="en-US" sz="1400" dirty="0"/>
                        <a:t>0</a:t>
                      </a:r>
                    </a:p>
                  </a:txBody>
                  <a:tcPr/>
                </a:tc>
                <a:tc>
                  <a:txBody>
                    <a:bodyPr/>
                    <a:lstStyle/>
                    <a:p>
                      <a:pPr algn="ctr"/>
                      <a:r>
                        <a:rPr lang="en-US" sz="1400" dirty="0"/>
                        <a:t>1</a:t>
                      </a:r>
                    </a:p>
                  </a:txBody>
                  <a:tcPr/>
                </a:tc>
                <a:extLst>
                  <a:ext uri="{0D108BD9-81ED-4DB2-BD59-A6C34878D82A}">
                    <a16:rowId xmlns:a16="http://schemas.microsoft.com/office/drawing/2014/main" val="3039445055"/>
                  </a:ext>
                </a:extLst>
              </a:tr>
              <a:tr h="356240">
                <a:tc>
                  <a:txBody>
                    <a:bodyPr/>
                    <a:lstStyle/>
                    <a:p>
                      <a:pPr algn="ctr"/>
                      <a:r>
                        <a:rPr lang="en-US" sz="1400" dirty="0"/>
                        <a:t>Fixed Lead Time</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4160095631"/>
                  </a:ext>
                </a:extLst>
              </a:tr>
              <a:tr h="356240">
                <a:tc>
                  <a:txBody>
                    <a:bodyPr/>
                    <a:lstStyle/>
                    <a:p>
                      <a:pPr algn="ctr"/>
                      <a:r>
                        <a:rPr lang="en-US" sz="1400" dirty="0"/>
                        <a:t>Lead Time Adjust</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3619911708"/>
                  </a:ext>
                </a:extLst>
              </a:tr>
              <a:tr h="356240">
                <a:tc>
                  <a:txBody>
                    <a:bodyPr/>
                    <a:lstStyle/>
                    <a:p>
                      <a:pPr algn="ctr"/>
                      <a:r>
                        <a:rPr lang="en-US" sz="1400" dirty="0"/>
                        <a:t>Variable Lead Time</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918878668"/>
                  </a:ext>
                </a:extLst>
              </a:tr>
              <a:tr h="356240">
                <a:tc>
                  <a:txBody>
                    <a:bodyPr/>
                    <a:lstStyle/>
                    <a:p>
                      <a:pPr algn="ctr"/>
                      <a:r>
                        <a:rPr lang="en-US" sz="1400" dirty="0"/>
                        <a:t>Effective Lead Time</a:t>
                      </a:r>
                    </a:p>
                  </a:txBody>
                  <a:tcPr/>
                </a:tc>
                <a:tc>
                  <a:txBody>
                    <a:bodyPr/>
                    <a:lstStyle/>
                    <a:p>
                      <a:pPr algn="ctr"/>
                      <a:r>
                        <a:rPr lang="en-US" sz="1400" dirty="0"/>
                        <a:t>4</a:t>
                      </a:r>
                    </a:p>
                  </a:txBody>
                  <a:tcPr/>
                </a:tc>
                <a:tc>
                  <a:txBody>
                    <a:bodyPr/>
                    <a:lstStyle/>
                    <a:p>
                      <a:pPr algn="ctr"/>
                      <a:r>
                        <a:rPr lang="en-US" sz="1400" dirty="0"/>
                        <a:t>4</a:t>
                      </a:r>
                    </a:p>
                  </a:txBody>
                  <a:tcPr/>
                </a:tc>
                <a:tc>
                  <a:txBody>
                    <a:bodyPr/>
                    <a:lstStyle/>
                    <a:p>
                      <a:pPr algn="ctr"/>
                      <a:r>
                        <a:rPr lang="en-US" sz="1400" dirty="0"/>
                        <a:t>4</a:t>
                      </a:r>
                    </a:p>
                  </a:txBody>
                  <a:tcPr/>
                </a:tc>
                <a:extLst>
                  <a:ext uri="{0D108BD9-81ED-4DB2-BD59-A6C34878D82A}">
                    <a16:rowId xmlns:a16="http://schemas.microsoft.com/office/drawing/2014/main" val="1422422619"/>
                  </a:ext>
                </a:extLst>
              </a:tr>
            </a:tbl>
          </a:graphicData>
        </a:graphic>
      </p:graphicFrame>
      <p:sp>
        <p:nvSpPr>
          <p:cNvPr id="7" name="TextBox 6">
            <a:extLst>
              <a:ext uri="{FF2B5EF4-FFF2-40B4-BE49-F238E27FC236}">
                <a16:creationId xmlns:a16="http://schemas.microsoft.com/office/drawing/2014/main" id="{FEEA1861-C5E0-40B7-0072-E22AE227D7B4}"/>
              </a:ext>
            </a:extLst>
          </p:cNvPr>
          <p:cNvSpPr txBox="1"/>
          <p:nvPr/>
        </p:nvSpPr>
        <p:spPr>
          <a:xfrm>
            <a:off x="652901" y="869382"/>
            <a:ext cx="6096000"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t>Effective Lead Time Calculation:</a:t>
            </a:r>
          </a:p>
          <a:p>
            <a:r>
              <a:rPr lang="en-US" sz="2400" b="1" u="sng" dirty="0"/>
              <a:t>Transit Rule: Inclusive </a:t>
            </a:r>
          </a:p>
          <a:p>
            <a:endParaRPr lang="en-US" sz="2400" b="1" dirty="0"/>
          </a:p>
          <a:p>
            <a:r>
              <a:rPr lang="en-US" sz="1400" dirty="0"/>
              <a:t>How lead time works for supply chain for Inclusive Lead Time:</a:t>
            </a:r>
          </a:p>
          <a:p>
            <a:r>
              <a:rPr lang="en-US" sz="1400" dirty="0"/>
              <a:t>Type: Make/Buy</a:t>
            </a:r>
          </a:p>
          <a:p>
            <a:endParaRPr lang="en-US" sz="1400" dirty="0"/>
          </a:p>
          <a:p>
            <a:r>
              <a:rPr lang="en-US" sz="1400" dirty="0"/>
              <a:t>Demand Date: 10/16/2026 (10 Qtd)</a:t>
            </a:r>
          </a:p>
          <a:p>
            <a:r>
              <a:rPr lang="en-US" sz="1400" dirty="0"/>
              <a:t>	Safety Time: 1</a:t>
            </a:r>
          </a:p>
          <a:p>
            <a:r>
              <a:rPr lang="en-US" sz="1400" dirty="0"/>
              <a:t>Due Date: 10/15/2026			</a:t>
            </a:r>
          </a:p>
          <a:p>
            <a:r>
              <a:rPr lang="en-US" sz="1400" dirty="0"/>
              <a:t>	</a:t>
            </a:r>
            <a:r>
              <a:rPr lang="en-US" sz="1400" dirty="0">
                <a:solidFill>
                  <a:srgbClr val="FF0000"/>
                </a:solidFill>
              </a:rPr>
              <a:t>Dock To Stock: 1</a:t>
            </a:r>
          </a:p>
          <a:p>
            <a:r>
              <a:rPr lang="en-US" sz="1400" dirty="0"/>
              <a:t>Dock Date: 10/15/2026</a:t>
            </a:r>
          </a:p>
          <a:p>
            <a:r>
              <a:rPr lang="en-US" sz="1400" dirty="0"/>
              <a:t>	</a:t>
            </a:r>
            <a:r>
              <a:rPr lang="en-US" sz="1400" dirty="0">
                <a:solidFill>
                  <a:srgbClr val="FF0000"/>
                </a:solidFill>
              </a:rPr>
              <a:t>Transit Time: 1</a:t>
            </a:r>
          </a:p>
          <a:p>
            <a:r>
              <a:rPr lang="en-US" sz="1400" dirty="0"/>
              <a:t>Ship Date: 10/15/2026</a:t>
            </a:r>
          </a:p>
          <a:p>
            <a:r>
              <a:rPr lang="en-US" sz="1400" dirty="0"/>
              <a:t>	</a:t>
            </a:r>
            <a:r>
              <a:rPr lang="en-US" sz="1400" dirty="0">
                <a:solidFill>
                  <a:srgbClr val="FF0000"/>
                </a:solidFill>
              </a:rPr>
              <a:t>Pre-Ship Time: 1</a:t>
            </a:r>
          </a:p>
          <a:p>
            <a:r>
              <a:rPr lang="en-US" sz="1400" dirty="0"/>
              <a:t>Build Date: 10/15/2026</a:t>
            </a:r>
          </a:p>
          <a:p>
            <a:r>
              <a:rPr lang="en-US" sz="1400" dirty="0"/>
              <a:t>	Fixed Time: 1</a:t>
            </a:r>
          </a:p>
          <a:p>
            <a:r>
              <a:rPr lang="en-US" sz="1400" dirty="0"/>
              <a:t>	Variable Time: 0.2*10 = 2</a:t>
            </a:r>
          </a:p>
          <a:p>
            <a:r>
              <a:rPr lang="en-US" sz="1400" dirty="0"/>
              <a:t>	Lead Time Adjust: 1</a:t>
            </a:r>
          </a:p>
          <a:p>
            <a:r>
              <a:rPr lang="en-US" sz="1400" dirty="0"/>
              <a:t>Start Date: 10/11/2026 </a:t>
            </a:r>
            <a:r>
              <a:rPr lang="en-US" sz="1600" dirty="0"/>
              <a:t>	</a:t>
            </a:r>
          </a:p>
        </p:txBody>
      </p:sp>
    </p:spTree>
    <p:extLst>
      <p:ext uri="{BB962C8B-B14F-4D97-AF65-F5344CB8AC3E}">
        <p14:creationId xmlns:p14="http://schemas.microsoft.com/office/powerpoint/2010/main" val="2506272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E831-8759-60A7-AC3C-2FBBAECE9FB0}"/>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C64492A3-E843-BF8B-24E8-D3ECDF4E9F9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205454F-8207-19B8-A0DE-3407F5016C44}"/>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A68C79A9-4C43-EC8A-26F8-A4A2475BE2CB}"/>
              </a:ext>
            </a:extLst>
          </p:cNvPr>
          <p:cNvSpPr txBox="1"/>
          <p:nvPr/>
        </p:nvSpPr>
        <p:spPr>
          <a:xfrm>
            <a:off x="447880" y="702461"/>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t>Cumulative lead time:</a:t>
            </a:r>
          </a:p>
        </p:txBody>
      </p:sp>
      <p:pic>
        <p:nvPicPr>
          <p:cNvPr id="7" name="Picture 6" descr="A diagram of a process&#10;&#10;AI-generated content may be incorrect.">
            <a:extLst>
              <a:ext uri="{FF2B5EF4-FFF2-40B4-BE49-F238E27FC236}">
                <a16:creationId xmlns:a16="http://schemas.microsoft.com/office/drawing/2014/main" id="{F8E3831F-238E-CAC3-B503-76F1613B775C}"/>
              </a:ext>
            </a:extLst>
          </p:cNvPr>
          <p:cNvPicPr>
            <a:picLocks noChangeAspect="1"/>
          </p:cNvPicPr>
          <p:nvPr/>
        </p:nvPicPr>
        <p:blipFill>
          <a:blip r:embed="rId4"/>
          <a:stretch>
            <a:fillRect/>
          </a:stretch>
        </p:blipFill>
        <p:spPr>
          <a:xfrm>
            <a:off x="447880" y="1379592"/>
            <a:ext cx="8496300" cy="46863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11627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0348E-1228-997D-6ABB-FABF1B932000}"/>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2310B79D-903C-6AAC-8A73-AC6945CE1558}"/>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67AD9C24-72E2-3305-2289-13388F09E9CB}"/>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85309EB5-DFFF-C071-B60D-A77D9F1701FA}"/>
              </a:ext>
            </a:extLst>
          </p:cNvPr>
          <p:cNvGraphicFramePr>
            <a:graphicFrameLocks noGrp="1"/>
          </p:cNvGraphicFramePr>
          <p:nvPr>
            <p:extLst>
              <p:ext uri="{D42A27DB-BD31-4B8C-83A1-F6EECF244321}">
                <p14:modId xmlns:p14="http://schemas.microsoft.com/office/powerpoint/2010/main" val="456049000"/>
              </p:ext>
            </p:extLst>
          </p:nvPr>
        </p:nvGraphicFramePr>
        <p:xfrm>
          <a:off x="5954026" y="1984289"/>
          <a:ext cx="5271308" cy="3206160"/>
        </p:xfrm>
        <a:graphic>
          <a:graphicData uri="http://schemas.openxmlformats.org/drawingml/2006/table">
            <a:tbl>
              <a:tblPr firstRow="1" bandRow="1">
                <a:tableStyleId>{5C22544A-7EE6-4342-B048-85BDC9FD1C3A}</a:tableStyleId>
              </a:tblPr>
              <a:tblGrid>
                <a:gridCol w="2314928">
                  <a:extLst>
                    <a:ext uri="{9D8B030D-6E8A-4147-A177-3AD203B41FA5}">
                      <a16:colId xmlns:a16="http://schemas.microsoft.com/office/drawing/2014/main" val="2266850949"/>
                    </a:ext>
                  </a:extLst>
                </a:gridCol>
                <a:gridCol w="948773">
                  <a:extLst>
                    <a:ext uri="{9D8B030D-6E8A-4147-A177-3AD203B41FA5}">
                      <a16:colId xmlns:a16="http://schemas.microsoft.com/office/drawing/2014/main" val="4147753860"/>
                    </a:ext>
                  </a:extLst>
                </a:gridCol>
                <a:gridCol w="1055222">
                  <a:extLst>
                    <a:ext uri="{9D8B030D-6E8A-4147-A177-3AD203B41FA5}">
                      <a16:colId xmlns:a16="http://schemas.microsoft.com/office/drawing/2014/main" val="2635844716"/>
                    </a:ext>
                  </a:extLst>
                </a:gridCol>
                <a:gridCol w="952385">
                  <a:extLst>
                    <a:ext uri="{9D8B030D-6E8A-4147-A177-3AD203B41FA5}">
                      <a16:colId xmlns:a16="http://schemas.microsoft.com/office/drawing/2014/main" val="3517565816"/>
                    </a:ext>
                  </a:extLst>
                </a:gridCol>
              </a:tblGrid>
              <a:tr h="356240">
                <a:tc>
                  <a:txBody>
                    <a:bodyPr/>
                    <a:lstStyle/>
                    <a:p>
                      <a:pPr algn="ctr"/>
                      <a:r>
                        <a:rPr lang="en-US" sz="1400" dirty="0"/>
                        <a:t>Lead Time Elements</a:t>
                      </a:r>
                    </a:p>
                  </a:txBody>
                  <a:tcPr/>
                </a:tc>
                <a:tc>
                  <a:txBody>
                    <a:bodyPr/>
                    <a:lstStyle/>
                    <a:p>
                      <a:pPr algn="ctr"/>
                      <a:r>
                        <a:rPr lang="en-US" sz="1400" dirty="0"/>
                        <a:t>Make</a:t>
                      </a:r>
                    </a:p>
                  </a:txBody>
                  <a:tcPr/>
                </a:tc>
                <a:tc>
                  <a:txBody>
                    <a:bodyPr/>
                    <a:lstStyle/>
                    <a:p>
                      <a:pPr algn="ctr"/>
                      <a:r>
                        <a:rPr lang="en-US" sz="1400" dirty="0"/>
                        <a:t>Buy</a:t>
                      </a:r>
                    </a:p>
                  </a:txBody>
                  <a:tcPr/>
                </a:tc>
                <a:tc>
                  <a:txBody>
                    <a:bodyPr/>
                    <a:lstStyle/>
                    <a:p>
                      <a:pPr algn="ctr"/>
                      <a:r>
                        <a:rPr lang="en-US" sz="1400" dirty="0"/>
                        <a:t>Transfer</a:t>
                      </a:r>
                    </a:p>
                  </a:txBody>
                  <a:tcPr/>
                </a:tc>
                <a:extLst>
                  <a:ext uri="{0D108BD9-81ED-4DB2-BD59-A6C34878D82A}">
                    <a16:rowId xmlns:a16="http://schemas.microsoft.com/office/drawing/2014/main" val="1442057693"/>
                  </a:ext>
                </a:extLst>
              </a:tr>
              <a:tr h="356240">
                <a:tc>
                  <a:txBody>
                    <a:bodyPr/>
                    <a:lstStyle/>
                    <a:p>
                      <a:pPr algn="ctr"/>
                      <a:r>
                        <a:rPr lang="en-US" sz="1400" dirty="0"/>
                        <a:t>Safety Lead Time</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1</a:t>
                      </a:r>
                    </a:p>
                  </a:txBody>
                  <a:tcPr/>
                </a:tc>
                <a:extLst>
                  <a:ext uri="{0D108BD9-81ED-4DB2-BD59-A6C34878D82A}">
                    <a16:rowId xmlns:a16="http://schemas.microsoft.com/office/drawing/2014/main" val="1112855841"/>
                  </a:ext>
                </a:extLst>
              </a:tr>
              <a:tr h="356240">
                <a:tc>
                  <a:txBody>
                    <a:bodyPr/>
                    <a:lstStyle/>
                    <a:p>
                      <a:pPr algn="ctr"/>
                      <a:r>
                        <a:rPr lang="en-US" sz="1400" dirty="0"/>
                        <a:t>Dock To Stock Time</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1</a:t>
                      </a:r>
                    </a:p>
                  </a:txBody>
                  <a:tcPr/>
                </a:tc>
                <a:extLst>
                  <a:ext uri="{0D108BD9-81ED-4DB2-BD59-A6C34878D82A}">
                    <a16:rowId xmlns:a16="http://schemas.microsoft.com/office/drawing/2014/main" val="2401275928"/>
                  </a:ext>
                </a:extLst>
              </a:tr>
              <a:tr h="356240">
                <a:tc>
                  <a:txBody>
                    <a:bodyPr/>
                    <a:lstStyle/>
                    <a:p>
                      <a:pPr algn="ctr"/>
                      <a:r>
                        <a:rPr lang="en-US" sz="1400" dirty="0"/>
                        <a:t>Transit Time</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1</a:t>
                      </a:r>
                    </a:p>
                  </a:txBody>
                  <a:tcPr/>
                </a:tc>
                <a:extLst>
                  <a:ext uri="{0D108BD9-81ED-4DB2-BD59-A6C34878D82A}">
                    <a16:rowId xmlns:a16="http://schemas.microsoft.com/office/drawing/2014/main" val="177011055"/>
                  </a:ext>
                </a:extLst>
              </a:tr>
              <a:tr h="356240">
                <a:tc>
                  <a:txBody>
                    <a:bodyPr/>
                    <a:lstStyle/>
                    <a:p>
                      <a:pPr algn="ctr"/>
                      <a:r>
                        <a:rPr lang="en-US" sz="1400" dirty="0"/>
                        <a:t>Pre-Ship Lead Time</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1</a:t>
                      </a:r>
                    </a:p>
                  </a:txBody>
                  <a:tcPr/>
                </a:tc>
                <a:extLst>
                  <a:ext uri="{0D108BD9-81ED-4DB2-BD59-A6C34878D82A}">
                    <a16:rowId xmlns:a16="http://schemas.microsoft.com/office/drawing/2014/main" val="3039445055"/>
                  </a:ext>
                </a:extLst>
              </a:tr>
              <a:tr h="356240">
                <a:tc>
                  <a:txBody>
                    <a:bodyPr/>
                    <a:lstStyle/>
                    <a:p>
                      <a:pPr algn="ctr"/>
                      <a:r>
                        <a:rPr lang="en-US" sz="1400" dirty="0"/>
                        <a:t>Fixed Lead Time</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4160095631"/>
                  </a:ext>
                </a:extLst>
              </a:tr>
              <a:tr h="356240">
                <a:tc>
                  <a:txBody>
                    <a:bodyPr/>
                    <a:lstStyle/>
                    <a:p>
                      <a:pPr algn="ctr"/>
                      <a:r>
                        <a:rPr lang="en-US" sz="1400" dirty="0"/>
                        <a:t>Lead Time Adjust</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3619911708"/>
                  </a:ext>
                </a:extLst>
              </a:tr>
              <a:tr h="356240">
                <a:tc>
                  <a:txBody>
                    <a:bodyPr/>
                    <a:lstStyle/>
                    <a:p>
                      <a:pPr algn="ctr"/>
                      <a:r>
                        <a:rPr lang="en-US" sz="1400" dirty="0"/>
                        <a:t>Variable Lead Time</a:t>
                      </a:r>
                    </a:p>
                  </a:txBody>
                  <a:tcPr/>
                </a:tc>
                <a:tc>
                  <a:txBody>
                    <a:bodyPr/>
                    <a:lstStyle/>
                    <a:p>
                      <a:pPr algn="ctr"/>
                      <a:r>
                        <a:rPr lang="en-US" sz="1400" dirty="0"/>
                        <a:t>1</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918878668"/>
                  </a:ext>
                </a:extLst>
              </a:tr>
              <a:tr h="356240">
                <a:tc>
                  <a:txBody>
                    <a:bodyPr/>
                    <a:lstStyle/>
                    <a:p>
                      <a:pPr algn="ctr"/>
                      <a:r>
                        <a:rPr lang="en-US" sz="1400" dirty="0"/>
                        <a:t>Effective Lead Time</a:t>
                      </a:r>
                    </a:p>
                  </a:txBody>
                  <a:tcPr/>
                </a:tc>
                <a:tc>
                  <a:txBody>
                    <a:bodyPr/>
                    <a:lstStyle/>
                    <a:p>
                      <a:pPr algn="ctr"/>
                      <a:r>
                        <a:rPr lang="en-US" sz="1400" dirty="0"/>
                        <a:t>7</a:t>
                      </a:r>
                    </a:p>
                  </a:txBody>
                  <a:tcPr/>
                </a:tc>
                <a:tc>
                  <a:txBody>
                    <a:bodyPr/>
                    <a:lstStyle/>
                    <a:p>
                      <a:pPr algn="ctr"/>
                      <a:r>
                        <a:rPr lang="en-US" sz="1400" dirty="0"/>
                        <a:t>7</a:t>
                      </a:r>
                    </a:p>
                  </a:txBody>
                  <a:tcPr/>
                </a:tc>
                <a:tc>
                  <a:txBody>
                    <a:bodyPr/>
                    <a:lstStyle/>
                    <a:p>
                      <a:pPr algn="ctr"/>
                      <a:r>
                        <a:rPr lang="en-US" sz="1400" dirty="0"/>
                        <a:t>4</a:t>
                      </a:r>
                    </a:p>
                  </a:txBody>
                  <a:tcPr/>
                </a:tc>
                <a:extLst>
                  <a:ext uri="{0D108BD9-81ED-4DB2-BD59-A6C34878D82A}">
                    <a16:rowId xmlns:a16="http://schemas.microsoft.com/office/drawing/2014/main" val="1422422619"/>
                  </a:ext>
                </a:extLst>
              </a:tr>
            </a:tbl>
          </a:graphicData>
        </a:graphic>
      </p:graphicFrame>
      <p:sp>
        <p:nvSpPr>
          <p:cNvPr id="7" name="TextBox 6">
            <a:extLst>
              <a:ext uri="{FF2B5EF4-FFF2-40B4-BE49-F238E27FC236}">
                <a16:creationId xmlns:a16="http://schemas.microsoft.com/office/drawing/2014/main" id="{18DA38E7-0D93-086C-6F4D-7078C6425C81}"/>
              </a:ext>
            </a:extLst>
          </p:cNvPr>
          <p:cNvSpPr txBox="1"/>
          <p:nvPr/>
        </p:nvSpPr>
        <p:spPr>
          <a:xfrm>
            <a:off x="652901" y="869382"/>
            <a:ext cx="6096000"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t>Effective Lead Time Calculation:</a:t>
            </a:r>
          </a:p>
          <a:p>
            <a:r>
              <a:rPr lang="en-US" sz="2400" b="1" u="sng" dirty="0"/>
              <a:t>Transit Rule: Cumulative </a:t>
            </a:r>
          </a:p>
          <a:p>
            <a:endParaRPr lang="en-US" sz="2400" b="1" dirty="0"/>
          </a:p>
          <a:p>
            <a:r>
              <a:rPr lang="en-US" sz="1400" dirty="0"/>
              <a:t>How lead time works for supply chain for Cumulative Lead Time:</a:t>
            </a:r>
          </a:p>
          <a:p>
            <a:r>
              <a:rPr lang="en-US" sz="1400" dirty="0"/>
              <a:t>Type: Make/Buy</a:t>
            </a:r>
          </a:p>
          <a:p>
            <a:endParaRPr lang="en-US" sz="1400" dirty="0"/>
          </a:p>
          <a:p>
            <a:r>
              <a:rPr lang="en-US" sz="1400" dirty="0"/>
              <a:t>Demand Date: 10/16/2026 (10 Qtd)</a:t>
            </a:r>
          </a:p>
          <a:p>
            <a:r>
              <a:rPr lang="en-US" sz="1400" dirty="0"/>
              <a:t>	Safety Time: 1</a:t>
            </a:r>
          </a:p>
          <a:p>
            <a:r>
              <a:rPr lang="en-US" sz="1400" dirty="0"/>
              <a:t>Due Date: 10/15/2026			</a:t>
            </a:r>
          </a:p>
          <a:p>
            <a:r>
              <a:rPr lang="en-US" sz="1400" dirty="0"/>
              <a:t>	Dock To Stock: 1</a:t>
            </a:r>
          </a:p>
          <a:p>
            <a:r>
              <a:rPr lang="en-US" sz="1400" dirty="0"/>
              <a:t>Dock Date: 10/14/2026</a:t>
            </a:r>
          </a:p>
          <a:p>
            <a:r>
              <a:rPr lang="en-US" sz="1400" dirty="0"/>
              <a:t>	Transit Time: 1</a:t>
            </a:r>
          </a:p>
          <a:p>
            <a:r>
              <a:rPr lang="en-US" sz="1400" dirty="0"/>
              <a:t>Ship Date: 10/13/2026</a:t>
            </a:r>
          </a:p>
          <a:p>
            <a:r>
              <a:rPr lang="en-US" sz="1400" dirty="0"/>
              <a:t>	Pre-Ship Time: 1</a:t>
            </a:r>
          </a:p>
          <a:p>
            <a:r>
              <a:rPr lang="en-US" sz="1400" dirty="0"/>
              <a:t>Build Date: 10/12/2026</a:t>
            </a:r>
          </a:p>
          <a:p>
            <a:r>
              <a:rPr lang="en-US" sz="1400" dirty="0"/>
              <a:t>	Fixed Time: 1</a:t>
            </a:r>
          </a:p>
          <a:p>
            <a:r>
              <a:rPr lang="en-US" sz="1400" dirty="0"/>
              <a:t>	Variable Time: 0.2*10 = 2</a:t>
            </a:r>
          </a:p>
          <a:p>
            <a:r>
              <a:rPr lang="en-US" sz="1400" dirty="0"/>
              <a:t>	Lead Time Adjust: 1</a:t>
            </a:r>
          </a:p>
          <a:p>
            <a:r>
              <a:rPr lang="en-US" sz="1400" dirty="0"/>
              <a:t>Start Date: 10/08/2026 </a:t>
            </a:r>
            <a:r>
              <a:rPr lang="en-US" sz="1600" dirty="0"/>
              <a:t>	</a:t>
            </a:r>
          </a:p>
        </p:txBody>
      </p:sp>
    </p:spTree>
    <p:extLst>
      <p:ext uri="{BB962C8B-B14F-4D97-AF65-F5344CB8AC3E}">
        <p14:creationId xmlns:p14="http://schemas.microsoft.com/office/powerpoint/2010/main" val="883068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28852-A377-365F-A789-AABC3CB3BF20}"/>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BE81FC1-1837-AB43-13BC-963153E32167}"/>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023D7B2-D467-E766-1D90-866D412C57AA}"/>
              </a:ext>
            </a:extLst>
          </p:cNvPr>
          <p:cNvPicPr>
            <a:picLocks noChangeAspect="1"/>
          </p:cNvPicPr>
          <p:nvPr/>
        </p:nvPicPr>
        <p:blipFill>
          <a:blip r:embed="rId3"/>
          <a:stretch>
            <a:fillRect/>
          </a:stretch>
        </p:blipFill>
        <p:spPr>
          <a:xfrm>
            <a:off x="9181381" y="65406"/>
            <a:ext cx="2743200" cy="717452"/>
          </a:xfrm>
          <a:prstGeom prst="rect">
            <a:avLst/>
          </a:prstGeom>
        </p:spPr>
      </p:pic>
      <p:sp>
        <p:nvSpPr>
          <p:cNvPr id="6" name="object 6">
            <a:extLst>
              <a:ext uri="{FF2B5EF4-FFF2-40B4-BE49-F238E27FC236}">
                <a16:creationId xmlns:a16="http://schemas.microsoft.com/office/drawing/2014/main" id="{4C7E237A-2646-7011-89E8-03F2A16772BE}"/>
              </a:ext>
            </a:extLst>
          </p:cNvPr>
          <p:cNvSpPr txBox="1"/>
          <p:nvPr/>
        </p:nvSpPr>
        <p:spPr>
          <a:xfrm>
            <a:off x="388188" y="1032070"/>
            <a:ext cx="9601200" cy="1264449"/>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Lead Time Adjust:</a:t>
            </a:r>
          </a:p>
          <a:p>
            <a:pPr marL="12700">
              <a:lnSpc>
                <a:spcPct val="100000"/>
              </a:lnSpc>
              <a:spcBef>
                <a:spcPts val="100"/>
              </a:spcBef>
            </a:pPr>
            <a:endParaRPr lang="en-IN" sz="1600" dirty="0">
              <a:latin typeface="Aptos"/>
              <a:cs typeface="Aptos"/>
            </a:endParaRPr>
          </a:p>
          <a:p>
            <a:pPr marL="298450" indent="-285750">
              <a:lnSpc>
                <a:spcPct val="100000"/>
              </a:lnSpc>
              <a:spcBef>
                <a:spcPts val="100"/>
              </a:spcBef>
              <a:buFont typeface="Arial" panose="020B0604020202020204" pitchFamily="34" charset="0"/>
              <a:buChar char="•"/>
            </a:pPr>
            <a:r>
              <a:rPr lang="en-IN" sz="1400" dirty="0">
                <a:latin typeface="Aptos"/>
                <a:cs typeface="Aptos"/>
              </a:rPr>
              <a:t>Lead Time Adjust rule can be set from Control Table Workbook, Part Type Worksheet, and Use Lead Time Adjust Column. </a:t>
            </a:r>
          </a:p>
          <a:p>
            <a:pPr marL="298450" indent="-285750">
              <a:lnSpc>
                <a:spcPct val="100000"/>
              </a:lnSpc>
              <a:spcBef>
                <a:spcPts val="100"/>
              </a:spcBef>
              <a:buFont typeface="Arial" panose="020B0604020202020204" pitchFamily="34" charset="0"/>
              <a:buChar char="•"/>
            </a:pPr>
            <a:r>
              <a:rPr lang="en-IN" sz="1400" dirty="0">
                <a:latin typeface="Aptos"/>
                <a:cs typeface="Aptos"/>
              </a:rPr>
              <a:t>Lead Time Adjust can be set as Y/N. </a:t>
            </a:r>
          </a:p>
          <a:p>
            <a:pPr marL="298450" indent="-285750">
              <a:lnSpc>
                <a:spcPct val="100000"/>
              </a:lnSpc>
              <a:spcBef>
                <a:spcPts val="100"/>
              </a:spcBef>
              <a:buFont typeface="Arial" panose="020B0604020202020204" pitchFamily="34" charset="0"/>
              <a:buChar char="•"/>
            </a:pPr>
            <a:r>
              <a:rPr lang="en-IN" sz="1400" dirty="0">
                <a:latin typeface="Aptos"/>
                <a:cs typeface="Aptos"/>
              </a:rPr>
              <a:t>At Part Level we change for MPS/MRP values.</a:t>
            </a:r>
            <a:endParaRPr sz="1400" dirty="0">
              <a:latin typeface="Aptos"/>
              <a:cs typeface="Aptos"/>
            </a:endParaRPr>
          </a:p>
        </p:txBody>
      </p:sp>
      <p:pic>
        <p:nvPicPr>
          <p:cNvPr id="8" name="Picture 7" descr="A screenshot of a computer&#10;&#10;AI-generated content may be incorrect.">
            <a:extLst>
              <a:ext uri="{FF2B5EF4-FFF2-40B4-BE49-F238E27FC236}">
                <a16:creationId xmlns:a16="http://schemas.microsoft.com/office/drawing/2014/main" id="{834E706F-CB51-EB1D-00FF-5D810051B38C}"/>
              </a:ext>
            </a:extLst>
          </p:cNvPr>
          <p:cNvPicPr>
            <a:picLocks noChangeAspect="1"/>
          </p:cNvPicPr>
          <p:nvPr/>
        </p:nvPicPr>
        <p:blipFill>
          <a:blip r:embed="rId4"/>
          <a:stretch>
            <a:fillRect/>
          </a:stretch>
        </p:blipFill>
        <p:spPr>
          <a:xfrm>
            <a:off x="388188" y="2775449"/>
            <a:ext cx="11530642" cy="26585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83043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2F001-7392-7FFB-ACFD-0DFF7AA68228}"/>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1D366E9F-7AE1-F180-F7AD-30F4B8F3D83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A7E1018-3213-7033-D7C0-C12DECD326C5}"/>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object 6">
            <a:extLst>
              <a:ext uri="{FF2B5EF4-FFF2-40B4-BE49-F238E27FC236}">
                <a16:creationId xmlns:a16="http://schemas.microsoft.com/office/drawing/2014/main" id="{8DC76649-229B-DBAE-929C-FAB60B599BA6}"/>
              </a:ext>
            </a:extLst>
          </p:cNvPr>
          <p:cNvSpPr txBox="1"/>
          <p:nvPr/>
        </p:nvSpPr>
        <p:spPr>
          <a:xfrm>
            <a:off x="377269" y="685800"/>
            <a:ext cx="9601200" cy="1949252"/>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Safety Lead Time:</a:t>
            </a:r>
          </a:p>
          <a:p>
            <a:pPr marL="12700">
              <a:lnSpc>
                <a:spcPct val="100000"/>
              </a:lnSpc>
              <a:spcBef>
                <a:spcPts val="100"/>
              </a:spcBef>
            </a:pPr>
            <a:endParaRPr lang="en-IN" sz="1600" dirty="0">
              <a:latin typeface="Aptos"/>
              <a:cs typeface="Aptos"/>
            </a:endParaRPr>
          </a:p>
          <a:p>
            <a:pPr marL="12700">
              <a:lnSpc>
                <a:spcPct val="100000"/>
              </a:lnSpc>
              <a:spcBef>
                <a:spcPts val="100"/>
              </a:spcBef>
            </a:pPr>
            <a:r>
              <a:rPr lang="en-IN" sz="1400" dirty="0">
                <a:latin typeface="Aptos"/>
                <a:cs typeface="Aptos"/>
              </a:rPr>
              <a:t>Safety Lead Time rule can be set from Control Table Workbook, Part Type Worksheet, and Use Safety Lead Time Column. </a:t>
            </a:r>
          </a:p>
          <a:p>
            <a:pPr marL="12700">
              <a:lnSpc>
                <a:spcPct val="100000"/>
              </a:lnSpc>
              <a:spcBef>
                <a:spcPts val="100"/>
              </a:spcBef>
            </a:pPr>
            <a:r>
              <a:rPr lang="en-IN" sz="1400" dirty="0">
                <a:latin typeface="Aptos"/>
                <a:cs typeface="Aptos"/>
              </a:rPr>
              <a:t>Safety Lead Time can be set as:</a:t>
            </a:r>
          </a:p>
          <a:p>
            <a:pPr marL="298450" lvl="8" indent="-285750">
              <a:spcBef>
                <a:spcPts val="100"/>
              </a:spcBef>
              <a:buFont typeface="Arial" panose="020B0604020202020204" pitchFamily="34" charset="0"/>
              <a:buChar char="•"/>
            </a:pPr>
            <a:r>
              <a:rPr lang="en-IN" sz="1400" dirty="0">
                <a:latin typeface="Aptos"/>
                <a:cs typeface="Aptos"/>
              </a:rPr>
              <a:t>Y</a:t>
            </a:r>
          </a:p>
          <a:p>
            <a:pPr marL="298450" lvl="8" indent="-285750">
              <a:spcBef>
                <a:spcPts val="100"/>
              </a:spcBef>
              <a:buFont typeface="Arial" panose="020B0604020202020204" pitchFamily="34" charset="0"/>
              <a:buChar char="•"/>
            </a:pPr>
            <a:r>
              <a:rPr lang="en-IN" sz="1400" dirty="0">
                <a:latin typeface="Aptos"/>
                <a:cs typeface="Aptos"/>
              </a:rPr>
              <a:t>N</a:t>
            </a:r>
          </a:p>
          <a:p>
            <a:pPr marL="298450" lvl="8" indent="-285750">
              <a:spcBef>
                <a:spcPts val="100"/>
              </a:spcBef>
              <a:buFont typeface="Arial" panose="020B0604020202020204" pitchFamily="34" charset="0"/>
              <a:buChar char="•"/>
            </a:pPr>
            <a:r>
              <a:rPr lang="en-IN" sz="1400" dirty="0">
                <a:latin typeface="Aptos"/>
                <a:cs typeface="Aptos"/>
              </a:rPr>
              <a:t>Soft</a:t>
            </a:r>
          </a:p>
          <a:p>
            <a:pPr marL="12700">
              <a:lnSpc>
                <a:spcPct val="100000"/>
              </a:lnSpc>
              <a:spcBef>
                <a:spcPts val="100"/>
              </a:spcBef>
            </a:pPr>
            <a:r>
              <a:rPr lang="en-IN" sz="1400" dirty="0">
                <a:latin typeface="Aptos"/>
                <a:cs typeface="Aptos"/>
              </a:rPr>
              <a:t>At Part Level we change for MPS/MRP values.</a:t>
            </a:r>
            <a:endParaRPr sz="1400" dirty="0">
              <a:latin typeface="Aptos"/>
              <a:cs typeface="Aptos"/>
            </a:endParaRPr>
          </a:p>
        </p:txBody>
      </p:sp>
      <p:pic>
        <p:nvPicPr>
          <p:cNvPr id="7" name="Picture 6" descr="A screenshot of a computer&#10;&#10;AI-generated content may be incorrect.">
            <a:extLst>
              <a:ext uri="{FF2B5EF4-FFF2-40B4-BE49-F238E27FC236}">
                <a16:creationId xmlns:a16="http://schemas.microsoft.com/office/drawing/2014/main" id="{498276FE-843D-0F91-AE14-604BC29B554E}"/>
              </a:ext>
            </a:extLst>
          </p:cNvPr>
          <p:cNvPicPr>
            <a:picLocks noChangeAspect="1"/>
          </p:cNvPicPr>
          <p:nvPr/>
        </p:nvPicPr>
        <p:blipFill>
          <a:blip r:embed="rId4"/>
          <a:stretch>
            <a:fillRect/>
          </a:stretch>
        </p:blipFill>
        <p:spPr>
          <a:xfrm>
            <a:off x="377269" y="3152659"/>
            <a:ext cx="11300604" cy="27216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01967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77A31-4A97-F5AC-9569-304BC11586B9}"/>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225A6C9-0E1F-3B18-3EE9-1ADE0A8EDD8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969C6084-DE38-32DC-91A9-F9A835AF2F69}"/>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object 6">
            <a:extLst>
              <a:ext uri="{FF2B5EF4-FFF2-40B4-BE49-F238E27FC236}">
                <a16:creationId xmlns:a16="http://schemas.microsoft.com/office/drawing/2014/main" id="{06A06785-12FF-A6F9-9391-DC5C9D7B7E7A}"/>
              </a:ext>
            </a:extLst>
          </p:cNvPr>
          <p:cNvSpPr txBox="1"/>
          <p:nvPr/>
        </p:nvSpPr>
        <p:spPr>
          <a:xfrm>
            <a:off x="619124" y="1066800"/>
            <a:ext cx="9601200" cy="1720984"/>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Lead Time (Fixed/Variable):</a:t>
            </a:r>
          </a:p>
          <a:p>
            <a:pPr marL="12700">
              <a:lnSpc>
                <a:spcPct val="100000"/>
              </a:lnSpc>
              <a:spcBef>
                <a:spcPts val="100"/>
              </a:spcBef>
            </a:pPr>
            <a:endParaRPr lang="en-IN" sz="1600" dirty="0">
              <a:latin typeface="Aptos"/>
              <a:cs typeface="Aptos"/>
            </a:endParaRPr>
          </a:p>
          <a:p>
            <a:pPr marL="12700">
              <a:lnSpc>
                <a:spcPct val="100000"/>
              </a:lnSpc>
              <a:spcBef>
                <a:spcPts val="100"/>
              </a:spcBef>
            </a:pPr>
            <a:r>
              <a:rPr lang="en-IN" sz="1400" dirty="0">
                <a:latin typeface="Aptos"/>
                <a:cs typeface="Aptos"/>
              </a:rPr>
              <a:t>Lead Time rule can be set from Control Table Workbook, Order Policy Worksheet, and Use Lead Time Column. </a:t>
            </a:r>
          </a:p>
          <a:p>
            <a:pPr marL="12700">
              <a:lnSpc>
                <a:spcPct val="100000"/>
              </a:lnSpc>
              <a:spcBef>
                <a:spcPts val="100"/>
              </a:spcBef>
            </a:pPr>
            <a:r>
              <a:rPr lang="en-IN" sz="1400" dirty="0">
                <a:latin typeface="Aptos"/>
                <a:cs typeface="Aptos"/>
              </a:rPr>
              <a:t>Fixed and Variable rule can be set as:</a:t>
            </a:r>
          </a:p>
          <a:p>
            <a:pPr marL="298450" lvl="8" indent="-285750">
              <a:spcBef>
                <a:spcPts val="100"/>
              </a:spcBef>
              <a:buFont typeface="Arial" panose="020B0604020202020204" pitchFamily="34" charset="0"/>
              <a:buChar char="•"/>
            </a:pPr>
            <a:r>
              <a:rPr lang="en-IN" sz="1400" dirty="0">
                <a:latin typeface="Aptos"/>
                <a:cs typeface="Aptos"/>
              </a:rPr>
              <a:t>Y</a:t>
            </a:r>
          </a:p>
          <a:p>
            <a:pPr marL="298450" lvl="8" indent="-285750">
              <a:spcBef>
                <a:spcPts val="100"/>
              </a:spcBef>
              <a:buFont typeface="Arial" panose="020B0604020202020204" pitchFamily="34" charset="0"/>
              <a:buChar char="•"/>
            </a:pPr>
            <a:r>
              <a:rPr lang="en-IN" sz="1400" dirty="0">
                <a:latin typeface="Aptos"/>
                <a:cs typeface="Aptos"/>
              </a:rPr>
              <a:t>N</a:t>
            </a:r>
          </a:p>
          <a:p>
            <a:pPr marL="12700" lvl="8">
              <a:spcBef>
                <a:spcPts val="100"/>
              </a:spcBef>
            </a:pPr>
            <a:r>
              <a:rPr lang="en-IN" sz="1400" dirty="0">
                <a:latin typeface="Aptos"/>
                <a:cs typeface="Aptos"/>
              </a:rPr>
              <a:t>Change the lead time values for Default type.</a:t>
            </a:r>
          </a:p>
        </p:txBody>
      </p:sp>
      <p:pic>
        <p:nvPicPr>
          <p:cNvPr id="7" name="Picture 6" descr="A screenshot of a computer&#10;&#10;AI-generated content may be incorrect.">
            <a:extLst>
              <a:ext uri="{FF2B5EF4-FFF2-40B4-BE49-F238E27FC236}">
                <a16:creationId xmlns:a16="http://schemas.microsoft.com/office/drawing/2014/main" id="{EDFB5171-17AC-4AFD-9E36-F7C1699398EC}"/>
              </a:ext>
            </a:extLst>
          </p:cNvPr>
          <p:cNvPicPr>
            <a:picLocks noChangeAspect="1"/>
          </p:cNvPicPr>
          <p:nvPr/>
        </p:nvPicPr>
        <p:blipFill>
          <a:blip r:embed="rId4"/>
          <a:stretch>
            <a:fillRect/>
          </a:stretch>
        </p:blipFill>
        <p:spPr>
          <a:xfrm>
            <a:off x="618226" y="3190266"/>
            <a:ext cx="11156831" cy="26196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998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4067F-3DC8-5DA5-322E-D6D0D50E5284}"/>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435BB430-7BE3-D1FB-388A-8C91A4F825CA}"/>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95335F2-34BF-CC8F-E864-388D71A74338}"/>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object 6">
            <a:extLst>
              <a:ext uri="{FF2B5EF4-FFF2-40B4-BE49-F238E27FC236}">
                <a16:creationId xmlns:a16="http://schemas.microsoft.com/office/drawing/2014/main" id="{521D1A13-4700-0E38-CB04-994F3EE80280}"/>
              </a:ext>
            </a:extLst>
          </p:cNvPr>
          <p:cNvSpPr txBox="1"/>
          <p:nvPr/>
        </p:nvSpPr>
        <p:spPr>
          <a:xfrm>
            <a:off x="476838" y="304800"/>
            <a:ext cx="9601200" cy="262123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Transit and Pre-Ship:</a:t>
            </a:r>
          </a:p>
          <a:p>
            <a:pPr marL="298450" indent="-285750">
              <a:lnSpc>
                <a:spcPct val="100000"/>
              </a:lnSpc>
              <a:spcBef>
                <a:spcPts val="100"/>
              </a:spcBef>
              <a:buFont typeface="Arial" panose="020B0604020202020204" pitchFamily="34" charset="0"/>
              <a:buChar char="•"/>
            </a:pPr>
            <a:endParaRPr lang="en-IN" sz="1600" dirty="0">
              <a:latin typeface="Aptos"/>
              <a:cs typeface="Aptos"/>
            </a:endParaRPr>
          </a:p>
          <a:p>
            <a:pPr marL="12700">
              <a:lnSpc>
                <a:spcPct val="100000"/>
              </a:lnSpc>
              <a:spcBef>
                <a:spcPts val="100"/>
              </a:spcBef>
            </a:pPr>
            <a:r>
              <a:rPr lang="en-IN" sz="1400" dirty="0">
                <a:latin typeface="Aptos"/>
                <a:cs typeface="Aptos"/>
              </a:rPr>
              <a:t>Transit rule and Pre-Ship Lead Time rule can be set from Control Table Workbook, Part Source Type Worksheet, and Use Transit and Pre-Ship Lead Time Column. </a:t>
            </a:r>
          </a:p>
          <a:p>
            <a:pPr marL="12700">
              <a:lnSpc>
                <a:spcPct val="100000"/>
              </a:lnSpc>
              <a:spcBef>
                <a:spcPts val="100"/>
              </a:spcBef>
            </a:pPr>
            <a:r>
              <a:rPr lang="en-IN" sz="1400" dirty="0">
                <a:latin typeface="Aptos"/>
                <a:cs typeface="Aptos"/>
              </a:rPr>
              <a:t>Transit rule can be set as </a:t>
            </a:r>
          </a:p>
          <a:p>
            <a:pPr marL="298450" indent="-285750">
              <a:lnSpc>
                <a:spcPct val="100000"/>
              </a:lnSpc>
              <a:spcBef>
                <a:spcPts val="100"/>
              </a:spcBef>
              <a:buFont typeface="Arial" panose="020B0604020202020204" pitchFamily="34" charset="0"/>
              <a:buChar char="•"/>
            </a:pPr>
            <a:r>
              <a:rPr lang="en-IN" sz="1400" dirty="0">
                <a:latin typeface="Aptos"/>
                <a:cs typeface="Aptos"/>
              </a:rPr>
              <a:t>Inclusive </a:t>
            </a:r>
          </a:p>
          <a:p>
            <a:pPr marL="298450" indent="-285750">
              <a:lnSpc>
                <a:spcPct val="100000"/>
              </a:lnSpc>
              <a:spcBef>
                <a:spcPts val="100"/>
              </a:spcBef>
              <a:buFont typeface="Arial" panose="020B0604020202020204" pitchFamily="34" charset="0"/>
              <a:buChar char="•"/>
            </a:pPr>
            <a:r>
              <a:rPr lang="en-IN" sz="1400" dirty="0">
                <a:latin typeface="Aptos"/>
                <a:cs typeface="Aptos"/>
              </a:rPr>
              <a:t>Cumulative</a:t>
            </a:r>
          </a:p>
          <a:p>
            <a:pPr marL="12700">
              <a:lnSpc>
                <a:spcPct val="100000"/>
              </a:lnSpc>
              <a:spcBef>
                <a:spcPts val="100"/>
              </a:spcBef>
            </a:pPr>
            <a:r>
              <a:rPr lang="en-IN" sz="1400" dirty="0">
                <a:latin typeface="Aptos"/>
                <a:cs typeface="Aptos"/>
              </a:rPr>
              <a:t>Transit Time rule and Pre-Ship Time rule can be set as </a:t>
            </a:r>
          </a:p>
          <a:p>
            <a:pPr marL="298450" lvl="2" indent="-285750">
              <a:spcBef>
                <a:spcPts val="100"/>
              </a:spcBef>
              <a:buFont typeface="Arial" panose="020B0604020202020204" pitchFamily="34" charset="0"/>
              <a:buChar char="•"/>
            </a:pPr>
            <a:r>
              <a:rPr lang="en-IN" sz="1400" dirty="0">
                <a:latin typeface="Aptos"/>
                <a:cs typeface="Aptos"/>
              </a:rPr>
              <a:t>Use</a:t>
            </a:r>
          </a:p>
          <a:p>
            <a:pPr marL="298450" lvl="2" indent="-285750">
              <a:spcBef>
                <a:spcPts val="100"/>
              </a:spcBef>
              <a:buFont typeface="Arial" panose="020B0604020202020204" pitchFamily="34" charset="0"/>
              <a:buChar char="•"/>
            </a:pPr>
            <a:r>
              <a:rPr lang="en-IN" sz="1400" dirty="0">
                <a:latin typeface="Aptos"/>
                <a:cs typeface="Aptos"/>
              </a:rPr>
              <a:t>Ignore.</a:t>
            </a:r>
          </a:p>
          <a:p>
            <a:pPr marL="12700">
              <a:lnSpc>
                <a:spcPct val="100000"/>
              </a:lnSpc>
              <a:spcBef>
                <a:spcPts val="100"/>
              </a:spcBef>
            </a:pPr>
            <a:r>
              <a:rPr lang="en-IN" sz="1400" dirty="0">
                <a:latin typeface="Aptos"/>
                <a:cs typeface="Aptos"/>
              </a:rPr>
              <a:t>At Part Source Level we change for Make/Buy/Transfer values.</a:t>
            </a:r>
            <a:endParaRPr sz="1400" dirty="0">
              <a:latin typeface="Aptos"/>
              <a:cs typeface="Aptos"/>
            </a:endParaRPr>
          </a:p>
        </p:txBody>
      </p:sp>
      <p:pic>
        <p:nvPicPr>
          <p:cNvPr id="7" name="Picture 6" descr="A screenshot of a computer&#10;&#10;AI-generated content may be incorrect.">
            <a:extLst>
              <a:ext uri="{FF2B5EF4-FFF2-40B4-BE49-F238E27FC236}">
                <a16:creationId xmlns:a16="http://schemas.microsoft.com/office/drawing/2014/main" id="{E4E502CB-4039-55FE-175A-FF8E196D2508}"/>
              </a:ext>
            </a:extLst>
          </p:cNvPr>
          <p:cNvPicPr>
            <a:picLocks noChangeAspect="1"/>
          </p:cNvPicPr>
          <p:nvPr/>
        </p:nvPicPr>
        <p:blipFill>
          <a:blip r:embed="rId4"/>
          <a:stretch>
            <a:fillRect/>
          </a:stretch>
        </p:blipFill>
        <p:spPr>
          <a:xfrm>
            <a:off x="546170" y="3296833"/>
            <a:ext cx="11378411" cy="27242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61893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256E-303A-97EB-BB79-4649A35B9F9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686A8716-675E-0834-945B-0BA3E640D64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71F4136-B9D3-5C7C-F7CE-578374FD6177}"/>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object 6">
            <a:extLst>
              <a:ext uri="{FF2B5EF4-FFF2-40B4-BE49-F238E27FC236}">
                <a16:creationId xmlns:a16="http://schemas.microsoft.com/office/drawing/2014/main" id="{08153912-D874-70A9-78A3-3B1DE3EA11D0}"/>
              </a:ext>
            </a:extLst>
          </p:cNvPr>
          <p:cNvSpPr txBox="1"/>
          <p:nvPr/>
        </p:nvSpPr>
        <p:spPr>
          <a:xfrm>
            <a:off x="514350" y="826711"/>
            <a:ext cx="9601200" cy="190565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Dock To Stock:</a:t>
            </a:r>
          </a:p>
          <a:p>
            <a:pPr marL="298450" indent="-285750">
              <a:lnSpc>
                <a:spcPct val="100000"/>
              </a:lnSpc>
              <a:spcBef>
                <a:spcPts val="100"/>
              </a:spcBef>
              <a:buFont typeface="Arial" panose="020B0604020202020204" pitchFamily="34" charset="0"/>
              <a:buChar char="•"/>
            </a:pPr>
            <a:endParaRPr lang="en-IN" sz="1400" dirty="0">
              <a:latin typeface="Aptos"/>
              <a:cs typeface="Aptos"/>
            </a:endParaRPr>
          </a:p>
          <a:p>
            <a:pPr marL="12700">
              <a:lnSpc>
                <a:spcPct val="100000"/>
              </a:lnSpc>
              <a:spcBef>
                <a:spcPts val="100"/>
              </a:spcBef>
            </a:pPr>
            <a:r>
              <a:rPr lang="en-IN" sz="1400" dirty="0">
                <a:latin typeface="Aptos"/>
                <a:cs typeface="Aptos"/>
              </a:rPr>
              <a:t>Dock To Stock Lead Time rule can be set from Control Table Workbook, Part Source Type Worksheet, and Use Dock To Stock Lead Time Column. </a:t>
            </a:r>
          </a:p>
          <a:p>
            <a:pPr marL="12700">
              <a:lnSpc>
                <a:spcPct val="100000"/>
              </a:lnSpc>
              <a:spcBef>
                <a:spcPts val="100"/>
              </a:spcBef>
            </a:pPr>
            <a:r>
              <a:rPr lang="en-IN" sz="1400" dirty="0">
                <a:latin typeface="Aptos"/>
                <a:cs typeface="Aptos"/>
              </a:rPr>
              <a:t>Dock To Stock Lead Time rule can be set as </a:t>
            </a:r>
          </a:p>
          <a:p>
            <a:pPr marL="298450" lvl="2" indent="-285750">
              <a:spcBef>
                <a:spcPts val="100"/>
              </a:spcBef>
              <a:buFont typeface="Arial" panose="020B0604020202020204" pitchFamily="34" charset="0"/>
              <a:buChar char="•"/>
            </a:pPr>
            <a:r>
              <a:rPr lang="en-IN" sz="1400" dirty="0">
                <a:latin typeface="Aptos"/>
                <a:cs typeface="Aptos"/>
              </a:rPr>
              <a:t>Use</a:t>
            </a:r>
          </a:p>
          <a:p>
            <a:pPr marL="298450" lvl="2" indent="-285750">
              <a:spcBef>
                <a:spcPts val="100"/>
              </a:spcBef>
              <a:buFont typeface="Arial" panose="020B0604020202020204" pitchFamily="34" charset="0"/>
              <a:buChar char="•"/>
            </a:pPr>
            <a:r>
              <a:rPr lang="en-IN" sz="1400" dirty="0">
                <a:latin typeface="Aptos"/>
                <a:cs typeface="Aptos"/>
              </a:rPr>
              <a:t>Ignore.</a:t>
            </a:r>
          </a:p>
          <a:p>
            <a:pPr marL="12700">
              <a:lnSpc>
                <a:spcPct val="100000"/>
              </a:lnSpc>
              <a:spcBef>
                <a:spcPts val="100"/>
              </a:spcBef>
            </a:pPr>
            <a:r>
              <a:rPr lang="en-IN" sz="1400" dirty="0">
                <a:latin typeface="Aptos"/>
                <a:cs typeface="Aptos"/>
              </a:rPr>
              <a:t>At Part Source Level we change for Make/Buy/Transfer values.</a:t>
            </a:r>
            <a:endParaRPr sz="1400" dirty="0">
              <a:latin typeface="Aptos"/>
              <a:cs typeface="Aptos"/>
            </a:endParaRPr>
          </a:p>
        </p:txBody>
      </p:sp>
      <p:pic>
        <p:nvPicPr>
          <p:cNvPr id="7" name="Picture 6" descr="A screenshot of a computer&#10;&#10;AI-generated content may be incorrect.">
            <a:extLst>
              <a:ext uri="{FF2B5EF4-FFF2-40B4-BE49-F238E27FC236}">
                <a16:creationId xmlns:a16="http://schemas.microsoft.com/office/drawing/2014/main" id="{D87964D1-19A3-4457-25AE-796D3A0BC10B}"/>
              </a:ext>
            </a:extLst>
          </p:cNvPr>
          <p:cNvPicPr>
            <a:picLocks noChangeAspect="1"/>
          </p:cNvPicPr>
          <p:nvPr/>
        </p:nvPicPr>
        <p:blipFill>
          <a:blip r:embed="rId4"/>
          <a:stretch>
            <a:fillRect/>
          </a:stretch>
        </p:blipFill>
        <p:spPr>
          <a:xfrm>
            <a:off x="514350" y="2980753"/>
            <a:ext cx="11056190" cy="25365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63613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E38F9-6CB0-DB0E-7CCB-6158644B7CF4}"/>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7EA7678F-379D-D114-404F-AE795AF8C5B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CD9BE733-6AB4-BF09-7D7B-F7A9A1D3FE5E}"/>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451A0DE4-A4BE-902E-1C27-E13DED24BC24}"/>
              </a:ext>
            </a:extLst>
          </p:cNvPr>
          <p:cNvSpPr txBox="1"/>
          <p:nvPr/>
        </p:nvSpPr>
        <p:spPr>
          <a:xfrm>
            <a:off x="721658" y="782858"/>
            <a:ext cx="7924800" cy="1631216"/>
          </a:xfrm>
          <a:prstGeom prst="rect">
            <a:avLst/>
          </a:prstGeom>
          <a:noFill/>
        </p:spPr>
        <p:txBody>
          <a:bodyPr wrap="square" rtlCol="0">
            <a:spAutoFit/>
          </a:bodyPr>
          <a:lstStyle/>
          <a:p>
            <a:r>
              <a:rPr lang="en-IN" sz="5000" b="1" dirty="0">
                <a:latin typeface="Aptos" panose="020B0004020202020204" pitchFamily="34" charset="0"/>
              </a:rPr>
              <a:t>Inclusive </a:t>
            </a:r>
          </a:p>
          <a:p>
            <a:r>
              <a:rPr lang="en-IN" sz="5000" b="1" dirty="0">
                <a:latin typeface="Aptos" panose="020B0004020202020204" pitchFamily="34" charset="0"/>
              </a:rPr>
              <a:t>	Make</a:t>
            </a:r>
          </a:p>
        </p:txBody>
      </p:sp>
    </p:spTree>
    <p:extLst>
      <p:ext uri="{BB962C8B-B14F-4D97-AF65-F5344CB8AC3E}">
        <p14:creationId xmlns:p14="http://schemas.microsoft.com/office/powerpoint/2010/main" val="2794466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090AE-6DFF-BA14-C615-54F70C602C21}"/>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4103199E-9F6D-D78A-9EF3-EC8612E78AAA}"/>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84B68570-5A49-9984-7982-526D144A9ACE}"/>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4">
            <a:extLst>
              <a:ext uri="{FF2B5EF4-FFF2-40B4-BE49-F238E27FC236}">
                <a16:creationId xmlns:a16="http://schemas.microsoft.com/office/drawing/2014/main" id="{38DFBB85-7D82-52B0-D1A4-39A52FC215B1}"/>
              </a:ext>
            </a:extLst>
          </p:cNvPr>
          <p:cNvSpPr txBox="1"/>
          <p:nvPr/>
        </p:nvSpPr>
        <p:spPr>
          <a:xfrm>
            <a:off x="570320" y="424132"/>
            <a:ext cx="6594175" cy="1569660"/>
          </a:xfrm>
          <a:prstGeom prst="rect">
            <a:avLst/>
          </a:prstGeom>
          <a:noFill/>
        </p:spPr>
        <p:txBody>
          <a:bodyPr wrap="square" lIns="91440" tIns="45720" rIns="91440" bIns="45720" rtlCol="0" anchor="t">
            <a:spAutoFit/>
          </a:bodyPr>
          <a:lstStyle>
            <a:defPPr>
              <a:defRPr kern="0"/>
            </a:defPPr>
          </a:lstStyle>
          <a:p>
            <a:r>
              <a:rPr lang="en-IN" sz="2400" b="1" dirty="0">
                <a:latin typeface="Aptos"/>
              </a:rPr>
              <a:t>Simulation 1: </a:t>
            </a:r>
          </a:p>
          <a:p>
            <a:endParaRPr lang="en-IN" sz="1600" dirty="0">
              <a:latin typeface="Aptos"/>
            </a:endParaRPr>
          </a:p>
          <a:p>
            <a:r>
              <a:rPr lang="en-IN" sz="1400" dirty="0">
                <a:latin typeface="Aptos"/>
              </a:rPr>
              <a:t>Transit Rule: Inclusive</a:t>
            </a:r>
          </a:p>
          <a:p>
            <a:r>
              <a:rPr lang="en-IN" sz="1400" dirty="0">
                <a:latin typeface="Aptos" panose="020B0004020202020204" pitchFamily="34" charset="0"/>
              </a:rPr>
              <a:t>Type: Make</a:t>
            </a:r>
          </a:p>
          <a:p>
            <a:r>
              <a:rPr lang="en-IN" sz="1400" dirty="0">
                <a:latin typeface="Aptos" panose="020B0004020202020204" pitchFamily="34" charset="0"/>
              </a:rPr>
              <a:t>Calendar: Everyday</a:t>
            </a:r>
          </a:p>
          <a:p>
            <a:r>
              <a:rPr lang="en-IN" sz="1400" dirty="0">
                <a:latin typeface="Aptos" panose="020B0004020202020204" pitchFamily="34" charset="0"/>
              </a:rPr>
              <a:t>Site: C1001</a:t>
            </a:r>
          </a:p>
        </p:txBody>
      </p:sp>
      <p:pic>
        <p:nvPicPr>
          <p:cNvPr id="7" name="Picture 6" descr="A screenshot of a computer&#10;&#10;AI-generated content may be incorrect.">
            <a:extLst>
              <a:ext uri="{FF2B5EF4-FFF2-40B4-BE49-F238E27FC236}">
                <a16:creationId xmlns:a16="http://schemas.microsoft.com/office/drawing/2014/main" id="{1F4EDBC8-DED2-B414-9A0D-3E987365ED96}"/>
              </a:ext>
            </a:extLst>
          </p:cNvPr>
          <p:cNvPicPr>
            <a:picLocks noChangeAspect="1"/>
          </p:cNvPicPr>
          <p:nvPr/>
        </p:nvPicPr>
        <p:blipFill>
          <a:blip r:embed="rId4"/>
          <a:srcRect l="-39" t="44643" r="-79" b="-357"/>
          <a:stretch>
            <a:fillRect/>
          </a:stretch>
        </p:blipFill>
        <p:spPr>
          <a:xfrm>
            <a:off x="570320" y="4280373"/>
            <a:ext cx="11099342" cy="19344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8" name="Table 7">
            <a:extLst>
              <a:ext uri="{FF2B5EF4-FFF2-40B4-BE49-F238E27FC236}">
                <a16:creationId xmlns:a16="http://schemas.microsoft.com/office/drawing/2014/main" id="{569EE9A8-3745-FC97-E89D-4B14461D0A20}"/>
              </a:ext>
            </a:extLst>
          </p:cNvPr>
          <p:cNvGraphicFramePr>
            <a:graphicFrameLocks noGrp="1"/>
          </p:cNvGraphicFramePr>
          <p:nvPr>
            <p:extLst>
              <p:ext uri="{D42A27DB-BD31-4B8C-83A1-F6EECF244321}">
                <p14:modId xmlns:p14="http://schemas.microsoft.com/office/powerpoint/2010/main" val="1826130245"/>
              </p:ext>
            </p:extLst>
          </p:nvPr>
        </p:nvGraphicFramePr>
        <p:xfrm>
          <a:off x="570322" y="2228451"/>
          <a:ext cx="11099340" cy="1854200"/>
        </p:xfrm>
        <a:graphic>
          <a:graphicData uri="http://schemas.openxmlformats.org/drawingml/2006/table">
            <a:tbl>
              <a:tblPr firstRow="1" bandRow="1">
                <a:tableStyleId>{5C22544A-7EE6-4342-B048-85BDC9FD1C3A}</a:tableStyleId>
              </a:tblPr>
              <a:tblGrid>
                <a:gridCol w="1849890">
                  <a:extLst>
                    <a:ext uri="{9D8B030D-6E8A-4147-A177-3AD203B41FA5}">
                      <a16:colId xmlns:a16="http://schemas.microsoft.com/office/drawing/2014/main" val="4185965859"/>
                    </a:ext>
                  </a:extLst>
                </a:gridCol>
                <a:gridCol w="1849890">
                  <a:extLst>
                    <a:ext uri="{9D8B030D-6E8A-4147-A177-3AD203B41FA5}">
                      <a16:colId xmlns:a16="http://schemas.microsoft.com/office/drawing/2014/main" val="2602318351"/>
                    </a:ext>
                  </a:extLst>
                </a:gridCol>
                <a:gridCol w="1849890">
                  <a:extLst>
                    <a:ext uri="{9D8B030D-6E8A-4147-A177-3AD203B41FA5}">
                      <a16:colId xmlns:a16="http://schemas.microsoft.com/office/drawing/2014/main" val="1864976949"/>
                    </a:ext>
                  </a:extLst>
                </a:gridCol>
                <a:gridCol w="1849890">
                  <a:extLst>
                    <a:ext uri="{9D8B030D-6E8A-4147-A177-3AD203B41FA5}">
                      <a16:colId xmlns:a16="http://schemas.microsoft.com/office/drawing/2014/main" val="3443183920"/>
                    </a:ext>
                  </a:extLst>
                </a:gridCol>
                <a:gridCol w="1849890">
                  <a:extLst>
                    <a:ext uri="{9D8B030D-6E8A-4147-A177-3AD203B41FA5}">
                      <a16:colId xmlns:a16="http://schemas.microsoft.com/office/drawing/2014/main" val="3236089297"/>
                    </a:ext>
                  </a:extLst>
                </a:gridCol>
                <a:gridCol w="1849890">
                  <a:extLst>
                    <a:ext uri="{9D8B030D-6E8A-4147-A177-3AD203B41FA5}">
                      <a16:colId xmlns:a16="http://schemas.microsoft.com/office/drawing/2014/main" val="381752727"/>
                    </a:ext>
                  </a:extLst>
                </a:gridCol>
              </a:tblGrid>
              <a:tr h="370840">
                <a:tc>
                  <a:txBody>
                    <a:bodyPr/>
                    <a:lstStyle/>
                    <a:p>
                      <a:r>
                        <a:rPr lang="en-US" sz="1400" dirty="0"/>
                        <a:t>Demand Date</a:t>
                      </a:r>
                      <a:endParaRPr lang="en-IN" sz="1400" dirty="0"/>
                    </a:p>
                  </a:txBody>
                  <a:tcPr/>
                </a:tc>
                <a:tc>
                  <a:txBody>
                    <a:bodyPr/>
                    <a:lstStyle/>
                    <a:p>
                      <a:r>
                        <a:rPr lang="en-US" sz="1400" dirty="0"/>
                        <a:t>Due Date</a:t>
                      </a:r>
                      <a:endParaRPr lang="en-IN" sz="1400" dirty="0"/>
                    </a:p>
                  </a:txBody>
                  <a:tcPr/>
                </a:tc>
                <a:tc>
                  <a:txBody>
                    <a:bodyPr/>
                    <a:lstStyle/>
                    <a:p>
                      <a:r>
                        <a:rPr lang="en-US" sz="1400" dirty="0"/>
                        <a:t>Dock Date</a:t>
                      </a:r>
                      <a:endParaRPr lang="en-IN" sz="1400" dirty="0"/>
                    </a:p>
                  </a:txBody>
                  <a:tcPr/>
                </a:tc>
                <a:tc>
                  <a:txBody>
                    <a:bodyPr/>
                    <a:lstStyle/>
                    <a:p>
                      <a:r>
                        <a:rPr lang="en-US" sz="1400" dirty="0"/>
                        <a:t>Ship Date</a:t>
                      </a:r>
                      <a:endParaRPr lang="en-IN" sz="1400" dirty="0"/>
                    </a:p>
                  </a:txBody>
                  <a:tcPr/>
                </a:tc>
                <a:tc>
                  <a:txBody>
                    <a:bodyPr/>
                    <a:lstStyle/>
                    <a:p>
                      <a:r>
                        <a:rPr lang="en-US" sz="1400" dirty="0"/>
                        <a:t>Build Date</a:t>
                      </a:r>
                      <a:endParaRPr lang="en-IN" sz="1400" dirty="0"/>
                    </a:p>
                  </a:txBody>
                  <a:tcPr/>
                </a:tc>
                <a:tc>
                  <a:txBody>
                    <a:bodyPr/>
                    <a:lstStyle/>
                    <a:p>
                      <a:r>
                        <a:rPr lang="en-US" sz="1400" dirty="0"/>
                        <a:t>Start Date</a:t>
                      </a:r>
                      <a:endParaRPr lang="en-IN" sz="1400" dirty="0"/>
                    </a:p>
                  </a:txBody>
                  <a:tcPr/>
                </a:tc>
                <a:extLst>
                  <a:ext uri="{0D108BD9-81ED-4DB2-BD59-A6C34878D82A}">
                    <a16:rowId xmlns:a16="http://schemas.microsoft.com/office/drawing/2014/main" val="3795648160"/>
                  </a:ext>
                </a:extLst>
              </a:tr>
              <a:tr h="370840">
                <a:tc>
                  <a:txBody>
                    <a:bodyPr/>
                    <a:lstStyle/>
                    <a:p>
                      <a:r>
                        <a:rPr lang="en-IN" sz="1400" dirty="0">
                          <a:latin typeface="Aptos" panose="020B0004020202020204" pitchFamily="34" charset="0"/>
                        </a:rPr>
                        <a:t>Safety time (2) </a:t>
                      </a:r>
                    </a:p>
                  </a:txBody>
                  <a:tcPr/>
                </a:tc>
                <a:tc>
                  <a:txBody>
                    <a:bodyPr/>
                    <a:lstStyle/>
                    <a:p>
                      <a:r>
                        <a:rPr lang="en-IN" sz="1400" dirty="0">
                          <a:solidFill>
                            <a:srgbClr val="FF0000"/>
                          </a:solidFill>
                          <a:latin typeface="Aptos" panose="020B0004020202020204" pitchFamily="34" charset="0"/>
                        </a:rPr>
                        <a:t>Dock To Stock (1) </a:t>
                      </a:r>
                    </a:p>
                  </a:txBody>
                  <a:tcPr/>
                </a:tc>
                <a:tc>
                  <a:txBody>
                    <a:bodyPr/>
                    <a:lstStyle/>
                    <a:p>
                      <a:r>
                        <a:rPr lang="en-IN" sz="1400" dirty="0">
                          <a:solidFill>
                            <a:srgbClr val="FF0000"/>
                          </a:solidFill>
                          <a:latin typeface="Aptos" panose="020B0004020202020204" pitchFamily="34" charset="0"/>
                        </a:rPr>
                        <a:t>Transit Time (10)</a:t>
                      </a:r>
                    </a:p>
                  </a:txBody>
                  <a:tcPr/>
                </a:tc>
                <a:tc>
                  <a:txBody>
                    <a:bodyPr/>
                    <a:lstStyle/>
                    <a:p>
                      <a:r>
                        <a:rPr lang="en-IN" sz="1400" dirty="0">
                          <a:solidFill>
                            <a:srgbClr val="FF0000"/>
                          </a:solidFill>
                          <a:latin typeface="Aptos" panose="020B0004020202020204" pitchFamily="34" charset="0"/>
                        </a:rPr>
                        <a:t>Pre-Ship Time (0) </a:t>
                      </a:r>
                    </a:p>
                  </a:txBody>
                  <a:tcPr/>
                </a:tc>
                <a:tc>
                  <a:txBody>
                    <a:bodyPr/>
                    <a:lstStyle/>
                    <a:p>
                      <a:r>
                        <a:rPr lang="en-IN" sz="1400" dirty="0">
                          <a:latin typeface="Aptos" panose="020B0004020202020204" pitchFamily="34" charset="0"/>
                        </a:rPr>
                        <a:t>Fixed Time (1)</a:t>
                      </a: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867069485"/>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latin typeface="Aptos" panose="020B0004020202020204" pitchFamily="34" charset="0"/>
                        </a:rPr>
                        <a:t>Lead Time Adjust (3) </a:t>
                      </a: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859510648"/>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r>
                        <a:rPr lang="en-IN" sz="1400" dirty="0">
                          <a:latin typeface="Aptos" panose="020B0004020202020204" pitchFamily="34" charset="0"/>
                        </a:rPr>
                        <a:t>Var*Qtd (0.2*10)</a:t>
                      </a: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2948847562"/>
                  </a:ext>
                </a:extLst>
              </a:tr>
              <a:tr h="370840">
                <a:tc>
                  <a:txBody>
                    <a:bodyPr/>
                    <a:lstStyle/>
                    <a:p>
                      <a:r>
                        <a:rPr lang="en-IN" sz="1400" dirty="0">
                          <a:latin typeface="Aptos" panose="020B0004020202020204" pitchFamily="34" charset="0"/>
                        </a:rPr>
                        <a:t>10/16/2026</a:t>
                      </a:r>
                    </a:p>
                  </a:txBody>
                  <a:tcPr/>
                </a:tc>
                <a:tc>
                  <a:txBody>
                    <a:bodyPr/>
                    <a:lstStyle/>
                    <a:p>
                      <a:r>
                        <a:rPr lang="en-IN" sz="1400" dirty="0">
                          <a:latin typeface="Aptos" panose="020B0004020202020204" pitchFamily="34" charset="0"/>
                        </a:rPr>
                        <a:t>10/14/2026</a:t>
                      </a:r>
                    </a:p>
                  </a:txBody>
                  <a:tcPr/>
                </a:tc>
                <a:tc>
                  <a:txBody>
                    <a:bodyPr/>
                    <a:lstStyle/>
                    <a:p>
                      <a:r>
                        <a:rPr lang="en-IN" sz="1400" dirty="0">
                          <a:latin typeface="Aptos" panose="020B0004020202020204" pitchFamily="34" charset="0"/>
                        </a:rPr>
                        <a:t>10/14/2026</a:t>
                      </a:r>
                    </a:p>
                  </a:txBody>
                  <a:tcPr/>
                </a:tc>
                <a:tc>
                  <a:txBody>
                    <a:bodyPr/>
                    <a:lstStyle/>
                    <a:p>
                      <a:r>
                        <a:rPr lang="en-IN" sz="1400" dirty="0">
                          <a:latin typeface="Aptos" panose="020B0004020202020204" pitchFamily="34" charset="0"/>
                        </a:rPr>
                        <a:t>10/14/2026</a:t>
                      </a:r>
                    </a:p>
                  </a:txBody>
                  <a:tcPr/>
                </a:tc>
                <a:tc>
                  <a:txBody>
                    <a:bodyPr/>
                    <a:lstStyle/>
                    <a:p>
                      <a:r>
                        <a:rPr lang="en-IN" sz="1400" dirty="0">
                          <a:latin typeface="Aptos" panose="020B0004020202020204" pitchFamily="34" charset="0"/>
                        </a:rPr>
                        <a:t>10/14/2026</a:t>
                      </a:r>
                    </a:p>
                  </a:txBody>
                  <a:tcPr/>
                </a:tc>
                <a:tc>
                  <a:txBody>
                    <a:bodyPr/>
                    <a:lstStyle/>
                    <a:p>
                      <a:r>
                        <a:rPr lang="en-IN" sz="1400" dirty="0">
                          <a:latin typeface="Aptos" panose="020B0004020202020204" pitchFamily="34" charset="0"/>
                        </a:rPr>
                        <a:t>10/08/2026</a:t>
                      </a:r>
                    </a:p>
                  </a:txBody>
                  <a:tcPr/>
                </a:tc>
                <a:extLst>
                  <a:ext uri="{0D108BD9-81ED-4DB2-BD59-A6C34878D82A}">
                    <a16:rowId xmlns:a16="http://schemas.microsoft.com/office/drawing/2014/main" val="3426392184"/>
                  </a:ext>
                </a:extLst>
              </a:tr>
            </a:tbl>
          </a:graphicData>
        </a:graphic>
      </p:graphicFrame>
    </p:spTree>
    <p:extLst>
      <p:ext uri="{BB962C8B-B14F-4D97-AF65-F5344CB8AC3E}">
        <p14:creationId xmlns:p14="http://schemas.microsoft.com/office/powerpoint/2010/main" val="2743077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58CCB-6514-8BDC-678A-A622C6F0826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7ACCD57-3E7B-F38E-342D-0F5D56E7CDC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582E0CF-0296-D8B4-6C07-15908D0B56EC}"/>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5767C8FE-5A60-CBA8-F83D-CFBB10781C9B}"/>
              </a:ext>
            </a:extLst>
          </p:cNvPr>
          <p:cNvGraphicFramePr>
            <a:graphicFrameLocks noGrp="1"/>
          </p:cNvGraphicFramePr>
          <p:nvPr>
            <p:extLst>
              <p:ext uri="{D42A27DB-BD31-4B8C-83A1-F6EECF244321}">
                <p14:modId xmlns:p14="http://schemas.microsoft.com/office/powerpoint/2010/main" val="232090386"/>
              </p:ext>
            </p:extLst>
          </p:nvPr>
        </p:nvGraphicFramePr>
        <p:xfrm>
          <a:off x="543220" y="2125886"/>
          <a:ext cx="11329835" cy="1854200"/>
        </p:xfrm>
        <a:graphic>
          <a:graphicData uri="http://schemas.openxmlformats.org/drawingml/2006/table">
            <a:tbl>
              <a:tblPr firstRow="1" bandRow="1">
                <a:tableStyleId>{5C22544A-7EE6-4342-B048-85BDC9FD1C3A}</a:tableStyleId>
              </a:tblPr>
              <a:tblGrid>
                <a:gridCol w="1888306">
                  <a:extLst>
                    <a:ext uri="{9D8B030D-6E8A-4147-A177-3AD203B41FA5}">
                      <a16:colId xmlns:a16="http://schemas.microsoft.com/office/drawing/2014/main" val="307215874"/>
                    </a:ext>
                  </a:extLst>
                </a:gridCol>
                <a:gridCol w="1888306">
                  <a:extLst>
                    <a:ext uri="{9D8B030D-6E8A-4147-A177-3AD203B41FA5}">
                      <a16:colId xmlns:a16="http://schemas.microsoft.com/office/drawing/2014/main" val="2933060698"/>
                    </a:ext>
                  </a:extLst>
                </a:gridCol>
                <a:gridCol w="1888306">
                  <a:extLst>
                    <a:ext uri="{9D8B030D-6E8A-4147-A177-3AD203B41FA5}">
                      <a16:colId xmlns:a16="http://schemas.microsoft.com/office/drawing/2014/main" val="14527891"/>
                    </a:ext>
                  </a:extLst>
                </a:gridCol>
                <a:gridCol w="1888306">
                  <a:extLst>
                    <a:ext uri="{9D8B030D-6E8A-4147-A177-3AD203B41FA5}">
                      <a16:colId xmlns:a16="http://schemas.microsoft.com/office/drawing/2014/main" val="220212328"/>
                    </a:ext>
                  </a:extLst>
                </a:gridCol>
                <a:gridCol w="2370149">
                  <a:extLst>
                    <a:ext uri="{9D8B030D-6E8A-4147-A177-3AD203B41FA5}">
                      <a16:colId xmlns:a16="http://schemas.microsoft.com/office/drawing/2014/main" val="1686636914"/>
                    </a:ext>
                  </a:extLst>
                </a:gridCol>
                <a:gridCol w="1406462">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(2) </a:t>
                      </a:r>
                      <a:endParaRPr lang="en-IN" sz="1400" dirty="0">
                        <a:latin typeface="Aptos" panose="020B0004020202020204" pitchFamily="34" charset="0"/>
                      </a:endParaRPr>
                    </a:p>
                  </a:txBody>
                  <a:tcPr/>
                </a:tc>
                <a:tc>
                  <a:txBody>
                    <a:bodyPr/>
                    <a:lstStyle/>
                    <a:p>
                      <a:r>
                        <a:rPr lang="en-IN" sz="1400" dirty="0">
                          <a:solidFill>
                            <a:srgbClr val="FF0000"/>
                          </a:solidFill>
                        </a:rPr>
                        <a:t>Dock To Stock (1) </a:t>
                      </a:r>
                      <a:endParaRPr lang="en-IN" sz="1400" dirty="0">
                        <a:solidFill>
                          <a:srgbClr val="FF0000"/>
                        </a:solidFill>
                        <a:latin typeface="Aptos" panose="020B0004020202020204" pitchFamily="34" charset="0"/>
                      </a:endParaRPr>
                    </a:p>
                  </a:txBody>
                  <a:tcPr/>
                </a:tc>
                <a:tc>
                  <a:txBody>
                    <a:bodyPr/>
                    <a:lstStyle/>
                    <a:p>
                      <a:r>
                        <a:rPr lang="en-IN" sz="1400" dirty="0">
                          <a:solidFill>
                            <a:srgbClr val="FF0000"/>
                          </a:solidFill>
                        </a:rPr>
                        <a:t>Transit Time (10)</a:t>
                      </a:r>
                      <a:endParaRPr lang="en-IN" sz="1400" dirty="0">
                        <a:solidFill>
                          <a:srgbClr val="FF0000"/>
                        </a:solidFill>
                        <a:latin typeface="Aptos" panose="020B0004020202020204" pitchFamily="34" charset="0"/>
                      </a:endParaRPr>
                    </a:p>
                  </a:txBody>
                  <a:tcPr/>
                </a:tc>
                <a:tc>
                  <a:txBody>
                    <a:bodyPr/>
                    <a:lstStyle/>
                    <a:p>
                      <a:r>
                        <a:rPr lang="en-IN" sz="1400" dirty="0">
                          <a:solidFill>
                            <a:srgbClr val="FF0000"/>
                          </a:solidFill>
                        </a:rPr>
                        <a:t>Pre-Ship Time (0) </a:t>
                      </a:r>
                      <a:endParaRPr lang="en-IN" sz="1400" dirty="0">
                        <a:solidFill>
                          <a:srgbClr val="FF0000"/>
                        </a:solidFill>
                        <a:latin typeface="Aptos" panose="020B0004020202020204" pitchFamily="34" charset="0"/>
                      </a:endParaRPr>
                    </a:p>
                  </a:txBody>
                  <a:tcPr/>
                </a:tc>
                <a:tc>
                  <a:txBody>
                    <a:bodyPr/>
                    <a:lstStyle/>
                    <a:p>
                      <a:r>
                        <a:rPr lang="en-IN" sz="1400" dirty="0"/>
                        <a:t>Fixed Time (1)</a:t>
                      </a:r>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Lead Time Adjust (3) </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Var*Qtd (0.2*10)</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10/06/2026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
        <p:nvSpPr>
          <p:cNvPr id="7" name="TextBox 6">
            <a:extLst>
              <a:ext uri="{FF2B5EF4-FFF2-40B4-BE49-F238E27FC236}">
                <a16:creationId xmlns:a16="http://schemas.microsoft.com/office/drawing/2014/main" id="{8A1AF7E5-1D73-BC4D-AA46-6108A52CB412}"/>
              </a:ext>
            </a:extLst>
          </p:cNvPr>
          <p:cNvSpPr txBox="1"/>
          <p:nvPr/>
        </p:nvSpPr>
        <p:spPr>
          <a:xfrm>
            <a:off x="543220" y="305214"/>
            <a:ext cx="3086100" cy="1938992"/>
          </a:xfrm>
          <a:prstGeom prst="rect">
            <a:avLst/>
          </a:prstGeom>
          <a:noFill/>
        </p:spPr>
        <p:txBody>
          <a:bodyPr wrap="square" rtlCol="0">
            <a:spAutoFit/>
          </a:bodyPr>
          <a:lstStyle/>
          <a:p>
            <a:r>
              <a:rPr lang="en-IN" sz="2400" b="1" dirty="0">
                <a:latin typeface="Aptos" panose="020B0004020202020204" pitchFamily="34" charset="0"/>
              </a:rPr>
              <a:t>Simulation 2: </a:t>
            </a:r>
          </a:p>
          <a:p>
            <a:endParaRPr lang="en-IN" sz="1600" dirty="0">
              <a:latin typeface="Aptos" panose="020B0004020202020204" pitchFamily="34" charset="0"/>
            </a:endParaRPr>
          </a:p>
          <a:p>
            <a:r>
              <a:rPr lang="en-IN" sz="1600" dirty="0">
                <a:latin typeface="Aptos" panose="020B0004020202020204" pitchFamily="34" charset="0"/>
              </a:rPr>
              <a:t>Transit Rule: Inclusive</a:t>
            </a:r>
          </a:p>
          <a:p>
            <a:r>
              <a:rPr lang="en-IN" sz="1600" dirty="0">
                <a:latin typeface="Aptos" panose="020B0004020202020204" pitchFamily="34" charset="0"/>
              </a:rPr>
              <a:t>Type: Make</a:t>
            </a:r>
          </a:p>
          <a:p>
            <a:r>
              <a:rPr lang="en-IN" sz="1600" dirty="0">
                <a:latin typeface="Aptos" panose="020B0004020202020204" pitchFamily="34" charset="0"/>
              </a:rPr>
              <a:t>Calendar: Workday</a:t>
            </a:r>
          </a:p>
          <a:p>
            <a:r>
              <a:rPr lang="en-IN" sz="1600" dirty="0">
                <a:latin typeface="Aptos" panose="020B0004020202020204" pitchFamily="34" charset="0"/>
              </a:rPr>
              <a:t>Site: C1001</a:t>
            </a:r>
          </a:p>
          <a:p>
            <a:endParaRPr lang="en-IN" sz="1600" dirty="0">
              <a:latin typeface="Aptos" panose="020B0004020202020204" pitchFamily="34" charset="0"/>
            </a:endParaRPr>
          </a:p>
        </p:txBody>
      </p:sp>
      <p:pic>
        <p:nvPicPr>
          <p:cNvPr id="9" name="Picture 8" descr="A screenshot of a computer&#10;&#10;AI-generated content may be incorrect.">
            <a:extLst>
              <a:ext uri="{FF2B5EF4-FFF2-40B4-BE49-F238E27FC236}">
                <a16:creationId xmlns:a16="http://schemas.microsoft.com/office/drawing/2014/main" id="{D41B008E-6DF1-0F8A-7159-A828FEF9E81C}"/>
              </a:ext>
            </a:extLst>
          </p:cNvPr>
          <p:cNvPicPr>
            <a:picLocks noChangeAspect="1"/>
          </p:cNvPicPr>
          <p:nvPr/>
        </p:nvPicPr>
        <p:blipFill>
          <a:blip r:embed="rId4"/>
          <a:stretch>
            <a:fillRect/>
          </a:stretch>
        </p:blipFill>
        <p:spPr>
          <a:xfrm>
            <a:off x="543220" y="4227682"/>
            <a:ext cx="11358113" cy="19749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15592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AD878-A520-D84D-47CB-C1BCD22022B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EA2BF1B-6F98-98AA-350A-7DA5D7D64B0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E50A5C9-E4ED-C6D8-0C9E-E998FA2FBBF0}"/>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ECAF858F-852C-F4DC-D3F0-170A957CA498}"/>
              </a:ext>
            </a:extLst>
          </p:cNvPr>
          <p:cNvSpPr txBox="1"/>
          <p:nvPr/>
        </p:nvSpPr>
        <p:spPr>
          <a:xfrm>
            <a:off x="721658" y="782858"/>
            <a:ext cx="7924800" cy="1631216"/>
          </a:xfrm>
          <a:prstGeom prst="rect">
            <a:avLst/>
          </a:prstGeom>
          <a:noFill/>
        </p:spPr>
        <p:txBody>
          <a:bodyPr wrap="square" rtlCol="0">
            <a:spAutoFit/>
          </a:bodyPr>
          <a:lstStyle/>
          <a:p>
            <a:r>
              <a:rPr lang="en-IN" sz="5000" b="1" dirty="0">
                <a:latin typeface="Aptos" panose="020B0004020202020204" pitchFamily="34" charset="0"/>
              </a:rPr>
              <a:t>Inclusive </a:t>
            </a:r>
          </a:p>
          <a:p>
            <a:r>
              <a:rPr lang="en-IN" sz="5000" b="1" dirty="0">
                <a:latin typeface="Aptos" panose="020B0004020202020204" pitchFamily="34" charset="0"/>
              </a:rPr>
              <a:t>	Transfer</a:t>
            </a:r>
          </a:p>
        </p:txBody>
      </p:sp>
    </p:spTree>
    <p:extLst>
      <p:ext uri="{BB962C8B-B14F-4D97-AF65-F5344CB8AC3E}">
        <p14:creationId xmlns:p14="http://schemas.microsoft.com/office/powerpoint/2010/main" val="501561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049A4-79A3-7EE0-A607-E7046666D46C}"/>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B6F5FDD-D3B6-21FC-9928-99A4641AD49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2C01D227-24E6-50E3-C192-45E0AA2185C6}"/>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2255FDE2-0A45-D416-6962-59C103AA8E09}"/>
              </a:ext>
            </a:extLst>
          </p:cNvPr>
          <p:cNvGraphicFramePr>
            <a:graphicFrameLocks noGrp="1"/>
          </p:cNvGraphicFramePr>
          <p:nvPr>
            <p:extLst>
              <p:ext uri="{D42A27DB-BD31-4B8C-83A1-F6EECF244321}">
                <p14:modId xmlns:p14="http://schemas.microsoft.com/office/powerpoint/2010/main" val="529573891"/>
              </p:ext>
            </p:extLst>
          </p:nvPr>
        </p:nvGraphicFramePr>
        <p:xfrm>
          <a:off x="354978" y="1903558"/>
          <a:ext cx="11319438" cy="1854200"/>
        </p:xfrm>
        <a:graphic>
          <a:graphicData uri="http://schemas.openxmlformats.org/drawingml/2006/table">
            <a:tbl>
              <a:tblPr firstRow="1" bandRow="1">
                <a:tableStyleId>{5C22544A-7EE6-4342-B048-85BDC9FD1C3A}</a:tableStyleId>
              </a:tblPr>
              <a:tblGrid>
                <a:gridCol w="1886573">
                  <a:extLst>
                    <a:ext uri="{9D8B030D-6E8A-4147-A177-3AD203B41FA5}">
                      <a16:colId xmlns:a16="http://schemas.microsoft.com/office/drawing/2014/main" val="307215874"/>
                    </a:ext>
                  </a:extLst>
                </a:gridCol>
                <a:gridCol w="1886573">
                  <a:extLst>
                    <a:ext uri="{9D8B030D-6E8A-4147-A177-3AD203B41FA5}">
                      <a16:colId xmlns:a16="http://schemas.microsoft.com/office/drawing/2014/main" val="2933060698"/>
                    </a:ext>
                  </a:extLst>
                </a:gridCol>
                <a:gridCol w="1886573">
                  <a:extLst>
                    <a:ext uri="{9D8B030D-6E8A-4147-A177-3AD203B41FA5}">
                      <a16:colId xmlns:a16="http://schemas.microsoft.com/office/drawing/2014/main" val="14527891"/>
                    </a:ext>
                  </a:extLst>
                </a:gridCol>
                <a:gridCol w="1886573">
                  <a:extLst>
                    <a:ext uri="{9D8B030D-6E8A-4147-A177-3AD203B41FA5}">
                      <a16:colId xmlns:a16="http://schemas.microsoft.com/office/drawing/2014/main" val="220212328"/>
                    </a:ext>
                  </a:extLst>
                </a:gridCol>
                <a:gridCol w="2367974">
                  <a:extLst>
                    <a:ext uri="{9D8B030D-6E8A-4147-A177-3AD203B41FA5}">
                      <a16:colId xmlns:a16="http://schemas.microsoft.com/office/drawing/2014/main" val="1686636914"/>
                    </a:ext>
                  </a:extLst>
                </a:gridCol>
                <a:gridCol w="1405172">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(2) </a:t>
                      </a:r>
                      <a:endParaRPr lang="en-IN" sz="1400" dirty="0">
                        <a:latin typeface="Aptos" panose="020B0004020202020204" pitchFamily="34" charset="0"/>
                      </a:endParaRPr>
                    </a:p>
                  </a:txBody>
                  <a:tcPr/>
                </a:tc>
                <a:tc>
                  <a:txBody>
                    <a:bodyPr/>
                    <a:lstStyle/>
                    <a:p>
                      <a:r>
                        <a:rPr lang="en-IN" sz="1400" dirty="0">
                          <a:solidFill>
                            <a:srgbClr val="FF0000"/>
                          </a:solidFill>
                        </a:rPr>
                        <a:t>Dock To Stock (1) </a:t>
                      </a:r>
                      <a:endParaRPr lang="en-IN" sz="1400" dirty="0">
                        <a:solidFill>
                          <a:srgbClr val="FF0000"/>
                        </a:solidFill>
                        <a:latin typeface="Aptos" panose="020B0004020202020204" pitchFamily="34" charset="0"/>
                      </a:endParaRPr>
                    </a:p>
                  </a:txBody>
                  <a:tcPr/>
                </a:tc>
                <a:tc>
                  <a:txBody>
                    <a:bodyPr/>
                    <a:lstStyle/>
                    <a:p>
                      <a:r>
                        <a:rPr lang="en-IN" sz="1400" dirty="0">
                          <a:solidFill>
                            <a:srgbClr val="FF0000"/>
                          </a:solidFill>
                        </a:rPr>
                        <a:t>Transit Time (3)</a:t>
                      </a:r>
                      <a:endParaRPr lang="en-IN" sz="1400" dirty="0">
                        <a:solidFill>
                          <a:srgbClr val="FF0000"/>
                        </a:solidFill>
                        <a:latin typeface="Aptos" panose="020B0004020202020204" pitchFamily="34" charset="0"/>
                      </a:endParaRPr>
                    </a:p>
                  </a:txBody>
                  <a:tcPr/>
                </a:tc>
                <a:tc>
                  <a:txBody>
                    <a:bodyPr/>
                    <a:lstStyle/>
                    <a:p>
                      <a:r>
                        <a:rPr lang="en-IN" sz="1400" dirty="0">
                          <a:solidFill>
                            <a:srgbClr val="FF0000"/>
                          </a:solidFill>
                        </a:rPr>
                        <a:t>Pre-Ship Time (2) </a:t>
                      </a:r>
                      <a:endParaRPr lang="en-IN" sz="1400" dirty="0">
                        <a:solidFill>
                          <a:srgbClr val="FF0000"/>
                        </a:solidFill>
                        <a:latin typeface="Aptos" panose="020B0004020202020204" pitchFamily="34" charset="0"/>
                      </a:endParaRPr>
                    </a:p>
                  </a:txBody>
                  <a:tcPr/>
                </a:tc>
                <a:tc>
                  <a:txBody>
                    <a:bodyPr/>
                    <a:lstStyle/>
                    <a:p>
                      <a:r>
                        <a:rPr lang="en-IN" sz="1400" dirty="0"/>
                        <a:t>Fixed Time (1)</a:t>
                      </a:r>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Lead Time Adjust (2) </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Var*Qtd (0.2*10)</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10/09/2026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
        <p:nvSpPr>
          <p:cNvPr id="7" name="TextBox 6">
            <a:extLst>
              <a:ext uri="{FF2B5EF4-FFF2-40B4-BE49-F238E27FC236}">
                <a16:creationId xmlns:a16="http://schemas.microsoft.com/office/drawing/2014/main" id="{CE5D59C4-B57E-28E8-EA2D-082AFDB161CA}"/>
              </a:ext>
            </a:extLst>
          </p:cNvPr>
          <p:cNvSpPr txBox="1"/>
          <p:nvPr/>
        </p:nvSpPr>
        <p:spPr>
          <a:xfrm>
            <a:off x="373811" y="139575"/>
            <a:ext cx="6094428" cy="1692771"/>
          </a:xfrm>
          <a:prstGeom prst="rect">
            <a:avLst/>
          </a:prstGeom>
          <a:noFill/>
        </p:spPr>
        <p:txBody>
          <a:bodyPr wrap="square">
            <a:spAutoFit/>
          </a:bodyPr>
          <a:lstStyle/>
          <a:p>
            <a:r>
              <a:rPr lang="en-IN" sz="2400" b="1" dirty="0">
                <a:latin typeface="Aptos" panose="020B0004020202020204" pitchFamily="34" charset="0"/>
              </a:rPr>
              <a:t>Simulation 3: </a:t>
            </a:r>
          </a:p>
          <a:p>
            <a:endParaRPr lang="en-IN" sz="1600" dirty="0">
              <a:latin typeface="Aptos" panose="020B0004020202020204" pitchFamily="34" charset="0"/>
            </a:endParaRPr>
          </a:p>
          <a:p>
            <a:r>
              <a:rPr lang="en-IN" sz="1600" dirty="0">
                <a:latin typeface="Aptos" panose="020B0004020202020204" pitchFamily="34" charset="0"/>
              </a:rPr>
              <a:t>Transit Rule: Inclusive</a:t>
            </a:r>
          </a:p>
          <a:p>
            <a:r>
              <a:rPr lang="en-IN" sz="1600" dirty="0">
                <a:latin typeface="Aptos" panose="020B0004020202020204" pitchFamily="34" charset="0"/>
              </a:rPr>
              <a:t>Type: Transfer</a:t>
            </a:r>
          </a:p>
          <a:p>
            <a:r>
              <a:rPr lang="en-IN" sz="1600" dirty="0">
                <a:latin typeface="Aptos" panose="020B0004020202020204" pitchFamily="34" charset="0"/>
              </a:rPr>
              <a:t>Calendar: Everyday</a:t>
            </a:r>
          </a:p>
          <a:p>
            <a:r>
              <a:rPr lang="en-IN" sz="1600" dirty="0">
                <a:latin typeface="Aptos" panose="020B0004020202020204" pitchFamily="34" charset="0"/>
              </a:rPr>
              <a:t>Site: C1001</a:t>
            </a:r>
          </a:p>
        </p:txBody>
      </p:sp>
      <p:pic>
        <p:nvPicPr>
          <p:cNvPr id="9" name="Picture 8" descr="A screenshot of a computer&#10;&#10;AI-generated content may be incorrect.">
            <a:extLst>
              <a:ext uri="{FF2B5EF4-FFF2-40B4-BE49-F238E27FC236}">
                <a16:creationId xmlns:a16="http://schemas.microsoft.com/office/drawing/2014/main" id="{6201C120-2A2C-1271-1D73-A4E87E7A013F}"/>
              </a:ext>
            </a:extLst>
          </p:cNvPr>
          <p:cNvPicPr>
            <a:picLocks noChangeAspect="1"/>
          </p:cNvPicPr>
          <p:nvPr/>
        </p:nvPicPr>
        <p:blipFill>
          <a:blip r:embed="rId4"/>
          <a:stretch>
            <a:fillRect/>
          </a:stretch>
        </p:blipFill>
        <p:spPr>
          <a:xfrm>
            <a:off x="373811" y="3900181"/>
            <a:ext cx="11300605" cy="23500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25989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58ADC-E47E-6398-FB96-F3C9F4621C6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21352908-EB8A-27C8-94A3-EAAD2EBE109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8EDF4127-714F-1C66-ED9F-1CD4B062C97E}"/>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7470619F-81DD-4E60-5689-70FE8C9E4301}"/>
              </a:ext>
            </a:extLst>
          </p:cNvPr>
          <p:cNvGraphicFramePr>
            <a:graphicFrameLocks noGrp="1"/>
          </p:cNvGraphicFramePr>
          <p:nvPr>
            <p:extLst>
              <p:ext uri="{D42A27DB-BD31-4B8C-83A1-F6EECF244321}">
                <p14:modId xmlns:p14="http://schemas.microsoft.com/office/powerpoint/2010/main" val="905737149"/>
              </p:ext>
            </p:extLst>
          </p:nvPr>
        </p:nvGraphicFramePr>
        <p:xfrm>
          <a:off x="354978" y="1903558"/>
          <a:ext cx="11319438" cy="1854200"/>
        </p:xfrm>
        <a:graphic>
          <a:graphicData uri="http://schemas.openxmlformats.org/drawingml/2006/table">
            <a:tbl>
              <a:tblPr firstRow="1" bandRow="1">
                <a:tableStyleId>{5C22544A-7EE6-4342-B048-85BDC9FD1C3A}</a:tableStyleId>
              </a:tblPr>
              <a:tblGrid>
                <a:gridCol w="1886573">
                  <a:extLst>
                    <a:ext uri="{9D8B030D-6E8A-4147-A177-3AD203B41FA5}">
                      <a16:colId xmlns:a16="http://schemas.microsoft.com/office/drawing/2014/main" val="307215874"/>
                    </a:ext>
                  </a:extLst>
                </a:gridCol>
                <a:gridCol w="1886573">
                  <a:extLst>
                    <a:ext uri="{9D8B030D-6E8A-4147-A177-3AD203B41FA5}">
                      <a16:colId xmlns:a16="http://schemas.microsoft.com/office/drawing/2014/main" val="2933060698"/>
                    </a:ext>
                  </a:extLst>
                </a:gridCol>
                <a:gridCol w="1886573">
                  <a:extLst>
                    <a:ext uri="{9D8B030D-6E8A-4147-A177-3AD203B41FA5}">
                      <a16:colId xmlns:a16="http://schemas.microsoft.com/office/drawing/2014/main" val="14527891"/>
                    </a:ext>
                  </a:extLst>
                </a:gridCol>
                <a:gridCol w="1886573">
                  <a:extLst>
                    <a:ext uri="{9D8B030D-6E8A-4147-A177-3AD203B41FA5}">
                      <a16:colId xmlns:a16="http://schemas.microsoft.com/office/drawing/2014/main" val="220212328"/>
                    </a:ext>
                  </a:extLst>
                </a:gridCol>
                <a:gridCol w="2367974">
                  <a:extLst>
                    <a:ext uri="{9D8B030D-6E8A-4147-A177-3AD203B41FA5}">
                      <a16:colId xmlns:a16="http://schemas.microsoft.com/office/drawing/2014/main" val="1686636914"/>
                    </a:ext>
                  </a:extLst>
                </a:gridCol>
                <a:gridCol w="1405172">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(2) </a:t>
                      </a:r>
                      <a:endParaRPr lang="en-IN" sz="1400" dirty="0">
                        <a:latin typeface="Aptos" panose="020B0004020202020204" pitchFamily="34" charset="0"/>
                      </a:endParaRPr>
                    </a:p>
                  </a:txBody>
                  <a:tcPr/>
                </a:tc>
                <a:tc>
                  <a:txBody>
                    <a:bodyPr/>
                    <a:lstStyle/>
                    <a:p>
                      <a:r>
                        <a:rPr lang="en-IN" sz="1400" dirty="0">
                          <a:solidFill>
                            <a:schemeClr val="tx1"/>
                          </a:solidFill>
                        </a:rPr>
                        <a:t>Dock To Stock (1) </a:t>
                      </a:r>
                      <a:endParaRPr lang="en-IN" sz="1400" dirty="0">
                        <a:solidFill>
                          <a:schemeClr val="tx1"/>
                        </a:solidFill>
                        <a:latin typeface="Aptos" panose="020B0004020202020204" pitchFamily="34" charset="0"/>
                      </a:endParaRPr>
                    </a:p>
                  </a:txBody>
                  <a:tcPr/>
                </a:tc>
                <a:tc>
                  <a:txBody>
                    <a:bodyPr/>
                    <a:lstStyle/>
                    <a:p>
                      <a:r>
                        <a:rPr lang="en-IN" sz="1400" dirty="0">
                          <a:solidFill>
                            <a:schemeClr val="tx1"/>
                          </a:solidFill>
                        </a:rPr>
                        <a:t>Transit Time (3)</a:t>
                      </a:r>
                      <a:endParaRPr lang="en-IN" sz="1400" dirty="0">
                        <a:solidFill>
                          <a:schemeClr val="tx1"/>
                        </a:solidFill>
                        <a:latin typeface="Aptos" panose="020B0004020202020204" pitchFamily="34" charset="0"/>
                      </a:endParaRPr>
                    </a:p>
                  </a:txBody>
                  <a:tcPr/>
                </a:tc>
                <a:tc>
                  <a:txBody>
                    <a:bodyPr/>
                    <a:lstStyle/>
                    <a:p>
                      <a:r>
                        <a:rPr lang="en-IN" sz="1400" dirty="0">
                          <a:solidFill>
                            <a:schemeClr val="tx1"/>
                          </a:solidFill>
                        </a:rPr>
                        <a:t>Pre-Ship Time (2) </a:t>
                      </a:r>
                      <a:endParaRPr lang="en-IN" sz="1400" dirty="0">
                        <a:solidFill>
                          <a:schemeClr val="tx1"/>
                        </a:solidFill>
                        <a:latin typeface="Aptos" panose="020B0004020202020204" pitchFamily="34" charset="0"/>
                      </a:endParaRPr>
                    </a:p>
                  </a:txBody>
                  <a:tcPr/>
                </a:tc>
                <a:tc>
                  <a:txBody>
                    <a:bodyPr/>
                    <a:lstStyle/>
                    <a:p>
                      <a:r>
                        <a:rPr lang="en-IN" sz="1400" dirty="0">
                          <a:solidFill>
                            <a:srgbClr val="FF0000"/>
                          </a:solidFill>
                        </a:rPr>
                        <a:t>Fixed Time (1)</a:t>
                      </a:r>
                      <a:endParaRPr lang="en-IN" sz="1400" dirty="0">
                        <a:solidFill>
                          <a:srgbClr val="FF0000"/>
                        </a:solidFill>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solidFill>
                            <a:srgbClr val="FF0000"/>
                          </a:solidFill>
                        </a:rPr>
                        <a:t>Lead Time Adjust (2) </a:t>
                      </a:r>
                      <a:endParaRPr lang="en-IN" sz="1400" dirty="0">
                        <a:solidFill>
                          <a:srgbClr val="FF0000"/>
                        </a:solidFill>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solidFill>
                            <a:srgbClr val="FF0000"/>
                          </a:solidFill>
                        </a:rPr>
                        <a:t>Var*Qtd (0.2*10)</a:t>
                      </a:r>
                      <a:endParaRPr lang="en-IN" sz="1400" dirty="0">
                        <a:solidFill>
                          <a:srgbClr val="FF0000"/>
                        </a:solidFill>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10/13/2026</a:t>
                      </a:r>
                      <a:endParaRPr lang="en-IN" sz="1400" dirty="0">
                        <a:latin typeface="Aptos" panose="020B0004020202020204" pitchFamily="34" charset="0"/>
                      </a:endParaRPr>
                    </a:p>
                  </a:txBody>
                  <a:tcPr/>
                </a:tc>
                <a:tc>
                  <a:txBody>
                    <a:bodyPr/>
                    <a:lstStyle/>
                    <a:p>
                      <a:r>
                        <a:rPr lang="en-IN" sz="1400" dirty="0"/>
                        <a:t>10/10/2026</a:t>
                      </a:r>
                      <a:endParaRPr lang="en-IN" sz="1400" dirty="0">
                        <a:latin typeface="Aptos" panose="020B0004020202020204" pitchFamily="34" charset="0"/>
                      </a:endParaRPr>
                    </a:p>
                  </a:txBody>
                  <a:tcPr/>
                </a:tc>
                <a:tc>
                  <a:txBody>
                    <a:bodyPr/>
                    <a:lstStyle/>
                    <a:p>
                      <a:r>
                        <a:rPr lang="en-IN" sz="1400" dirty="0"/>
                        <a:t>10/08/2026</a:t>
                      </a:r>
                      <a:endParaRPr lang="en-IN" sz="1400" dirty="0">
                        <a:latin typeface="Aptos" panose="020B0004020202020204" pitchFamily="34" charset="0"/>
                      </a:endParaRPr>
                    </a:p>
                  </a:txBody>
                  <a:tcPr/>
                </a:tc>
                <a:tc>
                  <a:txBody>
                    <a:bodyPr/>
                    <a:lstStyle/>
                    <a:p>
                      <a:r>
                        <a:rPr lang="en-IN" sz="1400" dirty="0"/>
                        <a:t>10/08/2026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pic>
        <p:nvPicPr>
          <p:cNvPr id="9" name="Picture 8" descr="A screenshot of a computer&#10;&#10;AI-generated content may be incorrect.">
            <a:extLst>
              <a:ext uri="{FF2B5EF4-FFF2-40B4-BE49-F238E27FC236}">
                <a16:creationId xmlns:a16="http://schemas.microsoft.com/office/drawing/2014/main" id="{A7169368-EB90-E597-D5B3-94044136CDCF}"/>
              </a:ext>
            </a:extLst>
          </p:cNvPr>
          <p:cNvPicPr>
            <a:picLocks noChangeAspect="1"/>
          </p:cNvPicPr>
          <p:nvPr/>
        </p:nvPicPr>
        <p:blipFill>
          <a:blip r:embed="rId4"/>
          <a:stretch>
            <a:fillRect/>
          </a:stretch>
        </p:blipFill>
        <p:spPr>
          <a:xfrm>
            <a:off x="373811" y="3900181"/>
            <a:ext cx="11300605" cy="23500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F1A352D7-AC64-8434-2316-8CD55E6F5683}"/>
              </a:ext>
            </a:extLst>
          </p:cNvPr>
          <p:cNvSpPr txBox="1"/>
          <p:nvPr/>
        </p:nvSpPr>
        <p:spPr>
          <a:xfrm>
            <a:off x="373811" y="139575"/>
            <a:ext cx="6094428" cy="1692771"/>
          </a:xfrm>
          <a:prstGeom prst="rect">
            <a:avLst/>
          </a:prstGeom>
          <a:noFill/>
        </p:spPr>
        <p:txBody>
          <a:bodyPr wrap="square">
            <a:spAutoFit/>
          </a:bodyPr>
          <a:lstStyle/>
          <a:p>
            <a:r>
              <a:rPr lang="en-IN" sz="2400" b="1" dirty="0">
                <a:latin typeface="Aptos" panose="020B0004020202020204" pitchFamily="34" charset="0"/>
              </a:rPr>
              <a:t>Simulation 3: </a:t>
            </a:r>
          </a:p>
          <a:p>
            <a:endParaRPr lang="en-IN" sz="1600" dirty="0">
              <a:latin typeface="Aptos" panose="020B0004020202020204" pitchFamily="34" charset="0"/>
            </a:endParaRPr>
          </a:p>
          <a:p>
            <a:r>
              <a:rPr lang="en-IN" sz="1600" dirty="0">
                <a:latin typeface="Aptos" panose="020B0004020202020204" pitchFamily="34" charset="0"/>
              </a:rPr>
              <a:t>Transit Rule: Inclusive</a:t>
            </a:r>
          </a:p>
          <a:p>
            <a:r>
              <a:rPr lang="en-IN" sz="1600" dirty="0">
                <a:latin typeface="Aptos" panose="020B0004020202020204" pitchFamily="34" charset="0"/>
              </a:rPr>
              <a:t>Type: Transfer</a:t>
            </a:r>
          </a:p>
          <a:p>
            <a:r>
              <a:rPr lang="en-IN" sz="1600" dirty="0">
                <a:latin typeface="Aptos" panose="020B0004020202020204" pitchFamily="34" charset="0"/>
              </a:rPr>
              <a:t>Calendar: Everyday</a:t>
            </a:r>
          </a:p>
          <a:p>
            <a:r>
              <a:rPr lang="en-IN" sz="1600" dirty="0">
                <a:latin typeface="Aptos" panose="020B0004020202020204" pitchFamily="34" charset="0"/>
              </a:rPr>
              <a:t>Site: E3001</a:t>
            </a:r>
          </a:p>
        </p:txBody>
      </p:sp>
    </p:spTree>
    <p:extLst>
      <p:ext uri="{BB962C8B-B14F-4D97-AF65-F5344CB8AC3E}">
        <p14:creationId xmlns:p14="http://schemas.microsoft.com/office/powerpoint/2010/main" val="2661968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E7D14-A736-DAAB-31ED-5162007DD559}"/>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E896F84-99C7-F434-547D-7689368292C1}"/>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2F9AF7F3-6EC2-B623-2407-4E573A52315F}"/>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C59E9852-D81B-4EFC-B6F4-CA0BE747A3AF}"/>
              </a:ext>
            </a:extLst>
          </p:cNvPr>
          <p:cNvPicPr>
            <a:picLocks noChangeAspect="1"/>
          </p:cNvPicPr>
          <p:nvPr/>
        </p:nvPicPr>
        <p:blipFill>
          <a:blip r:embed="rId4"/>
          <a:stretch>
            <a:fillRect/>
          </a:stretch>
        </p:blipFill>
        <p:spPr>
          <a:xfrm>
            <a:off x="517583" y="3929229"/>
            <a:ext cx="11156831" cy="23342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7" name="Table 6">
            <a:extLst>
              <a:ext uri="{FF2B5EF4-FFF2-40B4-BE49-F238E27FC236}">
                <a16:creationId xmlns:a16="http://schemas.microsoft.com/office/drawing/2014/main" id="{52C1B853-F9D8-CD8C-5137-900CC52435FE}"/>
              </a:ext>
            </a:extLst>
          </p:cNvPr>
          <p:cNvGraphicFramePr>
            <a:graphicFrameLocks noGrp="1"/>
          </p:cNvGraphicFramePr>
          <p:nvPr>
            <p:extLst>
              <p:ext uri="{D42A27DB-BD31-4B8C-83A1-F6EECF244321}">
                <p14:modId xmlns:p14="http://schemas.microsoft.com/office/powerpoint/2010/main" val="3842814600"/>
              </p:ext>
            </p:extLst>
          </p:nvPr>
        </p:nvGraphicFramePr>
        <p:xfrm>
          <a:off x="517582" y="1946618"/>
          <a:ext cx="11156832" cy="1854200"/>
        </p:xfrm>
        <a:graphic>
          <a:graphicData uri="http://schemas.openxmlformats.org/drawingml/2006/table">
            <a:tbl>
              <a:tblPr firstRow="1" bandRow="1">
                <a:tableStyleId>{5C22544A-7EE6-4342-B048-85BDC9FD1C3A}</a:tableStyleId>
              </a:tblPr>
              <a:tblGrid>
                <a:gridCol w="1859472">
                  <a:extLst>
                    <a:ext uri="{9D8B030D-6E8A-4147-A177-3AD203B41FA5}">
                      <a16:colId xmlns:a16="http://schemas.microsoft.com/office/drawing/2014/main" val="307215874"/>
                    </a:ext>
                  </a:extLst>
                </a:gridCol>
                <a:gridCol w="1859472">
                  <a:extLst>
                    <a:ext uri="{9D8B030D-6E8A-4147-A177-3AD203B41FA5}">
                      <a16:colId xmlns:a16="http://schemas.microsoft.com/office/drawing/2014/main" val="2933060698"/>
                    </a:ext>
                  </a:extLst>
                </a:gridCol>
                <a:gridCol w="1859472">
                  <a:extLst>
                    <a:ext uri="{9D8B030D-6E8A-4147-A177-3AD203B41FA5}">
                      <a16:colId xmlns:a16="http://schemas.microsoft.com/office/drawing/2014/main" val="14527891"/>
                    </a:ext>
                  </a:extLst>
                </a:gridCol>
                <a:gridCol w="1859472">
                  <a:extLst>
                    <a:ext uri="{9D8B030D-6E8A-4147-A177-3AD203B41FA5}">
                      <a16:colId xmlns:a16="http://schemas.microsoft.com/office/drawing/2014/main" val="220212328"/>
                    </a:ext>
                  </a:extLst>
                </a:gridCol>
                <a:gridCol w="2333958">
                  <a:extLst>
                    <a:ext uri="{9D8B030D-6E8A-4147-A177-3AD203B41FA5}">
                      <a16:colId xmlns:a16="http://schemas.microsoft.com/office/drawing/2014/main" val="1686636914"/>
                    </a:ext>
                  </a:extLst>
                </a:gridCol>
                <a:gridCol w="1384986">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(2) </a:t>
                      </a:r>
                      <a:endParaRPr lang="en-IN" sz="1400" dirty="0">
                        <a:latin typeface="Aptos" panose="020B0004020202020204" pitchFamily="34" charset="0"/>
                      </a:endParaRPr>
                    </a:p>
                  </a:txBody>
                  <a:tcPr/>
                </a:tc>
                <a:tc>
                  <a:txBody>
                    <a:bodyPr/>
                    <a:lstStyle/>
                    <a:p>
                      <a:r>
                        <a:rPr lang="en-IN" sz="1400" dirty="0">
                          <a:solidFill>
                            <a:srgbClr val="FF0000"/>
                          </a:solidFill>
                        </a:rPr>
                        <a:t>Dock To Stock (1) </a:t>
                      </a:r>
                      <a:endParaRPr lang="en-IN" sz="1400" dirty="0">
                        <a:solidFill>
                          <a:srgbClr val="FF0000"/>
                        </a:solidFill>
                        <a:latin typeface="Aptos" panose="020B0004020202020204" pitchFamily="34" charset="0"/>
                      </a:endParaRPr>
                    </a:p>
                  </a:txBody>
                  <a:tcPr/>
                </a:tc>
                <a:tc>
                  <a:txBody>
                    <a:bodyPr/>
                    <a:lstStyle/>
                    <a:p>
                      <a:r>
                        <a:rPr lang="en-IN" sz="1400" dirty="0">
                          <a:solidFill>
                            <a:srgbClr val="FF0000"/>
                          </a:solidFill>
                        </a:rPr>
                        <a:t>Transit Time (3)</a:t>
                      </a:r>
                      <a:endParaRPr lang="en-IN" sz="1400" dirty="0">
                        <a:solidFill>
                          <a:srgbClr val="FF0000"/>
                        </a:solidFill>
                        <a:latin typeface="Aptos" panose="020B0004020202020204" pitchFamily="34" charset="0"/>
                      </a:endParaRPr>
                    </a:p>
                  </a:txBody>
                  <a:tcPr/>
                </a:tc>
                <a:tc>
                  <a:txBody>
                    <a:bodyPr/>
                    <a:lstStyle/>
                    <a:p>
                      <a:r>
                        <a:rPr lang="en-IN" sz="1400" dirty="0">
                          <a:solidFill>
                            <a:srgbClr val="FF0000"/>
                          </a:solidFill>
                        </a:rPr>
                        <a:t>Pre-Ship Time (2) </a:t>
                      </a:r>
                      <a:endParaRPr lang="en-IN" sz="1400" dirty="0">
                        <a:solidFill>
                          <a:srgbClr val="FF0000"/>
                        </a:solidFill>
                        <a:latin typeface="Aptos" panose="020B0004020202020204" pitchFamily="34" charset="0"/>
                      </a:endParaRPr>
                    </a:p>
                  </a:txBody>
                  <a:tcPr/>
                </a:tc>
                <a:tc>
                  <a:txBody>
                    <a:bodyPr/>
                    <a:lstStyle/>
                    <a:p>
                      <a:r>
                        <a:rPr lang="en-IN" sz="1400" dirty="0"/>
                        <a:t>Fixed Time (1)</a:t>
                      </a:r>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Lead Time Adjust (2) </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Var*Qtd (0.2*10)</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10/07/2026</a:t>
                      </a:r>
                      <a:endParaRPr lang="en-IN" sz="1400" dirty="0">
                        <a:latin typeface="Aptos" panose="020B0004020202020204" pitchFamily="34" charset="0"/>
                      </a:endParaRPr>
                    </a:p>
                  </a:txBody>
                  <a:tcPr/>
                </a:tc>
                <a:tc>
                  <a:txBody>
                    <a:bodyPr/>
                    <a:lstStyle/>
                    <a:p>
                      <a:r>
                        <a:rPr lang="en-IN" sz="1400" dirty="0"/>
                        <a:t>10/07/2026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
        <p:nvSpPr>
          <p:cNvPr id="9" name="TextBox 8">
            <a:extLst>
              <a:ext uri="{FF2B5EF4-FFF2-40B4-BE49-F238E27FC236}">
                <a16:creationId xmlns:a16="http://schemas.microsoft.com/office/drawing/2014/main" id="{954E52BB-580A-27D1-1FC9-34284A702EBC}"/>
              </a:ext>
            </a:extLst>
          </p:cNvPr>
          <p:cNvSpPr txBox="1"/>
          <p:nvPr/>
        </p:nvSpPr>
        <p:spPr>
          <a:xfrm>
            <a:off x="517582" y="189641"/>
            <a:ext cx="6153906" cy="1692771"/>
          </a:xfrm>
          <a:prstGeom prst="rect">
            <a:avLst/>
          </a:prstGeom>
          <a:noFill/>
        </p:spPr>
        <p:txBody>
          <a:bodyPr wrap="square">
            <a:spAutoFit/>
          </a:bodyPr>
          <a:lstStyle/>
          <a:p>
            <a:r>
              <a:rPr lang="en-IN" sz="2400" b="1" dirty="0">
                <a:latin typeface="Aptos" panose="020B0004020202020204" pitchFamily="34" charset="0"/>
              </a:rPr>
              <a:t>Simulation 4: </a:t>
            </a:r>
          </a:p>
          <a:p>
            <a:endParaRPr lang="en-IN" sz="1600" b="1" dirty="0">
              <a:latin typeface="Aptos" panose="020B0004020202020204" pitchFamily="34" charset="0"/>
            </a:endParaRPr>
          </a:p>
          <a:p>
            <a:r>
              <a:rPr lang="en-IN" sz="1600" dirty="0">
                <a:latin typeface="Aptos" panose="020B0004020202020204" pitchFamily="34" charset="0"/>
              </a:rPr>
              <a:t>Transit Rule: Inclusive</a:t>
            </a:r>
          </a:p>
          <a:p>
            <a:r>
              <a:rPr lang="en-IN" sz="1600" dirty="0">
                <a:latin typeface="Aptos" panose="020B0004020202020204" pitchFamily="34" charset="0"/>
              </a:rPr>
              <a:t>Type: Transfer</a:t>
            </a:r>
          </a:p>
          <a:p>
            <a:r>
              <a:rPr lang="en-IN" sz="1600" dirty="0">
                <a:latin typeface="Aptos" panose="020B0004020202020204" pitchFamily="34" charset="0"/>
              </a:rPr>
              <a:t>Calendar: Workday</a:t>
            </a:r>
          </a:p>
          <a:p>
            <a:r>
              <a:rPr lang="en-IN" sz="1600" dirty="0">
                <a:latin typeface="Aptos" panose="020B0004020202020204" pitchFamily="34" charset="0"/>
              </a:rPr>
              <a:t>Site: C1001</a:t>
            </a:r>
          </a:p>
        </p:txBody>
      </p:sp>
    </p:spTree>
    <p:extLst>
      <p:ext uri="{BB962C8B-B14F-4D97-AF65-F5344CB8AC3E}">
        <p14:creationId xmlns:p14="http://schemas.microsoft.com/office/powerpoint/2010/main" val="2494563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07D4E-EBC1-82F3-3DA3-CF0D05CE8FEA}"/>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C5F81592-935D-3331-8BA2-D338763B60D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BE42CC9-53FB-A276-8D77-E13580D45015}"/>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1EDFC49A-E981-E614-AC5C-F1DEE2BFB99D}"/>
              </a:ext>
            </a:extLst>
          </p:cNvPr>
          <p:cNvPicPr>
            <a:picLocks noChangeAspect="1"/>
          </p:cNvPicPr>
          <p:nvPr/>
        </p:nvPicPr>
        <p:blipFill>
          <a:blip r:embed="rId4"/>
          <a:stretch>
            <a:fillRect/>
          </a:stretch>
        </p:blipFill>
        <p:spPr>
          <a:xfrm>
            <a:off x="517583" y="3911300"/>
            <a:ext cx="11156831" cy="23342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AC65638E-A4C6-209E-1D5E-FF2A92FDF20C}"/>
              </a:ext>
            </a:extLst>
          </p:cNvPr>
          <p:cNvSpPr txBox="1"/>
          <p:nvPr/>
        </p:nvSpPr>
        <p:spPr>
          <a:xfrm>
            <a:off x="517582" y="189641"/>
            <a:ext cx="6153906" cy="1692771"/>
          </a:xfrm>
          <a:prstGeom prst="rect">
            <a:avLst/>
          </a:prstGeom>
          <a:noFill/>
        </p:spPr>
        <p:txBody>
          <a:bodyPr wrap="square">
            <a:spAutoFit/>
          </a:bodyPr>
          <a:lstStyle/>
          <a:p>
            <a:r>
              <a:rPr lang="en-IN" sz="2400" b="1" dirty="0">
                <a:latin typeface="Aptos" panose="020B0004020202020204" pitchFamily="34" charset="0"/>
              </a:rPr>
              <a:t>Simulation 4: </a:t>
            </a:r>
          </a:p>
          <a:p>
            <a:endParaRPr lang="en-IN" sz="1600" b="1" dirty="0">
              <a:latin typeface="Aptos" panose="020B0004020202020204" pitchFamily="34" charset="0"/>
            </a:endParaRPr>
          </a:p>
          <a:p>
            <a:r>
              <a:rPr lang="en-IN" sz="1600" dirty="0">
                <a:latin typeface="Aptos" panose="020B0004020202020204" pitchFamily="34" charset="0"/>
              </a:rPr>
              <a:t>Transit Rule: Inclusive</a:t>
            </a:r>
          </a:p>
          <a:p>
            <a:r>
              <a:rPr lang="en-IN" sz="1600" dirty="0">
                <a:latin typeface="Aptos" panose="020B0004020202020204" pitchFamily="34" charset="0"/>
              </a:rPr>
              <a:t>Type: Transfer</a:t>
            </a:r>
          </a:p>
          <a:p>
            <a:r>
              <a:rPr lang="en-IN" sz="1600" dirty="0">
                <a:latin typeface="Aptos" panose="020B0004020202020204" pitchFamily="34" charset="0"/>
              </a:rPr>
              <a:t>Calendar: Workday</a:t>
            </a:r>
          </a:p>
          <a:p>
            <a:r>
              <a:rPr lang="en-IN" sz="1600" dirty="0">
                <a:latin typeface="Aptos" panose="020B0004020202020204" pitchFamily="34" charset="0"/>
              </a:rPr>
              <a:t>Site: E3001</a:t>
            </a:r>
          </a:p>
        </p:txBody>
      </p:sp>
      <p:graphicFrame>
        <p:nvGraphicFramePr>
          <p:cNvPr id="13" name="Table 12">
            <a:extLst>
              <a:ext uri="{FF2B5EF4-FFF2-40B4-BE49-F238E27FC236}">
                <a16:creationId xmlns:a16="http://schemas.microsoft.com/office/drawing/2014/main" id="{A8E46377-BAA7-B365-02A6-65D0EE3A156C}"/>
              </a:ext>
            </a:extLst>
          </p:cNvPr>
          <p:cNvGraphicFramePr>
            <a:graphicFrameLocks noGrp="1"/>
          </p:cNvGraphicFramePr>
          <p:nvPr>
            <p:extLst>
              <p:ext uri="{D42A27DB-BD31-4B8C-83A1-F6EECF244321}">
                <p14:modId xmlns:p14="http://schemas.microsoft.com/office/powerpoint/2010/main" val="1929473877"/>
              </p:ext>
            </p:extLst>
          </p:nvPr>
        </p:nvGraphicFramePr>
        <p:xfrm>
          <a:off x="517581" y="1919548"/>
          <a:ext cx="11156832" cy="1854200"/>
        </p:xfrm>
        <a:graphic>
          <a:graphicData uri="http://schemas.openxmlformats.org/drawingml/2006/table">
            <a:tbl>
              <a:tblPr firstRow="1" bandRow="1">
                <a:tableStyleId>{5C22544A-7EE6-4342-B048-85BDC9FD1C3A}</a:tableStyleId>
              </a:tblPr>
              <a:tblGrid>
                <a:gridCol w="1859472">
                  <a:extLst>
                    <a:ext uri="{9D8B030D-6E8A-4147-A177-3AD203B41FA5}">
                      <a16:colId xmlns:a16="http://schemas.microsoft.com/office/drawing/2014/main" val="307215874"/>
                    </a:ext>
                  </a:extLst>
                </a:gridCol>
                <a:gridCol w="1859472">
                  <a:extLst>
                    <a:ext uri="{9D8B030D-6E8A-4147-A177-3AD203B41FA5}">
                      <a16:colId xmlns:a16="http://schemas.microsoft.com/office/drawing/2014/main" val="2933060698"/>
                    </a:ext>
                  </a:extLst>
                </a:gridCol>
                <a:gridCol w="1859472">
                  <a:extLst>
                    <a:ext uri="{9D8B030D-6E8A-4147-A177-3AD203B41FA5}">
                      <a16:colId xmlns:a16="http://schemas.microsoft.com/office/drawing/2014/main" val="14527891"/>
                    </a:ext>
                  </a:extLst>
                </a:gridCol>
                <a:gridCol w="1859472">
                  <a:extLst>
                    <a:ext uri="{9D8B030D-6E8A-4147-A177-3AD203B41FA5}">
                      <a16:colId xmlns:a16="http://schemas.microsoft.com/office/drawing/2014/main" val="220212328"/>
                    </a:ext>
                  </a:extLst>
                </a:gridCol>
                <a:gridCol w="2333958">
                  <a:extLst>
                    <a:ext uri="{9D8B030D-6E8A-4147-A177-3AD203B41FA5}">
                      <a16:colId xmlns:a16="http://schemas.microsoft.com/office/drawing/2014/main" val="1686636914"/>
                    </a:ext>
                  </a:extLst>
                </a:gridCol>
                <a:gridCol w="1384986">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(2) </a:t>
                      </a:r>
                      <a:endParaRPr lang="en-IN" sz="1400" dirty="0">
                        <a:latin typeface="Aptos" panose="020B0004020202020204" pitchFamily="34" charset="0"/>
                      </a:endParaRPr>
                    </a:p>
                  </a:txBody>
                  <a:tcPr/>
                </a:tc>
                <a:tc>
                  <a:txBody>
                    <a:bodyPr/>
                    <a:lstStyle/>
                    <a:p>
                      <a:r>
                        <a:rPr lang="en-IN" sz="1400" dirty="0">
                          <a:solidFill>
                            <a:schemeClr val="tx1"/>
                          </a:solidFill>
                        </a:rPr>
                        <a:t>Dock To Stock (1) </a:t>
                      </a:r>
                      <a:endParaRPr lang="en-IN" sz="1400" dirty="0">
                        <a:solidFill>
                          <a:schemeClr val="tx1"/>
                        </a:solidFill>
                        <a:latin typeface="Aptos" panose="020B0004020202020204" pitchFamily="34" charset="0"/>
                      </a:endParaRPr>
                    </a:p>
                  </a:txBody>
                  <a:tcPr/>
                </a:tc>
                <a:tc>
                  <a:txBody>
                    <a:bodyPr/>
                    <a:lstStyle/>
                    <a:p>
                      <a:r>
                        <a:rPr lang="en-IN" sz="1400" dirty="0">
                          <a:solidFill>
                            <a:schemeClr val="tx1"/>
                          </a:solidFill>
                        </a:rPr>
                        <a:t>Transit Time (3)</a:t>
                      </a:r>
                      <a:endParaRPr lang="en-IN" sz="1400" dirty="0">
                        <a:solidFill>
                          <a:schemeClr val="tx1"/>
                        </a:solidFill>
                        <a:latin typeface="Aptos" panose="020B0004020202020204" pitchFamily="34" charset="0"/>
                      </a:endParaRPr>
                    </a:p>
                  </a:txBody>
                  <a:tcPr/>
                </a:tc>
                <a:tc>
                  <a:txBody>
                    <a:bodyPr/>
                    <a:lstStyle/>
                    <a:p>
                      <a:r>
                        <a:rPr lang="en-IN" sz="1400" dirty="0">
                          <a:solidFill>
                            <a:schemeClr val="tx1"/>
                          </a:solidFill>
                        </a:rPr>
                        <a:t>Pre-Ship Time (2) </a:t>
                      </a:r>
                      <a:endParaRPr lang="en-IN" sz="1400" dirty="0">
                        <a:solidFill>
                          <a:schemeClr val="tx1"/>
                        </a:solidFill>
                        <a:latin typeface="Aptos" panose="020B0004020202020204" pitchFamily="34" charset="0"/>
                      </a:endParaRPr>
                    </a:p>
                  </a:txBody>
                  <a:tcPr/>
                </a:tc>
                <a:tc>
                  <a:txBody>
                    <a:bodyPr/>
                    <a:lstStyle/>
                    <a:p>
                      <a:r>
                        <a:rPr lang="en-IN" sz="1400" dirty="0">
                          <a:solidFill>
                            <a:srgbClr val="FF0000"/>
                          </a:solidFill>
                        </a:rPr>
                        <a:t>Fixed Time (1)</a:t>
                      </a:r>
                      <a:endParaRPr lang="en-IN" sz="1400" dirty="0">
                        <a:solidFill>
                          <a:srgbClr val="FF0000"/>
                        </a:solidFill>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solidFill>
                            <a:srgbClr val="FF0000"/>
                          </a:solidFill>
                        </a:rPr>
                        <a:t>Lead Time Adjust (2) </a:t>
                      </a:r>
                      <a:endParaRPr lang="en-IN" sz="1400" dirty="0">
                        <a:solidFill>
                          <a:srgbClr val="FF0000"/>
                        </a:solidFill>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solidFill>
                            <a:srgbClr val="FF0000"/>
                          </a:solidFill>
                        </a:rPr>
                        <a:t>Var*Qtd (0.2*10)</a:t>
                      </a:r>
                      <a:endParaRPr lang="en-IN" sz="1400" dirty="0">
                        <a:solidFill>
                          <a:srgbClr val="FF0000"/>
                        </a:solidFill>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10/13/2026</a:t>
                      </a:r>
                      <a:endParaRPr lang="en-IN" sz="1400" dirty="0">
                        <a:latin typeface="Aptos" panose="020B0004020202020204" pitchFamily="34" charset="0"/>
                      </a:endParaRPr>
                    </a:p>
                  </a:txBody>
                  <a:tcPr/>
                </a:tc>
                <a:tc>
                  <a:txBody>
                    <a:bodyPr/>
                    <a:lstStyle/>
                    <a:p>
                      <a:r>
                        <a:rPr lang="en-IN" sz="1400" dirty="0"/>
                        <a:t>10/08/2026</a:t>
                      </a:r>
                      <a:endParaRPr lang="en-IN" sz="1400" dirty="0">
                        <a:latin typeface="Aptos" panose="020B0004020202020204" pitchFamily="34" charset="0"/>
                      </a:endParaRPr>
                    </a:p>
                  </a:txBody>
                  <a:tcPr/>
                </a:tc>
                <a:tc>
                  <a:txBody>
                    <a:bodyPr/>
                    <a:lstStyle/>
                    <a:p>
                      <a:r>
                        <a:rPr lang="en-IN" sz="1400" dirty="0"/>
                        <a:t>10/06/2026</a:t>
                      </a:r>
                      <a:endParaRPr lang="en-IN" sz="1400" dirty="0">
                        <a:latin typeface="Aptos" panose="020B0004020202020204" pitchFamily="34" charset="0"/>
                      </a:endParaRPr>
                    </a:p>
                  </a:txBody>
                  <a:tcPr/>
                </a:tc>
                <a:tc>
                  <a:txBody>
                    <a:bodyPr/>
                    <a:lstStyle/>
                    <a:p>
                      <a:r>
                        <a:rPr lang="en-IN" sz="1400" dirty="0"/>
                        <a:t>10/06/2026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Tree>
    <p:extLst>
      <p:ext uri="{BB962C8B-B14F-4D97-AF65-F5344CB8AC3E}">
        <p14:creationId xmlns:p14="http://schemas.microsoft.com/office/powerpoint/2010/main" val="2963453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73558-39A6-3561-634F-69F4E3E538FF}"/>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2D4F7948-4B1B-508D-C8EC-83A410185B82}"/>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67EA83FC-AEE0-FCE2-3F68-AC1E4A7159E9}"/>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13548508-FE2F-8468-370F-B8E0CE71D6BD}"/>
              </a:ext>
            </a:extLst>
          </p:cNvPr>
          <p:cNvSpPr txBox="1"/>
          <p:nvPr/>
        </p:nvSpPr>
        <p:spPr>
          <a:xfrm>
            <a:off x="721658" y="782858"/>
            <a:ext cx="7924800" cy="1631216"/>
          </a:xfrm>
          <a:prstGeom prst="rect">
            <a:avLst/>
          </a:prstGeom>
          <a:noFill/>
        </p:spPr>
        <p:txBody>
          <a:bodyPr wrap="square" rtlCol="0">
            <a:spAutoFit/>
          </a:bodyPr>
          <a:lstStyle/>
          <a:p>
            <a:r>
              <a:rPr lang="en-IN" sz="5000" b="1" dirty="0">
                <a:latin typeface="Aptos" panose="020B0004020202020204" pitchFamily="34" charset="0"/>
              </a:rPr>
              <a:t>Cumulative </a:t>
            </a:r>
          </a:p>
          <a:p>
            <a:r>
              <a:rPr lang="en-IN" sz="5000" b="1" dirty="0">
                <a:latin typeface="Aptos" panose="020B0004020202020204" pitchFamily="34" charset="0"/>
              </a:rPr>
              <a:t>	Make</a:t>
            </a:r>
          </a:p>
        </p:txBody>
      </p:sp>
    </p:spTree>
    <p:extLst>
      <p:ext uri="{BB962C8B-B14F-4D97-AF65-F5344CB8AC3E}">
        <p14:creationId xmlns:p14="http://schemas.microsoft.com/office/powerpoint/2010/main" val="812896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7CB9C-D1F6-5230-4828-6CDDF583CE1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42E13CB-AF90-B92C-F337-135725F6AD77}"/>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FF61782B-2140-3EB6-393D-2FDBF4DA058A}"/>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EF383EBD-A6B9-DEFB-12B1-1ED4FB095A9F}"/>
              </a:ext>
            </a:extLst>
          </p:cNvPr>
          <p:cNvGraphicFramePr>
            <a:graphicFrameLocks noGrp="1"/>
          </p:cNvGraphicFramePr>
          <p:nvPr>
            <p:extLst>
              <p:ext uri="{D42A27DB-BD31-4B8C-83A1-F6EECF244321}">
                <p14:modId xmlns:p14="http://schemas.microsoft.com/office/powerpoint/2010/main" val="487572028"/>
              </p:ext>
            </p:extLst>
          </p:nvPr>
        </p:nvGraphicFramePr>
        <p:xfrm>
          <a:off x="571500" y="2035176"/>
          <a:ext cx="11049000" cy="18542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07215874"/>
                    </a:ext>
                  </a:extLst>
                </a:gridCol>
                <a:gridCol w="1841500">
                  <a:extLst>
                    <a:ext uri="{9D8B030D-6E8A-4147-A177-3AD203B41FA5}">
                      <a16:colId xmlns:a16="http://schemas.microsoft.com/office/drawing/2014/main" val="2933060698"/>
                    </a:ext>
                  </a:extLst>
                </a:gridCol>
                <a:gridCol w="1841500">
                  <a:extLst>
                    <a:ext uri="{9D8B030D-6E8A-4147-A177-3AD203B41FA5}">
                      <a16:colId xmlns:a16="http://schemas.microsoft.com/office/drawing/2014/main" val="14527891"/>
                    </a:ext>
                  </a:extLst>
                </a:gridCol>
                <a:gridCol w="1841500">
                  <a:extLst>
                    <a:ext uri="{9D8B030D-6E8A-4147-A177-3AD203B41FA5}">
                      <a16:colId xmlns:a16="http://schemas.microsoft.com/office/drawing/2014/main" val="220212328"/>
                    </a:ext>
                  </a:extLst>
                </a:gridCol>
                <a:gridCol w="2311400">
                  <a:extLst>
                    <a:ext uri="{9D8B030D-6E8A-4147-A177-3AD203B41FA5}">
                      <a16:colId xmlns:a16="http://schemas.microsoft.com/office/drawing/2014/main" val="1686636914"/>
                    </a:ext>
                  </a:extLst>
                </a:gridCol>
                <a:gridCol w="1371600">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(3) (Y)</a:t>
                      </a:r>
                      <a:endParaRPr lang="en-IN" sz="1400" dirty="0">
                        <a:latin typeface="Aptos" panose="020B0004020202020204" pitchFamily="34" charset="0"/>
                      </a:endParaRPr>
                    </a:p>
                  </a:txBody>
                  <a:tcPr/>
                </a:tc>
                <a:tc>
                  <a:txBody>
                    <a:bodyPr/>
                    <a:lstStyle/>
                    <a:p>
                      <a:r>
                        <a:rPr lang="en-IN" sz="1400" dirty="0"/>
                        <a:t>Dock To Stock (2) (Y)</a:t>
                      </a:r>
                      <a:endParaRPr lang="en-IN" sz="1400" dirty="0">
                        <a:latin typeface="Aptos" panose="020B0004020202020204" pitchFamily="34" charset="0"/>
                      </a:endParaRPr>
                    </a:p>
                  </a:txBody>
                  <a:tcPr/>
                </a:tc>
                <a:tc>
                  <a:txBody>
                    <a:bodyPr/>
                    <a:lstStyle/>
                    <a:p>
                      <a:r>
                        <a:rPr lang="en-IN" sz="1400" dirty="0"/>
                        <a:t>Transit Time (3) (Y)</a:t>
                      </a:r>
                      <a:endParaRPr lang="en-IN" sz="1400" dirty="0">
                        <a:latin typeface="Aptos" panose="020B0004020202020204" pitchFamily="34" charset="0"/>
                      </a:endParaRPr>
                    </a:p>
                  </a:txBody>
                  <a:tcPr/>
                </a:tc>
                <a:tc>
                  <a:txBody>
                    <a:bodyPr/>
                    <a:lstStyle/>
                    <a:p>
                      <a:r>
                        <a:rPr lang="en-IN" sz="1400" dirty="0"/>
                        <a:t>Pre-Ship Time (1) (Y)</a:t>
                      </a:r>
                      <a:endParaRPr lang="en-IN" sz="1400" dirty="0">
                        <a:latin typeface="Aptos" panose="020B0004020202020204" pitchFamily="34" charset="0"/>
                      </a:endParaRPr>
                    </a:p>
                  </a:txBody>
                  <a:tcPr/>
                </a:tc>
                <a:tc>
                  <a:txBody>
                    <a:bodyPr/>
                    <a:lstStyle/>
                    <a:p>
                      <a:r>
                        <a:rPr lang="en-IN" sz="1400" dirty="0"/>
                        <a:t>Fixed Time (2) (Y)</a:t>
                      </a:r>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Lead Time Adjust (2) (Y)</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Var*Qtd (0.2*10) (Y)</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10/13/2026</a:t>
                      </a:r>
                      <a:endParaRPr lang="en-IN" sz="1400" dirty="0">
                        <a:latin typeface="Aptos" panose="020B0004020202020204" pitchFamily="34" charset="0"/>
                      </a:endParaRPr>
                    </a:p>
                  </a:txBody>
                  <a:tcPr/>
                </a:tc>
                <a:tc>
                  <a:txBody>
                    <a:bodyPr/>
                    <a:lstStyle/>
                    <a:p>
                      <a:r>
                        <a:rPr lang="en-IN" sz="1400" dirty="0"/>
                        <a:t>10/11/2026</a:t>
                      </a:r>
                      <a:endParaRPr lang="en-IN" sz="1400" dirty="0">
                        <a:latin typeface="Aptos" panose="020B0004020202020204" pitchFamily="34" charset="0"/>
                      </a:endParaRPr>
                    </a:p>
                  </a:txBody>
                  <a:tcPr/>
                </a:tc>
                <a:tc>
                  <a:txBody>
                    <a:bodyPr/>
                    <a:lstStyle/>
                    <a:p>
                      <a:r>
                        <a:rPr lang="en-IN" sz="1400" dirty="0"/>
                        <a:t>10/08/2026</a:t>
                      </a:r>
                      <a:endParaRPr lang="en-IN" sz="1400" dirty="0">
                        <a:latin typeface="Aptos" panose="020B0004020202020204" pitchFamily="34" charset="0"/>
                      </a:endParaRPr>
                    </a:p>
                  </a:txBody>
                  <a:tcPr/>
                </a:tc>
                <a:tc>
                  <a:txBody>
                    <a:bodyPr/>
                    <a:lstStyle/>
                    <a:p>
                      <a:r>
                        <a:rPr lang="en-IN" sz="1400" dirty="0"/>
                        <a:t>10/07/2026</a:t>
                      </a:r>
                      <a:endParaRPr lang="en-IN" sz="1400" dirty="0">
                        <a:latin typeface="Aptos" panose="020B0004020202020204" pitchFamily="34" charset="0"/>
                      </a:endParaRPr>
                    </a:p>
                  </a:txBody>
                  <a:tcPr/>
                </a:tc>
                <a:tc>
                  <a:txBody>
                    <a:bodyPr/>
                    <a:lstStyle/>
                    <a:p>
                      <a:r>
                        <a:rPr lang="en-IN" sz="1400" dirty="0"/>
                        <a:t>10/01/2026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
        <p:nvSpPr>
          <p:cNvPr id="7" name="TextBox 6">
            <a:extLst>
              <a:ext uri="{FF2B5EF4-FFF2-40B4-BE49-F238E27FC236}">
                <a16:creationId xmlns:a16="http://schemas.microsoft.com/office/drawing/2014/main" id="{F8B8CDE0-89B8-8330-A3C2-3CEA74D9E1E0}"/>
              </a:ext>
            </a:extLst>
          </p:cNvPr>
          <p:cNvSpPr txBox="1"/>
          <p:nvPr/>
        </p:nvSpPr>
        <p:spPr>
          <a:xfrm>
            <a:off x="571500" y="190911"/>
            <a:ext cx="3086100" cy="1969770"/>
          </a:xfrm>
          <a:prstGeom prst="rect">
            <a:avLst/>
          </a:prstGeom>
          <a:noFill/>
        </p:spPr>
        <p:txBody>
          <a:bodyPr wrap="square" rtlCol="0">
            <a:spAutoFit/>
          </a:bodyPr>
          <a:lstStyle/>
          <a:p>
            <a:r>
              <a:rPr lang="en-IN" sz="2400" b="1" dirty="0">
                <a:latin typeface="Aptos" panose="020B0004020202020204" pitchFamily="34" charset="0"/>
              </a:rPr>
              <a:t>Simulation 5: </a:t>
            </a:r>
          </a:p>
          <a:p>
            <a:endParaRPr lang="en-IN" sz="1600" b="1" dirty="0">
              <a:latin typeface="Aptos" panose="020B0004020202020204" pitchFamily="34" charset="0"/>
            </a:endParaRPr>
          </a:p>
          <a:p>
            <a:r>
              <a:rPr lang="en-IN" sz="1600" dirty="0">
                <a:latin typeface="Aptos" panose="020B0004020202020204" pitchFamily="34" charset="0"/>
              </a:rPr>
              <a:t>Transit Rule: Cumulative</a:t>
            </a:r>
          </a:p>
          <a:p>
            <a:r>
              <a:rPr lang="en-IN" sz="1600" dirty="0">
                <a:latin typeface="Aptos" panose="020B0004020202020204" pitchFamily="34" charset="0"/>
              </a:rPr>
              <a:t>Type: Make</a:t>
            </a:r>
          </a:p>
          <a:p>
            <a:r>
              <a:rPr lang="en-IN" sz="1600" dirty="0">
                <a:latin typeface="Aptos" panose="020B0004020202020204" pitchFamily="34" charset="0"/>
              </a:rPr>
              <a:t>Calendar: Everyday</a:t>
            </a:r>
          </a:p>
          <a:p>
            <a:r>
              <a:rPr lang="en-IN" sz="1600" dirty="0">
                <a:latin typeface="Aptos" panose="020B0004020202020204" pitchFamily="34" charset="0"/>
              </a:rPr>
              <a:t>Site: C1001</a:t>
            </a:r>
          </a:p>
          <a:p>
            <a:endParaRPr lang="en-IN" sz="1600" dirty="0">
              <a:latin typeface="Aptos" panose="020B0004020202020204" pitchFamily="34" charset="0"/>
            </a:endParaRPr>
          </a:p>
        </p:txBody>
      </p:sp>
      <p:pic>
        <p:nvPicPr>
          <p:cNvPr id="9" name="Picture 8" descr="A screenshot of a computer&#10;&#10;AI-generated content may be incorrect.">
            <a:extLst>
              <a:ext uri="{FF2B5EF4-FFF2-40B4-BE49-F238E27FC236}">
                <a16:creationId xmlns:a16="http://schemas.microsoft.com/office/drawing/2014/main" id="{D70990E8-797E-7D50-C8FF-409A5F744EC1}"/>
              </a:ext>
            </a:extLst>
          </p:cNvPr>
          <p:cNvPicPr>
            <a:picLocks noChangeAspect="1"/>
          </p:cNvPicPr>
          <p:nvPr/>
        </p:nvPicPr>
        <p:blipFill>
          <a:blip r:embed="rId4"/>
          <a:stretch>
            <a:fillRect/>
          </a:stretch>
        </p:blipFill>
        <p:spPr>
          <a:xfrm>
            <a:off x="571500" y="4057905"/>
            <a:ext cx="10998680" cy="21633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42759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42398-0D52-0166-C1D1-4768DDE8E0C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16D3414C-BCA2-8F22-7903-FA86B2D815CC}"/>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97677B1A-5217-3749-6ED9-30E8AE8A9623}"/>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C4CA048B-BF65-3EF2-1D72-F3DC760EDEE2}"/>
              </a:ext>
            </a:extLst>
          </p:cNvPr>
          <p:cNvPicPr>
            <a:picLocks noChangeAspect="1"/>
          </p:cNvPicPr>
          <p:nvPr/>
        </p:nvPicPr>
        <p:blipFill>
          <a:blip r:embed="rId4"/>
          <a:stretch>
            <a:fillRect/>
          </a:stretch>
        </p:blipFill>
        <p:spPr>
          <a:xfrm>
            <a:off x="586086" y="4255645"/>
            <a:ext cx="11041137" cy="19835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7" name="Table 6">
            <a:extLst>
              <a:ext uri="{FF2B5EF4-FFF2-40B4-BE49-F238E27FC236}">
                <a16:creationId xmlns:a16="http://schemas.microsoft.com/office/drawing/2014/main" id="{96668109-C2C7-1A44-298D-17F60C0A2686}"/>
              </a:ext>
            </a:extLst>
          </p:cNvPr>
          <p:cNvGraphicFramePr>
            <a:graphicFrameLocks noGrp="1"/>
          </p:cNvGraphicFramePr>
          <p:nvPr>
            <p:extLst>
              <p:ext uri="{D42A27DB-BD31-4B8C-83A1-F6EECF244321}">
                <p14:modId xmlns:p14="http://schemas.microsoft.com/office/powerpoint/2010/main" val="1720567904"/>
              </p:ext>
            </p:extLst>
          </p:nvPr>
        </p:nvGraphicFramePr>
        <p:xfrm>
          <a:off x="586086" y="2139156"/>
          <a:ext cx="11049000" cy="18542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07215874"/>
                    </a:ext>
                  </a:extLst>
                </a:gridCol>
                <a:gridCol w="1841500">
                  <a:extLst>
                    <a:ext uri="{9D8B030D-6E8A-4147-A177-3AD203B41FA5}">
                      <a16:colId xmlns:a16="http://schemas.microsoft.com/office/drawing/2014/main" val="2933060698"/>
                    </a:ext>
                  </a:extLst>
                </a:gridCol>
                <a:gridCol w="1841500">
                  <a:extLst>
                    <a:ext uri="{9D8B030D-6E8A-4147-A177-3AD203B41FA5}">
                      <a16:colId xmlns:a16="http://schemas.microsoft.com/office/drawing/2014/main" val="14527891"/>
                    </a:ext>
                  </a:extLst>
                </a:gridCol>
                <a:gridCol w="1841500">
                  <a:extLst>
                    <a:ext uri="{9D8B030D-6E8A-4147-A177-3AD203B41FA5}">
                      <a16:colId xmlns:a16="http://schemas.microsoft.com/office/drawing/2014/main" val="220212328"/>
                    </a:ext>
                  </a:extLst>
                </a:gridCol>
                <a:gridCol w="2311400">
                  <a:extLst>
                    <a:ext uri="{9D8B030D-6E8A-4147-A177-3AD203B41FA5}">
                      <a16:colId xmlns:a16="http://schemas.microsoft.com/office/drawing/2014/main" val="1686636914"/>
                    </a:ext>
                  </a:extLst>
                </a:gridCol>
                <a:gridCol w="1371600">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(3) (Y)</a:t>
                      </a:r>
                      <a:endParaRPr lang="en-IN" sz="1400" dirty="0">
                        <a:latin typeface="Aptos" panose="020B0004020202020204" pitchFamily="34" charset="0"/>
                      </a:endParaRPr>
                    </a:p>
                  </a:txBody>
                  <a:tcPr/>
                </a:tc>
                <a:tc>
                  <a:txBody>
                    <a:bodyPr/>
                    <a:lstStyle/>
                    <a:p>
                      <a:r>
                        <a:rPr lang="en-IN" sz="1400" dirty="0"/>
                        <a:t>Dock To Stock (2) (Y)</a:t>
                      </a:r>
                      <a:endParaRPr lang="en-IN" sz="1400" dirty="0">
                        <a:latin typeface="Aptos" panose="020B0004020202020204" pitchFamily="34" charset="0"/>
                      </a:endParaRPr>
                    </a:p>
                  </a:txBody>
                  <a:tcPr/>
                </a:tc>
                <a:tc>
                  <a:txBody>
                    <a:bodyPr/>
                    <a:lstStyle/>
                    <a:p>
                      <a:r>
                        <a:rPr lang="en-IN" sz="1400" dirty="0"/>
                        <a:t>Transit Time (3) (Y)</a:t>
                      </a:r>
                      <a:endParaRPr lang="en-IN" sz="1400" dirty="0">
                        <a:latin typeface="Aptos" panose="020B0004020202020204" pitchFamily="34" charset="0"/>
                      </a:endParaRPr>
                    </a:p>
                  </a:txBody>
                  <a:tcPr/>
                </a:tc>
                <a:tc>
                  <a:txBody>
                    <a:bodyPr/>
                    <a:lstStyle/>
                    <a:p>
                      <a:r>
                        <a:rPr lang="en-IN" sz="1400" dirty="0"/>
                        <a:t>Pre-Ship Time (1) (Y)</a:t>
                      </a:r>
                      <a:endParaRPr lang="en-IN" sz="1400" dirty="0">
                        <a:latin typeface="Aptos" panose="020B0004020202020204" pitchFamily="34" charset="0"/>
                      </a:endParaRPr>
                    </a:p>
                  </a:txBody>
                  <a:tcPr/>
                </a:tc>
                <a:tc>
                  <a:txBody>
                    <a:bodyPr/>
                    <a:lstStyle/>
                    <a:p>
                      <a:r>
                        <a:rPr lang="en-IN" sz="1400" dirty="0"/>
                        <a:t>Fixed Time (2) (Y)</a:t>
                      </a:r>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Lead Time Adjust (2) (Y)</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Var*Qtd (0.2*10) (Y)</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10/13/2026</a:t>
                      </a:r>
                      <a:endParaRPr lang="en-IN" sz="1400" dirty="0">
                        <a:latin typeface="Aptos" panose="020B0004020202020204" pitchFamily="34" charset="0"/>
                      </a:endParaRPr>
                    </a:p>
                  </a:txBody>
                  <a:tcPr/>
                </a:tc>
                <a:tc>
                  <a:txBody>
                    <a:bodyPr/>
                    <a:lstStyle/>
                    <a:p>
                      <a:r>
                        <a:rPr lang="en-IN" sz="1400" dirty="0"/>
                        <a:t>10/09/2026</a:t>
                      </a:r>
                      <a:endParaRPr lang="en-IN" sz="1400" dirty="0">
                        <a:latin typeface="Aptos" panose="020B0004020202020204" pitchFamily="34" charset="0"/>
                      </a:endParaRPr>
                    </a:p>
                  </a:txBody>
                  <a:tcPr/>
                </a:tc>
                <a:tc>
                  <a:txBody>
                    <a:bodyPr/>
                    <a:lstStyle/>
                    <a:p>
                      <a:r>
                        <a:rPr lang="en-IN" sz="1400" dirty="0"/>
                        <a:t>10/06/2026</a:t>
                      </a:r>
                      <a:endParaRPr lang="en-IN" sz="1400" dirty="0">
                        <a:latin typeface="Aptos" panose="020B0004020202020204" pitchFamily="34" charset="0"/>
                      </a:endParaRPr>
                    </a:p>
                  </a:txBody>
                  <a:tcPr/>
                </a:tc>
                <a:tc>
                  <a:txBody>
                    <a:bodyPr/>
                    <a:lstStyle/>
                    <a:p>
                      <a:r>
                        <a:rPr lang="en-IN" sz="1400" dirty="0"/>
                        <a:t>10/05/2026</a:t>
                      </a:r>
                      <a:endParaRPr lang="en-IN" sz="1400" dirty="0">
                        <a:latin typeface="Aptos" panose="020B0004020202020204" pitchFamily="34" charset="0"/>
                      </a:endParaRPr>
                    </a:p>
                  </a:txBody>
                  <a:tcPr/>
                </a:tc>
                <a:tc>
                  <a:txBody>
                    <a:bodyPr/>
                    <a:lstStyle/>
                    <a:p>
                      <a:r>
                        <a:rPr lang="en-IN" sz="1400" dirty="0"/>
                        <a:t>09/25/2026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
        <p:nvSpPr>
          <p:cNvPr id="9" name="TextBox 8">
            <a:extLst>
              <a:ext uri="{FF2B5EF4-FFF2-40B4-BE49-F238E27FC236}">
                <a16:creationId xmlns:a16="http://schemas.microsoft.com/office/drawing/2014/main" id="{F62600A7-2F12-B360-3430-2C2DC29B4CA7}"/>
              </a:ext>
            </a:extLst>
          </p:cNvPr>
          <p:cNvSpPr txBox="1"/>
          <p:nvPr/>
        </p:nvSpPr>
        <p:spPr>
          <a:xfrm>
            <a:off x="586086" y="200164"/>
            <a:ext cx="3086100" cy="1938992"/>
          </a:xfrm>
          <a:prstGeom prst="rect">
            <a:avLst/>
          </a:prstGeom>
          <a:noFill/>
        </p:spPr>
        <p:txBody>
          <a:bodyPr wrap="square" rtlCol="0">
            <a:spAutoFit/>
          </a:bodyPr>
          <a:lstStyle/>
          <a:p>
            <a:r>
              <a:rPr lang="en-IN" sz="2400" b="1" dirty="0">
                <a:latin typeface="Aptos" panose="020B0004020202020204" pitchFamily="34" charset="0"/>
              </a:rPr>
              <a:t>Simulation 6: </a:t>
            </a:r>
          </a:p>
          <a:p>
            <a:endParaRPr lang="en-IN" sz="1600" dirty="0">
              <a:latin typeface="Aptos" panose="020B0004020202020204" pitchFamily="34" charset="0"/>
            </a:endParaRPr>
          </a:p>
          <a:p>
            <a:r>
              <a:rPr lang="en-IN" sz="1600" dirty="0">
                <a:latin typeface="Aptos" panose="020B0004020202020204" pitchFamily="34" charset="0"/>
              </a:rPr>
              <a:t>Transit Rule: Cumulative</a:t>
            </a:r>
          </a:p>
          <a:p>
            <a:r>
              <a:rPr lang="en-IN" sz="1600" dirty="0">
                <a:latin typeface="Aptos" panose="020B0004020202020204" pitchFamily="34" charset="0"/>
              </a:rPr>
              <a:t>Type: Make</a:t>
            </a:r>
          </a:p>
          <a:p>
            <a:r>
              <a:rPr lang="en-IN" sz="1600" dirty="0">
                <a:latin typeface="Aptos" panose="020B0004020202020204" pitchFamily="34" charset="0"/>
              </a:rPr>
              <a:t>Calendar: Workday</a:t>
            </a:r>
          </a:p>
          <a:p>
            <a:r>
              <a:rPr lang="en-IN" sz="1600" dirty="0">
                <a:latin typeface="Aptos" panose="020B0004020202020204" pitchFamily="34" charset="0"/>
              </a:rPr>
              <a:t>Site: C1001</a:t>
            </a:r>
          </a:p>
          <a:p>
            <a:endParaRPr lang="en-IN" sz="1600" dirty="0">
              <a:latin typeface="Aptos" panose="020B0004020202020204" pitchFamily="34" charset="0"/>
            </a:endParaRPr>
          </a:p>
        </p:txBody>
      </p:sp>
    </p:spTree>
    <p:extLst>
      <p:ext uri="{BB962C8B-B14F-4D97-AF65-F5344CB8AC3E}">
        <p14:creationId xmlns:p14="http://schemas.microsoft.com/office/powerpoint/2010/main" val="820941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415EA-4871-AE26-C1EA-554AF04BEDC8}"/>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95ECB855-8208-811F-F1A1-51A555C5B89E}"/>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2B6524B-2C79-E33F-D8A1-7AD9C07ECEA4}"/>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DC11A3D1-8FEB-69FC-243A-CD543794E10A}"/>
              </a:ext>
            </a:extLst>
          </p:cNvPr>
          <p:cNvSpPr txBox="1"/>
          <p:nvPr/>
        </p:nvSpPr>
        <p:spPr>
          <a:xfrm>
            <a:off x="721658" y="782858"/>
            <a:ext cx="7924800" cy="1631216"/>
          </a:xfrm>
          <a:prstGeom prst="rect">
            <a:avLst/>
          </a:prstGeom>
          <a:noFill/>
        </p:spPr>
        <p:txBody>
          <a:bodyPr wrap="square" rtlCol="0">
            <a:spAutoFit/>
          </a:bodyPr>
          <a:lstStyle/>
          <a:p>
            <a:r>
              <a:rPr lang="en-IN" sz="5000" b="1" dirty="0">
                <a:latin typeface="Aptos" panose="020B0004020202020204" pitchFamily="34" charset="0"/>
              </a:rPr>
              <a:t>Cumulative </a:t>
            </a:r>
          </a:p>
          <a:p>
            <a:r>
              <a:rPr lang="en-IN" sz="5000" b="1" dirty="0">
                <a:latin typeface="Aptos" panose="020B0004020202020204" pitchFamily="34" charset="0"/>
              </a:rPr>
              <a:t>	Transfer</a:t>
            </a:r>
          </a:p>
        </p:txBody>
      </p:sp>
    </p:spTree>
    <p:extLst>
      <p:ext uri="{BB962C8B-B14F-4D97-AF65-F5344CB8AC3E}">
        <p14:creationId xmlns:p14="http://schemas.microsoft.com/office/powerpoint/2010/main" val="3561030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B9A0B-55FA-F180-F595-4AF85BA2A088}"/>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9C2BB75F-42A0-F3AB-0CE2-CD679FB3F16E}"/>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82437A45-2674-E0C5-449A-F4DBD6EAC762}"/>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BE85C2D3-E27C-9AB3-0910-D4B2E1D712C4}"/>
              </a:ext>
            </a:extLst>
          </p:cNvPr>
          <p:cNvPicPr>
            <a:picLocks noChangeAspect="1"/>
          </p:cNvPicPr>
          <p:nvPr/>
        </p:nvPicPr>
        <p:blipFill>
          <a:blip r:embed="rId4"/>
          <a:stretch>
            <a:fillRect/>
          </a:stretch>
        </p:blipFill>
        <p:spPr>
          <a:xfrm>
            <a:off x="571500" y="4049583"/>
            <a:ext cx="11027435" cy="22795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7" name="Table 6">
            <a:extLst>
              <a:ext uri="{FF2B5EF4-FFF2-40B4-BE49-F238E27FC236}">
                <a16:creationId xmlns:a16="http://schemas.microsoft.com/office/drawing/2014/main" id="{FBE55769-DFA6-3800-D8DD-03175EBAE618}"/>
              </a:ext>
            </a:extLst>
          </p:cNvPr>
          <p:cNvGraphicFramePr>
            <a:graphicFrameLocks noGrp="1"/>
          </p:cNvGraphicFramePr>
          <p:nvPr>
            <p:extLst>
              <p:ext uri="{D42A27DB-BD31-4B8C-83A1-F6EECF244321}">
                <p14:modId xmlns:p14="http://schemas.microsoft.com/office/powerpoint/2010/main" val="2641049117"/>
              </p:ext>
            </p:extLst>
          </p:nvPr>
        </p:nvGraphicFramePr>
        <p:xfrm>
          <a:off x="549935" y="2021651"/>
          <a:ext cx="11049000" cy="18542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07215874"/>
                    </a:ext>
                  </a:extLst>
                </a:gridCol>
                <a:gridCol w="1841500">
                  <a:extLst>
                    <a:ext uri="{9D8B030D-6E8A-4147-A177-3AD203B41FA5}">
                      <a16:colId xmlns:a16="http://schemas.microsoft.com/office/drawing/2014/main" val="2933060698"/>
                    </a:ext>
                  </a:extLst>
                </a:gridCol>
                <a:gridCol w="1841500">
                  <a:extLst>
                    <a:ext uri="{9D8B030D-6E8A-4147-A177-3AD203B41FA5}">
                      <a16:colId xmlns:a16="http://schemas.microsoft.com/office/drawing/2014/main" val="14527891"/>
                    </a:ext>
                  </a:extLst>
                </a:gridCol>
                <a:gridCol w="1841500">
                  <a:extLst>
                    <a:ext uri="{9D8B030D-6E8A-4147-A177-3AD203B41FA5}">
                      <a16:colId xmlns:a16="http://schemas.microsoft.com/office/drawing/2014/main" val="220212328"/>
                    </a:ext>
                  </a:extLst>
                </a:gridCol>
                <a:gridCol w="2311400">
                  <a:extLst>
                    <a:ext uri="{9D8B030D-6E8A-4147-A177-3AD203B41FA5}">
                      <a16:colId xmlns:a16="http://schemas.microsoft.com/office/drawing/2014/main" val="1686636914"/>
                    </a:ext>
                  </a:extLst>
                </a:gridCol>
                <a:gridCol w="1371600">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(1) </a:t>
                      </a:r>
                      <a:endParaRPr lang="en-IN" sz="1400" dirty="0">
                        <a:latin typeface="Aptos" panose="020B0004020202020204" pitchFamily="34" charset="0"/>
                      </a:endParaRPr>
                    </a:p>
                  </a:txBody>
                  <a:tcPr/>
                </a:tc>
                <a:tc>
                  <a:txBody>
                    <a:bodyPr/>
                    <a:lstStyle/>
                    <a:p>
                      <a:r>
                        <a:rPr lang="en-IN" sz="1400" dirty="0"/>
                        <a:t>Dock To Stock (1) </a:t>
                      </a:r>
                      <a:endParaRPr lang="en-IN" sz="1400" dirty="0">
                        <a:latin typeface="Aptos" panose="020B0004020202020204" pitchFamily="34" charset="0"/>
                      </a:endParaRPr>
                    </a:p>
                  </a:txBody>
                  <a:tcPr/>
                </a:tc>
                <a:tc>
                  <a:txBody>
                    <a:bodyPr/>
                    <a:lstStyle/>
                    <a:p>
                      <a:r>
                        <a:rPr lang="en-IN" sz="1400" dirty="0"/>
                        <a:t>Transit Time (2)</a:t>
                      </a:r>
                      <a:endParaRPr lang="en-IN" sz="1400" dirty="0">
                        <a:latin typeface="Aptos" panose="020B0004020202020204" pitchFamily="34" charset="0"/>
                      </a:endParaRPr>
                    </a:p>
                  </a:txBody>
                  <a:tcPr/>
                </a:tc>
                <a:tc>
                  <a:txBody>
                    <a:bodyPr/>
                    <a:lstStyle/>
                    <a:p>
                      <a:r>
                        <a:rPr lang="en-IN" sz="1400" dirty="0"/>
                        <a:t>Pre-Ship Time (1)</a:t>
                      </a:r>
                      <a:endParaRPr lang="en-IN" sz="1400" dirty="0">
                        <a:latin typeface="Aptos" panose="020B0004020202020204" pitchFamily="34" charset="0"/>
                      </a:endParaRPr>
                    </a:p>
                  </a:txBody>
                  <a:tcPr/>
                </a:tc>
                <a:tc>
                  <a:txBody>
                    <a:bodyPr/>
                    <a:lstStyle/>
                    <a:p>
                      <a:r>
                        <a:rPr lang="en-IN" sz="1400" dirty="0"/>
                        <a:t>Fixed Time (1)</a:t>
                      </a:r>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Lead Time Adjust (2)</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Var*Qtd (0.2*10)</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10/15/2026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10/12/2026</a:t>
                      </a:r>
                      <a:endParaRPr lang="en-IN" sz="1400" dirty="0">
                        <a:latin typeface="Aptos" panose="020B0004020202020204" pitchFamily="34" charset="0"/>
                      </a:endParaRPr>
                    </a:p>
                  </a:txBody>
                  <a:tcPr/>
                </a:tc>
                <a:tc>
                  <a:txBody>
                    <a:bodyPr/>
                    <a:lstStyle/>
                    <a:p>
                      <a:r>
                        <a:rPr lang="en-IN" sz="1400" dirty="0"/>
                        <a:t>10/11/2026</a:t>
                      </a:r>
                      <a:endParaRPr lang="en-IN" sz="1400" dirty="0">
                        <a:latin typeface="Aptos" panose="020B0004020202020204" pitchFamily="34" charset="0"/>
                      </a:endParaRPr>
                    </a:p>
                  </a:txBody>
                  <a:tcPr/>
                </a:tc>
                <a:tc>
                  <a:txBody>
                    <a:bodyPr/>
                    <a:lstStyle/>
                    <a:p>
                      <a:r>
                        <a:rPr lang="en-IN" sz="1400" dirty="0"/>
                        <a:t>10/06/2026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
        <p:nvSpPr>
          <p:cNvPr id="9" name="TextBox 8">
            <a:extLst>
              <a:ext uri="{FF2B5EF4-FFF2-40B4-BE49-F238E27FC236}">
                <a16:creationId xmlns:a16="http://schemas.microsoft.com/office/drawing/2014/main" id="{2284AD9D-869F-CAEF-A14E-66FE6D8927DE}"/>
              </a:ext>
            </a:extLst>
          </p:cNvPr>
          <p:cNvSpPr txBox="1"/>
          <p:nvPr/>
        </p:nvSpPr>
        <p:spPr>
          <a:xfrm>
            <a:off x="571500" y="242014"/>
            <a:ext cx="3086100" cy="1692771"/>
          </a:xfrm>
          <a:prstGeom prst="rect">
            <a:avLst/>
          </a:prstGeom>
          <a:noFill/>
        </p:spPr>
        <p:txBody>
          <a:bodyPr wrap="square" rtlCol="0">
            <a:spAutoFit/>
          </a:bodyPr>
          <a:lstStyle/>
          <a:p>
            <a:r>
              <a:rPr lang="en-IN" sz="2400" b="1" dirty="0">
                <a:latin typeface="Aptos" panose="020B0004020202020204" pitchFamily="34" charset="0"/>
              </a:rPr>
              <a:t>Simulation 7: </a:t>
            </a:r>
          </a:p>
          <a:p>
            <a:endParaRPr lang="en-IN" sz="1600" dirty="0">
              <a:latin typeface="Aptos" panose="020B0004020202020204" pitchFamily="34" charset="0"/>
            </a:endParaRPr>
          </a:p>
          <a:p>
            <a:r>
              <a:rPr lang="en-IN" sz="1600" dirty="0">
                <a:latin typeface="Aptos" panose="020B0004020202020204" pitchFamily="34" charset="0"/>
              </a:rPr>
              <a:t>Transit Rule: Cumulative</a:t>
            </a:r>
          </a:p>
          <a:p>
            <a:r>
              <a:rPr lang="en-IN" sz="1600" dirty="0">
                <a:latin typeface="Aptos" panose="020B0004020202020204" pitchFamily="34" charset="0"/>
              </a:rPr>
              <a:t>Type: Transfer</a:t>
            </a:r>
          </a:p>
          <a:p>
            <a:r>
              <a:rPr lang="en-IN" sz="1600" dirty="0">
                <a:latin typeface="Aptos" panose="020B0004020202020204" pitchFamily="34" charset="0"/>
              </a:rPr>
              <a:t>Calendar: Everyday</a:t>
            </a:r>
          </a:p>
          <a:p>
            <a:r>
              <a:rPr lang="en-IN" sz="1600" dirty="0">
                <a:latin typeface="Aptos" panose="020B0004020202020204" pitchFamily="34" charset="0"/>
              </a:rPr>
              <a:t>Site: C1001</a:t>
            </a:r>
          </a:p>
        </p:txBody>
      </p:sp>
    </p:spTree>
    <p:extLst>
      <p:ext uri="{BB962C8B-B14F-4D97-AF65-F5344CB8AC3E}">
        <p14:creationId xmlns:p14="http://schemas.microsoft.com/office/powerpoint/2010/main" val="4142235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ABB77-61B9-A7F9-4048-D2379F364C09}"/>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BAE1977A-A5D9-87CE-D0F3-8E20F46CC7AD}"/>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9FECF841-5E38-615D-835C-693664403E33}"/>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B05E72AC-1E00-9CA6-0386-E6605C26A94C}"/>
              </a:ext>
            </a:extLst>
          </p:cNvPr>
          <p:cNvPicPr>
            <a:picLocks noChangeAspect="1"/>
          </p:cNvPicPr>
          <p:nvPr/>
        </p:nvPicPr>
        <p:blipFill>
          <a:blip r:embed="rId4"/>
          <a:stretch>
            <a:fillRect/>
          </a:stretch>
        </p:blipFill>
        <p:spPr>
          <a:xfrm>
            <a:off x="571500" y="4049583"/>
            <a:ext cx="11027435" cy="22795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7" name="Table 6">
            <a:extLst>
              <a:ext uri="{FF2B5EF4-FFF2-40B4-BE49-F238E27FC236}">
                <a16:creationId xmlns:a16="http://schemas.microsoft.com/office/drawing/2014/main" id="{C936B452-10DA-0187-E448-A13FE984A066}"/>
              </a:ext>
            </a:extLst>
          </p:cNvPr>
          <p:cNvGraphicFramePr>
            <a:graphicFrameLocks noGrp="1"/>
          </p:cNvGraphicFramePr>
          <p:nvPr>
            <p:extLst>
              <p:ext uri="{D42A27DB-BD31-4B8C-83A1-F6EECF244321}">
                <p14:modId xmlns:p14="http://schemas.microsoft.com/office/powerpoint/2010/main" val="1810950533"/>
              </p:ext>
            </p:extLst>
          </p:nvPr>
        </p:nvGraphicFramePr>
        <p:xfrm>
          <a:off x="571500" y="1988277"/>
          <a:ext cx="11049000" cy="18542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07215874"/>
                    </a:ext>
                  </a:extLst>
                </a:gridCol>
                <a:gridCol w="1841500">
                  <a:extLst>
                    <a:ext uri="{9D8B030D-6E8A-4147-A177-3AD203B41FA5}">
                      <a16:colId xmlns:a16="http://schemas.microsoft.com/office/drawing/2014/main" val="2933060698"/>
                    </a:ext>
                  </a:extLst>
                </a:gridCol>
                <a:gridCol w="1841500">
                  <a:extLst>
                    <a:ext uri="{9D8B030D-6E8A-4147-A177-3AD203B41FA5}">
                      <a16:colId xmlns:a16="http://schemas.microsoft.com/office/drawing/2014/main" val="14527891"/>
                    </a:ext>
                  </a:extLst>
                </a:gridCol>
                <a:gridCol w="1841500">
                  <a:extLst>
                    <a:ext uri="{9D8B030D-6E8A-4147-A177-3AD203B41FA5}">
                      <a16:colId xmlns:a16="http://schemas.microsoft.com/office/drawing/2014/main" val="220212328"/>
                    </a:ext>
                  </a:extLst>
                </a:gridCol>
                <a:gridCol w="2311400">
                  <a:extLst>
                    <a:ext uri="{9D8B030D-6E8A-4147-A177-3AD203B41FA5}">
                      <a16:colId xmlns:a16="http://schemas.microsoft.com/office/drawing/2014/main" val="1686636914"/>
                    </a:ext>
                  </a:extLst>
                </a:gridCol>
                <a:gridCol w="1371600">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(1)</a:t>
                      </a:r>
                      <a:endParaRPr lang="en-IN" sz="1400" dirty="0">
                        <a:latin typeface="Aptos" panose="020B0004020202020204" pitchFamily="34" charset="0"/>
                      </a:endParaRPr>
                    </a:p>
                  </a:txBody>
                  <a:tcPr/>
                </a:tc>
                <a:tc>
                  <a:txBody>
                    <a:bodyPr/>
                    <a:lstStyle/>
                    <a:p>
                      <a:r>
                        <a:rPr lang="en-IN" sz="1400" dirty="0"/>
                        <a:t>Dock To Stock (1)</a:t>
                      </a:r>
                      <a:endParaRPr lang="en-IN" sz="1400" dirty="0">
                        <a:latin typeface="Aptos" panose="020B0004020202020204" pitchFamily="34" charset="0"/>
                      </a:endParaRPr>
                    </a:p>
                  </a:txBody>
                  <a:tcPr/>
                </a:tc>
                <a:tc>
                  <a:txBody>
                    <a:bodyPr/>
                    <a:lstStyle/>
                    <a:p>
                      <a:r>
                        <a:rPr lang="en-IN" sz="1400" dirty="0"/>
                        <a:t>Transit Time (2)</a:t>
                      </a:r>
                      <a:endParaRPr lang="en-IN" sz="1400" dirty="0">
                        <a:latin typeface="Aptos" panose="020B0004020202020204" pitchFamily="34" charset="0"/>
                      </a:endParaRPr>
                    </a:p>
                  </a:txBody>
                  <a:tcPr/>
                </a:tc>
                <a:tc>
                  <a:txBody>
                    <a:bodyPr/>
                    <a:lstStyle/>
                    <a:p>
                      <a:r>
                        <a:rPr lang="en-IN" sz="1400" dirty="0"/>
                        <a:t>Pre-Ship Time (1)</a:t>
                      </a:r>
                      <a:endParaRPr lang="en-IN" sz="1400" dirty="0">
                        <a:latin typeface="Aptos" panose="020B0004020202020204" pitchFamily="34" charset="0"/>
                      </a:endParaRPr>
                    </a:p>
                  </a:txBody>
                  <a:tcPr/>
                </a:tc>
                <a:tc>
                  <a:txBody>
                    <a:bodyPr/>
                    <a:lstStyle/>
                    <a:p>
                      <a:r>
                        <a:rPr lang="en-IN" sz="1400" dirty="0">
                          <a:solidFill>
                            <a:srgbClr val="FF0000"/>
                          </a:solidFill>
                        </a:rPr>
                        <a:t>Fixed Time (1)</a:t>
                      </a:r>
                      <a:endParaRPr lang="en-IN" sz="1400" dirty="0">
                        <a:solidFill>
                          <a:srgbClr val="FF0000"/>
                        </a:solidFill>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r>
                        <a:rPr lang="en-IN" sz="1400" dirty="0">
                          <a:solidFill>
                            <a:srgbClr val="FF0000"/>
                          </a:solidFill>
                        </a:rPr>
                        <a:t>Lead Time Adjust (2)</a:t>
                      </a:r>
                      <a:endParaRPr lang="en-IN" sz="1400" dirty="0">
                        <a:solidFill>
                          <a:srgbClr val="FF0000"/>
                        </a:solidFill>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solidFill>
                            <a:srgbClr val="FF0000"/>
                          </a:solidFill>
                        </a:rPr>
                        <a:t>Var*Qtd (0.2*10)</a:t>
                      </a:r>
                      <a:endParaRPr lang="en-IN" sz="1400" dirty="0">
                        <a:solidFill>
                          <a:srgbClr val="FF0000"/>
                        </a:solidFill>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10/15/2026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10/12/2026</a:t>
                      </a:r>
                      <a:endParaRPr lang="en-IN" sz="1400" dirty="0">
                        <a:latin typeface="Aptos" panose="020B0004020202020204" pitchFamily="34" charset="0"/>
                      </a:endParaRPr>
                    </a:p>
                  </a:txBody>
                  <a:tcPr/>
                </a:tc>
                <a:tc>
                  <a:txBody>
                    <a:bodyPr/>
                    <a:lstStyle/>
                    <a:p>
                      <a:r>
                        <a:rPr lang="en-IN" sz="1400" dirty="0"/>
                        <a:t>10/11/2026</a:t>
                      </a:r>
                      <a:endParaRPr lang="en-IN" sz="1400" dirty="0">
                        <a:latin typeface="Aptos" panose="020B0004020202020204" pitchFamily="34" charset="0"/>
                      </a:endParaRPr>
                    </a:p>
                  </a:txBody>
                  <a:tcPr/>
                </a:tc>
                <a:tc>
                  <a:txBody>
                    <a:bodyPr/>
                    <a:lstStyle/>
                    <a:p>
                      <a:r>
                        <a:rPr lang="en-IN" sz="1400" dirty="0"/>
                        <a:t>10/11/2026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
        <p:nvSpPr>
          <p:cNvPr id="9" name="TextBox 8">
            <a:extLst>
              <a:ext uri="{FF2B5EF4-FFF2-40B4-BE49-F238E27FC236}">
                <a16:creationId xmlns:a16="http://schemas.microsoft.com/office/drawing/2014/main" id="{B6508589-F25A-AC0A-B609-FD2B6D82173F}"/>
              </a:ext>
            </a:extLst>
          </p:cNvPr>
          <p:cNvSpPr txBox="1"/>
          <p:nvPr/>
        </p:nvSpPr>
        <p:spPr>
          <a:xfrm>
            <a:off x="571500" y="212229"/>
            <a:ext cx="3086100" cy="1692771"/>
          </a:xfrm>
          <a:prstGeom prst="rect">
            <a:avLst/>
          </a:prstGeom>
          <a:noFill/>
        </p:spPr>
        <p:txBody>
          <a:bodyPr wrap="square" rtlCol="0">
            <a:spAutoFit/>
          </a:bodyPr>
          <a:lstStyle/>
          <a:p>
            <a:r>
              <a:rPr lang="en-IN" sz="2400" b="1" dirty="0">
                <a:latin typeface="Aptos" panose="020B0004020202020204" pitchFamily="34" charset="0"/>
              </a:rPr>
              <a:t>Simulation 7: </a:t>
            </a:r>
          </a:p>
          <a:p>
            <a:endParaRPr lang="en-IN" sz="1600" dirty="0">
              <a:latin typeface="Aptos" panose="020B0004020202020204" pitchFamily="34" charset="0"/>
            </a:endParaRPr>
          </a:p>
          <a:p>
            <a:r>
              <a:rPr lang="en-IN" sz="1600" dirty="0">
                <a:latin typeface="Aptos" panose="020B0004020202020204" pitchFamily="34" charset="0"/>
              </a:rPr>
              <a:t>Transit Rule: Cumulative</a:t>
            </a:r>
          </a:p>
          <a:p>
            <a:r>
              <a:rPr lang="en-IN" sz="1600" dirty="0">
                <a:latin typeface="Aptos" panose="020B0004020202020204" pitchFamily="34" charset="0"/>
              </a:rPr>
              <a:t>Type: Transfer</a:t>
            </a:r>
          </a:p>
          <a:p>
            <a:r>
              <a:rPr lang="en-IN" sz="1600" dirty="0">
                <a:latin typeface="Aptos" panose="020B0004020202020204" pitchFamily="34" charset="0"/>
              </a:rPr>
              <a:t>Calendar: Everyday</a:t>
            </a:r>
          </a:p>
          <a:p>
            <a:r>
              <a:rPr lang="en-IN" sz="1600" dirty="0">
                <a:latin typeface="Aptos" panose="020B0004020202020204" pitchFamily="34" charset="0"/>
              </a:rPr>
              <a:t>Site: E3001</a:t>
            </a:r>
          </a:p>
        </p:txBody>
      </p:sp>
    </p:spTree>
    <p:extLst>
      <p:ext uri="{BB962C8B-B14F-4D97-AF65-F5344CB8AC3E}">
        <p14:creationId xmlns:p14="http://schemas.microsoft.com/office/powerpoint/2010/main" val="2930990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FD2ED-FC68-E8D8-AD31-1E4149A9EFF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2653621A-9BBB-8AFE-1758-D13278824CD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1C3EA3FE-9FBC-F04B-A9F3-78BDFE1372C3}"/>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6E91B54E-BF62-8D32-2B29-704E6EB46E34}"/>
              </a:ext>
            </a:extLst>
          </p:cNvPr>
          <p:cNvGraphicFramePr>
            <a:graphicFrameLocks noGrp="1"/>
          </p:cNvGraphicFramePr>
          <p:nvPr>
            <p:extLst>
              <p:ext uri="{D42A27DB-BD31-4B8C-83A1-F6EECF244321}">
                <p14:modId xmlns:p14="http://schemas.microsoft.com/office/powerpoint/2010/main" val="1457803734"/>
              </p:ext>
            </p:extLst>
          </p:nvPr>
        </p:nvGraphicFramePr>
        <p:xfrm>
          <a:off x="571500" y="2030506"/>
          <a:ext cx="11049000" cy="18542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07215874"/>
                    </a:ext>
                  </a:extLst>
                </a:gridCol>
                <a:gridCol w="1841500">
                  <a:extLst>
                    <a:ext uri="{9D8B030D-6E8A-4147-A177-3AD203B41FA5}">
                      <a16:colId xmlns:a16="http://schemas.microsoft.com/office/drawing/2014/main" val="2933060698"/>
                    </a:ext>
                  </a:extLst>
                </a:gridCol>
                <a:gridCol w="1841500">
                  <a:extLst>
                    <a:ext uri="{9D8B030D-6E8A-4147-A177-3AD203B41FA5}">
                      <a16:colId xmlns:a16="http://schemas.microsoft.com/office/drawing/2014/main" val="14527891"/>
                    </a:ext>
                  </a:extLst>
                </a:gridCol>
                <a:gridCol w="1841500">
                  <a:extLst>
                    <a:ext uri="{9D8B030D-6E8A-4147-A177-3AD203B41FA5}">
                      <a16:colId xmlns:a16="http://schemas.microsoft.com/office/drawing/2014/main" val="220212328"/>
                    </a:ext>
                  </a:extLst>
                </a:gridCol>
                <a:gridCol w="2311400">
                  <a:extLst>
                    <a:ext uri="{9D8B030D-6E8A-4147-A177-3AD203B41FA5}">
                      <a16:colId xmlns:a16="http://schemas.microsoft.com/office/drawing/2014/main" val="1686636914"/>
                    </a:ext>
                  </a:extLst>
                </a:gridCol>
                <a:gridCol w="1371600">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(1)</a:t>
                      </a:r>
                      <a:endParaRPr lang="en-IN" sz="1400" dirty="0">
                        <a:latin typeface="Aptos" panose="020B0004020202020204" pitchFamily="34" charset="0"/>
                      </a:endParaRPr>
                    </a:p>
                  </a:txBody>
                  <a:tcPr/>
                </a:tc>
                <a:tc>
                  <a:txBody>
                    <a:bodyPr/>
                    <a:lstStyle/>
                    <a:p>
                      <a:r>
                        <a:rPr lang="en-IN" sz="1400" dirty="0"/>
                        <a:t>Dock To Stock (1)</a:t>
                      </a:r>
                      <a:endParaRPr lang="en-IN" sz="1400" dirty="0">
                        <a:latin typeface="Aptos" panose="020B0004020202020204" pitchFamily="34" charset="0"/>
                      </a:endParaRPr>
                    </a:p>
                  </a:txBody>
                  <a:tcPr/>
                </a:tc>
                <a:tc>
                  <a:txBody>
                    <a:bodyPr/>
                    <a:lstStyle/>
                    <a:p>
                      <a:r>
                        <a:rPr lang="en-IN" sz="1400" dirty="0"/>
                        <a:t>Transit Time (2)</a:t>
                      </a:r>
                      <a:endParaRPr lang="en-IN" sz="1400" dirty="0">
                        <a:latin typeface="Aptos" panose="020B0004020202020204" pitchFamily="34" charset="0"/>
                      </a:endParaRPr>
                    </a:p>
                  </a:txBody>
                  <a:tcPr/>
                </a:tc>
                <a:tc>
                  <a:txBody>
                    <a:bodyPr/>
                    <a:lstStyle/>
                    <a:p>
                      <a:r>
                        <a:rPr lang="en-IN" sz="1400" dirty="0"/>
                        <a:t>Pre-Ship Time (1)</a:t>
                      </a:r>
                      <a:endParaRPr lang="en-IN" sz="1400" dirty="0">
                        <a:latin typeface="Aptos" panose="020B0004020202020204" pitchFamily="34" charset="0"/>
                      </a:endParaRPr>
                    </a:p>
                  </a:txBody>
                  <a:tcPr/>
                </a:tc>
                <a:tc>
                  <a:txBody>
                    <a:bodyPr/>
                    <a:lstStyle/>
                    <a:p>
                      <a:r>
                        <a:rPr lang="en-IN" sz="1400" dirty="0"/>
                        <a:t>Fixed Time (1)</a:t>
                      </a:r>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Lead Time Adjust (2)</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t>Var*Qtd (0.2*10)</a:t>
                      </a:r>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10/15/2026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10/12/2026</a:t>
                      </a:r>
                      <a:endParaRPr lang="en-IN" sz="1400" dirty="0">
                        <a:latin typeface="Aptos" panose="020B0004020202020204" pitchFamily="34" charset="0"/>
                      </a:endParaRPr>
                    </a:p>
                  </a:txBody>
                  <a:tcPr/>
                </a:tc>
                <a:tc>
                  <a:txBody>
                    <a:bodyPr/>
                    <a:lstStyle/>
                    <a:p>
                      <a:r>
                        <a:rPr lang="en-IN" sz="1400" dirty="0"/>
                        <a:t>10/11/2026</a:t>
                      </a:r>
                      <a:endParaRPr lang="en-IN" sz="1400" dirty="0">
                        <a:latin typeface="Aptos" panose="020B0004020202020204" pitchFamily="34" charset="0"/>
                      </a:endParaRPr>
                    </a:p>
                  </a:txBody>
                  <a:tcPr/>
                </a:tc>
                <a:tc>
                  <a:txBody>
                    <a:bodyPr/>
                    <a:lstStyle/>
                    <a:p>
                      <a:r>
                        <a:rPr lang="en-IN" sz="1400" dirty="0"/>
                        <a:t>10/02/2026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
        <p:nvSpPr>
          <p:cNvPr id="7" name="TextBox 6">
            <a:extLst>
              <a:ext uri="{FF2B5EF4-FFF2-40B4-BE49-F238E27FC236}">
                <a16:creationId xmlns:a16="http://schemas.microsoft.com/office/drawing/2014/main" id="{D0B8D091-7B19-903D-C084-02EDB55C2F76}"/>
              </a:ext>
            </a:extLst>
          </p:cNvPr>
          <p:cNvSpPr txBox="1"/>
          <p:nvPr/>
        </p:nvSpPr>
        <p:spPr>
          <a:xfrm>
            <a:off x="571500" y="212229"/>
            <a:ext cx="3086100" cy="1692771"/>
          </a:xfrm>
          <a:prstGeom prst="rect">
            <a:avLst/>
          </a:prstGeom>
          <a:noFill/>
        </p:spPr>
        <p:txBody>
          <a:bodyPr wrap="square" rtlCol="0">
            <a:spAutoFit/>
          </a:bodyPr>
          <a:lstStyle/>
          <a:p>
            <a:r>
              <a:rPr lang="en-IN" sz="2400" b="1" dirty="0">
                <a:latin typeface="Aptos" panose="020B0004020202020204" pitchFamily="34" charset="0"/>
              </a:rPr>
              <a:t>Simulation 8: </a:t>
            </a:r>
          </a:p>
          <a:p>
            <a:endParaRPr lang="en-IN" sz="1600" dirty="0">
              <a:latin typeface="Aptos" panose="020B0004020202020204" pitchFamily="34" charset="0"/>
            </a:endParaRPr>
          </a:p>
          <a:p>
            <a:r>
              <a:rPr lang="en-IN" sz="1600" dirty="0">
                <a:latin typeface="Aptos" panose="020B0004020202020204" pitchFamily="34" charset="0"/>
              </a:rPr>
              <a:t>Transit Rule: Cumulative</a:t>
            </a:r>
          </a:p>
          <a:p>
            <a:r>
              <a:rPr lang="en-IN" sz="1600" dirty="0">
                <a:latin typeface="Aptos" panose="020B0004020202020204" pitchFamily="34" charset="0"/>
              </a:rPr>
              <a:t>Type: Transfer</a:t>
            </a:r>
          </a:p>
          <a:p>
            <a:r>
              <a:rPr lang="en-IN" sz="1600" dirty="0">
                <a:latin typeface="Aptos" panose="020B0004020202020204" pitchFamily="34" charset="0"/>
              </a:rPr>
              <a:t>Calendar: Workday</a:t>
            </a:r>
          </a:p>
          <a:p>
            <a:r>
              <a:rPr lang="en-IN" sz="1600" dirty="0">
                <a:latin typeface="Aptos" panose="020B0004020202020204" pitchFamily="34" charset="0"/>
              </a:rPr>
              <a:t>Site: C1001</a:t>
            </a:r>
          </a:p>
        </p:txBody>
      </p:sp>
      <p:pic>
        <p:nvPicPr>
          <p:cNvPr id="9" name="Picture 8" descr="A screenshot of a computer&#10;&#10;AI-generated content may be incorrect.">
            <a:extLst>
              <a:ext uri="{FF2B5EF4-FFF2-40B4-BE49-F238E27FC236}">
                <a16:creationId xmlns:a16="http://schemas.microsoft.com/office/drawing/2014/main" id="{D92CEB70-8280-1A32-9E72-A5D7A4A6C5AA}"/>
              </a:ext>
            </a:extLst>
          </p:cNvPr>
          <p:cNvPicPr>
            <a:picLocks noChangeAspect="1"/>
          </p:cNvPicPr>
          <p:nvPr/>
        </p:nvPicPr>
        <p:blipFill>
          <a:blip r:embed="rId4"/>
          <a:stretch>
            <a:fillRect/>
          </a:stretch>
        </p:blipFill>
        <p:spPr>
          <a:xfrm>
            <a:off x="571501" y="4072345"/>
            <a:ext cx="11049000" cy="22005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87203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DA9B6-CC4A-104D-655F-0F809D7A3B9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E12289B6-DB99-C3D9-4224-B44D07C7B261}"/>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4A5129D-7373-C2F3-B068-53A087D9009E}"/>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9DD11EC6-6225-5544-D7DD-C38927FF286E}"/>
              </a:ext>
            </a:extLst>
          </p:cNvPr>
          <p:cNvGraphicFramePr>
            <a:graphicFrameLocks noGrp="1"/>
          </p:cNvGraphicFramePr>
          <p:nvPr>
            <p:extLst>
              <p:ext uri="{D42A27DB-BD31-4B8C-83A1-F6EECF244321}">
                <p14:modId xmlns:p14="http://schemas.microsoft.com/office/powerpoint/2010/main" val="3989363072"/>
              </p:ext>
            </p:extLst>
          </p:nvPr>
        </p:nvGraphicFramePr>
        <p:xfrm>
          <a:off x="571500" y="2099198"/>
          <a:ext cx="11049000" cy="18542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07215874"/>
                    </a:ext>
                  </a:extLst>
                </a:gridCol>
                <a:gridCol w="1841500">
                  <a:extLst>
                    <a:ext uri="{9D8B030D-6E8A-4147-A177-3AD203B41FA5}">
                      <a16:colId xmlns:a16="http://schemas.microsoft.com/office/drawing/2014/main" val="2933060698"/>
                    </a:ext>
                  </a:extLst>
                </a:gridCol>
                <a:gridCol w="1841500">
                  <a:extLst>
                    <a:ext uri="{9D8B030D-6E8A-4147-A177-3AD203B41FA5}">
                      <a16:colId xmlns:a16="http://schemas.microsoft.com/office/drawing/2014/main" val="14527891"/>
                    </a:ext>
                  </a:extLst>
                </a:gridCol>
                <a:gridCol w="1841500">
                  <a:extLst>
                    <a:ext uri="{9D8B030D-6E8A-4147-A177-3AD203B41FA5}">
                      <a16:colId xmlns:a16="http://schemas.microsoft.com/office/drawing/2014/main" val="220212328"/>
                    </a:ext>
                  </a:extLst>
                </a:gridCol>
                <a:gridCol w="2311400">
                  <a:extLst>
                    <a:ext uri="{9D8B030D-6E8A-4147-A177-3AD203B41FA5}">
                      <a16:colId xmlns:a16="http://schemas.microsoft.com/office/drawing/2014/main" val="1686636914"/>
                    </a:ext>
                  </a:extLst>
                </a:gridCol>
                <a:gridCol w="1371600">
                  <a:extLst>
                    <a:ext uri="{9D8B030D-6E8A-4147-A177-3AD203B41FA5}">
                      <a16:colId xmlns:a16="http://schemas.microsoft.com/office/drawing/2014/main" val="2711014905"/>
                    </a:ext>
                  </a:extLst>
                </a:gridCol>
              </a:tblGrid>
              <a:tr h="370840">
                <a:tc>
                  <a:txBody>
                    <a:bodyPr/>
                    <a:lstStyle/>
                    <a:p>
                      <a:r>
                        <a:rPr lang="en-IN" sz="1400" dirty="0"/>
                        <a:t>Demand Date</a:t>
                      </a:r>
                      <a:endParaRPr lang="en-IN" sz="1400" dirty="0">
                        <a:latin typeface="Aptos" panose="020B0004020202020204" pitchFamily="34" charset="0"/>
                      </a:endParaRPr>
                    </a:p>
                  </a:txBody>
                  <a:tcPr/>
                </a:tc>
                <a:tc>
                  <a:txBody>
                    <a:bodyPr/>
                    <a:lstStyle/>
                    <a:p>
                      <a:r>
                        <a:rPr lang="en-IN" sz="1400" dirty="0"/>
                        <a:t>Due Date</a:t>
                      </a:r>
                      <a:endParaRPr lang="en-IN" sz="1400" dirty="0">
                        <a:latin typeface="Aptos" panose="020B0004020202020204" pitchFamily="34" charset="0"/>
                      </a:endParaRPr>
                    </a:p>
                  </a:txBody>
                  <a:tcPr/>
                </a:tc>
                <a:tc>
                  <a:txBody>
                    <a:bodyPr/>
                    <a:lstStyle/>
                    <a:p>
                      <a:r>
                        <a:rPr lang="en-IN" sz="1400" dirty="0"/>
                        <a:t>Dock Date</a:t>
                      </a:r>
                      <a:endParaRPr lang="en-IN" sz="1400" dirty="0">
                        <a:latin typeface="Aptos" panose="020B0004020202020204" pitchFamily="34" charset="0"/>
                      </a:endParaRPr>
                    </a:p>
                  </a:txBody>
                  <a:tcPr/>
                </a:tc>
                <a:tc>
                  <a:txBody>
                    <a:bodyPr/>
                    <a:lstStyle/>
                    <a:p>
                      <a:r>
                        <a:rPr lang="en-IN" sz="1400" dirty="0"/>
                        <a:t>Ship Date</a:t>
                      </a:r>
                      <a:endParaRPr lang="en-IN" sz="1400" dirty="0">
                        <a:latin typeface="Aptos" panose="020B0004020202020204" pitchFamily="34" charset="0"/>
                      </a:endParaRPr>
                    </a:p>
                  </a:txBody>
                  <a:tcPr/>
                </a:tc>
                <a:tc>
                  <a:txBody>
                    <a:bodyPr/>
                    <a:lstStyle/>
                    <a:p>
                      <a:r>
                        <a:rPr lang="en-IN" sz="1400" dirty="0"/>
                        <a:t>Build Date</a:t>
                      </a:r>
                      <a:endParaRPr lang="en-IN" sz="1400" dirty="0">
                        <a:latin typeface="Aptos" panose="020B0004020202020204" pitchFamily="34" charset="0"/>
                      </a:endParaRPr>
                    </a:p>
                  </a:txBody>
                  <a:tcPr/>
                </a:tc>
                <a:tc>
                  <a:txBody>
                    <a:bodyPr/>
                    <a:lstStyle/>
                    <a:p>
                      <a:r>
                        <a:rPr lang="en-IN" sz="1400" dirty="0"/>
                        <a:t>Start Date</a:t>
                      </a:r>
                      <a:endParaRPr lang="en-IN" sz="1400" dirty="0">
                        <a:latin typeface="Aptos" panose="020B0004020202020204" pitchFamily="34" charset="0"/>
                      </a:endParaRPr>
                    </a:p>
                  </a:txBody>
                  <a:tcPr/>
                </a:tc>
                <a:extLst>
                  <a:ext uri="{0D108BD9-81ED-4DB2-BD59-A6C34878D82A}">
                    <a16:rowId xmlns:a16="http://schemas.microsoft.com/office/drawing/2014/main" val="390642305"/>
                  </a:ext>
                </a:extLst>
              </a:tr>
              <a:tr h="370840">
                <a:tc>
                  <a:txBody>
                    <a:bodyPr/>
                    <a:lstStyle/>
                    <a:p>
                      <a:r>
                        <a:rPr lang="en-IN" sz="1400" dirty="0"/>
                        <a:t>Safety time (1)</a:t>
                      </a:r>
                      <a:endParaRPr lang="en-IN" sz="1400" dirty="0">
                        <a:latin typeface="Aptos" panose="020B0004020202020204" pitchFamily="34" charset="0"/>
                      </a:endParaRPr>
                    </a:p>
                  </a:txBody>
                  <a:tcPr/>
                </a:tc>
                <a:tc>
                  <a:txBody>
                    <a:bodyPr/>
                    <a:lstStyle/>
                    <a:p>
                      <a:r>
                        <a:rPr lang="en-IN" sz="1400" dirty="0"/>
                        <a:t>Dock To Stock (1)</a:t>
                      </a:r>
                      <a:endParaRPr lang="en-IN" sz="1400" dirty="0">
                        <a:latin typeface="Aptos" panose="020B0004020202020204" pitchFamily="34" charset="0"/>
                      </a:endParaRPr>
                    </a:p>
                  </a:txBody>
                  <a:tcPr/>
                </a:tc>
                <a:tc>
                  <a:txBody>
                    <a:bodyPr/>
                    <a:lstStyle/>
                    <a:p>
                      <a:r>
                        <a:rPr lang="en-IN" sz="1400" dirty="0"/>
                        <a:t>Transit Time (2)</a:t>
                      </a:r>
                      <a:endParaRPr lang="en-IN" sz="1400" dirty="0">
                        <a:latin typeface="Aptos" panose="020B0004020202020204" pitchFamily="34" charset="0"/>
                      </a:endParaRPr>
                    </a:p>
                  </a:txBody>
                  <a:tcPr/>
                </a:tc>
                <a:tc>
                  <a:txBody>
                    <a:bodyPr/>
                    <a:lstStyle/>
                    <a:p>
                      <a:r>
                        <a:rPr lang="en-IN" sz="1400" dirty="0"/>
                        <a:t>Pre-Ship Time (1)</a:t>
                      </a:r>
                      <a:endParaRPr lang="en-IN" sz="1400" dirty="0">
                        <a:latin typeface="Aptos" panose="020B0004020202020204" pitchFamily="34" charset="0"/>
                      </a:endParaRPr>
                    </a:p>
                  </a:txBody>
                  <a:tcPr/>
                </a:tc>
                <a:tc>
                  <a:txBody>
                    <a:bodyPr/>
                    <a:lstStyle/>
                    <a:p>
                      <a:r>
                        <a:rPr lang="en-IN" sz="1400" dirty="0">
                          <a:solidFill>
                            <a:srgbClr val="FF0000"/>
                          </a:solidFill>
                        </a:rPr>
                        <a:t>Fixed Time (1)</a:t>
                      </a:r>
                      <a:endParaRPr lang="en-IN" sz="1400" dirty="0">
                        <a:solidFill>
                          <a:srgbClr val="FF0000"/>
                        </a:solidFill>
                        <a:latin typeface="Aptos" panose="020B0004020202020204" pitchFamily="34" charset="0"/>
                      </a:endParaRPr>
                    </a:p>
                  </a:txBody>
                  <a:tcPr/>
                </a:tc>
                <a:tc>
                  <a:txBody>
                    <a:bodyPr/>
                    <a:lstStyle/>
                    <a:p>
                      <a:endParaRPr lang="en-IN" sz="1400" dirty="0">
                        <a:latin typeface="Aptos" panose="020B0004020202020204" pitchFamily="34" charset="0"/>
                      </a:endParaRPr>
                    </a:p>
                  </a:txBody>
                  <a:tcPr/>
                </a:tc>
                <a:extLst>
                  <a:ext uri="{0D108BD9-81ED-4DB2-BD59-A6C34878D82A}">
                    <a16:rowId xmlns:a16="http://schemas.microsoft.com/office/drawing/2014/main" val="3332257183"/>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solidFill>
                            <a:srgbClr val="FF0000"/>
                          </a:solidFill>
                        </a:rPr>
                        <a:t>Lead Time Adjust (2)</a:t>
                      </a:r>
                      <a:endParaRPr lang="en-IN" sz="1400" dirty="0">
                        <a:solidFill>
                          <a:srgbClr val="FF0000"/>
                        </a:solidFill>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689840620"/>
                  </a:ext>
                </a:extLst>
              </a:tr>
              <a:tr h="370840">
                <a:tc>
                  <a:txBody>
                    <a:bodyPr/>
                    <a:lstStyle/>
                    <a:p>
                      <a:endParaRPr lang="en-IN" sz="1400" dirty="0">
                        <a:latin typeface="Aptos" panose="020B0004020202020204" pitchFamily="34" charset="0"/>
                      </a:endParaRPr>
                    </a:p>
                  </a:txBody>
                  <a:tcPr/>
                </a:tc>
                <a:tc>
                  <a:txBody>
                    <a:bodyPr/>
                    <a:lstStyle/>
                    <a:p>
                      <a:endParaRPr lang="en-IN" sz="1400" dirty="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endParaRPr lang="en-IN" sz="1400">
                        <a:latin typeface="Aptos" panose="020B0004020202020204" pitchFamily="34" charset="0"/>
                      </a:endParaRPr>
                    </a:p>
                  </a:txBody>
                  <a:tcPr/>
                </a:tc>
                <a:tc>
                  <a:txBody>
                    <a:bodyPr/>
                    <a:lstStyle/>
                    <a:p>
                      <a:r>
                        <a:rPr lang="en-IN" sz="1400" dirty="0">
                          <a:solidFill>
                            <a:srgbClr val="FF0000"/>
                          </a:solidFill>
                        </a:rPr>
                        <a:t>Var*Qtd (0.2*10)</a:t>
                      </a:r>
                      <a:endParaRPr lang="en-IN" sz="1400" dirty="0">
                        <a:solidFill>
                          <a:srgbClr val="FF0000"/>
                        </a:solidFill>
                        <a:latin typeface="Aptos" panose="020B0004020202020204" pitchFamily="34" charset="0"/>
                      </a:endParaRPr>
                    </a:p>
                  </a:txBody>
                  <a:tcPr/>
                </a:tc>
                <a:tc>
                  <a:txBody>
                    <a:bodyPr/>
                    <a:lstStyle/>
                    <a:p>
                      <a:endParaRPr lang="en-IN" sz="1400">
                        <a:latin typeface="Aptos" panose="020B0004020202020204" pitchFamily="34" charset="0"/>
                      </a:endParaRPr>
                    </a:p>
                  </a:txBody>
                  <a:tcPr/>
                </a:tc>
                <a:extLst>
                  <a:ext uri="{0D108BD9-81ED-4DB2-BD59-A6C34878D82A}">
                    <a16:rowId xmlns:a16="http://schemas.microsoft.com/office/drawing/2014/main" val="4266255566"/>
                  </a:ext>
                </a:extLst>
              </a:tr>
              <a:tr h="370840">
                <a:tc>
                  <a:txBody>
                    <a:bodyPr/>
                    <a:lstStyle/>
                    <a:p>
                      <a:r>
                        <a:rPr lang="en-IN" sz="1400" dirty="0"/>
                        <a:t>10/16/2026</a:t>
                      </a:r>
                      <a:endParaRPr lang="en-IN" sz="1400" dirty="0">
                        <a:latin typeface="Aptos" panose="020B0004020202020204" pitchFamily="34" charset="0"/>
                      </a:endParaRPr>
                    </a:p>
                  </a:txBody>
                  <a:tcPr/>
                </a:tc>
                <a:tc>
                  <a:txBody>
                    <a:bodyPr/>
                    <a:lstStyle/>
                    <a:p>
                      <a:r>
                        <a:rPr lang="en-IN" sz="1400" dirty="0"/>
                        <a:t>10/15/2026</a:t>
                      </a:r>
                      <a:endParaRPr lang="en-IN" sz="1400" dirty="0">
                        <a:latin typeface="Aptos" panose="020B0004020202020204" pitchFamily="34" charset="0"/>
                      </a:endParaRPr>
                    </a:p>
                  </a:txBody>
                  <a:tcPr/>
                </a:tc>
                <a:tc>
                  <a:txBody>
                    <a:bodyPr/>
                    <a:lstStyle/>
                    <a:p>
                      <a:r>
                        <a:rPr lang="en-IN" sz="1400" dirty="0"/>
                        <a:t>10/14/2026</a:t>
                      </a:r>
                      <a:endParaRPr lang="en-IN" sz="1400" dirty="0">
                        <a:latin typeface="Aptos" panose="020B0004020202020204" pitchFamily="34" charset="0"/>
                      </a:endParaRPr>
                    </a:p>
                  </a:txBody>
                  <a:tcPr/>
                </a:tc>
                <a:tc>
                  <a:txBody>
                    <a:bodyPr/>
                    <a:lstStyle/>
                    <a:p>
                      <a:r>
                        <a:rPr lang="en-IN" sz="1400" dirty="0"/>
                        <a:t>10/12/2026</a:t>
                      </a:r>
                      <a:endParaRPr lang="en-IN" sz="1400" dirty="0">
                        <a:latin typeface="Aptos" panose="020B0004020202020204" pitchFamily="34" charset="0"/>
                      </a:endParaRPr>
                    </a:p>
                  </a:txBody>
                  <a:tcPr/>
                </a:tc>
                <a:tc>
                  <a:txBody>
                    <a:bodyPr/>
                    <a:lstStyle/>
                    <a:p>
                      <a:r>
                        <a:rPr lang="en-IN" sz="1400" dirty="0"/>
                        <a:t>10/09/2026</a:t>
                      </a:r>
                      <a:endParaRPr lang="en-IN" sz="1400" dirty="0">
                        <a:latin typeface="Aptos" panose="020B0004020202020204" pitchFamily="34" charset="0"/>
                      </a:endParaRPr>
                    </a:p>
                  </a:txBody>
                  <a:tcPr/>
                </a:tc>
                <a:tc>
                  <a:txBody>
                    <a:bodyPr/>
                    <a:lstStyle/>
                    <a:p>
                      <a:r>
                        <a:rPr lang="en-IN" sz="1400" dirty="0"/>
                        <a:t>10/09/2026</a:t>
                      </a:r>
                      <a:endParaRPr lang="en-IN" sz="1400" dirty="0">
                        <a:latin typeface="Aptos" panose="020B0004020202020204" pitchFamily="34" charset="0"/>
                      </a:endParaRPr>
                    </a:p>
                  </a:txBody>
                  <a:tcPr/>
                </a:tc>
                <a:extLst>
                  <a:ext uri="{0D108BD9-81ED-4DB2-BD59-A6C34878D82A}">
                    <a16:rowId xmlns:a16="http://schemas.microsoft.com/office/drawing/2014/main" val="2858199361"/>
                  </a:ext>
                </a:extLst>
              </a:tr>
            </a:tbl>
          </a:graphicData>
        </a:graphic>
      </p:graphicFrame>
      <p:sp>
        <p:nvSpPr>
          <p:cNvPr id="7" name="TextBox 6">
            <a:extLst>
              <a:ext uri="{FF2B5EF4-FFF2-40B4-BE49-F238E27FC236}">
                <a16:creationId xmlns:a16="http://schemas.microsoft.com/office/drawing/2014/main" id="{B5F4890E-45EB-7380-914A-269E5C3B4601}"/>
              </a:ext>
            </a:extLst>
          </p:cNvPr>
          <p:cNvSpPr txBox="1"/>
          <p:nvPr/>
        </p:nvSpPr>
        <p:spPr>
          <a:xfrm>
            <a:off x="571500" y="212229"/>
            <a:ext cx="3086100" cy="1692771"/>
          </a:xfrm>
          <a:prstGeom prst="rect">
            <a:avLst/>
          </a:prstGeom>
          <a:noFill/>
        </p:spPr>
        <p:txBody>
          <a:bodyPr wrap="square" rtlCol="0">
            <a:spAutoFit/>
          </a:bodyPr>
          <a:lstStyle/>
          <a:p>
            <a:r>
              <a:rPr lang="en-IN" sz="2400" b="1" dirty="0">
                <a:latin typeface="Aptos" panose="020B0004020202020204" pitchFamily="34" charset="0"/>
              </a:rPr>
              <a:t>Simulation 8: </a:t>
            </a:r>
          </a:p>
          <a:p>
            <a:endParaRPr lang="en-IN" sz="1600" dirty="0">
              <a:latin typeface="Aptos" panose="020B0004020202020204" pitchFamily="34" charset="0"/>
            </a:endParaRPr>
          </a:p>
          <a:p>
            <a:r>
              <a:rPr lang="en-IN" sz="1600" dirty="0">
                <a:latin typeface="Aptos" panose="020B0004020202020204" pitchFamily="34" charset="0"/>
              </a:rPr>
              <a:t>Transit Rule: Cumulative</a:t>
            </a:r>
          </a:p>
          <a:p>
            <a:r>
              <a:rPr lang="en-IN" sz="1600" dirty="0">
                <a:latin typeface="Aptos" panose="020B0004020202020204" pitchFamily="34" charset="0"/>
              </a:rPr>
              <a:t>Type: Transfer</a:t>
            </a:r>
          </a:p>
          <a:p>
            <a:r>
              <a:rPr lang="en-IN" sz="1600" dirty="0">
                <a:latin typeface="Aptos" panose="020B0004020202020204" pitchFamily="34" charset="0"/>
              </a:rPr>
              <a:t>Calendar: Workday</a:t>
            </a:r>
          </a:p>
          <a:p>
            <a:r>
              <a:rPr lang="en-IN" sz="1600" dirty="0">
                <a:latin typeface="Aptos" panose="020B0004020202020204" pitchFamily="34" charset="0"/>
              </a:rPr>
              <a:t>Site: E3001</a:t>
            </a:r>
          </a:p>
        </p:txBody>
      </p:sp>
      <p:pic>
        <p:nvPicPr>
          <p:cNvPr id="9" name="Picture 8" descr="A screenshot of a computer&#10;&#10;AI-generated content may be incorrect.">
            <a:extLst>
              <a:ext uri="{FF2B5EF4-FFF2-40B4-BE49-F238E27FC236}">
                <a16:creationId xmlns:a16="http://schemas.microsoft.com/office/drawing/2014/main" id="{18D90862-4A7A-DE3E-E64C-992792CBF4E3}"/>
              </a:ext>
            </a:extLst>
          </p:cNvPr>
          <p:cNvPicPr>
            <a:picLocks noChangeAspect="1"/>
          </p:cNvPicPr>
          <p:nvPr/>
        </p:nvPicPr>
        <p:blipFill>
          <a:blip r:embed="rId4"/>
          <a:stretch>
            <a:fillRect/>
          </a:stretch>
        </p:blipFill>
        <p:spPr>
          <a:xfrm>
            <a:off x="571501" y="4072345"/>
            <a:ext cx="11049000" cy="22005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883184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37A3D-F37A-E096-7F75-7731A593B5C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CBA06735-BF5A-B7EB-7809-D23E47BBDFAD}"/>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7B154F83-7908-88CE-9A3D-9BFCD86FE4C7}"/>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0CAC8A61-FD1F-B9B6-A143-7C94E8E9390E}"/>
              </a:ext>
            </a:extLst>
          </p:cNvPr>
          <p:cNvSpPr txBox="1"/>
          <p:nvPr/>
        </p:nvSpPr>
        <p:spPr>
          <a:xfrm>
            <a:off x="461680" y="424132"/>
            <a:ext cx="11102789" cy="5478423"/>
          </a:xfrm>
          <a:prstGeom prst="rect">
            <a:avLst/>
          </a:prstGeom>
          <a:noFill/>
        </p:spPr>
        <p:txBody>
          <a:bodyPr wrap="square" rtlCol="0">
            <a:spAutoFit/>
          </a:bodyPr>
          <a:lstStyle/>
          <a:p>
            <a:r>
              <a:rPr lang="en-IN" sz="2800" b="1" u="sng" dirty="0">
                <a:latin typeface="Aptos" panose="020B0004020202020204" pitchFamily="34" charset="0"/>
              </a:rPr>
              <a:t>Time – Phased Lead Time</a:t>
            </a:r>
          </a:p>
          <a:p>
            <a:endParaRPr lang="en-IN" sz="2000" b="1" dirty="0">
              <a:latin typeface="Aptos" panose="020B0004020202020204" pitchFamily="34" charset="0"/>
            </a:endParaRPr>
          </a:p>
          <a:p>
            <a:r>
              <a:rPr lang="en-US" sz="1400" dirty="0">
                <a:latin typeface="Aptos" panose="020B0004020202020204" pitchFamily="34" charset="0"/>
              </a:rPr>
              <a:t>Lead time that changes with the calendar, instead of one fixed number all year.</a:t>
            </a:r>
          </a:p>
          <a:p>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What it is</a:t>
            </a:r>
          </a:p>
          <a:p>
            <a:r>
              <a:rPr lang="en-US" sz="1400" dirty="0">
                <a:latin typeface="Aptos" panose="020B0004020202020204" pitchFamily="34" charset="0"/>
              </a:rPr>
              <a:t>	Lead time values can change over time. You set them for specific date ranges, and they override the standard (default) value.</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Where it is stored</a:t>
            </a:r>
          </a:p>
          <a:p>
            <a:r>
              <a:rPr lang="en-US" sz="1400" dirty="0">
                <a:latin typeface="Aptos" panose="020B0004020202020204" pitchFamily="34" charset="0"/>
              </a:rPr>
              <a:t>	Date-range records in the </a:t>
            </a:r>
            <a:r>
              <a:rPr lang="en-US" sz="1400" i="1" dirty="0" err="1">
                <a:latin typeface="Aptos" panose="020B0004020202020204" pitchFamily="34" charset="0"/>
              </a:rPr>
              <a:t>TimePhasedPartSourceLeadTime</a:t>
            </a:r>
            <a:r>
              <a:rPr lang="en-US" sz="1400" dirty="0">
                <a:latin typeface="Aptos" panose="020B0004020202020204" pitchFamily="34" charset="0"/>
              </a:rPr>
              <a:t> and </a:t>
            </a:r>
            <a:r>
              <a:rPr lang="en-US" sz="1400" i="1" dirty="0" err="1">
                <a:latin typeface="Aptos" panose="020B0004020202020204" pitchFamily="34" charset="0"/>
              </a:rPr>
              <a:t>TimePhasedSourceLeadTime</a:t>
            </a:r>
            <a:r>
              <a:rPr lang="en-US" sz="1400" dirty="0">
                <a:latin typeface="Aptos" panose="020B0004020202020204" pitchFamily="34" charset="0"/>
              </a:rPr>
              <a:t> tables. The defaults live in </a:t>
            </a:r>
            <a:r>
              <a:rPr lang="en-US" sz="1400" dirty="0" err="1">
                <a:latin typeface="Aptos" panose="020B0004020202020204" pitchFamily="34" charset="0"/>
              </a:rPr>
              <a:t>PartSource</a:t>
            </a:r>
            <a:r>
              <a:rPr lang="en-US" sz="1400" dirty="0">
                <a:latin typeface="Aptos" panose="020B0004020202020204" pitchFamily="34" charset="0"/>
              </a:rPr>
              <a:t> / Source.</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err="1">
                <a:latin typeface="Aptos" panose="020B0004020202020204" pitchFamily="34" charset="0"/>
              </a:rPr>
              <a:t>EffectiveInDate</a:t>
            </a:r>
            <a:endParaRPr lang="en-US" sz="1400" b="1" dirty="0">
              <a:latin typeface="Aptos" panose="020B0004020202020204" pitchFamily="34" charset="0"/>
            </a:endParaRPr>
          </a:p>
          <a:p>
            <a:r>
              <a:rPr lang="en-US" sz="1400" dirty="0">
                <a:latin typeface="Aptos" panose="020B0004020202020204" pitchFamily="34" charset="0"/>
              </a:rPr>
              <a:t>	The start date of a time-phased lead time record. It stays valid until the next </a:t>
            </a:r>
            <a:r>
              <a:rPr lang="en-US" sz="1400" i="1" dirty="0" err="1">
                <a:latin typeface="Aptos" panose="020B0004020202020204" pitchFamily="34" charset="0"/>
              </a:rPr>
              <a:t>EffectiveInDate</a:t>
            </a:r>
            <a:r>
              <a:rPr lang="en-US" sz="1400" dirty="0">
                <a:latin typeface="Aptos" panose="020B0004020202020204" pitchFamily="34" charset="0"/>
              </a:rPr>
              <a:t>.</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err="1">
                <a:latin typeface="Aptos" panose="020B0004020202020204" pitchFamily="34" charset="0"/>
              </a:rPr>
              <a:t>ParameterDate</a:t>
            </a:r>
            <a:endParaRPr lang="en-US" sz="1400" b="1" dirty="0">
              <a:latin typeface="Aptos" panose="020B0004020202020204" pitchFamily="34" charset="0"/>
            </a:endParaRPr>
          </a:p>
          <a:p>
            <a:r>
              <a:rPr lang="en-US" sz="1400" dirty="0">
                <a:latin typeface="Aptos" panose="020B0004020202020204" pitchFamily="34" charset="0"/>
              </a:rPr>
              <a:t>	Found on </a:t>
            </a:r>
            <a:r>
              <a:rPr lang="en-US" sz="1400" i="1" dirty="0" err="1">
                <a:latin typeface="Aptos" panose="020B0004020202020204" pitchFamily="34" charset="0"/>
              </a:rPr>
              <a:t>PlannedOrder</a:t>
            </a:r>
            <a:r>
              <a:rPr lang="en-US" sz="1400" dirty="0">
                <a:latin typeface="Aptos" panose="020B0004020202020204" pitchFamily="34" charset="0"/>
              </a:rPr>
              <a:t> and </a:t>
            </a:r>
            <a:r>
              <a:rPr lang="en-US" sz="1400" i="1" dirty="0" err="1">
                <a:latin typeface="Aptos" panose="020B0004020202020204" pitchFamily="34" charset="0"/>
              </a:rPr>
              <a:t>ScheduledReceipt</a:t>
            </a:r>
            <a:r>
              <a:rPr lang="en-US" sz="1400" dirty="0">
                <a:latin typeface="Aptos" panose="020B0004020202020204" pitchFamily="34" charset="0"/>
              </a:rPr>
              <a:t>. It usually equals the order's due date.</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How it works</a:t>
            </a:r>
          </a:p>
          <a:p>
            <a:r>
              <a:rPr lang="en-US" sz="1400" dirty="0">
                <a:latin typeface="Aptos" panose="020B0004020202020204" pitchFamily="34" charset="0"/>
              </a:rPr>
              <a:t>	Compare </a:t>
            </a:r>
            <a:r>
              <a:rPr lang="en-US" sz="1400" i="1" dirty="0" err="1">
                <a:latin typeface="Aptos" panose="020B0004020202020204" pitchFamily="34" charset="0"/>
              </a:rPr>
              <a:t>ParameterDate</a:t>
            </a:r>
            <a:r>
              <a:rPr lang="en-US" sz="1400" dirty="0">
                <a:latin typeface="Aptos" panose="020B0004020202020204" pitchFamily="34" charset="0"/>
              </a:rPr>
              <a:t> with </a:t>
            </a:r>
            <a:r>
              <a:rPr lang="en-US" sz="1400" i="1" dirty="0" err="1">
                <a:latin typeface="Aptos" panose="020B0004020202020204" pitchFamily="34" charset="0"/>
              </a:rPr>
              <a:t>EffectiveInDate</a:t>
            </a:r>
            <a:r>
              <a:rPr lang="en-US" sz="1400" dirty="0">
                <a:latin typeface="Aptos" panose="020B0004020202020204" pitchFamily="34" charset="0"/>
              </a:rPr>
              <a:t>. The closest </a:t>
            </a:r>
            <a:r>
              <a:rPr lang="en-US" sz="1400" i="1" dirty="0" err="1">
                <a:latin typeface="Aptos" panose="020B0004020202020204" pitchFamily="34" charset="0"/>
              </a:rPr>
              <a:t>EffectiveInDate</a:t>
            </a:r>
            <a:r>
              <a:rPr lang="en-US" sz="1400" dirty="0">
                <a:latin typeface="Aptos" panose="020B0004020202020204" pitchFamily="34" charset="0"/>
              </a:rPr>
              <a:t> on or before </a:t>
            </a:r>
            <a:r>
              <a:rPr lang="en-US" sz="1400" i="1" dirty="0" err="1">
                <a:latin typeface="Aptos" panose="020B0004020202020204" pitchFamily="34" charset="0"/>
              </a:rPr>
              <a:t>ParameterDate</a:t>
            </a:r>
            <a:r>
              <a:rPr lang="en-US" sz="1400" dirty="0">
                <a:latin typeface="Aptos" panose="020B0004020202020204" pitchFamily="34" charset="0"/>
              </a:rPr>
              <a:t> applies.</a:t>
            </a:r>
          </a:p>
          <a:p>
            <a:pPr marL="285750" indent="-285750">
              <a:buFont typeface="Arial" panose="020B0604020202020204" pitchFamily="34" charset="0"/>
              <a:buChar char="•"/>
            </a:pPr>
            <a:endParaRPr lang="en-US" sz="1400" i="1"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Real-life example</a:t>
            </a:r>
          </a:p>
          <a:p>
            <a:r>
              <a:rPr lang="en-US" sz="1400" dirty="0">
                <a:latin typeface="Aptos" panose="020B0004020202020204" pitchFamily="34" charset="0"/>
              </a:rPr>
              <a:t>	A courier normally delivers in 10 days. In festival season (Oct 15 to Nov 15) trucks are slower, so it takes 14 days. Planning with one fixed number would make festival orders late.</a:t>
            </a:r>
          </a:p>
        </p:txBody>
      </p:sp>
    </p:spTree>
    <p:extLst>
      <p:ext uri="{BB962C8B-B14F-4D97-AF65-F5344CB8AC3E}">
        <p14:creationId xmlns:p14="http://schemas.microsoft.com/office/powerpoint/2010/main" val="324436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F2011-553E-1670-E596-2FFC9B525043}"/>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1A8FE789-88C2-6D4F-3067-E87079303797}"/>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6A6215C8-2708-A25A-9EB4-CCA57C828812}"/>
              </a:ext>
            </a:extLst>
          </p:cNvPr>
          <p:cNvPicPr>
            <a:picLocks noChangeAspect="1"/>
          </p:cNvPicPr>
          <p:nvPr/>
        </p:nvPicPr>
        <p:blipFill>
          <a:blip r:embed="rId3"/>
          <a:stretch>
            <a:fillRect/>
          </a:stretch>
        </p:blipFill>
        <p:spPr>
          <a:xfrm>
            <a:off x="9181381" y="65406"/>
            <a:ext cx="2743200" cy="717452"/>
          </a:xfrm>
          <a:prstGeom prst="rect">
            <a:avLst/>
          </a:prstGeom>
        </p:spPr>
      </p:pic>
      <p:sp>
        <p:nvSpPr>
          <p:cNvPr id="7" name="Text 1">
            <a:extLst>
              <a:ext uri="{FF2B5EF4-FFF2-40B4-BE49-F238E27FC236}">
                <a16:creationId xmlns:a16="http://schemas.microsoft.com/office/drawing/2014/main" id="{5D754611-8F3F-8999-C941-18E2AB208E7C}"/>
              </a:ext>
            </a:extLst>
          </p:cNvPr>
          <p:cNvSpPr txBox="1"/>
          <p:nvPr/>
        </p:nvSpPr>
        <p:spPr>
          <a:xfrm>
            <a:off x="801449" y="727340"/>
            <a:ext cx="8046720" cy="548640"/>
          </a:xfrm>
          <a:prstGeom prst="rect">
            <a:avLst/>
          </a:prstGeom>
          <a:noFill/>
          <a:ln/>
        </p:spPr>
        <p:txBody>
          <a:bodyPr wrap="square" lIns="0" tIns="0" rIns="0" bIns="0" rtlCol="0" anchor="ctr"/>
          <a:lstStyle/>
          <a:p>
            <a:pPr marL="0" indent="0">
              <a:buNone/>
            </a:pPr>
            <a:r>
              <a:rPr lang="en-US" sz="2800" b="1" dirty="0">
                <a:ea typeface="Calibri" pitchFamily="34" charset="-122"/>
                <a:cs typeface="Calibri" pitchFamily="34" charset="-120"/>
              </a:rPr>
              <a:t>How the Lookup Works:</a:t>
            </a:r>
            <a:endParaRPr lang="en-US" sz="2800" dirty="0"/>
          </a:p>
        </p:txBody>
      </p:sp>
      <p:sp>
        <p:nvSpPr>
          <p:cNvPr id="9" name="Text 2">
            <a:extLst>
              <a:ext uri="{FF2B5EF4-FFF2-40B4-BE49-F238E27FC236}">
                <a16:creationId xmlns:a16="http://schemas.microsoft.com/office/drawing/2014/main" id="{258BE013-85DF-49B6-88F3-51D428525BE4}"/>
              </a:ext>
            </a:extLst>
          </p:cNvPr>
          <p:cNvSpPr txBox="1"/>
          <p:nvPr/>
        </p:nvSpPr>
        <p:spPr>
          <a:xfrm>
            <a:off x="855235" y="1407015"/>
            <a:ext cx="8046720" cy="365760"/>
          </a:xfrm>
          <a:prstGeom prst="rect">
            <a:avLst/>
          </a:prstGeom>
          <a:noFill/>
          <a:ln/>
        </p:spPr>
        <p:txBody>
          <a:bodyPr wrap="square" lIns="0" tIns="0" rIns="0" bIns="0" rtlCol="0" anchor="ctr"/>
          <a:lstStyle/>
          <a:p>
            <a:pPr marL="0" indent="0">
              <a:buNone/>
            </a:pPr>
            <a:r>
              <a:rPr lang="en-US" sz="1400" dirty="0">
                <a:ea typeface="Calibri" pitchFamily="34" charset="-122"/>
                <a:cs typeface="Calibri" pitchFamily="34" charset="-120"/>
              </a:rPr>
              <a:t>Default transit lead time in PartSource = 8 days</a:t>
            </a:r>
            <a:endParaRPr lang="en-US" sz="1400" dirty="0"/>
          </a:p>
        </p:txBody>
      </p:sp>
      <p:sp>
        <p:nvSpPr>
          <p:cNvPr id="11" name="Text 3">
            <a:extLst>
              <a:ext uri="{FF2B5EF4-FFF2-40B4-BE49-F238E27FC236}">
                <a16:creationId xmlns:a16="http://schemas.microsoft.com/office/drawing/2014/main" id="{FF27F9DC-CB51-17C9-5ED8-107CD69F3199}"/>
              </a:ext>
            </a:extLst>
          </p:cNvPr>
          <p:cNvSpPr txBox="1"/>
          <p:nvPr/>
        </p:nvSpPr>
        <p:spPr>
          <a:xfrm>
            <a:off x="855235" y="2190018"/>
            <a:ext cx="3291840" cy="274320"/>
          </a:xfrm>
          <a:prstGeom prst="rect">
            <a:avLst/>
          </a:prstGeom>
          <a:noFill/>
          <a:ln/>
        </p:spPr>
        <p:txBody>
          <a:bodyPr wrap="square" lIns="0" tIns="0" rIns="0" bIns="0" rtlCol="0" anchor="ctr"/>
          <a:lstStyle/>
          <a:p>
            <a:pPr marL="0" indent="0">
              <a:buNone/>
            </a:pPr>
            <a:r>
              <a:rPr lang="en-US" sz="1400" b="1" dirty="0">
                <a:ea typeface="Calibri" pitchFamily="34" charset="-122"/>
                <a:cs typeface="Calibri" pitchFamily="34" charset="-120"/>
              </a:rPr>
              <a:t>Time-phased records</a:t>
            </a:r>
            <a:endParaRPr lang="en-US" sz="1400" dirty="0"/>
          </a:p>
        </p:txBody>
      </p:sp>
      <p:sp>
        <p:nvSpPr>
          <p:cNvPr id="15" name="Text 4">
            <a:extLst>
              <a:ext uri="{FF2B5EF4-FFF2-40B4-BE49-F238E27FC236}">
                <a16:creationId xmlns:a16="http://schemas.microsoft.com/office/drawing/2014/main" id="{33D153A5-B62B-6F23-CE38-AF9541118A77}"/>
              </a:ext>
            </a:extLst>
          </p:cNvPr>
          <p:cNvSpPr txBox="1"/>
          <p:nvPr/>
        </p:nvSpPr>
        <p:spPr>
          <a:xfrm>
            <a:off x="5174429" y="2108738"/>
            <a:ext cx="4389120" cy="274320"/>
          </a:xfrm>
          <a:prstGeom prst="rect">
            <a:avLst/>
          </a:prstGeom>
          <a:noFill/>
          <a:ln/>
        </p:spPr>
        <p:txBody>
          <a:bodyPr wrap="square" lIns="0" tIns="0" rIns="0" bIns="0" rtlCol="0" anchor="ctr"/>
          <a:lstStyle/>
          <a:p>
            <a:pPr marL="0" indent="0">
              <a:buNone/>
            </a:pPr>
            <a:r>
              <a:rPr lang="en-US" sz="1400" b="1" dirty="0">
                <a:ea typeface="Calibri" pitchFamily="34" charset="-122"/>
                <a:cs typeface="Calibri" pitchFamily="34" charset="-120"/>
              </a:rPr>
              <a:t>Which lead time applies?</a:t>
            </a:r>
            <a:endParaRPr lang="en-US" sz="1400" b="1" dirty="0"/>
          </a:p>
        </p:txBody>
      </p:sp>
      <p:sp>
        <p:nvSpPr>
          <p:cNvPr id="23" name="Text 7">
            <a:extLst>
              <a:ext uri="{FF2B5EF4-FFF2-40B4-BE49-F238E27FC236}">
                <a16:creationId xmlns:a16="http://schemas.microsoft.com/office/drawing/2014/main" id="{93673BD1-56B1-0704-C393-B85036648D21}"/>
              </a:ext>
            </a:extLst>
          </p:cNvPr>
          <p:cNvSpPr txBox="1"/>
          <p:nvPr/>
        </p:nvSpPr>
        <p:spPr>
          <a:xfrm>
            <a:off x="855235" y="4664330"/>
            <a:ext cx="3291840" cy="1188720"/>
          </a:xfrm>
          <a:prstGeom prst="rect">
            <a:avLst/>
          </a:prstGeom>
          <a:noFill/>
          <a:ln/>
        </p:spPr>
        <p:txBody>
          <a:bodyPr wrap="square" lIns="0" tIns="0" rIns="0" bIns="0" rtlCol="0" anchor="ctr"/>
          <a:lstStyle/>
          <a:p>
            <a:pPr marL="0" indent="0">
              <a:buNone/>
            </a:pPr>
            <a:r>
              <a:rPr lang="en-US" sz="1400" b="1" dirty="0">
                <a:ea typeface="Calibri" pitchFamily="34" charset="-122"/>
                <a:cs typeface="Calibri" pitchFamily="34" charset="-120"/>
              </a:rPr>
              <a:t>Negative value rule</a:t>
            </a:r>
            <a:endParaRPr lang="en-US" sz="1400" dirty="0"/>
          </a:p>
          <a:p>
            <a:pPr marL="0" indent="0">
              <a:buNone/>
            </a:pPr>
            <a:r>
              <a:rPr lang="en-US" sz="1200" dirty="0">
                <a:ea typeface="Calibri" pitchFamily="34" charset="-122"/>
                <a:cs typeface="Calibri" pitchFamily="34" charset="-120"/>
              </a:rPr>
              <a:t>A negative value means: use the previous (next earliest) record.</a:t>
            </a:r>
            <a:endParaRPr lang="en-US" sz="1400" dirty="0"/>
          </a:p>
        </p:txBody>
      </p:sp>
      <p:sp>
        <p:nvSpPr>
          <p:cNvPr id="29" name="Text 10">
            <a:extLst>
              <a:ext uri="{FF2B5EF4-FFF2-40B4-BE49-F238E27FC236}">
                <a16:creationId xmlns:a16="http://schemas.microsoft.com/office/drawing/2014/main" id="{4A62D125-7B0B-4A0A-867A-AD28F1E4F3EE}"/>
              </a:ext>
            </a:extLst>
          </p:cNvPr>
          <p:cNvSpPr txBox="1"/>
          <p:nvPr/>
        </p:nvSpPr>
        <p:spPr>
          <a:xfrm>
            <a:off x="5174428" y="4903855"/>
            <a:ext cx="5807335" cy="685800"/>
          </a:xfrm>
          <a:prstGeom prst="rect">
            <a:avLst/>
          </a:prstGeom>
          <a:noFill/>
          <a:ln/>
        </p:spPr>
        <p:txBody>
          <a:bodyPr wrap="square" lIns="0" tIns="0" rIns="0" bIns="0" rtlCol="0" anchor="ctr"/>
          <a:lstStyle/>
          <a:p>
            <a:pPr marL="0" indent="0">
              <a:buNone/>
            </a:pPr>
            <a:r>
              <a:rPr lang="en-US" sz="1400" b="1" dirty="0">
                <a:ea typeface="Calibri" pitchFamily="34" charset="-122"/>
                <a:cs typeface="Calibri" pitchFamily="34" charset="-120"/>
              </a:rPr>
              <a:t>No earlier record?</a:t>
            </a:r>
            <a:endParaRPr lang="en-US" sz="1400" dirty="0"/>
          </a:p>
          <a:p>
            <a:pPr marL="0" indent="0">
              <a:buNone/>
            </a:pPr>
            <a:r>
              <a:rPr lang="en-US" sz="1200" dirty="0">
                <a:ea typeface="Calibri" pitchFamily="34" charset="-122"/>
                <a:cs typeface="Calibri" pitchFamily="34" charset="-120"/>
              </a:rPr>
              <a:t>Then the default value from the PartSource or Source table is used.</a:t>
            </a:r>
            <a:endParaRPr lang="en-US" sz="1400" dirty="0"/>
          </a:p>
        </p:txBody>
      </p:sp>
      <p:graphicFrame>
        <p:nvGraphicFramePr>
          <p:cNvPr id="30" name="Table 29">
            <a:extLst>
              <a:ext uri="{FF2B5EF4-FFF2-40B4-BE49-F238E27FC236}">
                <a16:creationId xmlns:a16="http://schemas.microsoft.com/office/drawing/2014/main" id="{7E39276B-31CE-0BE7-5EFF-92EE6D348582}"/>
              </a:ext>
            </a:extLst>
          </p:cNvPr>
          <p:cNvGraphicFramePr>
            <a:graphicFrameLocks noGrp="1"/>
          </p:cNvGraphicFramePr>
          <p:nvPr>
            <p:extLst>
              <p:ext uri="{D42A27DB-BD31-4B8C-83A1-F6EECF244321}">
                <p14:modId xmlns:p14="http://schemas.microsoft.com/office/powerpoint/2010/main" val="3905142156"/>
              </p:ext>
            </p:extLst>
          </p:nvPr>
        </p:nvGraphicFramePr>
        <p:xfrm>
          <a:off x="855234" y="2708529"/>
          <a:ext cx="3291840" cy="14833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3111170030"/>
                    </a:ext>
                  </a:extLst>
                </a:gridCol>
                <a:gridCol w="1645920">
                  <a:extLst>
                    <a:ext uri="{9D8B030D-6E8A-4147-A177-3AD203B41FA5}">
                      <a16:colId xmlns:a16="http://schemas.microsoft.com/office/drawing/2014/main" val="3466120186"/>
                    </a:ext>
                  </a:extLst>
                </a:gridCol>
              </a:tblGrid>
              <a:tr h="370840">
                <a:tc>
                  <a:txBody>
                    <a:bodyPr/>
                    <a:lstStyle/>
                    <a:p>
                      <a:pPr algn="ctr"/>
                      <a:r>
                        <a:rPr lang="en-IN" sz="1200" dirty="0">
                          <a:solidFill>
                            <a:schemeClr val="bg1"/>
                          </a:solidFill>
                          <a:latin typeface="+mn-lt"/>
                        </a:rPr>
                        <a:t>Effective In Date</a:t>
                      </a:r>
                    </a:p>
                  </a:txBody>
                  <a:tcPr/>
                </a:tc>
                <a:tc>
                  <a:txBody>
                    <a:bodyPr/>
                    <a:lstStyle/>
                    <a:p>
                      <a:pPr algn="ctr"/>
                      <a:r>
                        <a:rPr lang="en-IN" sz="1200" dirty="0">
                          <a:solidFill>
                            <a:schemeClr val="bg1"/>
                          </a:solidFill>
                          <a:latin typeface="+mn-lt"/>
                        </a:rPr>
                        <a:t>Transit Time</a:t>
                      </a:r>
                    </a:p>
                  </a:txBody>
                  <a:tcPr/>
                </a:tc>
                <a:extLst>
                  <a:ext uri="{0D108BD9-81ED-4DB2-BD59-A6C34878D82A}">
                    <a16:rowId xmlns:a16="http://schemas.microsoft.com/office/drawing/2014/main" val="2397915844"/>
                  </a:ext>
                </a:extLst>
              </a:tr>
              <a:tr h="370840">
                <a:tc>
                  <a:txBody>
                    <a:bodyPr/>
                    <a:lstStyle/>
                    <a:p>
                      <a:pPr marL="0" indent="0" algn="ctr">
                        <a:buNone/>
                      </a:pPr>
                      <a:r>
                        <a:rPr lang="en-US" sz="1200" b="0" dirty="0">
                          <a:solidFill>
                            <a:schemeClr val="tx1"/>
                          </a:solidFill>
                          <a:latin typeface="+mn-lt"/>
                          <a:ea typeface="Calibri" pitchFamily="34" charset="-122"/>
                          <a:cs typeface="Calibri" pitchFamily="34" charset="-120"/>
                        </a:rPr>
                        <a:t>Oct 15</a:t>
                      </a:r>
                      <a:endParaRPr lang="en-US" sz="1200" b="0" dirty="0">
                        <a:solidFill>
                          <a:schemeClr val="tx1"/>
                        </a:solidFill>
                        <a:latin typeface="+mn-lt"/>
                        <a:ea typeface="Calibri" charset="0"/>
                        <a:cs typeface="Calibri" charset="0"/>
                      </a:endParaRPr>
                    </a:p>
                  </a:txBody>
                  <a:tcPr/>
                </a:tc>
                <a:tc>
                  <a:txBody>
                    <a:bodyPr/>
                    <a:lstStyle/>
                    <a:p>
                      <a:pPr marL="0" indent="0" algn="ctr">
                        <a:buNone/>
                      </a:pPr>
                      <a:r>
                        <a:rPr lang="en-US" sz="1200" b="0" dirty="0">
                          <a:solidFill>
                            <a:schemeClr val="tx1"/>
                          </a:solidFill>
                          <a:latin typeface="+mn-lt"/>
                          <a:ea typeface="Calibri" pitchFamily="34" charset="-122"/>
                          <a:cs typeface="Calibri" pitchFamily="34" charset="-120"/>
                        </a:rPr>
                        <a:t>14 days</a:t>
                      </a:r>
                      <a:endParaRPr lang="en-US" sz="1200" b="0" dirty="0">
                        <a:solidFill>
                          <a:schemeClr val="tx1"/>
                        </a:solidFill>
                        <a:latin typeface="+mn-lt"/>
                        <a:ea typeface="Calibri" charset="0"/>
                        <a:cs typeface="Calibri" charset="0"/>
                      </a:endParaRPr>
                    </a:p>
                  </a:txBody>
                  <a:tcPr/>
                </a:tc>
                <a:extLst>
                  <a:ext uri="{0D108BD9-81ED-4DB2-BD59-A6C34878D82A}">
                    <a16:rowId xmlns:a16="http://schemas.microsoft.com/office/drawing/2014/main" val="2914172235"/>
                  </a:ext>
                </a:extLst>
              </a:tr>
              <a:tr h="370840">
                <a:tc>
                  <a:txBody>
                    <a:bodyPr/>
                    <a:lstStyle/>
                    <a:p>
                      <a:pPr marL="0" indent="0" algn="ctr">
                        <a:buNone/>
                      </a:pPr>
                      <a:r>
                        <a:rPr lang="en-US" sz="1200" b="0" dirty="0">
                          <a:solidFill>
                            <a:schemeClr val="tx1"/>
                          </a:solidFill>
                          <a:latin typeface="+mn-lt"/>
                          <a:ea typeface="Calibri" pitchFamily="34" charset="-122"/>
                          <a:cs typeface="Calibri" pitchFamily="34" charset="-120"/>
                        </a:rPr>
                        <a:t>Nov 16</a:t>
                      </a:r>
                      <a:endParaRPr lang="en-US" sz="1200" b="0" dirty="0">
                        <a:solidFill>
                          <a:schemeClr val="tx1"/>
                        </a:solidFill>
                        <a:latin typeface="+mn-lt"/>
                        <a:ea typeface="Calibri" charset="0"/>
                        <a:cs typeface="Calibri" charset="0"/>
                      </a:endParaRPr>
                    </a:p>
                  </a:txBody>
                  <a:tcPr/>
                </a:tc>
                <a:tc>
                  <a:txBody>
                    <a:bodyPr/>
                    <a:lstStyle/>
                    <a:p>
                      <a:pPr marL="0" indent="0" algn="ctr">
                        <a:buNone/>
                      </a:pPr>
                      <a:r>
                        <a:rPr lang="en-US" sz="1200" b="0" dirty="0">
                          <a:solidFill>
                            <a:schemeClr val="tx1"/>
                          </a:solidFill>
                          <a:latin typeface="+mn-lt"/>
                          <a:ea typeface="Calibri" pitchFamily="34" charset="-122"/>
                          <a:cs typeface="Calibri" pitchFamily="34" charset="-120"/>
                        </a:rPr>
                        <a:t>10 days</a:t>
                      </a:r>
                      <a:endParaRPr lang="en-US" sz="1200" b="0" dirty="0">
                        <a:solidFill>
                          <a:schemeClr val="tx1"/>
                        </a:solidFill>
                        <a:latin typeface="+mn-lt"/>
                        <a:ea typeface="Calibri" charset="0"/>
                        <a:cs typeface="Calibri" charset="0"/>
                      </a:endParaRPr>
                    </a:p>
                  </a:txBody>
                  <a:tcPr/>
                </a:tc>
                <a:extLst>
                  <a:ext uri="{0D108BD9-81ED-4DB2-BD59-A6C34878D82A}">
                    <a16:rowId xmlns:a16="http://schemas.microsoft.com/office/drawing/2014/main" val="2793274345"/>
                  </a:ext>
                </a:extLst>
              </a:tr>
              <a:tr h="370840">
                <a:tc>
                  <a:txBody>
                    <a:bodyPr/>
                    <a:lstStyle/>
                    <a:p>
                      <a:pPr marL="0" indent="0" algn="ctr">
                        <a:buNone/>
                      </a:pPr>
                      <a:r>
                        <a:rPr lang="en-US" sz="1200" b="0" dirty="0">
                          <a:solidFill>
                            <a:schemeClr val="tx1"/>
                          </a:solidFill>
                          <a:latin typeface="+mn-lt"/>
                          <a:ea typeface="Calibri" pitchFamily="34" charset="-122"/>
                          <a:cs typeface="Calibri" pitchFamily="34" charset="-120"/>
                        </a:rPr>
                        <a:t>Dec 1</a:t>
                      </a:r>
                      <a:endParaRPr lang="en-US" sz="1200" b="0" dirty="0">
                        <a:solidFill>
                          <a:schemeClr val="tx1"/>
                        </a:solidFill>
                        <a:latin typeface="+mn-lt"/>
                        <a:ea typeface="Calibri" charset="0"/>
                        <a:cs typeface="Calibri" charset="0"/>
                      </a:endParaRPr>
                    </a:p>
                  </a:txBody>
                  <a:tcPr/>
                </a:tc>
                <a:tc>
                  <a:txBody>
                    <a:bodyPr/>
                    <a:lstStyle/>
                    <a:p>
                      <a:pPr marL="0" indent="0" algn="ctr">
                        <a:buNone/>
                      </a:pPr>
                      <a:r>
                        <a:rPr lang="en-US" sz="1200" b="0" dirty="0">
                          <a:solidFill>
                            <a:schemeClr val="tx1"/>
                          </a:solidFill>
                          <a:latin typeface="+mn-lt"/>
                          <a:ea typeface="Calibri" pitchFamily="34" charset="-122"/>
                          <a:cs typeface="Calibri" pitchFamily="34" charset="-120"/>
                        </a:rPr>
                        <a:t>-1 (negative)</a:t>
                      </a:r>
                      <a:endParaRPr lang="en-US" sz="1200" b="0" dirty="0">
                        <a:solidFill>
                          <a:schemeClr val="tx1"/>
                        </a:solidFill>
                        <a:latin typeface="+mn-lt"/>
                        <a:ea typeface="Calibri" charset="0"/>
                        <a:cs typeface="Calibri" charset="0"/>
                      </a:endParaRPr>
                    </a:p>
                  </a:txBody>
                  <a:tcPr/>
                </a:tc>
                <a:extLst>
                  <a:ext uri="{0D108BD9-81ED-4DB2-BD59-A6C34878D82A}">
                    <a16:rowId xmlns:a16="http://schemas.microsoft.com/office/drawing/2014/main" val="1979061206"/>
                  </a:ext>
                </a:extLst>
              </a:tr>
            </a:tbl>
          </a:graphicData>
        </a:graphic>
      </p:graphicFrame>
      <p:graphicFrame>
        <p:nvGraphicFramePr>
          <p:cNvPr id="31" name="Table 30">
            <a:extLst>
              <a:ext uri="{FF2B5EF4-FFF2-40B4-BE49-F238E27FC236}">
                <a16:creationId xmlns:a16="http://schemas.microsoft.com/office/drawing/2014/main" id="{C2030449-5C85-9100-BF96-EDBF95C81FBD}"/>
              </a:ext>
            </a:extLst>
          </p:cNvPr>
          <p:cNvGraphicFramePr>
            <a:graphicFrameLocks noGrp="1"/>
          </p:cNvGraphicFramePr>
          <p:nvPr>
            <p:extLst>
              <p:ext uri="{D42A27DB-BD31-4B8C-83A1-F6EECF244321}">
                <p14:modId xmlns:p14="http://schemas.microsoft.com/office/powerpoint/2010/main" val="1180347392"/>
              </p:ext>
            </p:extLst>
          </p:nvPr>
        </p:nvGraphicFramePr>
        <p:xfrm>
          <a:off x="5174430" y="2708529"/>
          <a:ext cx="5807336" cy="1854200"/>
        </p:xfrm>
        <a:graphic>
          <a:graphicData uri="http://schemas.openxmlformats.org/drawingml/2006/table">
            <a:tbl>
              <a:tblPr firstRow="1" bandRow="1">
                <a:tableStyleId>{5C22544A-7EE6-4342-B048-85BDC9FD1C3A}</a:tableStyleId>
              </a:tblPr>
              <a:tblGrid>
                <a:gridCol w="1631108">
                  <a:extLst>
                    <a:ext uri="{9D8B030D-6E8A-4147-A177-3AD203B41FA5}">
                      <a16:colId xmlns:a16="http://schemas.microsoft.com/office/drawing/2014/main" val="2095314779"/>
                    </a:ext>
                  </a:extLst>
                </a:gridCol>
                <a:gridCol w="2436816">
                  <a:extLst>
                    <a:ext uri="{9D8B030D-6E8A-4147-A177-3AD203B41FA5}">
                      <a16:colId xmlns:a16="http://schemas.microsoft.com/office/drawing/2014/main" val="2846012731"/>
                    </a:ext>
                  </a:extLst>
                </a:gridCol>
                <a:gridCol w="1739412">
                  <a:extLst>
                    <a:ext uri="{9D8B030D-6E8A-4147-A177-3AD203B41FA5}">
                      <a16:colId xmlns:a16="http://schemas.microsoft.com/office/drawing/2014/main" val="552547799"/>
                    </a:ext>
                  </a:extLst>
                </a:gridCol>
              </a:tblGrid>
              <a:tr h="37084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Order due date</a:t>
                      </a:r>
                      <a:endParaRPr lang="en-US" sz="1200" b="1" dirty="0">
                        <a:latin typeface="Calibri" charset="0"/>
                        <a:ea typeface="Calibri" charset="0"/>
                        <a:cs typeface="Calibri" charset="0"/>
                      </a:endParaRPr>
                    </a:p>
                  </a:txBody>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Record used</a:t>
                      </a:r>
                      <a:endParaRPr lang="en-US" sz="1200" b="1" dirty="0">
                        <a:latin typeface="Calibri" charset="0"/>
                        <a:ea typeface="Calibri" charset="0"/>
                        <a:cs typeface="Calibri" charset="0"/>
                      </a:endParaRPr>
                    </a:p>
                  </a:txBody>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Result</a:t>
                      </a:r>
                      <a:endParaRPr lang="en-US" sz="1200" b="1" dirty="0">
                        <a:latin typeface="Calibri" charset="0"/>
                        <a:ea typeface="Calibri" charset="0"/>
                        <a:cs typeface="Calibri" charset="0"/>
                      </a:endParaRPr>
                    </a:p>
                  </a:txBody>
                  <a:tcPr/>
                </a:tc>
                <a:extLst>
                  <a:ext uri="{0D108BD9-81ED-4DB2-BD59-A6C34878D82A}">
                    <a16:rowId xmlns:a16="http://schemas.microsoft.com/office/drawing/2014/main" val="3152975517"/>
                  </a:ext>
                </a:extLst>
              </a:tr>
              <a:tr h="370840">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Nov 5</a:t>
                      </a:r>
                      <a:endParaRPr lang="en-US" sz="1200" b="0" dirty="0">
                        <a:latin typeface="Calibri" charset="0"/>
                        <a:ea typeface="Calibri" charset="0"/>
                        <a:cs typeface="Calibri" charset="0"/>
                      </a:endParaRPr>
                    </a:p>
                  </a:txBody>
                  <a:tcPr/>
                </a:tc>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Oct 15</a:t>
                      </a:r>
                      <a:endParaRPr lang="en-US" sz="1200" b="0" dirty="0">
                        <a:latin typeface="Calibri" charset="0"/>
                        <a:ea typeface="Calibri" charset="0"/>
                        <a:cs typeface="Calibri" charset="0"/>
                      </a:endParaRPr>
                    </a:p>
                  </a:txBody>
                  <a:tcPr/>
                </a:tc>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14 days</a:t>
                      </a:r>
                      <a:endParaRPr lang="en-US" sz="1200" b="0" dirty="0">
                        <a:latin typeface="Calibri" charset="0"/>
                        <a:ea typeface="Calibri" charset="0"/>
                        <a:cs typeface="Calibri" charset="0"/>
                      </a:endParaRPr>
                    </a:p>
                  </a:txBody>
                  <a:tcPr/>
                </a:tc>
                <a:extLst>
                  <a:ext uri="{0D108BD9-81ED-4DB2-BD59-A6C34878D82A}">
                    <a16:rowId xmlns:a16="http://schemas.microsoft.com/office/drawing/2014/main" val="3590972727"/>
                  </a:ext>
                </a:extLst>
              </a:tr>
              <a:tr h="370840">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Nov 20</a:t>
                      </a:r>
                      <a:endParaRPr lang="en-US" sz="1200" b="0" dirty="0">
                        <a:latin typeface="Calibri" charset="0"/>
                        <a:ea typeface="Calibri" charset="0"/>
                        <a:cs typeface="Calibri" charset="0"/>
                      </a:endParaRPr>
                    </a:p>
                  </a:txBody>
                  <a:tcPr/>
                </a:tc>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Nov 16</a:t>
                      </a:r>
                      <a:endParaRPr lang="en-US" sz="1200" b="0" dirty="0">
                        <a:latin typeface="Calibri" charset="0"/>
                        <a:ea typeface="Calibri" charset="0"/>
                        <a:cs typeface="Calibri" charset="0"/>
                      </a:endParaRPr>
                    </a:p>
                  </a:txBody>
                  <a:tcPr/>
                </a:tc>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10 days</a:t>
                      </a:r>
                      <a:endParaRPr lang="en-US" sz="1200" b="0" dirty="0">
                        <a:latin typeface="Calibri" charset="0"/>
                        <a:ea typeface="Calibri" charset="0"/>
                        <a:cs typeface="Calibri" charset="0"/>
                      </a:endParaRPr>
                    </a:p>
                  </a:txBody>
                  <a:tcPr/>
                </a:tc>
                <a:extLst>
                  <a:ext uri="{0D108BD9-81ED-4DB2-BD59-A6C34878D82A}">
                    <a16:rowId xmlns:a16="http://schemas.microsoft.com/office/drawing/2014/main" val="3716697247"/>
                  </a:ext>
                </a:extLst>
              </a:tr>
              <a:tr h="370840">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Dec 5</a:t>
                      </a:r>
                      <a:endParaRPr lang="en-US" sz="1200" b="0" dirty="0">
                        <a:latin typeface="Calibri" charset="0"/>
                        <a:ea typeface="Calibri" charset="0"/>
                        <a:cs typeface="Calibri" charset="0"/>
                      </a:endParaRPr>
                    </a:p>
                  </a:txBody>
                  <a:tcPr/>
                </a:tc>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Dec 1 is -1, so previous (Nov 16)</a:t>
                      </a:r>
                      <a:endParaRPr lang="en-US" sz="1200" b="0" dirty="0">
                        <a:latin typeface="Calibri" charset="0"/>
                        <a:ea typeface="Calibri" charset="0"/>
                        <a:cs typeface="Calibri" charset="0"/>
                      </a:endParaRPr>
                    </a:p>
                  </a:txBody>
                  <a:tcPr/>
                </a:tc>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10 days</a:t>
                      </a:r>
                      <a:endParaRPr lang="en-US" sz="1200" b="0" dirty="0">
                        <a:latin typeface="Calibri" charset="0"/>
                        <a:ea typeface="Calibri" charset="0"/>
                        <a:cs typeface="Calibri" charset="0"/>
                      </a:endParaRPr>
                    </a:p>
                  </a:txBody>
                  <a:tcPr/>
                </a:tc>
                <a:extLst>
                  <a:ext uri="{0D108BD9-81ED-4DB2-BD59-A6C34878D82A}">
                    <a16:rowId xmlns:a16="http://schemas.microsoft.com/office/drawing/2014/main" val="2860659531"/>
                  </a:ext>
                </a:extLst>
              </a:tr>
              <a:tr h="370840">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Oct 1</a:t>
                      </a:r>
                      <a:endParaRPr lang="en-US" sz="1200" b="0" dirty="0">
                        <a:latin typeface="Calibri" charset="0"/>
                        <a:ea typeface="Calibri" charset="0"/>
                        <a:cs typeface="Calibri" charset="0"/>
                      </a:endParaRPr>
                    </a:p>
                  </a:txBody>
                  <a:tcPr/>
                </a:tc>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None on or before, so default</a:t>
                      </a:r>
                      <a:endParaRPr lang="en-US" sz="1200" b="0" dirty="0">
                        <a:latin typeface="Calibri" charset="0"/>
                        <a:ea typeface="Calibri" charset="0"/>
                        <a:cs typeface="Calibri" charset="0"/>
                      </a:endParaRPr>
                    </a:p>
                  </a:txBody>
                  <a:tcPr/>
                </a:tc>
                <a:tc>
                  <a:txBody>
                    <a:bodyPr/>
                    <a:lstStyle/>
                    <a:p>
                      <a:pPr marL="0" indent="0" algn="ctr">
                        <a:buNone/>
                      </a:pPr>
                      <a:r>
                        <a:rPr lang="en-US" sz="1200" b="0" dirty="0">
                          <a:solidFill>
                            <a:srgbClr val="1F2A44"/>
                          </a:solidFill>
                          <a:latin typeface="Calibri" pitchFamily="34" charset="0"/>
                          <a:ea typeface="Calibri" pitchFamily="34" charset="-122"/>
                          <a:cs typeface="Calibri" pitchFamily="34" charset="-120"/>
                        </a:rPr>
                        <a:t>8 days</a:t>
                      </a:r>
                      <a:endParaRPr lang="en-US" sz="1200" b="0" dirty="0">
                        <a:latin typeface="Calibri" charset="0"/>
                        <a:ea typeface="Calibri" charset="0"/>
                        <a:cs typeface="Calibri" charset="0"/>
                      </a:endParaRPr>
                    </a:p>
                  </a:txBody>
                  <a:tcPr/>
                </a:tc>
                <a:extLst>
                  <a:ext uri="{0D108BD9-81ED-4DB2-BD59-A6C34878D82A}">
                    <a16:rowId xmlns:a16="http://schemas.microsoft.com/office/drawing/2014/main" val="4107155345"/>
                  </a:ext>
                </a:extLst>
              </a:tr>
            </a:tbl>
          </a:graphicData>
        </a:graphic>
      </p:graphicFrame>
    </p:spTree>
    <p:extLst>
      <p:ext uri="{BB962C8B-B14F-4D97-AF65-F5344CB8AC3E}">
        <p14:creationId xmlns:p14="http://schemas.microsoft.com/office/powerpoint/2010/main" val="632337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D80B8-81EF-CA19-5166-01FDAEC25E93}"/>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ADE41B25-49CB-EE20-8DAC-13A6D625972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D218C7C-8681-1572-1502-64814350EB48}"/>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084A2FF9-2689-90B6-1E8E-7CC5478799BF}"/>
              </a:ext>
            </a:extLst>
          </p:cNvPr>
          <p:cNvSpPr txBox="1"/>
          <p:nvPr/>
        </p:nvSpPr>
        <p:spPr>
          <a:xfrm>
            <a:off x="267419" y="226908"/>
            <a:ext cx="8171012" cy="6001643"/>
          </a:xfrm>
          <a:prstGeom prst="rect">
            <a:avLst/>
          </a:prstGeom>
          <a:noFill/>
        </p:spPr>
        <p:txBody>
          <a:bodyPr wrap="square">
            <a:spAutoFit/>
          </a:bodyPr>
          <a:lstStyle/>
          <a:p>
            <a:pPr rtl="0">
              <a:buNone/>
            </a:pPr>
            <a:r>
              <a:rPr lang="en-IN" sz="2000" b="1" dirty="0"/>
              <a:t>Time-Phased Lead Time: Cumulative Transit Rule (Type: Transfer)</a:t>
            </a:r>
            <a:endParaRPr lang="en-IN" sz="2000" dirty="0"/>
          </a:p>
          <a:p>
            <a:pPr rtl="0">
              <a:buNone/>
            </a:pPr>
            <a:endParaRPr lang="en-IN" sz="1400" b="1" dirty="0"/>
          </a:p>
          <a:p>
            <a:pPr rtl="0">
              <a:buNone/>
            </a:pPr>
            <a:r>
              <a:rPr lang="en-IN" sz="1400" b="1" dirty="0"/>
              <a:t>Scenario</a:t>
            </a:r>
            <a:endParaRPr lang="en-IN" sz="1400" dirty="0"/>
          </a:p>
          <a:p>
            <a:pPr marL="342900" lvl="0" indent="-342900" rtl="0">
              <a:buFont typeface="Arial" panose="020B0604020202020204" pitchFamily="34" charset="0"/>
              <a:buChar char="•"/>
            </a:pPr>
            <a:r>
              <a:rPr lang="en-IN" sz="1400" dirty="0"/>
              <a:t>Destination site: C1001</a:t>
            </a:r>
          </a:p>
          <a:p>
            <a:pPr marL="342900" lvl="0" indent="-342900" rtl="0">
              <a:buFont typeface="Arial" panose="020B0604020202020204" pitchFamily="34" charset="0"/>
              <a:buChar char="•"/>
            </a:pPr>
            <a:r>
              <a:rPr lang="en-IN" sz="1400" dirty="0"/>
              <a:t>Source site: E3001, where the part is made and supplied from</a:t>
            </a:r>
          </a:p>
          <a:p>
            <a:pPr marL="342900" lvl="0" indent="-342900" rtl="0">
              <a:buFont typeface="Arial" panose="020B0604020202020204" pitchFamily="34" charset="0"/>
              <a:buChar char="•"/>
            </a:pPr>
            <a:r>
              <a:rPr lang="en-IN" sz="1400" dirty="0"/>
              <a:t>Transit rule: Cumulative</a:t>
            </a:r>
          </a:p>
          <a:p>
            <a:pPr marL="342900" lvl="0" indent="-342900" rtl="0">
              <a:buFont typeface="Arial" panose="020B0604020202020204" pitchFamily="34" charset="0"/>
              <a:buChar char="•"/>
            </a:pPr>
            <a:r>
              <a:rPr lang="en-IN" sz="1400" dirty="0"/>
              <a:t>Type: Transfer</a:t>
            </a:r>
          </a:p>
          <a:p>
            <a:pPr rtl="0">
              <a:buNone/>
            </a:pPr>
            <a:endParaRPr lang="en-IN" sz="1400" b="1" dirty="0"/>
          </a:p>
          <a:p>
            <a:pPr rtl="0">
              <a:buNone/>
            </a:pPr>
            <a:r>
              <a:rPr lang="en-IN" sz="1400" b="1" dirty="0"/>
              <a:t>Setup steps</a:t>
            </a:r>
            <a:endParaRPr lang="en-IN" sz="1400" dirty="0"/>
          </a:p>
          <a:p>
            <a:pPr marL="342900" lvl="0" indent="-342900">
              <a:buFont typeface="+mj-lt"/>
              <a:buAutoNum type="arabicPeriod"/>
            </a:pPr>
            <a:r>
              <a:rPr lang="en-IN" sz="1400" dirty="0"/>
              <a:t>Create the </a:t>
            </a:r>
            <a:r>
              <a:rPr lang="en-IN" sz="1400" i="1" dirty="0" err="1"/>
              <a:t>TimePhasedPartSourceLeadTime</a:t>
            </a:r>
            <a:r>
              <a:rPr lang="en-IN" sz="1400" dirty="0"/>
              <a:t> and </a:t>
            </a:r>
            <a:r>
              <a:rPr lang="en-US" sz="1400" i="1" dirty="0" err="1">
                <a:latin typeface="Aptos" panose="020B0004020202020204" pitchFamily="34" charset="0"/>
              </a:rPr>
              <a:t>TimePhasedSourceLeadTime</a:t>
            </a:r>
            <a:r>
              <a:rPr lang="en-IN" sz="1400" dirty="0"/>
              <a:t> worksheet.</a:t>
            </a:r>
          </a:p>
          <a:p>
            <a:pPr marL="342900" lvl="0" indent="-342900" rtl="0">
              <a:buFont typeface="+mj-lt"/>
              <a:buAutoNum type="arabicPeriod"/>
            </a:pPr>
            <a:r>
              <a:rPr lang="en-IN" sz="1400" dirty="0"/>
              <a:t>Insert a record for both the supplier site and the destination site.</a:t>
            </a:r>
          </a:p>
          <a:p>
            <a:pPr marL="342900" lvl="0" indent="-342900">
              <a:buFont typeface="+mj-lt"/>
              <a:buAutoNum type="arabicPeriod"/>
            </a:pPr>
            <a:r>
              <a:rPr lang="en-IN" sz="1400" dirty="0"/>
              <a:t>Fill in these fields on each record for </a:t>
            </a:r>
            <a:r>
              <a:rPr lang="en-IN" sz="1400" i="1" dirty="0" err="1"/>
              <a:t>TimePhasedPartSourceLeadTime</a:t>
            </a:r>
            <a:r>
              <a:rPr lang="en-IN" sz="1400" i="1" dirty="0"/>
              <a:t> </a:t>
            </a:r>
            <a:r>
              <a:rPr lang="en-IN" sz="1400" dirty="0"/>
              <a:t>: </a:t>
            </a:r>
          </a:p>
          <a:p>
            <a:pPr marL="742950" lvl="1" indent="-285750" rtl="0">
              <a:buFont typeface="+mj-lt"/>
              <a:buAutoNum type="arabicPeriod"/>
            </a:pPr>
            <a:r>
              <a:rPr lang="en-IN" sz="1400" dirty="0"/>
              <a:t>Part </a:t>
            </a:r>
            <a:r>
              <a:rPr lang="en-IN" sz="1400" dirty="0" err="1"/>
              <a:t>basekey</a:t>
            </a:r>
            <a:r>
              <a:rPr lang="en-IN" sz="1400" dirty="0"/>
              <a:t> (the one used when creating the supply chain)</a:t>
            </a:r>
          </a:p>
          <a:p>
            <a:pPr marL="742950" lvl="1" indent="-285750" rtl="0">
              <a:buFont typeface="+mj-lt"/>
              <a:buAutoNum type="arabicPeriod"/>
            </a:pPr>
            <a:r>
              <a:rPr lang="en-IN" sz="1400" dirty="0"/>
              <a:t>Part Name</a:t>
            </a:r>
          </a:p>
          <a:p>
            <a:pPr marL="742950" lvl="1" indent="-285750" rtl="0">
              <a:buFont typeface="+mj-lt"/>
              <a:buAutoNum type="arabicPeriod"/>
            </a:pPr>
            <a:r>
              <a:rPr lang="en-IN" sz="1400" dirty="0" err="1"/>
              <a:t>SourceID</a:t>
            </a:r>
            <a:endParaRPr lang="en-IN" sz="1400" dirty="0"/>
          </a:p>
          <a:p>
            <a:pPr marL="742950" lvl="1" indent="-285750" rtl="0">
              <a:buFont typeface="+mj-lt"/>
              <a:buAutoNum type="arabicPeriod"/>
            </a:pPr>
            <a:r>
              <a:rPr lang="en-IN" sz="1400" dirty="0"/>
              <a:t>Supplier Site</a:t>
            </a:r>
          </a:p>
          <a:p>
            <a:pPr marL="742950" lvl="1" indent="-285750" rtl="0">
              <a:buFont typeface="+mj-lt"/>
              <a:buAutoNum type="arabicPeriod"/>
            </a:pPr>
            <a:r>
              <a:rPr lang="en-IN" sz="1400" dirty="0"/>
              <a:t>Supplier ID</a:t>
            </a:r>
          </a:p>
          <a:p>
            <a:pPr marL="342900" lvl="0" indent="-342900" rtl="0">
              <a:buFont typeface="+mj-lt"/>
              <a:buAutoNum type="arabicPeriod"/>
            </a:pPr>
            <a:r>
              <a:rPr lang="en-IN" sz="1400" dirty="0"/>
              <a:t>Add the lead time values to each record.</a:t>
            </a:r>
          </a:p>
          <a:p>
            <a:pPr marL="342900" lvl="0" indent="-342900" rtl="0">
              <a:buFont typeface="+mj-lt"/>
              <a:buAutoNum type="arabicPeriod"/>
            </a:pPr>
            <a:r>
              <a:rPr lang="en-IN" sz="1400" dirty="0"/>
              <a:t>Use the records in the simulation.</a:t>
            </a:r>
          </a:p>
          <a:p>
            <a:pPr rtl="0">
              <a:buNone/>
            </a:pPr>
            <a:endParaRPr lang="en-IN" sz="1400" b="1" dirty="0"/>
          </a:p>
          <a:p>
            <a:pPr rtl="0">
              <a:buNone/>
            </a:pPr>
            <a:r>
              <a:rPr lang="en-IN" sz="1400" b="1" dirty="0"/>
              <a:t>Which lead times the simulation uses</a:t>
            </a:r>
            <a:endParaRPr lang="en-IN" sz="1400" dirty="0"/>
          </a:p>
          <a:p>
            <a:pPr rtl="0">
              <a:buNone/>
            </a:pPr>
            <a:r>
              <a:rPr lang="en-IN" sz="1400" i="1" dirty="0"/>
              <a:t>Destination site C1001</a:t>
            </a:r>
            <a:endParaRPr lang="en-IN" sz="1400" dirty="0"/>
          </a:p>
          <a:p>
            <a:pPr marL="342900" lvl="0" indent="-342900" rtl="0">
              <a:buFont typeface="Arial" panose="020B0604020202020204" pitchFamily="34" charset="0"/>
              <a:buChar char="•"/>
            </a:pPr>
            <a:r>
              <a:rPr lang="en-IN" sz="1400" dirty="0"/>
              <a:t>All of its lead time values are considered during the simulation.</a:t>
            </a:r>
          </a:p>
          <a:p>
            <a:pPr marL="342900" lvl="0" indent="-342900" rtl="0">
              <a:buFont typeface="Arial" panose="020B0604020202020204" pitchFamily="34" charset="0"/>
              <a:buChar char="•"/>
            </a:pPr>
            <a:r>
              <a:rPr lang="en-IN" sz="1400" dirty="0"/>
              <a:t>Based on them, the simulation gives us the start date.</a:t>
            </a:r>
          </a:p>
          <a:p>
            <a:pPr rtl="0">
              <a:buNone/>
            </a:pPr>
            <a:r>
              <a:rPr lang="en-IN" sz="1400" i="1" dirty="0"/>
              <a:t>Source site E3001</a:t>
            </a:r>
            <a:endParaRPr lang="en-IN" sz="1400" dirty="0"/>
          </a:p>
          <a:p>
            <a:pPr marL="342900" lvl="0" indent="-342900" rtl="0">
              <a:buFont typeface="Arial" panose="020B0604020202020204" pitchFamily="34" charset="0"/>
              <a:buChar char="•"/>
            </a:pPr>
            <a:r>
              <a:rPr lang="en-IN" sz="1400" dirty="0"/>
              <a:t>From C1001, only these values are considered: Safety, DTS (dock-to-stock), Transit and Pre-Ship.</a:t>
            </a:r>
          </a:p>
          <a:p>
            <a:pPr marL="342900" lvl="0" indent="-342900" rtl="0">
              <a:buFont typeface="Arial" panose="020B0604020202020204" pitchFamily="34" charset="0"/>
              <a:buChar char="•"/>
            </a:pPr>
            <a:r>
              <a:rPr lang="en-IN" sz="1400" dirty="0"/>
              <a:t>Any lead times defined for E3001 itself are also considered.</a:t>
            </a:r>
          </a:p>
        </p:txBody>
      </p:sp>
      <p:pic>
        <p:nvPicPr>
          <p:cNvPr id="7" name="Picture 6" descr="A screenshot of a computer&#10;&#10;AI-generated content may be incorrect.">
            <a:extLst>
              <a:ext uri="{FF2B5EF4-FFF2-40B4-BE49-F238E27FC236}">
                <a16:creationId xmlns:a16="http://schemas.microsoft.com/office/drawing/2014/main" id="{E350C703-33BA-0F52-30DE-E25EDDD18B80}"/>
              </a:ext>
            </a:extLst>
          </p:cNvPr>
          <p:cNvPicPr>
            <a:picLocks noChangeAspect="1"/>
          </p:cNvPicPr>
          <p:nvPr/>
        </p:nvPicPr>
        <p:blipFill>
          <a:blip r:embed="rId4"/>
          <a:stretch>
            <a:fillRect/>
          </a:stretch>
        </p:blipFill>
        <p:spPr>
          <a:xfrm>
            <a:off x="8438431" y="3069908"/>
            <a:ext cx="3486150" cy="3095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20998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09903-6DF9-C34E-B442-529F0D401A5A}"/>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C0C60142-8E34-2B57-1749-DBC0BCEC529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92217D57-F5B9-9AEB-CF7F-7FA5587794CC}"/>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72DAE1FC-F39A-8E83-2846-047AC66F6656}"/>
              </a:ext>
            </a:extLst>
          </p:cNvPr>
          <p:cNvGraphicFramePr>
            <a:graphicFrameLocks noGrp="1"/>
          </p:cNvGraphicFramePr>
          <p:nvPr>
            <p:extLst>
              <p:ext uri="{D42A27DB-BD31-4B8C-83A1-F6EECF244321}">
                <p14:modId xmlns:p14="http://schemas.microsoft.com/office/powerpoint/2010/main" val="1469657141"/>
              </p:ext>
            </p:extLst>
          </p:nvPr>
        </p:nvGraphicFramePr>
        <p:xfrm>
          <a:off x="391151" y="4342132"/>
          <a:ext cx="11369172" cy="1854198"/>
        </p:xfrm>
        <a:graphic>
          <a:graphicData uri="http://schemas.openxmlformats.org/drawingml/2006/table">
            <a:tbl>
              <a:tblPr firstRow="1" bandRow="1">
                <a:tableStyleId>{5C22544A-7EE6-4342-B048-85BDC9FD1C3A}</a:tableStyleId>
              </a:tblPr>
              <a:tblGrid>
                <a:gridCol w="1894862">
                  <a:extLst>
                    <a:ext uri="{9D8B030D-6E8A-4147-A177-3AD203B41FA5}">
                      <a16:colId xmlns:a16="http://schemas.microsoft.com/office/drawing/2014/main" val="3360966526"/>
                    </a:ext>
                  </a:extLst>
                </a:gridCol>
                <a:gridCol w="1894862">
                  <a:extLst>
                    <a:ext uri="{9D8B030D-6E8A-4147-A177-3AD203B41FA5}">
                      <a16:colId xmlns:a16="http://schemas.microsoft.com/office/drawing/2014/main" val="2124009587"/>
                    </a:ext>
                  </a:extLst>
                </a:gridCol>
                <a:gridCol w="1894862">
                  <a:extLst>
                    <a:ext uri="{9D8B030D-6E8A-4147-A177-3AD203B41FA5}">
                      <a16:colId xmlns:a16="http://schemas.microsoft.com/office/drawing/2014/main" val="1717059220"/>
                    </a:ext>
                  </a:extLst>
                </a:gridCol>
                <a:gridCol w="1640807">
                  <a:extLst>
                    <a:ext uri="{9D8B030D-6E8A-4147-A177-3AD203B41FA5}">
                      <a16:colId xmlns:a16="http://schemas.microsoft.com/office/drawing/2014/main" val="2827923830"/>
                    </a:ext>
                  </a:extLst>
                </a:gridCol>
                <a:gridCol w="2148917">
                  <a:extLst>
                    <a:ext uri="{9D8B030D-6E8A-4147-A177-3AD203B41FA5}">
                      <a16:colId xmlns:a16="http://schemas.microsoft.com/office/drawing/2014/main" val="2691817167"/>
                    </a:ext>
                  </a:extLst>
                </a:gridCol>
                <a:gridCol w="1894862">
                  <a:extLst>
                    <a:ext uri="{9D8B030D-6E8A-4147-A177-3AD203B41FA5}">
                      <a16:colId xmlns:a16="http://schemas.microsoft.com/office/drawing/2014/main" val="1953319606"/>
                    </a:ext>
                  </a:extLst>
                </a:gridCol>
              </a:tblGrid>
              <a:tr h="370840">
                <a:tc>
                  <a:txBody>
                    <a:bodyPr/>
                    <a:lstStyle/>
                    <a:p>
                      <a:r>
                        <a:rPr lang="en-US" sz="1400"/>
                        <a:t>Demand Date</a:t>
                      </a:r>
                    </a:p>
                  </a:txBody>
                  <a:tcPr/>
                </a:tc>
                <a:tc>
                  <a:txBody>
                    <a:bodyPr/>
                    <a:lstStyle/>
                    <a:p>
                      <a:r>
                        <a:rPr lang="en-US" sz="1400"/>
                        <a:t>Due Date</a:t>
                      </a:r>
                    </a:p>
                  </a:txBody>
                  <a:tcPr/>
                </a:tc>
                <a:tc>
                  <a:txBody>
                    <a:bodyPr/>
                    <a:lstStyle/>
                    <a:p>
                      <a:r>
                        <a:rPr lang="en-US" sz="1400"/>
                        <a:t>Dock Date</a:t>
                      </a:r>
                    </a:p>
                  </a:txBody>
                  <a:tcPr/>
                </a:tc>
                <a:tc>
                  <a:txBody>
                    <a:bodyPr/>
                    <a:lstStyle/>
                    <a:p>
                      <a:r>
                        <a:rPr lang="en-US" sz="1400" dirty="0"/>
                        <a:t>Ship Date</a:t>
                      </a:r>
                    </a:p>
                  </a:txBody>
                  <a:tcPr/>
                </a:tc>
                <a:tc>
                  <a:txBody>
                    <a:bodyPr/>
                    <a:lstStyle/>
                    <a:p>
                      <a:r>
                        <a:rPr lang="en-US" sz="1400"/>
                        <a:t>Build Date</a:t>
                      </a:r>
                    </a:p>
                  </a:txBody>
                  <a:tcPr/>
                </a:tc>
                <a:tc>
                  <a:txBody>
                    <a:bodyPr/>
                    <a:lstStyle/>
                    <a:p>
                      <a:r>
                        <a:rPr lang="en-US" sz="1400"/>
                        <a:t>Start Date</a:t>
                      </a:r>
                    </a:p>
                  </a:txBody>
                  <a:tcPr/>
                </a:tc>
                <a:extLst>
                  <a:ext uri="{0D108BD9-81ED-4DB2-BD59-A6C34878D82A}">
                    <a16:rowId xmlns:a16="http://schemas.microsoft.com/office/drawing/2014/main" val="1230228740"/>
                  </a:ext>
                </a:extLst>
              </a:tr>
              <a:tr h="370839">
                <a:tc>
                  <a:txBody>
                    <a:bodyPr/>
                    <a:lstStyle/>
                    <a:p>
                      <a:pPr lvl="0">
                        <a:buNone/>
                      </a:pPr>
                      <a:r>
                        <a:rPr lang="en-US" sz="1400" dirty="0"/>
                        <a:t>Safety (1)</a:t>
                      </a:r>
                    </a:p>
                  </a:txBody>
                  <a:tcPr/>
                </a:tc>
                <a:tc>
                  <a:txBody>
                    <a:bodyPr/>
                    <a:lstStyle/>
                    <a:p>
                      <a:pPr lvl="0">
                        <a:buNone/>
                      </a:pPr>
                      <a:r>
                        <a:rPr lang="en-US" sz="1400" dirty="0">
                          <a:solidFill>
                            <a:srgbClr val="FF0000"/>
                          </a:solidFill>
                        </a:rPr>
                        <a:t>Dock To Stock (2)</a:t>
                      </a:r>
                    </a:p>
                  </a:txBody>
                  <a:tcPr/>
                </a:tc>
                <a:tc>
                  <a:txBody>
                    <a:bodyPr/>
                    <a:lstStyle/>
                    <a:p>
                      <a:pPr lvl="0">
                        <a:buNone/>
                      </a:pPr>
                      <a:r>
                        <a:rPr lang="en-US" sz="1400" dirty="0">
                          <a:solidFill>
                            <a:srgbClr val="FF0000"/>
                          </a:solidFill>
                        </a:rPr>
                        <a:t>Transit (2)</a:t>
                      </a:r>
                    </a:p>
                  </a:txBody>
                  <a:tcPr/>
                </a:tc>
                <a:tc>
                  <a:txBody>
                    <a:bodyPr/>
                    <a:lstStyle/>
                    <a:p>
                      <a:pPr lvl="0">
                        <a:buNone/>
                      </a:pPr>
                      <a:r>
                        <a:rPr lang="en-US" sz="1400" dirty="0">
                          <a:solidFill>
                            <a:srgbClr val="FF0000"/>
                          </a:solidFill>
                        </a:rPr>
                        <a:t>Pre-Ship (1)</a:t>
                      </a:r>
                    </a:p>
                  </a:txBody>
                  <a:tcPr/>
                </a:tc>
                <a:tc>
                  <a:txBody>
                    <a:bodyPr/>
                    <a:lstStyle/>
                    <a:p>
                      <a:pPr lvl="0">
                        <a:buNone/>
                      </a:pPr>
                      <a:r>
                        <a:rPr lang="en-US" sz="1400" dirty="0"/>
                        <a:t>Fixed (2), Var (2), LTA (2)</a:t>
                      </a:r>
                    </a:p>
                  </a:txBody>
                  <a:tcPr/>
                </a:tc>
                <a:tc>
                  <a:txBody>
                    <a:bodyPr/>
                    <a:lstStyle/>
                    <a:p>
                      <a:pPr lvl="0">
                        <a:buNone/>
                      </a:pPr>
                      <a:endParaRPr lang="en-US" sz="1400" dirty="0"/>
                    </a:p>
                  </a:txBody>
                  <a:tcPr/>
                </a:tc>
                <a:extLst>
                  <a:ext uri="{0D108BD9-81ED-4DB2-BD59-A6C34878D82A}">
                    <a16:rowId xmlns:a16="http://schemas.microsoft.com/office/drawing/2014/main" val="4071355031"/>
                  </a:ext>
                </a:extLst>
              </a:tr>
              <a:tr h="370839">
                <a:tc>
                  <a:txBody>
                    <a:bodyPr/>
                    <a:lstStyle/>
                    <a:p>
                      <a:pPr lvl="0">
                        <a:buNone/>
                      </a:pPr>
                      <a:r>
                        <a:rPr lang="en-US" sz="1400" dirty="0"/>
                        <a:t>09/25/2026</a:t>
                      </a:r>
                    </a:p>
                  </a:txBody>
                  <a:tcPr/>
                </a:tc>
                <a:tc>
                  <a:txBody>
                    <a:bodyPr/>
                    <a:lstStyle/>
                    <a:p>
                      <a:pPr lvl="0">
                        <a:buNone/>
                      </a:pPr>
                      <a:r>
                        <a:rPr lang="en-US" sz="1400" dirty="0"/>
                        <a:t>09/24/2026</a:t>
                      </a:r>
                    </a:p>
                  </a:txBody>
                  <a:tcPr/>
                </a:tc>
                <a:tc>
                  <a:txBody>
                    <a:bodyPr/>
                    <a:lstStyle/>
                    <a:p>
                      <a:pPr lvl="0">
                        <a:buNone/>
                      </a:pPr>
                      <a:r>
                        <a:rPr lang="en-US" sz="1400" dirty="0"/>
                        <a:t>09/24/2026</a:t>
                      </a:r>
                    </a:p>
                  </a:txBody>
                  <a:tcPr/>
                </a:tc>
                <a:tc>
                  <a:txBody>
                    <a:bodyPr/>
                    <a:lstStyle/>
                    <a:p>
                      <a:pPr lvl="0">
                        <a:buNone/>
                      </a:pPr>
                      <a:r>
                        <a:rPr lang="en-US" sz="1400" dirty="0"/>
                        <a:t>09/24/2026</a:t>
                      </a:r>
                    </a:p>
                  </a:txBody>
                  <a:tcPr/>
                </a:tc>
                <a:tc>
                  <a:txBody>
                    <a:bodyPr/>
                    <a:lstStyle/>
                    <a:p>
                      <a:pPr lvl="0">
                        <a:buNone/>
                      </a:pPr>
                      <a:r>
                        <a:rPr lang="en-US" sz="1400" dirty="0"/>
                        <a:t>09/24/2026</a:t>
                      </a:r>
                    </a:p>
                  </a:txBody>
                  <a:tcPr/>
                </a:tc>
                <a:tc>
                  <a:txBody>
                    <a:bodyPr/>
                    <a:lstStyle/>
                    <a:p>
                      <a:pPr lvl="0">
                        <a:buNone/>
                      </a:pPr>
                      <a:r>
                        <a:rPr lang="en-US" sz="1400" dirty="0"/>
                        <a:t>09/18/2026</a:t>
                      </a:r>
                    </a:p>
                  </a:txBody>
                  <a:tcPr/>
                </a:tc>
                <a:extLst>
                  <a:ext uri="{0D108BD9-81ED-4DB2-BD59-A6C34878D82A}">
                    <a16:rowId xmlns:a16="http://schemas.microsoft.com/office/drawing/2014/main" val="322219961"/>
                  </a:ext>
                </a:extLst>
              </a:tr>
              <a:tr h="370840">
                <a:tc>
                  <a:txBody>
                    <a:bodyPr/>
                    <a:lstStyle/>
                    <a:p>
                      <a:r>
                        <a:rPr lang="en-US" sz="1400"/>
                        <a:t>10/15/2026</a:t>
                      </a:r>
                    </a:p>
                  </a:txBody>
                  <a:tcPr/>
                </a:tc>
                <a:tc>
                  <a:txBody>
                    <a:bodyPr/>
                    <a:lstStyle/>
                    <a:p>
                      <a:r>
                        <a:rPr lang="en-US" sz="1400" dirty="0"/>
                        <a:t>10/14/2026</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a:rPr>
                        <a:t>10/14/2026</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a:rPr>
                        <a:t>10/14/2026</a:t>
                      </a:r>
                    </a:p>
                  </a:txBody>
                  <a:tcPr/>
                </a:tc>
                <a:tc>
                  <a:txBody>
                    <a:bodyPr/>
                    <a:lstStyle/>
                    <a:p>
                      <a:r>
                        <a:rPr lang="en-US" sz="1400" dirty="0"/>
                        <a:t>10/14/2026 LTA(1)</a:t>
                      </a:r>
                    </a:p>
                  </a:txBody>
                  <a:tcPr/>
                </a:tc>
                <a:tc>
                  <a:txBody>
                    <a:bodyPr/>
                    <a:lstStyle/>
                    <a:p>
                      <a:r>
                        <a:rPr lang="en-US" sz="1400"/>
                        <a:t>10/05/2026</a:t>
                      </a:r>
                    </a:p>
                  </a:txBody>
                  <a:tcPr/>
                </a:tc>
                <a:extLst>
                  <a:ext uri="{0D108BD9-81ED-4DB2-BD59-A6C34878D82A}">
                    <a16:rowId xmlns:a16="http://schemas.microsoft.com/office/drawing/2014/main" val="565191867"/>
                  </a:ext>
                </a:extLst>
              </a:tr>
              <a:tr h="370840">
                <a:tc>
                  <a:txBody>
                    <a:bodyPr/>
                    <a:lstStyle/>
                    <a:p>
                      <a:r>
                        <a:rPr lang="en-US" sz="1400"/>
                        <a:t>10/20/2026</a:t>
                      </a:r>
                    </a:p>
                  </a:txBody>
                  <a:tcPr/>
                </a:tc>
                <a:tc>
                  <a:txBody>
                    <a:bodyPr/>
                    <a:lstStyle/>
                    <a:p>
                      <a:r>
                        <a:rPr lang="en-US" sz="1400"/>
                        <a:t>10/19/2026</a:t>
                      </a:r>
                    </a:p>
                  </a:txBody>
                  <a:tcPr/>
                </a:tc>
                <a:tc>
                  <a:txBody>
                    <a:bodyPr/>
                    <a:lstStyle/>
                    <a:p>
                      <a:pPr lvl="0" algn="l">
                        <a:lnSpc>
                          <a:spcPct val="100000"/>
                        </a:lnSpc>
                        <a:spcBef>
                          <a:spcPts val="0"/>
                        </a:spcBef>
                        <a:spcAft>
                          <a:spcPts val="0"/>
                        </a:spcAft>
                        <a:buNone/>
                      </a:pPr>
                      <a:r>
                        <a:rPr lang="en-US" sz="1400" b="0" i="0" u="none" strike="noStrike" noProof="0" dirty="0">
                          <a:solidFill>
                            <a:srgbClr val="000000"/>
                          </a:solidFill>
                          <a:latin typeface="Aptos"/>
                        </a:rPr>
                        <a:t>10/19/2026</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a:rPr>
                        <a:t>10/19/2026</a:t>
                      </a:r>
                    </a:p>
                  </a:txBody>
                  <a:tcPr/>
                </a:tc>
                <a:tc>
                  <a:txBody>
                    <a:bodyPr/>
                    <a:lstStyle/>
                    <a:p>
                      <a:r>
                        <a:rPr lang="en-US" sz="1400" dirty="0"/>
                        <a:t>10/19/2026 LTA(1)</a:t>
                      </a:r>
                    </a:p>
                  </a:txBody>
                  <a:tcPr/>
                </a:tc>
                <a:tc>
                  <a:txBody>
                    <a:bodyPr/>
                    <a:lstStyle/>
                    <a:p>
                      <a:r>
                        <a:rPr lang="en-US" sz="1400" dirty="0"/>
                        <a:t>10/09/2026</a:t>
                      </a:r>
                    </a:p>
                  </a:txBody>
                  <a:tcPr/>
                </a:tc>
                <a:extLst>
                  <a:ext uri="{0D108BD9-81ED-4DB2-BD59-A6C34878D82A}">
                    <a16:rowId xmlns:a16="http://schemas.microsoft.com/office/drawing/2014/main" val="3999118261"/>
                  </a:ext>
                </a:extLst>
              </a:tr>
            </a:tbl>
          </a:graphicData>
        </a:graphic>
      </p:graphicFrame>
      <p:pic>
        <p:nvPicPr>
          <p:cNvPr id="7" name="Picture 6" descr="A screenshot of a computer&#10;&#10;AI-generated content may be incorrect.">
            <a:extLst>
              <a:ext uri="{FF2B5EF4-FFF2-40B4-BE49-F238E27FC236}">
                <a16:creationId xmlns:a16="http://schemas.microsoft.com/office/drawing/2014/main" id="{69918DBF-C7D1-2D83-635C-7D8D56D26044}"/>
              </a:ext>
            </a:extLst>
          </p:cNvPr>
          <p:cNvPicPr>
            <a:picLocks noChangeAspect="1"/>
          </p:cNvPicPr>
          <p:nvPr/>
        </p:nvPicPr>
        <p:blipFill>
          <a:blip r:embed="rId4"/>
          <a:srcRect l="126" b="23275"/>
          <a:stretch>
            <a:fillRect/>
          </a:stretch>
        </p:blipFill>
        <p:spPr>
          <a:xfrm>
            <a:off x="402183" y="2245651"/>
            <a:ext cx="11358140" cy="17106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EEF899C1-145E-81DB-16F3-0EB46E3B923B}"/>
              </a:ext>
            </a:extLst>
          </p:cNvPr>
          <p:cNvSpPr txBox="1"/>
          <p:nvPr/>
        </p:nvSpPr>
        <p:spPr>
          <a:xfrm>
            <a:off x="402565" y="424131"/>
            <a:ext cx="11473131"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Time Phased Simulation 1:</a:t>
            </a:r>
          </a:p>
          <a:p>
            <a:endParaRPr lang="en-US" dirty="0">
              <a:cs typeface="Arial"/>
            </a:endParaRPr>
          </a:p>
          <a:p>
            <a:pPr marL="285750" indent="-285750">
              <a:buFont typeface="Arial,Sans-Serif"/>
              <a:buChar char="•"/>
            </a:pPr>
            <a:r>
              <a:rPr lang="en-US" sz="1400" dirty="0">
                <a:cs typeface="Arial"/>
              </a:rPr>
              <a:t>Transit Rule = Inclusive</a:t>
            </a:r>
          </a:p>
          <a:p>
            <a:pPr marL="285750" indent="-285750">
              <a:buFont typeface="Arial"/>
              <a:buChar char="•"/>
            </a:pPr>
            <a:r>
              <a:rPr lang="en-US" sz="1400" dirty="0">
                <a:cs typeface="Arial"/>
              </a:rPr>
              <a:t>Demand Quantity = 10.</a:t>
            </a:r>
          </a:p>
          <a:p>
            <a:pPr marL="285750" indent="-285750">
              <a:buFont typeface="Arial"/>
              <a:buChar char="•"/>
            </a:pPr>
            <a:r>
              <a:rPr lang="en-US" sz="1400" dirty="0">
                <a:cs typeface="Arial"/>
              </a:rPr>
              <a:t>Part Source Type = Make</a:t>
            </a:r>
          </a:p>
          <a:p>
            <a:pPr marL="285750" indent="-285750">
              <a:buFont typeface="Arial"/>
              <a:buChar char="•"/>
            </a:pPr>
            <a:r>
              <a:rPr lang="en-US" sz="1400" dirty="0">
                <a:cs typeface="Arial"/>
              </a:rPr>
              <a:t>Original/ Destination Site = C1001</a:t>
            </a:r>
          </a:p>
        </p:txBody>
      </p:sp>
    </p:spTree>
    <p:extLst>
      <p:ext uri="{BB962C8B-B14F-4D97-AF65-F5344CB8AC3E}">
        <p14:creationId xmlns:p14="http://schemas.microsoft.com/office/powerpoint/2010/main" val="17083583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24C46-A7B9-5E1E-F5F3-9BA1E05906B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7795F1E1-E4E8-8F74-E685-446445DC3186}"/>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EC65B1E8-B165-D6E2-40C6-8128E4ED4A95}"/>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4FE92488-CDC2-BD25-74A0-D9E6579D99A2}"/>
              </a:ext>
            </a:extLst>
          </p:cNvPr>
          <p:cNvPicPr>
            <a:picLocks noChangeAspect="1"/>
          </p:cNvPicPr>
          <p:nvPr/>
        </p:nvPicPr>
        <p:blipFill>
          <a:blip r:embed="rId4"/>
          <a:stretch>
            <a:fillRect/>
          </a:stretch>
        </p:blipFill>
        <p:spPr>
          <a:xfrm>
            <a:off x="241155" y="1189818"/>
            <a:ext cx="11683426" cy="50033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83720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FFA92-FE98-4E54-B49F-F572F15BBE0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40F6D54E-2B22-338E-1A20-5831B8E11D6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C1547610-3DE1-5E54-6B5E-7F6D99DC5A10}"/>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26209C78-27E3-88FF-4AC4-2936D6887A78}"/>
              </a:ext>
            </a:extLst>
          </p:cNvPr>
          <p:cNvGraphicFramePr>
            <a:graphicFrameLocks noGrp="1"/>
          </p:cNvGraphicFramePr>
          <p:nvPr>
            <p:extLst>
              <p:ext uri="{D42A27DB-BD31-4B8C-83A1-F6EECF244321}">
                <p14:modId xmlns:p14="http://schemas.microsoft.com/office/powerpoint/2010/main" val="103198363"/>
              </p:ext>
            </p:extLst>
          </p:nvPr>
        </p:nvGraphicFramePr>
        <p:xfrm>
          <a:off x="391151" y="4021669"/>
          <a:ext cx="11369172" cy="2225036"/>
        </p:xfrm>
        <a:graphic>
          <a:graphicData uri="http://schemas.openxmlformats.org/drawingml/2006/table">
            <a:tbl>
              <a:tblPr firstRow="1" bandRow="1">
                <a:tableStyleId>{5C22544A-7EE6-4342-B048-85BDC9FD1C3A}</a:tableStyleId>
              </a:tblPr>
              <a:tblGrid>
                <a:gridCol w="1894862">
                  <a:extLst>
                    <a:ext uri="{9D8B030D-6E8A-4147-A177-3AD203B41FA5}">
                      <a16:colId xmlns:a16="http://schemas.microsoft.com/office/drawing/2014/main" val="3360966526"/>
                    </a:ext>
                  </a:extLst>
                </a:gridCol>
                <a:gridCol w="1894862">
                  <a:extLst>
                    <a:ext uri="{9D8B030D-6E8A-4147-A177-3AD203B41FA5}">
                      <a16:colId xmlns:a16="http://schemas.microsoft.com/office/drawing/2014/main" val="2124009587"/>
                    </a:ext>
                  </a:extLst>
                </a:gridCol>
                <a:gridCol w="1894862">
                  <a:extLst>
                    <a:ext uri="{9D8B030D-6E8A-4147-A177-3AD203B41FA5}">
                      <a16:colId xmlns:a16="http://schemas.microsoft.com/office/drawing/2014/main" val="1717059220"/>
                    </a:ext>
                  </a:extLst>
                </a:gridCol>
                <a:gridCol w="1660804">
                  <a:extLst>
                    <a:ext uri="{9D8B030D-6E8A-4147-A177-3AD203B41FA5}">
                      <a16:colId xmlns:a16="http://schemas.microsoft.com/office/drawing/2014/main" val="2827923830"/>
                    </a:ext>
                  </a:extLst>
                </a:gridCol>
                <a:gridCol w="2128920">
                  <a:extLst>
                    <a:ext uri="{9D8B030D-6E8A-4147-A177-3AD203B41FA5}">
                      <a16:colId xmlns:a16="http://schemas.microsoft.com/office/drawing/2014/main" val="2691817167"/>
                    </a:ext>
                  </a:extLst>
                </a:gridCol>
                <a:gridCol w="1894862">
                  <a:extLst>
                    <a:ext uri="{9D8B030D-6E8A-4147-A177-3AD203B41FA5}">
                      <a16:colId xmlns:a16="http://schemas.microsoft.com/office/drawing/2014/main" val="1953319606"/>
                    </a:ext>
                  </a:extLst>
                </a:gridCol>
              </a:tblGrid>
              <a:tr h="370840">
                <a:tc>
                  <a:txBody>
                    <a:bodyPr/>
                    <a:lstStyle/>
                    <a:p>
                      <a:r>
                        <a:rPr lang="en-US" sz="1400">
                          <a:latin typeface="+mn-lt"/>
                        </a:rPr>
                        <a:t>Demand Date</a:t>
                      </a:r>
                    </a:p>
                  </a:txBody>
                  <a:tcPr/>
                </a:tc>
                <a:tc>
                  <a:txBody>
                    <a:bodyPr/>
                    <a:lstStyle/>
                    <a:p>
                      <a:r>
                        <a:rPr lang="en-US" sz="1400">
                          <a:latin typeface="+mn-lt"/>
                        </a:rPr>
                        <a:t>Due Date</a:t>
                      </a:r>
                    </a:p>
                  </a:txBody>
                  <a:tcPr/>
                </a:tc>
                <a:tc>
                  <a:txBody>
                    <a:bodyPr/>
                    <a:lstStyle/>
                    <a:p>
                      <a:r>
                        <a:rPr lang="en-US" sz="1400">
                          <a:latin typeface="+mn-lt"/>
                        </a:rPr>
                        <a:t>Dock Date</a:t>
                      </a:r>
                    </a:p>
                  </a:txBody>
                  <a:tcPr/>
                </a:tc>
                <a:tc>
                  <a:txBody>
                    <a:bodyPr/>
                    <a:lstStyle/>
                    <a:p>
                      <a:r>
                        <a:rPr lang="en-US" sz="1400">
                          <a:latin typeface="+mn-lt"/>
                        </a:rPr>
                        <a:t>Ship Date</a:t>
                      </a:r>
                    </a:p>
                  </a:txBody>
                  <a:tcPr/>
                </a:tc>
                <a:tc>
                  <a:txBody>
                    <a:bodyPr/>
                    <a:lstStyle/>
                    <a:p>
                      <a:r>
                        <a:rPr lang="en-US" sz="1400">
                          <a:latin typeface="+mn-lt"/>
                        </a:rPr>
                        <a:t>Build Date</a:t>
                      </a:r>
                    </a:p>
                  </a:txBody>
                  <a:tcPr/>
                </a:tc>
                <a:tc>
                  <a:txBody>
                    <a:bodyPr/>
                    <a:lstStyle/>
                    <a:p>
                      <a:r>
                        <a:rPr lang="en-US" sz="1400">
                          <a:latin typeface="+mn-lt"/>
                        </a:rPr>
                        <a:t>Start Date</a:t>
                      </a:r>
                    </a:p>
                  </a:txBody>
                  <a:tcPr/>
                </a:tc>
                <a:extLst>
                  <a:ext uri="{0D108BD9-81ED-4DB2-BD59-A6C34878D82A}">
                    <a16:rowId xmlns:a16="http://schemas.microsoft.com/office/drawing/2014/main" val="1230228740"/>
                  </a:ext>
                </a:extLst>
              </a:tr>
              <a:tr h="370839">
                <a:tc>
                  <a:txBody>
                    <a:bodyPr/>
                    <a:lstStyle/>
                    <a:p>
                      <a:pPr lvl="0">
                        <a:buNone/>
                      </a:pPr>
                      <a:r>
                        <a:rPr lang="en-US" sz="1400" dirty="0">
                          <a:latin typeface="+mn-lt"/>
                        </a:rPr>
                        <a:t>Safety (1)</a:t>
                      </a:r>
                    </a:p>
                  </a:txBody>
                  <a:tcPr/>
                </a:tc>
                <a:tc>
                  <a:txBody>
                    <a:bodyPr/>
                    <a:lstStyle/>
                    <a:p>
                      <a:pPr lvl="0">
                        <a:buNone/>
                      </a:pPr>
                      <a:r>
                        <a:rPr lang="en-US" sz="1400" dirty="0">
                          <a:latin typeface="+mn-lt"/>
                        </a:rPr>
                        <a:t>DTS (2)</a:t>
                      </a:r>
                    </a:p>
                  </a:txBody>
                  <a:tcPr/>
                </a:tc>
                <a:tc>
                  <a:txBody>
                    <a:bodyPr/>
                    <a:lstStyle/>
                    <a:p>
                      <a:pPr lvl="0">
                        <a:buNone/>
                      </a:pPr>
                      <a:r>
                        <a:rPr lang="en-US" sz="1400" dirty="0">
                          <a:latin typeface="+mn-lt"/>
                        </a:rPr>
                        <a:t>Transit (2)</a:t>
                      </a:r>
                    </a:p>
                  </a:txBody>
                  <a:tcPr/>
                </a:tc>
                <a:tc>
                  <a:txBody>
                    <a:bodyPr/>
                    <a:lstStyle/>
                    <a:p>
                      <a:pPr lvl="0">
                        <a:buNone/>
                      </a:pPr>
                      <a:r>
                        <a:rPr lang="en-US" sz="1400" dirty="0">
                          <a:latin typeface="+mn-lt"/>
                        </a:rPr>
                        <a:t>Pre-Ship (1)</a:t>
                      </a:r>
                    </a:p>
                  </a:txBody>
                  <a:tcPr/>
                </a:tc>
                <a:tc>
                  <a:txBody>
                    <a:bodyPr/>
                    <a:lstStyle/>
                    <a:p>
                      <a:pPr lvl="0">
                        <a:buNone/>
                      </a:pPr>
                      <a:r>
                        <a:rPr lang="en-US" sz="1400" dirty="0">
                          <a:latin typeface="+mn-lt"/>
                        </a:rPr>
                        <a:t>Fixed (2), Var (2), LTA (2)</a:t>
                      </a:r>
                    </a:p>
                  </a:txBody>
                  <a:tcPr/>
                </a:tc>
                <a:tc>
                  <a:txBody>
                    <a:bodyPr/>
                    <a:lstStyle/>
                    <a:p>
                      <a:pPr lvl="0">
                        <a:buNone/>
                      </a:pPr>
                      <a:endParaRPr lang="en-US" sz="1400" dirty="0">
                        <a:latin typeface="+mn-lt"/>
                      </a:endParaRPr>
                    </a:p>
                  </a:txBody>
                  <a:tcPr/>
                </a:tc>
                <a:extLst>
                  <a:ext uri="{0D108BD9-81ED-4DB2-BD59-A6C34878D82A}">
                    <a16:rowId xmlns:a16="http://schemas.microsoft.com/office/drawing/2014/main" val="2402707747"/>
                  </a:ext>
                </a:extLst>
              </a:tr>
              <a:tr h="370839">
                <a:tc>
                  <a:txBody>
                    <a:bodyPr/>
                    <a:lstStyle/>
                    <a:p>
                      <a:pPr lvl="0">
                        <a:buNone/>
                      </a:pPr>
                      <a:r>
                        <a:rPr lang="en-US" sz="1400" dirty="0">
                          <a:latin typeface="+mn-lt"/>
                        </a:rPr>
                        <a:t>09/25/2026</a:t>
                      </a:r>
                    </a:p>
                  </a:txBody>
                  <a:tcPr/>
                </a:tc>
                <a:tc>
                  <a:txBody>
                    <a:bodyPr/>
                    <a:lstStyle/>
                    <a:p>
                      <a:pPr lvl="0">
                        <a:buNone/>
                      </a:pPr>
                      <a:r>
                        <a:rPr lang="en-US" sz="1400" dirty="0">
                          <a:latin typeface="+mn-lt"/>
                        </a:rPr>
                        <a:t>09/24/2026</a:t>
                      </a:r>
                    </a:p>
                  </a:txBody>
                  <a:tcPr/>
                </a:tc>
                <a:tc>
                  <a:txBody>
                    <a:bodyPr/>
                    <a:lstStyle/>
                    <a:p>
                      <a:pPr lvl="0">
                        <a:buNone/>
                      </a:pPr>
                      <a:r>
                        <a:rPr lang="en-US" sz="1400">
                          <a:latin typeface="+mn-lt"/>
                        </a:rPr>
                        <a:t>09/22/2026</a:t>
                      </a:r>
                    </a:p>
                  </a:txBody>
                  <a:tcPr/>
                </a:tc>
                <a:tc>
                  <a:txBody>
                    <a:bodyPr/>
                    <a:lstStyle/>
                    <a:p>
                      <a:pPr lvl="0">
                        <a:buNone/>
                      </a:pPr>
                      <a:r>
                        <a:rPr lang="en-US" sz="1400">
                          <a:latin typeface="+mn-lt"/>
                        </a:rPr>
                        <a:t>09/20/2026</a:t>
                      </a:r>
                    </a:p>
                  </a:txBody>
                  <a:tcPr/>
                </a:tc>
                <a:tc>
                  <a:txBody>
                    <a:bodyPr/>
                    <a:lstStyle/>
                    <a:p>
                      <a:pPr lvl="0">
                        <a:buNone/>
                      </a:pPr>
                      <a:r>
                        <a:rPr lang="en-US" sz="1400">
                          <a:latin typeface="+mn-lt"/>
                        </a:rPr>
                        <a:t>09/19/2026</a:t>
                      </a:r>
                    </a:p>
                  </a:txBody>
                  <a:tcPr/>
                </a:tc>
                <a:tc>
                  <a:txBody>
                    <a:bodyPr/>
                    <a:lstStyle/>
                    <a:p>
                      <a:pPr lvl="0">
                        <a:buNone/>
                      </a:pPr>
                      <a:r>
                        <a:rPr lang="en-US" sz="1400">
                          <a:latin typeface="+mn-lt"/>
                        </a:rPr>
                        <a:t>09/13/2026</a:t>
                      </a:r>
                    </a:p>
                  </a:txBody>
                  <a:tcPr/>
                </a:tc>
                <a:extLst>
                  <a:ext uri="{0D108BD9-81ED-4DB2-BD59-A6C34878D82A}">
                    <a16:rowId xmlns:a16="http://schemas.microsoft.com/office/drawing/2014/main" val="322219961"/>
                  </a:ext>
                </a:extLst>
              </a:tr>
              <a:tr h="370838">
                <a:tc>
                  <a:txBody>
                    <a:bodyPr/>
                    <a:lstStyle/>
                    <a:p>
                      <a:pPr lvl="0">
                        <a:buNone/>
                      </a:pPr>
                      <a:r>
                        <a:rPr lang="en-US" sz="1400" dirty="0">
                          <a:latin typeface="+mn-lt"/>
                        </a:rPr>
                        <a:t>10/01/2026</a:t>
                      </a:r>
                    </a:p>
                  </a:txBody>
                  <a:tcPr/>
                </a:tc>
                <a:tc>
                  <a:txBody>
                    <a:bodyPr/>
                    <a:lstStyle/>
                    <a:p>
                      <a:pPr lvl="0">
                        <a:buNone/>
                      </a:pPr>
                      <a:r>
                        <a:rPr lang="en-US" sz="1400">
                          <a:latin typeface="+mn-lt"/>
                        </a:rPr>
                        <a:t>09/30/2026</a:t>
                      </a:r>
                    </a:p>
                  </a:txBody>
                  <a:tcPr/>
                </a:tc>
                <a:tc>
                  <a:txBody>
                    <a:bodyPr/>
                    <a:lstStyle/>
                    <a:p>
                      <a:pPr lvl="0">
                        <a:buNone/>
                      </a:pPr>
                      <a:r>
                        <a:rPr lang="en-US" sz="1400">
                          <a:latin typeface="+mn-lt"/>
                        </a:rPr>
                        <a:t>09/28/2026</a:t>
                      </a:r>
                    </a:p>
                  </a:txBody>
                  <a:tcPr/>
                </a:tc>
                <a:tc>
                  <a:txBody>
                    <a:bodyPr/>
                    <a:lstStyle/>
                    <a:p>
                      <a:pPr lvl="0">
                        <a:buNone/>
                      </a:pPr>
                      <a:r>
                        <a:rPr lang="en-US" sz="1400">
                          <a:latin typeface="+mn-lt"/>
                        </a:rPr>
                        <a:t>09/26/2026</a:t>
                      </a:r>
                    </a:p>
                  </a:txBody>
                  <a:tcPr/>
                </a:tc>
                <a:tc>
                  <a:txBody>
                    <a:bodyPr/>
                    <a:lstStyle/>
                    <a:p>
                      <a:pPr lvl="0">
                        <a:buNone/>
                      </a:pPr>
                      <a:r>
                        <a:rPr lang="en-US" sz="1400">
                          <a:latin typeface="+mn-lt"/>
                        </a:rPr>
                        <a:t>09/25/2026</a:t>
                      </a:r>
                    </a:p>
                  </a:txBody>
                  <a:tcPr/>
                </a:tc>
                <a:tc>
                  <a:txBody>
                    <a:bodyPr/>
                    <a:lstStyle/>
                    <a:p>
                      <a:pPr lvl="0">
                        <a:buNone/>
                      </a:pPr>
                      <a:r>
                        <a:rPr lang="en-US" sz="1400">
                          <a:latin typeface="+mn-lt"/>
                        </a:rPr>
                        <a:t>09/19/2026</a:t>
                      </a:r>
                    </a:p>
                  </a:txBody>
                  <a:tcPr/>
                </a:tc>
                <a:extLst>
                  <a:ext uri="{0D108BD9-81ED-4DB2-BD59-A6C34878D82A}">
                    <a16:rowId xmlns:a16="http://schemas.microsoft.com/office/drawing/2014/main" val="3047956776"/>
                  </a:ext>
                </a:extLst>
              </a:tr>
              <a:tr h="370840">
                <a:tc>
                  <a:txBody>
                    <a:bodyPr/>
                    <a:lstStyle/>
                    <a:p>
                      <a:r>
                        <a:rPr lang="en-US" sz="1400" dirty="0">
                          <a:latin typeface="+mn-lt"/>
                        </a:rPr>
                        <a:t>10/15/2026</a:t>
                      </a:r>
                    </a:p>
                  </a:txBody>
                  <a:tcPr/>
                </a:tc>
                <a:tc>
                  <a:txBody>
                    <a:bodyPr/>
                    <a:lstStyle/>
                    <a:p>
                      <a:r>
                        <a:rPr lang="en-US" sz="1400">
                          <a:latin typeface="+mn-lt"/>
                        </a:rPr>
                        <a:t>10/14/2026</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mn-lt"/>
                        </a:rPr>
                        <a:t>10/13/2026</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mn-lt"/>
                        </a:rPr>
                        <a:t>10/05/2026</a:t>
                      </a:r>
                    </a:p>
                  </a:txBody>
                  <a:tcPr/>
                </a:tc>
                <a:tc>
                  <a:txBody>
                    <a:bodyPr/>
                    <a:lstStyle/>
                    <a:p>
                      <a:r>
                        <a:rPr lang="en-US" sz="1400">
                          <a:latin typeface="+mn-lt"/>
                        </a:rPr>
                        <a:t>10/03/2026</a:t>
                      </a:r>
                    </a:p>
                  </a:txBody>
                  <a:tcPr/>
                </a:tc>
                <a:tc>
                  <a:txBody>
                    <a:bodyPr/>
                    <a:lstStyle/>
                    <a:p>
                      <a:r>
                        <a:rPr lang="en-US" sz="1400">
                          <a:latin typeface="+mn-lt"/>
                        </a:rPr>
                        <a:t>09/24/2026</a:t>
                      </a:r>
                    </a:p>
                  </a:txBody>
                  <a:tcPr/>
                </a:tc>
                <a:extLst>
                  <a:ext uri="{0D108BD9-81ED-4DB2-BD59-A6C34878D82A}">
                    <a16:rowId xmlns:a16="http://schemas.microsoft.com/office/drawing/2014/main" val="565191867"/>
                  </a:ext>
                </a:extLst>
              </a:tr>
              <a:tr h="370840">
                <a:tc>
                  <a:txBody>
                    <a:bodyPr/>
                    <a:lstStyle/>
                    <a:p>
                      <a:r>
                        <a:rPr lang="en-US" sz="1400">
                          <a:latin typeface="+mn-lt"/>
                        </a:rPr>
                        <a:t>10/20/2026</a:t>
                      </a:r>
                    </a:p>
                  </a:txBody>
                  <a:tcPr/>
                </a:tc>
                <a:tc>
                  <a:txBody>
                    <a:bodyPr/>
                    <a:lstStyle/>
                    <a:p>
                      <a:r>
                        <a:rPr lang="en-US" sz="1400" dirty="0">
                          <a:latin typeface="+mn-lt"/>
                        </a:rPr>
                        <a:t>10/19/2026</a:t>
                      </a:r>
                    </a:p>
                  </a:txBody>
                  <a:tcPr/>
                </a:tc>
                <a:tc>
                  <a:txBody>
                    <a:bodyPr/>
                    <a:lstStyle/>
                    <a:p>
                      <a:pPr lvl="0" algn="l">
                        <a:lnSpc>
                          <a:spcPct val="100000"/>
                        </a:lnSpc>
                        <a:spcBef>
                          <a:spcPts val="0"/>
                        </a:spcBef>
                        <a:spcAft>
                          <a:spcPts val="0"/>
                        </a:spcAft>
                        <a:buNone/>
                      </a:pPr>
                      <a:r>
                        <a:rPr lang="en-US" sz="1400" b="0" i="0" u="none" strike="noStrike" noProof="0" dirty="0">
                          <a:solidFill>
                            <a:srgbClr val="000000"/>
                          </a:solidFill>
                          <a:latin typeface="+mn-lt"/>
                        </a:rPr>
                        <a:t>10/18/2026</a:t>
                      </a:r>
                    </a:p>
                  </a:txBody>
                  <a:tcPr/>
                </a:tc>
                <a:tc>
                  <a:txBody>
                    <a:bodyPr/>
                    <a:lstStyle/>
                    <a:p>
                      <a:pPr lvl="0" algn="l">
                        <a:lnSpc>
                          <a:spcPct val="100000"/>
                        </a:lnSpc>
                        <a:spcBef>
                          <a:spcPts val="0"/>
                        </a:spcBef>
                        <a:spcAft>
                          <a:spcPts val="0"/>
                        </a:spcAft>
                        <a:buNone/>
                      </a:pPr>
                      <a:r>
                        <a:rPr lang="en-US" sz="1400" b="0" i="0" u="none" strike="noStrike" noProof="0" dirty="0">
                          <a:solidFill>
                            <a:srgbClr val="000000"/>
                          </a:solidFill>
                          <a:latin typeface="+mn-lt"/>
                        </a:rPr>
                        <a:t>10/16/2026</a:t>
                      </a:r>
                    </a:p>
                  </a:txBody>
                  <a:tcPr/>
                </a:tc>
                <a:tc>
                  <a:txBody>
                    <a:bodyPr/>
                    <a:lstStyle/>
                    <a:p>
                      <a:r>
                        <a:rPr lang="en-US" sz="1400" dirty="0">
                          <a:latin typeface="+mn-lt"/>
                        </a:rPr>
                        <a:t>10/14/2026</a:t>
                      </a:r>
                    </a:p>
                  </a:txBody>
                  <a:tcPr/>
                </a:tc>
                <a:tc>
                  <a:txBody>
                    <a:bodyPr/>
                    <a:lstStyle/>
                    <a:p>
                      <a:r>
                        <a:rPr lang="en-US" sz="1400" dirty="0">
                          <a:latin typeface="+mn-lt"/>
                        </a:rPr>
                        <a:t>10/04/2026</a:t>
                      </a:r>
                    </a:p>
                  </a:txBody>
                  <a:tcPr/>
                </a:tc>
                <a:extLst>
                  <a:ext uri="{0D108BD9-81ED-4DB2-BD59-A6C34878D82A}">
                    <a16:rowId xmlns:a16="http://schemas.microsoft.com/office/drawing/2014/main" val="3999118261"/>
                  </a:ext>
                </a:extLst>
              </a:tr>
            </a:tbl>
          </a:graphicData>
        </a:graphic>
      </p:graphicFrame>
      <p:pic>
        <p:nvPicPr>
          <p:cNvPr id="7" name="Picture 6" descr="A screenshot of a computer&#10;&#10;AI-generated content may be incorrect.">
            <a:extLst>
              <a:ext uri="{FF2B5EF4-FFF2-40B4-BE49-F238E27FC236}">
                <a16:creationId xmlns:a16="http://schemas.microsoft.com/office/drawing/2014/main" id="{66B84AF1-E2BD-4B6C-F96E-0F32697D722B}"/>
              </a:ext>
            </a:extLst>
          </p:cNvPr>
          <p:cNvPicPr>
            <a:picLocks noChangeAspect="1"/>
          </p:cNvPicPr>
          <p:nvPr/>
        </p:nvPicPr>
        <p:blipFill>
          <a:blip r:embed="rId4"/>
          <a:srcRect l="505" r="-379" b="29105"/>
          <a:stretch>
            <a:fillRect/>
          </a:stretch>
        </p:blipFill>
        <p:spPr>
          <a:xfrm>
            <a:off x="416929" y="2195995"/>
            <a:ext cx="11358140" cy="15806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CD3CD8AF-2DDB-E703-4088-24C80045E9D6}"/>
              </a:ext>
            </a:extLst>
          </p:cNvPr>
          <p:cNvSpPr txBox="1"/>
          <p:nvPr/>
        </p:nvSpPr>
        <p:spPr>
          <a:xfrm>
            <a:off x="402183" y="350563"/>
            <a:ext cx="11473131"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Time Phased Simulation 2:</a:t>
            </a:r>
          </a:p>
          <a:p>
            <a:endParaRPr lang="en-US" dirty="0">
              <a:cs typeface="Arial"/>
            </a:endParaRPr>
          </a:p>
          <a:p>
            <a:pPr marL="285750" indent="-285750">
              <a:buFont typeface="Arial,Sans-Serif"/>
              <a:buChar char="•"/>
            </a:pPr>
            <a:r>
              <a:rPr lang="en-US" sz="1400" dirty="0">
                <a:cs typeface="Arial"/>
              </a:rPr>
              <a:t>Transit Rule = Cumulative</a:t>
            </a:r>
          </a:p>
          <a:p>
            <a:pPr marL="285750" indent="-285750">
              <a:buFont typeface="Arial"/>
              <a:buChar char="•"/>
            </a:pPr>
            <a:r>
              <a:rPr lang="en-US" sz="1400" dirty="0">
                <a:cs typeface="Arial"/>
              </a:rPr>
              <a:t>Demand Quantity = 10.</a:t>
            </a:r>
          </a:p>
          <a:p>
            <a:pPr marL="285750" indent="-285750">
              <a:buFont typeface="Arial"/>
              <a:buChar char="•"/>
            </a:pPr>
            <a:r>
              <a:rPr lang="en-US" sz="1400" dirty="0">
                <a:cs typeface="Arial"/>
              </a:rPr>
              <a:t>Part Source Type = Make</a:t>
            </a:r>
          </a:p>
          <a:p>
            <a:pPr marL="285750" indent="-285750">
              <a:buFont typeface="Arial"/>
              <a:buChar char="•"/>
            </a:pPr>
            <a:r>
              <a:rPr lang="en-US" sz="1400" dirty="0">
                <a:cs typeface="Arial"/>
              </a:rPr>
              <a:t>Original/ Destination Site = C1001</a:t>
            </a:r>
          </a:p>
        </p:txBody>
      </p:sp>
    </p:spTree>
    <p:extLst>
      <p:ext uri="{BB962C8B-B14F-4D97-AF65-F5344CB8AC3E}">
        <p14:creationId xmlns:p14="http://schemas.microsoft.com/office/powerpoint/2010/main" val="30379684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A80A6-40C0-7E3F-344A-5216FB19F7DF}"/>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6A380D2-2CA8-E047-7398-D4E0B09072E7}"/>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C991B34F-B897-FB5C-FCEB-C49C6B2382E4}"/>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23E2C854-85ED-18B3-AB1F-7AD7E04DC3C6}"/>
              </a:ext>
            </a:extLst>
          </p:cNvPr>
          <p:cNvPicPr>
            <a:picLocks noChangeAspect="1"/>
          </p:cNvPicPr>
          <p:nvPr/>
        </p:nvPicPr>
        <p:blipFill>
          <a:blip r:embed="rId4"/>
          <a:stretch>
            <a:fillRect/>
          </a:stretch>
        </p:blipFill>
        <p:spPr>
          <a:xfrm>
            <a:off x="388188" y="1045081"/>
            <a:ext cx="11300605" cy="50985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57399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3ACDE-90A9-D88C-964C-33059C0E8264}"/>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AC2343D-40F0-F426-8EBB-4D51D962539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176814B7-D5B8-0F23-BC05-E0617C7137DF}"/>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6A5C9B73-7E1F-E119-E90F-24D9ABAF2AEA}"/>
              </a:ext>
            </a:extLst>
          </p:cNvPr>
          <p:cNvSpPr txBox="1"/>
          <p:nvPr/>
        </p:nvSpPr>
        <p:spPr>
          <a:xfrm>
            <a:off x="215660" y="658445"/>
            <a:ext cx="1147313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Time Phased Simulation 3:</a:t>
            </a:r>
          </a:p>
          <a:p>
            <a:endParaRPr lang="en-US" dirty="0">
              <a:cs typeface="Arial"/>
            </a:endParaRPr>
          </a:p>
          <a:p>
            <a:pPr marL="285750" indent="-285750">
              <a:buFont typeface="Arial,Sans-Serif"/>
              <a:buChar char="•"/>
            </a:pPr>
            <a:r>
              <a:rPr lang="en-US" sz="1400" dirty="0">
                <a:cs typeface="Arial"/>
              </a:rPr>
              <a:t>Transit Rule = Cumulative</a:t>
            </a:r>
          </a:p>
          <a:p>
            <a:pPr marL="285750" indent="-285750">
              <a:buFont typeface="Arial"/>
              <a:buChar char="•"/>
            </a:pPr>
            <a:r>
              <a:rPr lang="en-US" sz="1400" dirty="0">
                <a:cs typeface="Arial"/>
              </a:rPr>
              <a:t>Demand Quantity = 10.</a:t>
            </a:r>
          </a:p>
          <a:p>
            <a:pPr marL="285750" indent="-285750">
              <a:buFont typeface="Arial"/>
              <a:buChar char="•"/>
            </a:pPr>
            <a:r>
              <a:rPr lang="en-US" sz="1400" dirty="0">
                <a:cs typeface="Arial"/>
              </a:rPr>
              <a:t>Part Source Type = Transfer</a:t>
            </a:r>
          </a:p>
          <a:p>
            <a:pPr marL="285750" indent="-285750">
              <a:buFont typeface="Arial"/>
              <a:buChar char="•"/>
            </a:pPr>
            <a:r>
              <a:rPr lang="en-US" sz="1400" dirty="0">
                <a:cs typeface="Arial"/>
              </a:rPr>
              <a:t>Original/ Destination Site = C1001</a:t>
            </a:r>
          </a:p>
          <a:p>
            <a:pPr marL="285750" indent="-285750">
              <a:buFont typeface="Arial"/>
              <a:buChar char="•"/>
            </a:pPr>
            <a:r>
              <a:rPr lang="en-US" sz="1400" dirty="0">
                <a:cs typeface="Arial"/>
              </a:rPr>
              <a:t>Supplier Site: E3001</a:t>
            </a:r>
          </a:p>
          <a:p>
            <a:pPr marL="285750" indent="-285750">
              <a:buFont typeface="Arial"/>
              <a:buChar char="•"/>
            </a:pPr>
            <a:r>
              <a:rPr lang="en-US" sz="1400" dirty="0">
                <a:cs typeface="Arial"/>
              </a:rPr>
              <a:t>All the values highlighted in red color are not considered/ used during calculations.</a:t>
            </a:r>
          </a:p>
        </p:txBody>
      </p:sp>
      <p:graphicFrame>
        <p:nvGraphicFramePr>
          <p:cNvPr id="7" name="Table 6">
            <a:extLst>
              <a:ext uri="{FF2B5EF4-FFF2-40B4-BE49-F238E27FC236}">
                <a16:creationId xmlns:a16="http://schemas.microsoft.com/office/drawing/2014/main" id="{5ABD6326-2B42-CF0B-C564-625DB0D69D08}"/>
              </a:ext>
            </a:extLst>
          </p:cNvPr>
          <p:cNvGraphicFramePr>
            <a:graphicFrameLocks noGrp="1"/>
          </p:cNvGraphicFramePr>
          <p:nvPr>
            <p:extLst>
              <p:ext uri="{D42A27DB-BD31-4B8C-83A1-F6EECF244321}">
                <p14:modId xmlns:p14="http://schemas.microsoft.com/office/powerpoint/2010/main" val="2730976205"/>
              </p:ext>
            </p:extLst>
          </p:nvPr>
        </p:nvGraphicFramePr>
        <p:xfrm>
          <a:off x="215660" y="3004867"/>
          <a:ext cx="11399724" cy="2956560"/>
        </p:xfrm>
        <a:graphic>
          <a:graphicData uri="http://schemas.openxmlformats.org/drawingml/2006/table">
            <a:tbl>
              <a:tblPr firstRow="1" bandRow="1">
                <a:tableStyleId>{5C22544A-7EE6-4342-B048-85BDC9FD1C3A}</a:tableStyleId>
              </a:tblPr>
              <a:tblGrid>
                <a:gridCol w="1899954">
                  <a:extLst>
                    <a:ext uri="{9D8B030D-6E8A-4147-A177-3AD203B41FA5}">
                      <a16:colId xmlns:a16="http://schemas.microsoft.com/office/drawing/2014/main" val="2516356869"/>
                    </a:ext>
                  </a:extLst>
                </a:gridCol>
                <a:gridCol w="1899954">
                  <a:extLst>
                    <a:ext uri="{9D8B030D-6E8A-4147-A177-3AD203B41FA5}">
                      <a16:colId xmlns:a16="http://schemas.microsoft.com/office/drawing/2014/main" val="2685803324"/>
                    </a:ext>
                  </a:extLst>
                </a:gridCol>
                <a:gridCol w="1899954">
                  <a:extLst>
                    <a:ext uri="{9D8B030D-6E8A-4147-A177-3AD203B41FA5}">
                      <a16:colId xmlns:a16="http://schemas.microsoft.com/office/drawing/2014/main" val="3666996540"/>
                    </a:ext>
                  </a:extLst>
                </a:gridCol>
                <a:gridCol w="1899954">
                  <a:extLst>
                    <a:ext uri="{9D8B030D-6E8A-4147-A177-3AD203B41FA5}">
                      <a16:colId xmlns:a16="http://schemas.microsoft.com/office/drawing/2014/main" val="4025426188"/>
                    </a:ext>
                  </a:extLst>
                </a:gridCol>
                <a:gridCol w="1899954">
                  <a:extLst>
                    <a:ext uri="{9D8B030D-6E8A-4147-A177-3AD203B41FA5}">
                      <a16:colId xmlns:a16="http://schemas.microsoft.com/office/drawing/2014/main" val="608119132"/>
                    </a:ext>
                  </a:extLst>
                </a:gridCol>
                <a:gridCol w="1899954">
                  <a:extLst>
                    <a:ext uri="{9D8B030D-6E8A-4147-A177-3AD203B41FA5}">
                      <a16:colId xmlns:a16="http://schemas.microsoft.com/office/drawing/2014/main" val="1367674639"/>
                    </a:ext>
                  </a:extLst>
                </a:gridCol>
              </a:tblGrid>
              <a:tr h="514983">
                <a:tc>
                  <a:txBody>
                    <a:bodyPr/>
                    <a:lstStyle/>
                    <a:p>
                      <a:pPr algn="ctr"/>
                      <a:r>
                        <a:rPr lang="en-US" sz="1400">
                          <a:latin typeface="+mn-lt"/>
                        </a:rPr>
                        <a:t>Dates</a:t>
                      </a:r>
                      <a:endParaRPr lang="en-US" sz="1400" dirty="0">
                        <a:latin typeface="+mn-lt"/>
                      </a:endParaRPr>
                    </a:p>
                  </a:txBody>
                  <a:tcPr/>
                </a:tc>
                <a:tc>
                  <a:txBody>
                    <a:bodyPr/>
                    <a:lstStyle/>
                    <a:p>
                      <a:pPr algn="ctr"/>
                      <a:r>
                        <a:rPr lang="en-US" sz="1400">
                          <a:latin typeface="+mn-lt"/>
                        </a:rPr>
                        <a:t>Elements</a:t>
                      </a:r>
                      <a:endParaRPr lang="en-US" sz="1400" dirty="0">
                        <a:latin typeface="+mn-lt"/>
                      </a:endParaRPr>
                    </a:p>
                  </a:txBody>
                  <a:tcPr/>
                </a:tc>
                <a:tc>
                  <a:txBody>
                    <a:bodyPr/>
                    <a:lstStyle/>
                    <a:p>
                      <a:pPr lvl="0" algn="ctr">
                        <a:buNone/>
                      </a:pPr>
                      <a:r>
                        <a:rPr lang="en-US" sz="1400">
                          <a:latin typeface="+mn-lt"/>
                        </a:rPr>
                        <a:t>Values (C1001)</a:t>
                      </a:r>
                      <a:endParaRPr lang="en-US" sz="1400" dirty="0">
                        <a:latin typeface="+mn-lt"/>
                      </a:endParaRPr>
                    </a:p>
                  </a:txBody>
                  <a:tcPr/>
                </a:tc>
                <a:tc>
                  <a:txBody>
                    <a:bodyPr/>
                    <a:lstStyle/>
                    <a:p>
                      <a:pPr lvl="0" algn="ctr">
                        <a:lnSpc>
                          <a:spcPct val="100000"/>
                        </a:lnSpc>
                        <a:spcBef>
                          <a:spcPts val="0"/>
                        </a:spcBef>
                        <a:spcAft>
                          <a:spcPts val="0"/>
                        </a:spcAft>
                        <a:buNone/>
                      </a:pPr>
                      <a:r>
                        <a:rPr lang="en-US" sz="1400" b="1" i="0" u="none" strike="noStrike" noProof="0">
                          <a:solidFill>
                            <a:srgbClr val="FFFFFF"/>
                          </a:solidFill>
                          <a:latin typeface="+mn-lt"/>
                        </a:rPr>
                        <a:t>C1001</a:t>
                      </a:r>
                    </a:p>
                  </a:txBody>
                  <a:tcPr/>
                </a:tc>
                <a:tc>
                  <a:txBody>
                    <a:bodyPr/>
                    <a:lstStyle/>
                    <a:p>
                      <a:pPr lvl="0" algn="ctr">
                        <a:buNone/>
                      </a:pPr>
                      <a:r>
                        <a:rPr lang="en-US" sz="1400" b="1" i="0" u="none" strike="noStrike" noProof="0">
                          <a:solidFill>
                            <a:srgbClr val="FFFFFF"/>
                          </a:solidFill>
                          <a:latin typeface="+mn-lt"/>
                        </a:rPr>
                        <a:t>Values</a:t>
                      </a:r>
                    </a:p>
                    <a:p>
                      <a:pPr lvl="0" algn="ctr">
                        <a:buNone/>
                      </a:pPr>
                      <a:r>
                        <a:rPr lang="en-US" sz="1400" b="1" i="0" u="none" strike="noStrike" noProof="0">
                          <a:solidFill>
                            <a:srgbClr val="FFFFFF"/>
                          </a:solidFill>
                          <a:latin typeface="+mn-lt"/>
                        </a:rPr>
                        <a:t>(C1001 + E3001)</a:t>
                      </a:r>
                    </a:p>
                  </a:txBody>
                  <a:tcPr/>
                </a:tc>
                <a:tc>
                  <a:txBody>
                    <a:bodyPr/>
                    <a:lstStyle/>
                    <a:p>
                      <a:pPr algn="ctr"/>
                      <a:r>
                        <a:rPr lang="en-US" sz="1400">
                          <a:latin typeface="+mn-lt"/>
                        </a:rPr>
                        <a:t>E3001</a:t>
                      </a:r>
                      <a:endParaRPr lang="en-US" sz="1400" dirty="0">
                        <a:latin typeface="+mn-lt"/>
                      </a:endParaRPr>
                    </a:p>
                  </a:txBody>
                  <a:tcPr/>
                </a:tc>
                <a:extLst>
                  <a:ext uri="{0D108BD9-81ED-4DB2-BD59-A6C34878D82A}">
                    <a16:rowId xmlns:a16="http://schemas.microsoft.com/office/drawing/2014/main" val="1071926590"/>
                  </a:ext>
                </a:extLst>
              </a:tr>
              <a:tr h="294276">
                <a:tc>
                  <a:txBody>
                    <a:bodyPr/>
                    <a:lstStyle/>
                    <a:p>
                      <a:pPr lvl="0" algn="ctr">
                        <a:buNone/>
                      </a:pPr>
                      <a:r>
                        <a:rPr lang="en-US" sz="1400">
                          <a:latin typeface="+mn-lt"/>
                        </a:rPr>
                        <a:t>Demand Date</a:t>
                      </a:r>
                      <a:endParaRPr lang="en-US" sz="1400" dirty="0">
                        <a:latin typeface="+mn-lt"/>
                      </a:endParaRPr>
                    </a:p>
                  </a:txBody>
                  <a:tcPr/>
                </a:tc>
                <a:tc>
                  <a:txBody>
                    <a:bodyPr/>
                    <a:lstStyle/>
                    <a:p>
                      <a:pPr lvl="0" algn="ctr">
                        <a:buNone/>
                      </a:pPr>
                      <a:endParaRPr lang="en-US" sz="1400" dirty="0">
                        <a:latin typeface="+mn-lt"/>
                      </a:endParaRPr>
                    </a:p>
                  </a:txBody>
                  <a:tcPr/>
                </a:tc>
                <a:tc>
                  <a:txBody>
                    <a:bodyPr/>
                    <a:lstStyle/>
                    <a:p>
                      <a:pPr lvl="0" algn="ctr">
                        <a:buNone/>
                      </a:pPr>
                      <a:endParaRPr lang="en-US" sz="1400" dirty="0">
                        <a:latin typeface="+mn-lt"/>
                      </a:endParaRPr>
                    </a:p>
                  </a:txBody>
                  <a:tcPr/>
                </a:tc>
                <a:tc>
                  <a:txBody>
                    <a:bodyPr/>
                    <a:lstStyle/>
                    <a:p>
                      <a:pPr lvl="0" algn="ctr">
                        <a:buNone/>
                      </a:pPr>
                      <a:r>
                        <a:rPr lang="en-US" sz="1400" dirty="0">
                          <a:latin typeface="+mn-lt"/>
                        </a:rPr>
                        <a:t>10/15/2026</a:t>
                      </a:r>
                    </a:p>
                  </a:txBody>
                  <a:tcPr/>
                </a:tc>
                <a:tc>
                  <a:txBody>
                    <a:bodyPr/>
                    <a:lstStyle/>
                    <a:p>
                      <a:pPr lvl="0" algn="ctr">
                        <a:buNone/>
                      </a:pPr>
                      <a:endParaRPr lang="en-US" sz="1400" dirty="0">
                        <a:latin typeface="+mn-lt"/>
                      </a:endParaRPr>
                    </a:p>
                  </a:txBody>
                  <a:tcPr/>
                </a:tc>
                <a:tc>
                  <a:txBody>
                    <a:bodyPr/>
                    <a:lstStyle/>
                    <a:p>
                      <a:pPr lvl="0" algn="ctr">
                        <a:buNone/>
                      </a:pPr>
                      <a:r>
                        <a:rPr lang="en-US" sz="1400">
                          <a:latin typeface="+mn-lt"/>
                        </a:rPr>
                        <a:t>10/15/2026</a:t>
                      </a:r>
                      <a:endParaRPr lang="en-US" sz="1400" dirty="0">
                        <a:latin typeface="+mn-lt"/>
                      </a:endParaRPr>
                    </a:p>
                  </a:txBody>
                  <a:tcPr/>
                </a:tc>
                <a:extLst>
                  <a:ext uri="{0D108BD9-81ED-4DB2-BD59-A6C34878D82A}">
                    <a16:rowId xmlns:a16="http://schemas.microsoft.com/office/drawing/2014/main" val="419148149"/>
                  </a:ext>
                </a:extLst>
              </a:tr>
              <a:tr h="294276">
                <a:tc>
                  <a:txBody>
                    <a:bodyPr/>
                    <a:lstStyle/>
                    <a:p>
                      <a:pPr lvl="0" algn="ctr">
                        <a:lnSpc>
                          <a:spcPct val="100000"/>
                        </a:lnSpc>
                        <a:spcBef>
                          <a:spcPts val="0"/>
                        </a:spcBef>
                        <a:spcAft>
                          <a:spcPts val="0"/>
                        </a:spcAft>
                        <a:buNone/>
                      </a:pPr>
                      <a:r>
                        <a:rPr lang="en-US" sz="1400" b="0" i="0" u="none" strike="noStrike" noProof="0">
                          <a:solidFill>
                            <a:srgbClr val="000000"/>
                          </a:solidFill>
                          <a:latin typeface="+mn-lt"/>
                        </a:rPr>
                        <a:t>Due Date</a:t>
                      </a:r>
                    </a:p>
                  </a:txBody>
                  <a:tcPr/>
                </a:tc>
                <a:tc>
                  <a:txBody>
                    <a:bodyPr/>
                    <a:lstStyle/>
                    <a:p>
                      <a:pPr algn="ctr"/>
                      <a:r>
                        <a:rPr lang="en-US" sz="1400" dirty="0">
                          <a:latin typeface="+mn-lt"/>
                        </a:rPr>
                        <a:t>Safety </a:t>
                      </a:r>
                    </a:p>
                  </a:txBody>
                  <a:tcPr/>
                </a:tc>
                <a:tc>
                  <a:txBody>
                    <a:bodyPr/>
                    <a:lstStyle/>
                    <a:p>
                      <a:pPr lvl="0" algn="ctr">
                        <a:buNone/>
                      </a:pPr>
                      <a:r>
                        <a:rPr lang="en-US" sz="1400">
                          <a:latin typeface="+mn-lt"/>
                        </a:rPr>
                        <a:t>1</a:t>
                      </a:r>
                      <a:endParaRPr lang="en-US" sz="1400" dirty="0">
                        <a:latin typeface="+mn-lt"/>
                      </a:endParaRPr>
                    </a:p>
                  </a:txBody>
                  <a:tcPr/>
                </a:tc>
                <a:tc>
                  <a:txBody>
                    <a:bodyPr/>
                    <a:lstStyle/>
                    <a:p>
                      <a:pPr lvl="0" algn="ctr">
                        <a:buNone/>
                      </a:pPr>
                      <a:r>
                        <a:rPr lang="en-US" sz="1400">
                          <a:latin typeface="+mn-lt"/>
                        </a:rPr>
                        <a:t>10/14/2026</a:t>
                      </a:r>
                      <a:endParaRPr lang="en-US" sz="1400" dirty="0">
                        <a:latin typeface="+mn-lt"/>
                      </a:endParaRPr>
                    </a:p>
                  </a:txBody>
                  <a:tcPr/>
                </a:tc>
                <a:tc>
                  <a:txBody>
                    <a:bodyPr/>
                    <a:lstStyle/>
                    <a:p>
                      <a:pPr lvl="0" algn="ctr">
                        <a:buNone/>
                      </a:pPr>
                      <a:r>
                        <a:rPr lang="en-US" sz="1400">
                          <a:latin typeface="+mn-lt"/>
                        </a:rPr>
                        <a:t>1 + 0</a:t>
                      </a:r>
                      <a:endParaRPr lang="en-US" sz="1400" dirty="0">
                        <a:latin typeface="+mn-lt"/>
                      </a:endParaRPr>
                    </a:p>
                  </a:txBody>
                  <a:tcPr/>
                </a:tc>
                <a:tc>
                  <a:txBody>
                    <a:bodyPr/>
                    <a:lstStyle/>
                    <a:p>
                      <a:pPr algn="ctr"/>
                      <a:r>
                        <a:rPr lang="en-US" sz="1400">
                          <a:latin typeface="+mn-lt"/>
                        </a:rPr>
                        <a:t>10/14/2026</a:t>
                      </a:r>
                      <a:endParaRPr lang="en-US" sz="1400" dirty="0">
                        <a:latin typeface="+mn-lt"/>
                      </a:endParaRPr>
                    </a:p>
                  </a:txBody>
                  <a:tcPr/>
                </a:tc>
                <a:extLst>
                  <a:ext uri="{0D108BD9-81ED-4DB2-BD59-A6C34878D82A}">
                    <a16:rowId xmlns:a16="http://schemas.microsoft.com/office/drawing/2014/main" val="477136834"/>
                  </a:ext>
                </a:extLst>
              </a:tr>
              <a:tr h="294276">
                <a:tc>
                  <a:txBody>
                    <a:bodyPr/>
                    <a:lstStyle/>
                    <a:p>
                      <a:pPr lvl="0" algn="ctr">
                        <a:lnSpc>
                          <a:spcPct val="100000"/>
                        </a:lnSpc>
                        <a:spcBef>
                          <a:spcPts val="0"/>
                        </a:spcBef>
                        <a:spcAft>
                          <a:spcPts val="0"/>
                        </a:spcAft>
                        <a:buNone/>
                      </a:pPr>
                      <a:r>
                        <a:rPr lang="en-US" sz="1400" b="0" i="0" u="none" strike="noStrike" noProof="0">
                          <a:solidFill>
                            <a:srgbClr val="000000"/>
                          </a:solidFill>
                          <a:latin typeface="+mn-lt"/>
                        </a:rPr>
                        <a:t>Dock Date</a:t>
                      </a:r>
                    </a:p>
                  </a:txBody>
                  <a:tcPr/>
                </a:tc>
                <a:tc>
                  <a:txBody>
                    <a:bodyPr/>
                    <a:lstStyle/>
                    <a:p>
                      <a:pPr algn="ctr"/>
                      <a:r>
                        <a:rPr lang="en-US" sz="1400">
                          <a:latin typeface="+mn-lt"/>
                        </a:rPr>
                        <a:t>Dock To Stock </a:t>
                      </a:r>
                      <a:endParaRPr lang="en-US" sz="1400" dirty="0">
                        <a:latin typeface="+mn-lt"/>
                      </a:endParaRPr>
                    </a:p>
                  </a:txBody>
                  <a:tcPr/>
                </a:tc>
                <a:tc>
                  <a:txBody>
                    <a:bodyPr/>
                    <a:lstStyle/>
                    <a:p>
                      <a:pPr lvl="0" algn="ctr">
                        <a:buNone/>
                      </a:pPr>
                      <a:r>
                        <a:rPr lang="en-US" sz="1400">
                          <a:latin typeface="+mn-lt"/>
                        </a:rPr>
                        <a:t>2</a:t>
                      </a:r>
                      <a:endParaRPr lang="en-US" sz="1400" dirty="0">
                        <a:latin typeface="+mn-lt"/>
                      </a:endParaRPr>
                    </a:p>
                  </a:txBody>
                  <a:tcPr/>
                </a:tc>
                <a:tc>
                  <a:txBody>
                    <a:bodyPr/>
                    <a:lstStyle/>
                    <a:p>
                      <a:pPr lvl="0" algn="ctr">
                        <a:buNone/>
                      </a:pPr>
                      <a:r>
                        <a:rPr lang="en-US" sz="1400">
                          <a:latin typeface="+mn-lt"/>
                        </a:rPr>
                        <a:t>10/12/2026</a:t>
                      </a:r>
                      <a:endParaRPr lang="en-US" sz="1400" dirty="0">
                        <a:latin typeface="+mn-lt"/>
                      </a:endParaRPr>
                    </a:p>
                  </a:txBody>
                  <a:tcPr/>
                </a:tc>
                <a:tc>
                  <a:txBody>
                    <a:bodyPr/>
                    <a:lstStyle/>
                    <a:p>
                      <a:pPr lvl="0" algn="ctr">
                        <a:buNone/>
                      </a:pPr>
                      <a:r>
                        <a:rPr lang="en-US" sz="1400">
                          <a:latin typeface="+mn-lt"/>
                        </a:rPr>
                        <a:t>2 + 1</a:t>
                      </a:r>
                      <a:endParaRPr lang="en-US" sz="1400" dirty="0">
                        <a:latin typeface="+mn-lt"/>
                      </a:endParaRPr>
                    </a:p>
                  </a:txBody>
                  <a:tcPr/>
                </a:tc>
                <a:tc>
                  <a:txBody>
                    <a:bodyPr/>
                    <a:lstStyle/>
                    <a:p>
                      <a:pPr algn="ctr"/>
                      <a:r>
                        <a:rPr lang="en-US" sz="1400">
                          <a:latin typeface="+mn-lt"/>
                        </a:rPr>
                        <a:t>10/11/2026</a:t>
                      </a:r>
                      <a:endParaRPr lang="en-US" sz="1400" dirty="0">
                        <a:latin typeface="+mn-lt"/>
                      </a:endParaRPr>
                    </a:p>
                  </a:txBody>
                  <a:tcPr/>
                </a:tc>
                <a:extLst>
                  <a:ext uri="{0D108BD9-81ED-4DB2-BD59-A6C34878D82A}">
                    <a16:rowId xmlns:a16="http://schemas.microsoft.com/office/drawing/2014/main" val="2376649581"/>
                  </a:ext>
                </a:extLst>
              </a:tr>
              <a:tr h="294276">
                <a:tc>
                  <a:txBody>
                    <a:bodyPr/>
                    <a:lstStyle/>
                    <a:p>
                      <a:pPr algn="ctr"/>
                      <a:r>
                        <a:rPr lang="en-US" sz="1400">
                          <a:latin typeface="+mn-lt"/>
                        </a:rPr>
                        <a:t>Ship Date</a:t>
                      </a:r>
                      <a:endParaRPr lang="en-US" sz="1400" dirty="0">
                        <a:latin typeface="+mn-lt"/>
                      </a:endParaRPr>
                    </a:p>
                  </a:txBody>
                  <a:tcPr/>
                </a:tc>
                <a:tc>
                  <a:txBody>
                    <a:bodyPr/>
                    <a:lstStyle/>
                    <a:p>
                      <a:pPr algn="ctr"/>
                      <a:r>
                        <a:rPr lang="en-US" sz="1400">
                          <a:latin typeface="+mn-lt"/>
                        </a:rPr>
                        <a:t>Transit Time</a:t>
                      </a:r>
                      <a:endParaRPr lang="en-US" sz="1400" dirty="0">
                        <a:latin typeface="+mn-lt"/>
                      </a:endParaRPr>
                    </a:p>
                  </a:txBody>
                  <a:tcPr/>
                </a:tc>
                <a:tc>
                  <a:txBody>
                    <a:bodyPr/>
                    <a:lstStyle/>
                    <a:p>
                      <a:pPr lvl="0" algn="ctr">
                        <a:buNone/>
                      </a:pPr>
                      <a:r>
                        <a:rPr lang="en-US" sz="1400">
                          <a:latin typeface="+mn-lt"/>
                        </a:rPr>
                        <a:t>2</a:t>
                      </a:r>
                      <a:endParaRPr lang="en-US" sz="1400" dirty="0">
                        <a:latin typeface="+mn-lt"/>
                      </a:endParaRPr>
                    </a:p>
                  </a:txBody>
                  <a:tcPr/>
                </a:tc>
                <a:tc>
                  <a:txBody>
                    <a:bodyPr/>
                    <a:lstStyle/>
                    <a:p>
                      <a:pPr lvl="0" algn="ctr">
                        <a:buNone/>
                      </a:pPr>
                      <a:r>
                        <a:rPr lang="en-US" sz="1400">
                          <a:latin typeface="+mn-lt"/>
                        </a:rPr>
                        <a:t>10/10/2026</a:t>
                      </a:r>
                      <a:endParaRPr lang="en-US" sz="1400" dirty="0">
                        <a:latin typeface="+mn-lt"/>
                      </a:endParaRPr>
                    </a:p>
                  </a:txBody>
                  <a:tcPr/>
                </a:tc>
                <a:tc>
                  <a:txBody>
                    <a:bodyPr/>
                    <a:lstStyle/>
                    <a:p>
                      <a:pPr lvl="0" algn="ctr">
                        <a:buNone/>
                      </a:pPr>
                      <a:r>
                        <a:rPr lang="en-US" sz="1400">
                          <a:latin typeface="+mn-lt"/>
                        </a:rPr>
                        <a:t>2 + 2</a:t>
                      </a:r>
                      <a:endParaRPr lang="en-US" sz="1400" dirty="0">
                        <a:latin typeface="+mn-lt"/>
                      </a:endParaRPr>
                    </a:p>
                  </a:txBody>
                  <a:tcPr/>
                </a:tc>
                <a:tc>
                  <a:txBody>
                    <a:bodyPr/>
                    <a:lstStyle/>
                    <a:p>
                      <a:pPr algn="ctr"/>
                      <a:r>
                        <a:rPr lang="en-US" sz="1400">
                          <a:latin typeface="+mn-lt"/>
                        </a:rPr>
                        <a:t>10/07/2026</a:t>
                      </a:r>
                      <a:endParaRPr lang="en-US" sz="1400" dirty="0">
                        <a:latin typeface="+mn-lt"/>
                      </a:endParaRPr>
                    </a:p>
                  </a:txBody>
                  <a:tcPr/>
                </a:tc>
                <a:extLst>
                  <a:ext uri="{0D108BD9-81ED-4DB2-BD59-A6C34878D82A}">
                    <a16:rowId xmlns:a16="http://schemas.microsoft.com/office/drawing/2014/main" val="1126997416"/>
                  </a:ext>
                </a:extLst>
              </a:tr>
              <a:tr h="294276">
                <a:tc>
                  <a:txBody>
                    <a:bodyPr/>
                    <a:lstStyle/>
                    <a:p>
                      <a:pPr algn="ctr"/>
                      <a:r>
                        <a:rPr lang="en-US" sz="1400">
                          <a:latin typeface="+mn-lt"/>
                        </a:rPr>
                        <a:t>Build Date</a:t>
                      </a:r>
                      <a:endParaRPr lang="en-US" sz="1400" dirty="0">
                        <a:latin typeface="+mn-lt"/>
                      </a:endParaRPr>
                    </a:p>
                  </a:txBody>
                  <a:tcPr/>
                </a:tc>
                <a:tc>
                  <a:txBody>
                    <a:bodyPr/>
                    <a:lstStyle/>
                    <a:p>
                      <a:pPr algn="ctr"/>
                      <a:r>
                        <a:rPr lang="en-US" sz="1400">
                          <a:latin typeface="+mn-lt"/>
                        </a:rPr>
                        <a:t>Pre-Ship</a:t>
                      </a:r>
                      <a:endParaRPr lang="en-US" sz="1400" dirty="0">
                        <a:latin typeface="+mn-lt"/>
                      </a:endParaRPr>
                    </a:p>
                  </a:txBody>
                  <a:tcPr/>
                </a:tc>
                <a:tc>
                  <a:txBody>
                    <a:bodyPr/>
                    <a:lstStyle/>
                    <a:p>
                      <a:pPr lvl="0" algn="ctr">
                        <a:buNone/>
                      </a:pPr>
                      <a:r>
                        <a:rPr lang="en-US" sz="1400">
                          <a:latin typeface="+mn-lt"/>
                        </a:rPr>
                        <a:t>1</a:t>
                      </a:r>
                      <a:endParaRPr lang="en-US" sz="1400" dirty="0">
                        <a:latin typeface="+mn-lt"/>
                      </a:endParaRPr>
                    </a:p>
                  </a:txBody>
                  <a:tcPr/>
                </a:tc>
                <a:tc>
                  <a:txBody>
                    <a:bodyPr/>
                    <a:lstStyle/>
                    <a:p>
                      <a:pPr lvl="0" algn="ctr">
                        <a:buNone/>
                      </a:pPr>
                      <a:r>
                        <a:rPr lang="en-US" sz="1400">
                          <a:latin typeface="+mn-lt"/>
                        </a:rPr>
                        <a:t>10/09/2026</a:t>
                      </a:r>
                      <a:endParaRPr lang="en-US" sz="1400" dirty="0">
                        <a:latin typeface="+mn-lt"/>
                      </a:endParaRPr>
                    </a:p>
                  </a:txBody>
                  <a:tcPr/>
                </a:tc>
                <a:tc>
                  <a:txBody>
                    <a:bodyPr/>
                    <a:lstStyle/>
                    <a:p>
                      <a:pPr lvl="0" algn="ctr">
                        <a:buNone/>
                      </a:pPr>
                      <a:r>
                        <a:rPr lang="en-US" sz="1400">
                          <a:latin typeface="+mn-lt"/>
                        </a:rPr>
                        <a:t>1 + 1</a:t>
                      </a:r>
                      <a:endParaRPr lang="en-US" sz="1400" dirty="0">
                        <a:latin typeface="+mn-lt"/>
                      </a:endParaRPr>
                    </a:p>
                  </a:txBody>
                  <a:tcPr/>
                </a:tc>
                <a:tc>
                  <a:txBody>
                    <a:bodyPr/>
                    <a:lstStyle/>
                    <a:p>
                      <a:pPr algn="ctr"/>
                      <a:r>
                        <a:rPr lang="en-US" sz="1400">
                          <a:latin typeface="+mn-lt"/>
                        </a:rPr>
                        <a:t>10/05/2026</a:t>
                      </a:r>
                      <a:endParaRPr lang="en-US" sz="1400" dirty="0">
                        <a:latin typeface="+mn-lt"/>
                      </a:endParaRPr>
                    </a:p>
                  </a:txBody>
                  <a:tcPr/>
                </a:tc>
                <a:extLst>
                  <a:ext uri="{0D108BD9-81ED-4DB2-BD59-A6C34878D82A}">
                    <a16:rowId xmlns:a16="http://schemas.microsoft.com/office/drawing/2014/main" val="1656075160"/>
                  </a:ext>
                </a:extLst>
              </a:tr>
              <a:tr h="294276">
                <a:tc>
                  <a:txBody>
                    <a:bodyPr/>
                    <a:lstStyle/>
                    <a:p>
                      <a:pPr algn="ctr"/>
                      <a:endParaRPr lang="en-US" sz="1400" dirty="0">
                        <a:latin typeface="+mn-lt"/>
                      </a:endParaRPr>
                    </a:p>
                  </a:txBody>
                  <a:tcPr/>
                </a:tc>
                <a:tc>
                  <a:txBody>
                    <a:bodyPr/>
                    <a:lstStyle/>
                    <a:p>
                      <a:pPr algn="ctr"/>
                      <a:r>
                        <a:rPr lang="en-US" sz="1400">
                          <a:latin typeface="+mn-lt"/>
                        </a:rPr>
                        <a:t>LTA </a:t>
                      </a:r>
                      <a:endParaRPr lang="en-US" sz="1400" dirty="0">
                        <a:latin typeface="+mn-lt"/>
                      </a:endParaRPr>
                    </a:p>
                  </a:txBody>
                  <a:tcPr/>
                </a:tc>
                <a:tc>
                  <a:txBody>
                    <a:bodyPr/>
                    <a:lstStyle/>
                    <a:p>
                      <a:pPr lvl="0" algn="ctr">
                        <a:buNone/>
                      </a:pPr>
                      <a:r>
                        <a:rPr lang="en-US" sz="1400">
                          <a:latin typeface="+mn-lt"/>
                        </a:rPr>
                        <a:t>2</a:t>
                      </a:r>
                      <a:endParaRPr lang="en-US" sz="1400" dirty="0">
                        <a:latin typeface="+mn-lt"/>
                      </a:endParaRPr>
                    </a:p>
                  </a:txBody>
                  <a:tcPr/>
                </a:tc>
                <a:tc>
                  <a:txBody>
                    <a:bodyPr/>
                    <a:lstStyle/>
                    <a:p>
                      <a:pPr lvl="0" algn="ctr">
                        <a:buNone/>
                      </a:pPr>
                      <a:endParaRPr lang="en-US" sz="1400" dirty="0">
                        <a:latin typeface="+mn-lt"/>
                      </a:endParaRPr>
                    </a:p>
                  </a:txBody>
                  <a:tcPr/>
                </a:tc>
                <a:tc>
                  <a:txBody>
                    <a:bodyPr/>
                    <a:lstStyle/>
                    <a:p>
                      <a:pPr lvl="0" algn="ctr">
                        <a:buNone/>
                      </a:pPr>
                      <a:r>
                        <a:rPr lang="en-US" sz="1400">
                          <a:solidFill>
                            <a:srgbClr val="FF0000"/>
                          </a:solidFill>
                          <a:latin typeface="+mn-lt"/>
                        </a:rPr>
                        <a:t>2</a:t>
                      </a:r>
                      <a:r>
                        <a:rPr lang="en-US" sz="1400">
                          <a:latin typeface="+mn-lt"/>
                        </a:rPr>
                        <a:t> + 1</a:t>
                      </a:r>
                      <a:endParaRPr lang="en-US" sz="1400" dirty="0">
                        <a:latin typeface="+mn-lt"/>
                      </a:endParaRPr>
                    </a:p>
                  </a:txBody>
                  <a:tcPr/>
                </a:tc>
                <a:tc>
                  <a:txBody>
                    <a:bodyPr/>
                    <a:lstStyle/>
                    <a:p>
                      <a:pPr algn="ctr"/>
                      <a:endParaRPr lang="en-US" sz="1400" dirty="0">
                        <a:latin typeface="+mn-lt"/>
                      </a:endParaRPr>
                    </a:p>
                  </a:txBody>
                  <a:tcPr/>
                </a:tc>
                <a:extLst>
                  <a:ext uri="{0D108BD9-81ED-4DB2-BD59-A6C34878D82A}">
                    <a16:rowId xmlns:a16="http://schemas.microsoft.com/office/drawing/2014/main" val="3184285421"/>
                  </a:ext>
                </a:extLst>
              </a:tr>
              <a:tr h="294276">
                <a:tc>
                  <a:txBody>
                    <a:bodyPr/>
                    <a:lstStyle/>
                    <a:p>
                      <a:pPr algn="ctr"/>
                      <a:endParaRPr lang="en-US" sz="1400" dirty="0">
                        <a:latin typeface="+mn-lt"/>
                      </a:endParaRPr>
                    </a:p>
                  </a:txBody>
                  <a:tcPr/>
                </a:tc>
                <a:tc>
                  <a:txBody>
                    <a:bodyPr/>
                    <a:lstStyle/>
                    <a:p>
                      <a:pPr algn="ctr"/>
                      <a:r>
                        <a:rPr lang="en-US" sz="1400">
                          <a:latin typeface="+mn-lt"/>
                        </a:rPr>
                        <a:t>Fixed</a:t>
                      </a:r>
                      <a:endParaRPr lang="en-US" sz="1400" dirty="0">
                        <a:latin typeface="+mn-lt"/>
                      </a:endParaRPr>
                    </a:p>
                  </a:txBody>
                  <a:tcPr/>
                </a:tc>
                <a:tc>
                  <a:txBody>
                    <a:bodyPr/>
                    <a:lstStyle/>
                    <a:p>
                      <a:pPr lvl="0" algn="ctr">
                        <a:buNone/>
                      </a:pPr>
                      <a:r>
                        <a:rPr lang="en-US" sz="1400">
                          <a:latin typeface="+mn-lt"/>
                        </a:rPr>
                        <a:t>2</a:t>
                      </a:r>
                      <a:endParaRPr lang="en-US" sz="1400" dirty="0">
                        <a:latin typeface="+mn-lt"/>
                      </a:endParaRPr>
                    </a:p>
                  </a:txBody>
                  <a:tcPr/>
                </a:tc>
                <a:tc>
                  <a:txBody>
                    <a:bodyPr/>
                    <a:lstStyle/>
                    <a:p>
                      <a:pPr lvl="0" algn="ctr">
                        <a:buNone/>
                      </a:pPr>
                      <a:endParaRPr lang="en-US" sz="1400" dirty="0">
                        <a:latin typeface="+mn-lt"/>
                      </a:endParaRPr>
                    </a:p>
                  </a:txBody>
                  <a:tcPr/>
                </a:tc>
                <a:tc>
                  <a:txBody>
                    <a:bodyPr/>
                    <a:lstStyle/>
                    <a:p>
                      <a:pPr lvl="0" algn="ctr">
                        <a:buNone/>
                      </a:pPr>
                      <a:r>
                        <a:rPr lang="en-US" sz="1400">
                          <a:solidFill>
                            <a:srgbClr val="FF0000"/>
                          </a:solidFill>
                          <a:latin typeface="+mn-lt"/>
                        </a:rPr>
                        <a:t>2</a:t>
                      </a:r>
                      <a:r>
                        <a:rPr lang="en-US" sz="1400">
                          <a:latin typeface="+mn-lt"/>
                        </a:rPr>
                        <a:t> + 1</a:t>
                      </a:r>
                      <a:endParaRPr lang="en-US" sz="1400" dirty="0">
                        <a:latin typeface="+mn-lt"/>
                      </a:endParaRPr>
                    </a:p>
                  </a:txBody>
                  <a:tcPr/>
                </a:tc>
                <a:tc>
                  <a:txBody>
                    <a:bodyPr/>
                    <a:lstStyle/>
                    <a:p>
                      <a:pPr algn="ctr"/>
                      <a:endParaRPr lang="en-US" sz="1400" dirty="0">
                        <a:latin typeface="+mn-lt"/>
                      </a:endParaRPr>
                    </a:p>
                  </a:txBody>
                  <a:tcPr/>
                </a:tc>
                <a:extLst>
                  <a:ext uri="{0D108BD9-81ED-4DB2-BD59-A6C34878D82A}">
                    <a16:rowId xmlns:a16="http://schemas.microsoft.com/office/drawing/2014/main" val="277430448"/>
                  </a:ext>
                </a:extLst>
              </a:tr>
              <a:tr h="294276">
                <a:tc>
                  <a:txBody>
                    <a:bodyPr/>
                    <a:lstStyle/>
                    <a:p>
                      <a:pPr lvl="0" algn="ctr">
                        <a:lnSpc>
                          <a:spcPct val="100000"/>
                        </a:lnSpc>
                        <a:spcBef>
                          <a:spcPts val="0"/>
                        </a:spcBef>
                        <a:spcAft>
                          <a:spcPts val="0"/>
                        </a:spcAft>
                        <a:buNone/>
                      </a:pPr>
                      <a:r>
                        <a:rPr lang="en-US" sz="1400" b="0" i="0" u="none" strike="noStrike" noProof="0">
                          <a:solidFill>
                            <a:srgbClr val="000000"/>
                          </a:solidFill>
                          <a:latin typeface="+mn-lt"/>
                        </a:rPr>
                        <a:t>Start Date</a:t>
                      </a:r>
                    </a:p>
                  </a:txBody>
                  <a:tcPr/>
                </a:tc>
                <a:tc>
                  <a:txBody>
                    <a:bodyPr/>
                    <a:lstStyle/>
                    <a:p>
                      <a:pPr algn="ctr"/>
                      <a:r>
                        <a:rPr lang="en-US" sz="1400">
                          <a:latin typeface="+mn-lt"/>
                        </a:rPr>
                        <a:t>Var*Qtd</a:t>
                      </a:r>
                      <a:endParaRPr lang="en-US" sz="1400" dirty="0">
                        <a:latin typeface="+mn-lt"/>
                      </a:endParaRPr>
                    </a:p>
                  </a:txBody>
                  <a:tcPr/>
                </a:tc>
                <a:tc>
                  <a:txBody>
                    <a:bodyPr/>
                    <a:lstStyle/>
                    <a:p>
                      <a:pPr lvl="0" algn="ctr">
                        <a:buNone/>
                      </a:pPr>
                      <a:r>
                        <a:rPr lang="en-US" sz="1400">
                          <a:latin typeface="+mn-lt"/>
                        </a:rPr>
                        <a:t>0.2*10 = 2</a:t>
                      </a:r>
                      <a:endParaRPr lang="en-US" sz="1400" dirty="0">
                        <a:latin typeface="+mn-lt"/>
                      </a:endParaRPr>
                    </a:p>
                  </a:txBody>
                  <a:tcPr/>
                </a:tc>
                <a:tc>
                  <a:txBody>
                    <a:bodyPr/>
                    <a:lstStyle/>
                    <a:p>
                      <a:pPr lvl="0" algn="ctr">
                        <a:lnSpc>
                          <a:spcPct val="100000"/>
                        </a:lnSpc>
                        <a:spcBef>
                          <a:spcPts val="0"/>
                        </a:spcBef>
                        <a:spcAft>
                          <a:spcPts val="0"/>
                        </a:spcAft>
                        <a:buNone/>
                      </a:pPr>
                      <a:r>
                        <a:rPr lang="en-US" sz="1400" b="0" i="0" u="none" strike="noStrike" noProof="0">
                          <a:solidFill>
                            <a:srgbClr val="000000"/>
                          </a:solidFill>
                          <a:latin typeface="+mn-lt"/>
                        </a:rPr>
                        <a:t>10/03/2026</a:t>
                      </a:r>
                    </a:p>
                  </a:txBody>
                  <a:tcPr/>
                </a:tc>
                <a:tc>
                  <a:txBody>
                    <a:bodyPr/>
                    <a:lstStyle/>
                    <a:p>
                      <a:pPr lvl="0" algn="ctr">
                        <a:buNone/>
                      </a:pPr>
                      <a:r>
                        <a:rPr lang="en-US" sz="1400">
                          <a:solidFill>
                            <a:srgbClr val="FF0000"/>
                          </a:solidFill>
                          <a:latin typeface="+mn-lt"/>
                        </a:rPr>
                        <a:t>2</a:t>
                      </a:r>
                      <a:r>
                        <a:rPr lang="en-US" sz="1400">
                          <a:latin typeface="+mn-lt"/>
                        </a:rPr>
                        <a:t> + 0</a:t>
                      </a:r>
                      <a:endParaRPr lang="en-US" sz="1400" dirty="0">
                        <a:latin typeface="+mn-lt"/>
                      </a:endParaRPr>
                    </a:p>
                  </a:txBody>
                  <a:tcPr/>
                </a:tc>
                <a:tc>
                  <a:txBody>
                    <a:bodyPr/>
                    <a:lstStyle/>
                    <a:p>
                      <a:pPr lvl="0" algn="ctr">
                        <a:lnSpc>
                          <a:spcPct val="100000"/>
                        </a:lnSpc>
                        <a:spcBef>
                          <a:spcPts val="0"/>
                        </a:spcBef>
                        <a:spcAft>
                          <a:spcPts val="0"/>
                        </a:spcAft>
                        <a:buNone/>
                      </a:pPr>
                      <a:r>
                        <a:rPr lang="en-US" sz="1400" b="0" i="0" u="none" strike="noStrike" noProof="0" dirty="0">
                          <a:solidFill>
                            <a:srgbClr val="000000"/>
                          </a:solidFill>
                          <a:latin typeface="+mn-lt"/>
                        </a:rPr>
                        <a:t>10/03/2026</a:t>
                      </a:r>
                    </a:p>
                  </a:txBody>
                  <a:tcPr/>
                </a:tc>
                <a:extLst>
                  <a:ext uri="{0D108BD9-81ED-4DB2-BD59-A6C34878D82A}">
                    <a16:rowId xmlns:a16="http://schemas.microsoft.com/office/drawing/2014/main" val="2133575364"/>
                  </a:ext>
                </a:extLst>
              </a:tr>
            </a:tbl>
          </a:graphicData>
        </a:graphic>
      </p:graphicFrame>
    </p:spTree>
    <p:extLst>
      <p:ext uri="{BB962C8B-B14F-4D97-AF65-F5344CB8AC3E}">
        <p14:creationId xmlns:p14="http://schemas.microsoft.com/office/powerpoint/2010/main" val="25960588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7F985-9585-E57E-5E17-2334BFF3F92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14391EC7-F448-3244-C72B-025F9DDD544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25EC031-918F-3F16-A439-0EB040CB7BE0}"/>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AB781A48-4585-1210-7DAE-9A089A4EE5E5}"/>
              </a:ext>
            </a:extLst>
          </p:cNvPr>
          <p:cNvPicPr>
            <a:picLocks noChangeAspect="1"/>
          </p:cNvPicPr>
          <p:nvPr/>
        </p:nvPicPr>
        <p:blipFill>
          <a:blip r:embed="rId4"/>
          <a:stretch>
            <a:fillRect/>
          </a:stretch>
        </p:blipFill>
        <p:spPr>
          <a:xfrm>
            <a:off x="316302" y="864760"/>
            <a:ext cx="11602529" cy="54160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58118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DD690-FFE8-4DDD-6154-0C997A065F38}"/>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7E4F910D-0818-ED37-259E-93A543D51FA8}"/>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2CF2E4E3-F2D3-F610-9DB3-614DDDF91B0E}"/>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080299C1-9323-73CF-F49A-120AA12014FF}"/>
              </a:ext>
            </a:extLst>
          </p:cNvPr>
          <p:cNvSpPr txBox="1"/>
          <p:nvPr/>
        </p:nvSpPr>
        <p:spPr>
          <a:xfrm>
            <a:off x="316301" y="540382"/>
            <a:ext cx="1147313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Time Phased Simulation 4:</a:t>
            </a:r>
            <a:endParaRPr lang="en-US" dirty="0"/>
          </a:p>
          <a:p>
            <a:endParaRPr lang="en-US" dirty="0">
              <a:cs typeface="Arial"/>
            </a:endParaRPr>
          </a:p>
          <a:p>
            <a:pPr marL="285750" indent="-285750">
              <a:buFont typeface="Arial,Sans-Serif"/>
              <a:buChar char="•"/>
            </a:pPr>
            <a:r>
              <a:rPr lang="en-US" sz="1400" dirty="0">
                <a:cs typeface="Arial"/>
              </a:rPr>
              <a:t>Transit Rule = Inclusive</a:t>
            </a:r>
          </a:p>
          <a:p>
            <a:pPr marL="285750" indent="-285750">
              <a:buFont typeface="Arial"/>
              <a:buChar char="•"/>
            </a:pPr>
            <a:r>
              <a:rPr lang="en-US" sz="1400" dirty="0">
                <a:cs typeface="Arial"/>
              </a:rPr>
              <a:t>Demand Quantity = 10.</a:t>
            </a:r>
          </a:p>
          <a:p>
            <a:pPr marL="285750" indent="-285750">
              <a:buFont typeface="Arial"/>
              <a:buChar char="•"/>
            </a:pPr>
            <a:r>
              <a:rPr lang="en-US" sz="1400" dirty="0">
                <a:cs typeface="Arial"/>
              </a:rPr>
              <a:t>Part Source Type = Transfer</a:t>
            </a:r>
          </a:p>
          <a:p>
            <a:pPr marL="285750" indent="-285750">
              <a:buFont typeface="Arial"/>
              <a:buChar char="•"/>
            </a:pPr>
            <a:r>
              <a:rPr lang="en-US" sz="1400" dirty="0">
                <a:cs typeface="Arial"/>
              </a:rPr>
              <a:t>Original/ Destination Site = C1001</a:t>
            </a:r>
          </a:p>
          <a:p>
            <a:pPr marL="285750" indent="-285750">
              <a:buFont typeface="Arial"/>
              <a:buChar char="•"/>
            </a:pPr>
            <a:r>
              <a:rPr lang="en-US" sz="1400" dirty="0">
                <a:cs typeface="Arial"/>
              </a:rPr>
              <a:t>Supplier Site: E3001</a:t>
            </a:r>
          </a:p>
          <a:p>
            <a:pPr marL="285750" indent="-285750">
              <a:buFont typeface="Arial"/>
              <a:buChar char="•"/>
            </a:pPr>
            <a:r>
              <a:rPr lang="en-US" sz="1400" dirty="0">
                <a:cs typeface="Arial"/>
              </a:rPr>
              <a:t>All the values highlighted in red color are not considered/ used during calculations.</a:t>
            </a:r>
          </a:p>
        </p:txBody>
      </p:sp>
      <p:graphicFrame>
        <p:nvGraphicFramePr>
          <p:cNvPr id="7" name="Table 6">
            <a:extLst>
              <a:ext uri="{FF2B5EF4-FFF2-40B4-BE49-F238E27FC236}">
                <a16:creationId xmlns:a16="http://schemas.microsoft.com/office/drawing/2014/main" id="{4288EB0C-51B1-551F-A3CE-0DF717C97BAD}"/>
              </a:ext>
            </a:extLst>
          </p:cNvPr>
          <p:cNvGraphicFramePr>
            <a:graphicFrameLocks noGrp="1"/>
          </p:cNvGraphicFramePr>
          <p:nvPr>
            <p:extLst>
              <p:ext uri="{D42A27DB-BD31-4B8C-83A1-F6EECF244321}">
                <p14:modId xmlns:p14="http://schemas.microsoft.com/office/powerpoint/2010/main" val="3867672318"/>
              </p:ext>
            </p:extLst>
          </p:nvPr>
        </p:nvGraphicFramePr>
        <p:xfrm>
          <a:off x="316301" y="2924264"/>
          <a:ext cx="11338758" cy="2956560"/>
        </p:xfrm>
        <a:graphic>
          <a:graphicData uri="http://schemas.openxmlformats.org/drawingml/2006/table">
            <a:tbl>
              <a:tblPr firstRow="1" bandRow="1">
                <a:tableStyleId>{5C22544A-7EE6-4342-B048-85BDC9FD1C3A}</a:tableStyleId>
              </a:tblPr>
              <a:tblGrid>
                <a:gridCol w="1889793">
                  <a:extLst>
                    <a:ext uri="{9D8B030D-6E8A-4147-A177-3AD203B41FA5}">
                      <a16:colId xmlns:a16="http://schemas.microsoft.com/office/drawing/2014/main" val="2516356869"/>
                    </a:ext>
                  </a:extLst>
                </a:gridCol>
                <a:gridCol w="1889793">
                  <a:extLst>
                    <a:ext uri="{9D8B030D-6E8A-4147-A177-3AD203B41FA5}">
                      <a16:colId xmlns:a16="http://schemas.microsoft.com/office/drawing/2014/main" val="2685803324"/>
                    </a:ext>
                  </a:extLst>
                </a:gridCol>
                <a:gridCol w="1889793">
                  <a:extLst>
                    <a:ext uri="{9D8B030D-6E8A-4147-A177-3AD203B41FA5}">
                      <a16:colId xmlns:a16="http://schemas.microsoft.com/office/drawing/2014/main" val="3666996540"/>
                    </a:ext>
                  </a:extLst>
                </a:gridCol>
                <a:gridCol w="1889793">
                  <a:extLst>
                    <a:ext uri="{9D8B030D-6E8A-4147-A177-3AD203B41FA5}">
                      <a16:colId xmlns:a16="http://schemas.microsoft.com/office/drawing/2014/main" val="4025426188"/>
                    </a:ext>
                  </a:extLst>
                </a:gridCol>
                <a:gridCol w="1889793">
                  <a:extLst>
                    <a:ext uri="{9D8B030D-6E8A-4147-A177-3AD203B41FA5}">
                      <a16:colId xmlns:a16="http://schemas.microsoft.com/office/drawing/2014/main" val="608119132"/>
                    </a:ext>
                  </a:extLst>
                </a:gridCol>
                <a:gridCol w="1889793">
                  <a:extLst>
                    <a:ext uri="{9D8B030D-6E8A-4147-A177-3AD203B41FA5}">
                      <a16:colId xmlns:a16="http://schemas.microsoft.com/office/drawing/2014/main" val="1367674639"/>
                    </a:ext>
                  </a:extLst>
                </a:gridCol>
              </a:tblGrid>
              <a:tr h="484162">
                <a:tc>
                  <a:txBody>
                    <a:bodyPr/>
                    <a:lstStyle/>
                    <a:p>
                      <a:r>
                        <a:rPr lang="en-US" sz="1400">
                          <a:latin typeface="+mn-lt"/>
                        </a:rPr>
                        <a:t>Dates</a:t>
                      </a:r>
                    </a:p>
                  </a:txBody>
                  <a:tcPr/>
                </a:tc>
                <a:tc>
                  <a:txBody>
                    <a:bodyPr/>
                    <a:lstStyle/>
                    <a:p>
                      <a:r>
                        <a:rPr lang="en-US" sz="1400">
                          <a:latin typeface="+mn-lt"/>
                        </a:rPr>
                        <a:t>Elements</a:t>
                      </a:r>
                      <a:endParaRPr lang="en-US" sz="1400" dirty="0">
                        <a:latin typeface="+mn-lt"/>
                      </a:endParaRPr>
                    </a:p>
                  </a:txBody>
                  <a:tcPr/>
                </a:tc>
                <a:tc>
                  <a:txBody>
                    <a:bodyPr/>
                    <a:lstStyle/>
                    <a:p>
                      <a:pPr lvl="0">
                        <a:buNone/>
                      </a:pPr>
                      <a:r>
                        <a:rPr lang="en-US" sz="1400">
                          <a:latin typeface="+mn-lt"/>
                        </a:rPr>
                        <a:t>Values (C1001)</a:t>
                      </a:r>
                      <a:endParaRPr lang="en-US" sz="1400" dirty="0">
                        <a:latin typeface="+mn-lt"/>
                      </a:endParaRP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mn-lt"/>
                        </a:rPr>
                        <a:t>C1001</a:t>
                      </a:r>
                    </a:p>
                  </a:txBody>
                  <a:tcPr/>
                </a:tc>
                <a:tc>
                  <a:txBody>
                    <a:bodyPr/>
                    <a:lstStyle/>
                    <a:p>
                      <a:pPr lvl="0">
                        <a:buNone/>
                      </a:pPr>
                      <a:r>
                        <a:rPr lang="en-US" sz="1400">
                          <a:latin typeface="+mn-lt"/>
                        </a:rPr>
                        <a:t>Values</a:t>
                      </a:r>
                    </a:p>
                    <a:p>
                      <a:pPr lvl="0">
                        <a:buNone/>
                      </a:pPr>
                      <a:r>
                        <a:rPr lang="en-US" sz="1400">
                          <a:latin typeface="+mn-lt"/>
                        </a:rPr>
                        <a:t>(C1001 + E3001)</a:t>
                      </a:r>
                      <a:endParaRPr lang="en-US" sz="1400" dirty="0">
                        <a:latin typeface="+mn-lt"/>
                      </a:endParaRPr>
                    </a:p>
                  </a:txBody>
                  <a:tcPr/>
                </a:tc>
                <a:tc>
                  <a:txBody>
                    <a:bodyPr/>
                    <a:lstStyle/>
                    <a:p>
                      <a:r>
                        <a:rPr lang="en-US" sz="1400">
                          <a:latin typeface="+mn-lt"/>
                        </a:rPr>
                        <a:t>E3001</a:t>
                      </a:r>
                      <a:endParaRPr lang="en-US" sz="1400" dirty="0">
                        <a:latin typeface="+mn-lt"/>
                      </a:endParaRPr>
                    </a:p>
                  </a:txBody>
                  <a:tcPr/>
                </a:tc>
                <a:extLst>
                  <a:ext uri="{0D108BD9-81ED-4DB2-BD59-A6C34878D82A}">
                    <a16:rowId xmlns:a16="http://schemas.microsoft.com/office/drawing/2014/main" val="1071926590"/>
                  </a:ext>
                </a:extLst>
              </a:tr>
              <a:tr h="276663">
                <a:tc>
                  <a:txBody>
                    <a:bodyPr/>
                    <a:lstStyle/>
                    <a:p>
                      <a:pPr lvl="0">
                        <a:buNone/>
                      </a:pPr>
                      <a:r>
                        <a:rPr lang="en-US" sz="1400">
                          <a:latin typeface="+mn-lt"/>
                        </a:rPr>
                        <a:t>Demand Date</a:t>
                      </a:r>
                      <a:endParaRPr lang="en-US" sz="1400" dirty="0">
                        <a:latin typeface="+mn-lt"/>
                      </a:endParaRPr>
                    </a:p>
                  </a:txBody>
                  <a:tcPr/>
                </a:tc>
                <a:tc>
                  <a:txBody>
                    <a:bodyPr/>
                    <a:lstStyle/>
                    <a:p>
                      <a:pPr lvl="0">
                        <a:buNone/>
                      </a:pPr>
                      <a:endParaRPr lang="en-US" sz="1400" dirty="0">
                        <a:latin typeface="+mn-lt"/>
                      </a:endParaRPr>
                    </a:p>
                  </a:txBody>
                  <a:tcPr/>
                </a:tc>
                <a:tc>
                  <a:txBody>
                    <a:bodyPr/>
                    <a:lstStyle/>
                    <a:p>
                      <a:pPr lvl="0">
                        <a:buNone/>
                      </a:pPr>
                      <a:endParaRPr lang="en-US" sz="1400" dirty="0">
                        <a:latin typeface="+mn-lt"/>
                      </a:endParaRPr>
                    </a:p>
                  </a:txBody>
                  <a:tcPr/>
                </a:tc>
                <a:tc>
                  <a:txBody>
                    <a:bodyPr/>
                    <a:lstStyle/>
                    <a:p>
                      <a:pPr lvl="0">
                        <a:buNone/>
                      </a:pPr>
                      <a:r>
                        <a:rPr lang="en-US" sz="1400">
                          <a:latin typeface="+mn-lt"/>
                        </a:rPr>
                        <a:t>10/15/2026</a:t>
                      </a:r>
                      <a:endParaRPr lang="en-US" sz="1400" dirty="0">
                        <a:latin typeface="+mn-lt"/>
                      </a:endParaRPr>
                    </a:p>
                  </a:txBody>
                  <a:tcPr/>
                </a:tc>
                <a:tc>
                  <a:txBody>
                    <a:bodyPr/>
                    <a:lstStyle/>
                    <a:p>
                      <a:pPr lvl="0">
                        <a:buNone/>
                      </a:pPr>
                      <a:endParaRPr lang="en-US" sz="1400" dirty="0">
                        <a:latin typeface="+mn-lt"/>
                      </a:endParaRPr>
                    </a:p>
                  </a:txBody>
                  <a:tcPr/>
                </a:tc>
                <a:tc>
                  <a:txBody>
                    <a:bodyPr/>
                    <a:lstStyle/>
                    <a:p>
                      <a:pPr lvl="0">
                        <a:buNone/>
                      </a:pPr>
                      <a:r>
                        <a:rPr lang="en-US" sz="1400">
                          <a:latin typeface="+mn-lt"/>
                        </a:rPr>
                        <a:t>10/15/2026</a:t>
                      </a:r>
                      <a:endParaRPr lang="en-US" sz="1400" dirty="0">
                        <a:latin typeface="+mn-lt"/>
                      </a:endParaRPr>
                    </a:p>
                  </a:txBody>
                  <a:tcPr/>
                </a:tc>
                <a:extLst>
                  <a:ext uri="{0D108BD9-81ED-4DB2-BD59-A6C34878D82A}">
                    <a16:rowId xmlns:a16="http://schemas.microsoft.com/office/drawing/2014/main" val="419148149"/>
                  </a:ext>
                </a:extLst>
              </a:tr>
              <a:tr h="276663">
                <a:tc>
                  <a:txBody>
                    <a:bodyPr/>
                    <a:lstStyle/>
                    <a:p>
                      <a:pPr lvl="0" algn="l">
                        <a:lnSpc>
                          <a:spcPct val="100000"/>
                        </a:lnSpc>
                        <a:spcBef>
                          <a:spcPts val="0"/>
                        </a:spcBef>
                        <a:spcAft>
                          <a:spcPts val="0"/>
                        </a:spcAft>
                        <a:buNone/>
                      </a:pPr>
                      <a:r>
                        <a:rPr lang="en-US" sz="1400" b="0" i="0" u="none" strike="noStrike" noProof="0">
                          <a:solidFill>
                            <a:srgbClr val="000000"/>
                          </a:solidFill>
                          <a:latin typeface="+mn-lt"/>
                        </a:rPr>
                        <a:t>Due Date</a:t>
                      </a:r>
                    </a:p>
                  </a:txBody>
                  <a:tcPr/>
                </a:tc>
                <a:tc>
                  <a:txBody>
                    <a:bodyPr/>
                    <a:lstStyle/>
                    <a:p>
                      <a:r>
                        <a:rPr lang="en-US" sz="1400">
                          <a:latin typeface="+mn-lt"/>
                        </a:rPr>
                        <a:t>Safety </a:t>
                      </a:r>
                    </a:p>
                  </a:txBody>
                  <a:tcPr/>
                </a:tc>
                <a:tc>
                  <a:txBody>
                    <a:bodyPr/>
                    <a:lstStyle/>
                    <a:p>
                      <a:pPr lvl="0">
                        <a:buNone/>
                      </a:pPr>
                      <a:r>
                        <a:rPr lang="en-US" sz="1400">
                          <a:latin typeface="+mn-lt"/>
                        </a:rPr>
                        <a:t>1</a:t>
                      </a:r>
                      <a:endParaRPr lang="en-US" sz="1400" dirty="0">
                        <a:latin typeface="+mn-lt"/>
                      </a:endParaRPr>
                    </a:p>
                  </a:txBody>
                  <a:tcPr/>
                </a:tc>
                <a:tc>
                  <a:txBody>
                    <a:bodyPr/>
                    <a:lstStyle/>
                    <a:p>
                      <a:pPr lvl="0">
                        <a:buNone/>
                      </a:pPr>
                      <a:r>
                        <a:rPr lang="en-US" sz="1400">
                          <a:latin typeface="+mn-lt"/>
                        </a:rPr>
                        <a:t>10/14/2026</a:t>
                      </a:r>
                      <a:endParaRPr lang="en-US" sz="1400" dirty="0">
                        <a:latin typeface="+mn-lt"/>
                      </a:endParaRPr>
                    </a:p>
                  </a:txBody>
                  <a:tcPr/>
                </a:tc>
                <a:tc>
                  <a:txBody>
                    <a:bodyPr/>
                    <a:lstStyle/>
                    <a:p>
                      <a:pPr lvl="0">
                        <a:buNone/>
                      </a:pPr>
                      <a:r>
                        <a:rPr lang="en-US" sz="1400">
                          <a:latin typeface="+mn-lt"/>
                        </a:rPr>
                        <a:t>1 + 0</a:t>
                      </a:r>
                      <a:endParaRPr lang="en-US" sz="1400" dirty="0">
                        <a:latin typeface="+mn-lt"/>
                      </a:endParaRPr>
                    </a:p>
                  </a:txBody>
                  <a:tcPr/>
                </a:tc>
                <a:tc>
                  <a:txBody>
                    <a:bodyPr/>
                    <a:lstStyle/>
                    <a:p>
                      <a:r>
                        <a:rPr lang="en-US" sz="1400">
                          <a:latin typeface="+mn-lt"/>
                        </a:rPr>
                        <a:t>10/14/2026</a:t>
                      </a:r>
                    </a:p>
                  </a:txBody>
                  <a:tcPr/>
                </a:tc>
                <a:extLst>
                  <a:ext uri="{0D108BD9-81ED-4DB2-BD59-A6C34878D82A}">
                    <a16:rowId xmlns:a16="http://schemas.microsoft.com/office/drawing/2014/main" val="477136834"/>
                  </a:ext>
                </a:extLst>
              </a:tr>
              <a:tr h="276663">
                <a:tc>
                  <a:txBody>
                    <a:bodyPr/>
                    <a:lstStyle/>
                    <a:p>
                      <a:pPr lvl="0" algn="l">
                        <a:lnSpc>
                          <a:spcPct val="100000"/>
                        </a:lnSpc>
                        <a:spcBef>
                          <a:spcPts val="0"/>
                        </a:spcBef>
                        <a:spcAft>
                          <a:spcPts val="0"/>
                        </a:spcAft>
                        <a:buNone/>
                      </a:pPr>
                      <a:r>
                        <a:rPr lang="en-US" sz="1400" b="0" i="0" u="none" strike="noStrike" noProof="0">
                          <a:solidFill>
                            <a:srgbClr val="000000"/>
                          </a:solidFill>
                          <a:latin typeface="+mn-lt"/>
                        </a:rPr>
                        <a:t>Dock Date</a:t>
                      </a:r>
                    </a:p>
                  </a:txBody>
                  <a:tcPr/>
                </a:tc>
                <a:tc>
                  <a:txBody>
                    <a:bodyPr/>
                    <a:lstStyle/>
                    <a:p>
                      <a:r>
                        <a:rPr lang="en-US" sz="1400">
                          <a:latin typeface="+mn-lt"/>
                        </a:rPr>
                        <a:t>Dock To Stock </a:t>
                      </a:r>
                    </a:p>
                  </a:txBody>
                  <a:tcPr/>
                </a:tc>
                <a:tc>
                  <a:txBody>
                    <a:bodyPr/>
                    <a:lstStyle/>
                    <a:p>
                      <a:pPr lvl="0">
                        <a:buNone/>
                      </a:pPr>
                      <a:r>
                        <a:rPr lang="en-US" sz="1400">
                          <a:solidFill>
                            <a:srgbClr val="FF0000"/>
                          </a:solidFill>
                          <a:latin typeface="+mn-lt"/>
                        </a:rPr>
                        <a:t>2</a:t>
                      </a:r>
                    </a:p>
                  </a:txBody>
                  <a:tcPr/>
                </a:tc>
                <a:tc>
                  <a:txBody>
                    <a:bodyPr/>
                    <a:lstStyle/>
                    <a:p>
                      <a:pPr lvl="0">
                        <a:buNone/>
                      </a:pPr>
                      <a:r>
                        <a:rPr lang="en-US" sz="1400">
                          <a:latin typeface="+mn-lt"/>
                        </a:rPr>
                        <a:t>10/14/2026</a:t>
                      </a:r>
                      <a:endParaRPr lang="en-US" sz="1400" dirty="0">
                        <a:latin typeface="+mn-lt"/>
                      </a:endParaRPr>
                    </a:p>
                  </a:txBody>
                  <a:tcPr/>
                </a:tc>
                <a:tc>
                  <a:txBody>
                    <a:bodyPr/>
                    <a:lstStyle/>
                    <a:p>
                      <a:pPr lvl="0">
                        <a:buNone/>
                      </a:pPr>
                      <a:r>
                        <a:rPr lang="en-US" sz="1400">
                          <a:latin typeface="+mn-lt"/>
                        </a:rPr>
                        <a:t>2 + </a:t>
                      </a:r>
                      <a:r>
                        <a:rPr lang="en-US" sz="1400">
                          <a:solidFill>
                            <a:srgbClr val="FF0000"/>
                          </a:solidFill>
                          <a:latin typeface="+mn-lt"/>
                        </a:rPr>
                        <a:t>1</a:t>
                      </a:r>
                      <a:endParaRPr lang="en-US" sz="1400" dirty="0">
                        <a:solidFill>
                          <a:srgbClr val="FF0000"/>
                        </a:solidFill>
                        <a:latin typeface="+mn-lt"/>
                      </a:endParaRPr>
                    </a:p>
                  </a:txBody>
                  <a:tcPr/>
                </a:tc>
                <a:tc>
                  <a:txBody>
                    <a:bodyPr/>
                    <a:lstStyle/>
                    <a:p>
                      <a:r>
                        <a:rPr lang="en-US" sz="1400">
                          <a:latin typeface="+mn-lt"/>
                        </a:rPr>
                        <a:t>10/12/2026</a:t>
                      </a:r>
                    </a:p>
                  </a:txBody>
                  <a:tcPr/>
                </a:tc>
                <a:extLst>
                  <a:ext uri="{0D108BD9-81ED-4DB2-BD59-A6C34878D82A}">
                    <a16:rowId xmlns:a16="http://schemas.microsoft.com/office/drawing/2014/main" val="2376649581"/>
                  </a:ext>
                </a:extLst>
              </a:tr>
              <a:tr h="276663">
                <a:tc>
                  <a:txBody>
                    <a:bodyPr/>
                    <a:lstStyle/>
                    <a:p>
                      <a:r>
                        <a:rPr lang="en-US" sz="1400">
                          <a:latin typeface="+mn-lt"/>
                        </a:rPr>
                        <a:t>Ship Date</a:t>
                      </a:r>
                      <a:endParaRPr lang="en-US" sz="1400" dirty="0">
                        <a:latin typeface="+mn-lt"/>
                      </a:endParaRPr>
                    </a:p>
                  </a:txBody>
                  <a:tcPr/>
                </a:tc>
                <a:tc>
                  <a:txBody>
                    <a:bodyPr/>
                    <a:lstStyle/>
                    <a:p>
                      <a:r>
                        <a:rPr lang="en-US" sz="1400">
                          <a:latin typeface="+mn-lt"/>
                        </a:rPr>
                        <a:t>Transit Time</a:t>
                      </a:r>
                    </a:p>
                  </a:txBody>
                  <a:tcPr/>
                </a:tc>
                <a:tc>
                  <a:txBody>
                    <a:bodyPr/>
                    <a:lstStyle/>
                    <a:p>
                      <a:pPr lvl="0">
                        <a:buNone/>
                      </a:pPr>
                      <a:r>
                        <a:rPr lang="en-US" sz="1400">
                          <a:solidFill>
                            <a:srgbClr val="FF0000"/>
                          </a:solidFill>
                          <a:latin typeface="+mn-lt"/>
                        </a:rPr>
                        <a:t>2</a:t>
                      </a:r>
                    </a:p>
                  </a:txBody>
                  <a:tcPr/>
                </a:tc>
                <a:tc>
                  <a:txBody>
                    <a:bodyPr/>
                    <a:lstStyle/>
                    <a:p>
                      <a:pPr lvl="0">
                        <a:buNone/>
                      </a:pPr>
                      <a:r>
                        <a:rPr lang="en-US" sz="1400" dirty="0">
                          <a:latin typeface="+mn-lt"/>
                        </a:rPr>
                        <a:t>10/14/2026</a:t>
                      </a:r>
                    </a:p>
                  </a:txBody>
                  <a:tcPr/>
                </a:tc>
                <a:tc>
                  <a:txBody>
                    <a:bodyPr/>
                    <a:lstStyle/>
                    <a:p>
                      <a:pPr lvl="0">
                        <a:buNone/>
                      </a:pPr>
                      <a:r>
                        <a:rPr lang="en-US" sz="1400">
                          <a:latin typeface="+mn-lt"/>
                        </a:rPr>
                        <a:t>2 + </a:t>
                      </a:r>
                      <a:r>
                        <a:rPr lang="en-US" sz="1400">
                          <a:solidFill>
                            <a:srgbClr val="FF0000"/>
                          </a:solidFill>
                          <a:latin typeface="+mn-lt"/>
                        </a:rPr>
                        <a:t>2</a:t>
                      </a:r>
                      <a:endParaRPr lang="en-US" sz="1400" dirty="0">
                        <a:solidFill>
                          <a:srgbClr val="FF0000"/>
                        </a:solidFill>
                        <a:latin typeface="+mn-lt"/>
                      </a:endParaRPr>
                    </a:p>
                  </a:txBody>
                  <a:tcPr/>
                </a:tc>
                <a:tc>
                  <a:txBody>
                    <a:bodyPr/>
                    <a:lstStyle/>
                    <a:p>
                      <a:r>
                        <a:rPr lang="en-US" sz="1400">
                          <a:latin typeface="+mn-lt"/>
                        </a:rPr>
                        <a:t>10/10/2026</a:t>
                      </a:r>
                    </a:p>
                  </a:txBody>
                  <a:tcPr/>
                </a:tc>
                <a:extLst>
                  <a:ext uri="{0D108BD9-81ED-4DB2-BD59-A6C34878D82A}">
                    <a16:rowId xmlns:a16="http://schemas.microsoft.com/office/drawing/2014/main" val="1126997416"/>
                  </a:ext>
                </a:extLst>
              </a:tr>
              <a:tr h="276663">
                <a:tc>
                  <a:txBody>
                    <a:bodyPr/>
                    <a:lstStyle/>
                    <a:p>
                      <a:r>
                        <a:rPr lang="en-US" sz="1400">
                          <a:latin typeface="+mn-lt"/>
                        </a:rPr>
                        <a:t>Build Date</a:t>
                      </a:r>
                    </a:p>
                  </a:txBody>
                  <a:tcPr/>
                </a:tc>
                <a:tc>
                  <a:txBody>
                    <a:bodyPr/>
                    <a:lstStyle/>
                    <a:p>
                      <a:r>
                        <a:rPr lang="en-US" sz="1400">
                          <a:latin typeface="+mn-lt"/>
                        </a:rPr>
                        <a:t>Pre-Ship</a:t>
                      </a:r>
                    </a:p>
                  </a:txBody>
                  <a:tcPr/>
                </a:tc>
                <a:tc>
                  <a:txBody>
                    <a:bodyPr/>
                    <a:lstStyle/>
                    <a:p>
                      <a:pPr lvl="0">
                        <a:buNone/>
                      </a:pPr>
                      <a:r>
                        <a:rPr lang="en-US" sz="1400">
                          <a:solidFill>
                            <a:srgbClr val="FF0000"/>
                          </a:solidFill>
                          <a:latin typeface="+mn-lt"/>
                        </a:rPr>
                        <a:t>1</a:t>
                      </a:r>
                    </a:p>
                  </a:txBody>
                  <a:tcPr/>
                </a:tc>
                <a:tc>
                  <a:txBody>
                    <a:bodyPr/>
                    <a:lstStyle/>
                    <a:p>
                      <a:pPr lvl="0">
                        <a:buNone/>
                      </a:pPr>
                      <a:r>
                        <a:rPr lang="en-US" sz="1400">
                          <a:latin typeface="+mn-lt"/>
                        </a:rPr>
                        <a:t>10/04/2026</a:t>
                      </a:r>
                      <a:endParaRPr lang="en-US" sz="1400" dirty="0">
                        <a:latin typeface="+mn-lt"/>
                      </a:endParaRPr>
                    </a:p>
                  </a:txBody>
                  <a:tcPr/>
                </a:tc>
                <a:tc>
                  <a:txBody>
                    <a:bodyPr/>
                    <a:lstStyle/>
                    <a:p>
                      <a:pPr lvl="0">
                        <a:buNone/>
                      </a:pPr>
                      <a:r>
                        <a:rPr lang="en-US" sz="1400">
                          <a:latin typeface="+mn-lt"/>
                        </a:rPr>
                        <a:t>1 + </a:t>
                      </a:r>
                      <a:r>
                        <a:rPr lang="en-US" sz="1400">
                          <a:solidFill>
                            <a:srgbClr val="FF0000"/>
                          </a:solidFill>
                          <a:latin typeface="+mn-lt"/>
                        </a:rPr>
                        <a:t>1</a:t>
                      </a:r>
                      <a:endParaRPr lang="en-US" sz="1400" dirty="0">
                        <a:solidFill>
                          <a:srgbClr val="FF0000"/>
                        </a:solidFill>
                        <a:latin typeface="+mn-lt"/>
                      </a:endParaRPr>
                    </a:p>
                  </a:txBody>
                  <a:tcPr/>
                </a:tc>
                <a:tc>
                  <a:txBody>
                    <a:bodyPr/>
                    <a:lstStyle/>
                    <a:p>
                      <a:r>
                        <a:rPr lang="en-US" sz="1400">
                          <a:latin typeface="+mn-lt"/>
                        </a:rPr>
                        <a:t>10/09/2026</a:t>
                      </a:r>
                    </a:p>
                  </a:txBody>
                  <a:tcPr/>
                </a:tc>
                <a:extLst>
                  <a:ext uri="{0D108BD9-81ED-4DB2-BD59-A6C34878D82A}">
                    <a16:rowId xmlns:a16="http://schemas.microsoft.com/office/drawing/2014/main" val="1656075160"/>
                  </a:ext>
                </a:extLst>
              </a:tr>
              <a:tr h="276663">
                <a:tc>
                  <a:txBody>
                    <a:bodyPr/>
                    <a:lstStyle/>
                    <a:p>
                      <a:endParaRPr lang="en-US" sz="1400">
                        <a:latin typeface="+mn-lt"/>
                      </a:endParaRPr>
                    </a:p>
                  </a:txBody>
                  <a:tcPr/>
                </a:tc>
                <a:tc>
                  <a:txBody>
                    <a:bodyPr/>
                    <a:lstStyle/>
                    <a:p>
                      <a:r>
                        <a:rPr lang="en-US" sz="1400">
                          <a:latin typeface="+mn-lt"/>
                        </a:rPr>
                        <a:t>LTA </a:t>
                      </a:r>
                    </a:p>
                  </a:txBody>
                  <a:tcPr/>
                </a:tc>
                <a:tc>
                  <a:txBody>
                    <a:bodyPr/>
                    <a:lstStyle/>
                    <a:p>
                      <a:pPr lvl="0">
                        <a:buNone/>
                      </a:pPr>
                      <a:r>
                        <a:rPr lang="en-US" sz="1400">
                          <a:latin typeface="+mn-lt"/>
                        </a:rPr>
                        <a:t>2</a:t>
                      </a:r>
                      <a:endParaRPr lang="en-US" sz="1400" dirty="0">
                        <a:latin typeface="+mn-lt"/>
                      </a:endParaRPr>
                    </a:p>
                  </a:txBody>
                  <a:tcPr/>
                </a:tc>
                <a:tc>
                  <a:txBody>
                    <a:bodyPr/>
                    <a:lstStyle/>
                    <a:p>
                      <a:pPr lvl="0">
                        <a:buNone/>
                      </a:pPr>
                      <a:endParaRPr lang="en-US" sz="1400" dirty="0">
                        <a:latin typeface="+mn-lt"/>
                      </a:endParaRPr>
                    </a:p>
                  </a:txBody>
                  <a:tcPr/>
                </a:tc>
                <a:tc>
                  <a:txBody>
                    <a:bodyPr/>
                    <a:lstStyle/>
                    <a:p>
                      <a:pPr lvl="0">
                        <a:buNone/>
                      </a:pPr>
                      <a:r>
                        <a:rPr lang="en-US" sz="1400">
                          <a:solidFill>
                            <a:srgbClr val="FF0000"/>
                          </a:solidFill>
                          <a:latin typeface="+mn-lt"/>
                        </a:rPr>
                        <a:t>2</a:t>
                      </a:r>
                      <a:r>
                        <a:rPr lang="en-US" sz="1400">
                          <a:latin typeface="+mn-lt"/>
                        </a:rPr>
                        <a:t> + 1</a:t>
                      </a:r>
                      <a:endParaRPr lang="en-US" sz="1400" dirty="0">
                        <a:latin typeface="+mn-lt"/>
                      </a:endParaRPr>
                    </a:p>
                  </a:txBody>
                  <a:tcPr/>
                </a:tc>
                <a:tc>
                  <a:txBody>
                    <a:bodyPr/>
                    <a:lstStyle/>
                    <a:p>
                      <a:endParaRPr lang="en-US" sz="1400">
                        <a:latin typeface="+mn-lt"/>
                      </a:endParaRPr>
                    </a:p>
                  </a:txBody>
                  <a:tcPr/>
                </a:tc>
                <a:extLst>
                  <a:ext uri="{0D108BD9-81ED-4DB2-BD59-A6C34878D82A}">
                    <a16:rowId xmlns:a16="http://schemas.microsoft.com/office/drawing/2014/main" val="3184285421"/>
                  </a:ext>
                </a:extLst>
              </a:tr>
              <a:tr h="276663">
                <a:tc>
                  <a:txBody>
                    <a:bodyPr/>
                    <a:lstStyle/>
                    <a:p>
                      <a:endParaRPr lang="en-US" sz="1400">
                        <a:latin typeface="+mn-lt"/>
                      </a:endParaRPr>
                    </a:p>
                  </a:txBody>
                  <a:tcPr/>
                </a:tc>
                <a:tc>
                  <a:txBody>
                    <a:bodyPr/>
                    <a:lstStyle/>
                    <a:p>
                      <a:r>
                        <a:rPr lang="en-US" sz="1400">
                          <a:latin typeface="+mn-lt"/>
                        </a:rPr>
                        <a:t>Fixed</a:t>
                      </a:r>
                      <a:endParaRPr lang="en-US" sz="1400" dirty="0">
                        <a:latin typeface="+mn-lt"/>
                      </a:endParaRPr>
                    </a:p>
                  </a:txBody>
                  <a:tcPr/>
                </a:tc>
                <a:tc>
                  <a:txBody>
                    <a:bodyPr/>
                    <a:lstStyle/>
                    <a:p>
                      <a:pPr lvl="0">
                        <a:buNone/>
                      </a:pPr>
                      <a:r>
                        <a:rPr lang="en-US" sz="1400">
                          <a:latin typeface="+mn-lt"/>
                        </a:rPr>
                        <a:t>2</a:t>
                      </a:r>
                      <a:endParaRPr lang="en-US" sz="1400" dirty="0">
                        <a:latin typeface="+mn-lt"/>
                      </a:endParaRPr>
                    </a:p>
                  </a:txBody>
                  <a:tcPr/>
                </a:tc>
                <a:tc>
                  <a:txBody>
                    <a:bodyPr/>
                    <a:lstStyle/>
                    <a:p>
                      <a:pPr lvl="0">
                        <a:buNone/>
                      </a:pPr>
                      <a:endParaRPr lang="en-US" sz="1400" dirty="0">
                        <a:latin typeface="+mn-lt"/>
                      </a:endParaRPr>
                    </a:p>
                  </a:txBody>
                  <a:tcPr/>
                </a:tc>
                <a:tc>
                  <a:txBody>
                    <a:bodyPr/>
                    <a:lstStyle/>
                    <a:p>
                      <a:pPr lvl="0">
                        <a:buNone/>
                      </a:pPr>
                      <a:r>
                        <a:rPr lang="en-US" sz="1400">
                          <a:solidFill>
                            <a:srgbClr val="FF0000"/>
                          </a:solidFill>
                          <a:latin typeface="+mn-lt"/>
                        </a:rPr>
                        <a:t>2</a:t>
                      </a:r>
                      <a:r>
                        <a:rPr lang="en-US" sz="1400">
                          <a:latin typeface="+mn-lt"/>
                        </a:rPr>
                        <a:t> + 1</a:t>
                      </a:r>
                      <a:endParaRPr lang="en-US" sz="1400" dirty="0">
                        <a:latin typeface="+mn-lt"/>
                      </a:endParaRPr>
                    </a:p>
                  </a:txBody>
                  <a:tcPr/>
                </a:tc>
                <a:tc>
                  <a:txBody>
                    <a:bodyPr/>
                    <a:lstStyle/>
                    <a:p>
                      <a:endParaRPr lang="en-US" sz="1400">
                        <a:latin typeface="+mn-lt"/>
                      </a:endParaRPr>
                    </a:p>
                  </a:txBody>
                  <a:tcPr/>
                </a:tc>
                <a:extLst>
                  <a:ext uri="{0D108BD9-81ED-4DB2-BD59-A6C34878D82A}">
                    <a16:rowId xmlns:a16="http://schemas.microsoft.com/office/drawing/2014/main" val="277430448"/>
                  </a:ext>
                </a:extLst>
              </a:tr>
              <a:tr h="276663">
                <a:tc>
                  <a:txBody>
                    <a:bodyPr/>
                    <a:lstStyle/>
                    <a:p>
                      <a:pPr lvl="0" algn="l">
                        <a:lnSpc>
                          <a:spcPct val="100000"/>
                        </a:lnSpc>
                        <a:spcBef>
                          <a:spcPts val="0"/>
                        </a:spcBef>
                        <a:spcAft>
                          <a:spcPts val="0"/>
                        </a:spcAft>
                        <a:buNone/>
                      </a:pPr>
                      <a:r>
                        <a:rPr lang="en-US" sz="1400" b="0" i="0" u="none" strike="noStrike" noProof="0">
                          <a:solidFill>
                            <a:srgbClr val="000000"/>
                          </a:solidFill>
                          <a:latin typeface="+mn-lt"/>
                        </a:rPr>
                        <a:t>Start Date</a:t>
                      </a:r>
                    </a:p>
                  </a:txBody>
                  <a:tcPr/>
                </a:tc>
                <a:tc>
                  <a:txBody>
                    <a:bodyPr/>
                    <a:lstStyle/>
                    <a:p>
                      <a:r>
                        <a:rPr lang="en-US" sz="1400">
                          <a:latin typeface="+mn-lt"/>
                        </a:rPr>
                        <a:t>Var*Qtd</a:t>
                      </a:r>
                    </a:p>
                  </a:txBody>
                  <a:tcPr/>
                </a:tc>
                <a:tc>
                  <a:txBody>
                    <a:bodyPr/>
                    <a:lstStyle/>
                    <a:p>
                      <a:pPr lvl="0">
                        <a:buNone/>
                      </a:pPr>
                      <a:r>
                        <a:rPr lang="en-US" sz="1400" b="0" i="0" u="none" strike="noStrike" noProof="0">
                          <a:solidFill>
                            <a:srgbClr val="000000"/>
                          </a:solidFill>
                          <a:latin typeface="+mn-lt"/>
                        </a:rPr>
                        <a:t>0.2*10 = </a:t>
                      </a:r>
                      <a:r>
                        <a:rPr lang="en-US" sz="1400" dirty="0">
                          <a:latin typeface="+mn-lt"/>
                        </a:rPr>
                        <a:t>2</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mn-lt"/>
                        </a:rPr>
                        <a:t>10/08/2026</a:t>
                      </a:r>
                    </a:p>
                  </a:txBody>
                  <a:tcPr/>
                </a:tc>
                <a:tc>
                  <a:txBody>
                    <a:bodyPr/>
                    <a:lstStyle/>
                    <a:p>
                      <a:pPr lvl="0">
                        <a:buNone/>
                      </a:pPr>
                      <a:r>
                        <a:rPr lang="en-US" sz="1400">
                          <a:solidFill>
                            <a:srgbClr val="FF0000"/>
                          </a:solidFill>
                          <a:latin typeface="+mn-lt"/>
                        </a:rPr>
                        <a:t>2</a:t>
                      </a:r>
                      <a:r>
                        <a:rPr lang="en-US" sz="1400">
                          <a:latin typeface="+mn-lt"/>
                        </a:rPr>
                        <a:t> + 0</a:t>
                      </a:r>
                      <a:endParaRPr lang="en-US" sz="1400" dirty="0">
                        <a:latin typeface="+mn-lt"/>
                      </a:endParaRPr>
                    </a:p>
                  </a:txBody>
                  <a:tcPr/>
                </a:tc>
                <a:tc>
                  <a:txBody>
                    <a:bodyPr/>
                    <a:lstStyle/>
                    <a:p>
                      <a:pPr lvl="0" algn="l">
                        <a:lnSpc>
                          <a:spcPct val="100000"/>
                        </a:lnSpc>
                        <a:spcBef>
                          <a:spcPts val="0"/>
                        </a:spcBef>
                        <a:spcAft>
                          <a:spcPts val="0"/>
                        </a:spcAft>
                        <a:buNone/>
                      </a:pPr>
                      <a:r>
                        <a:rPr lang="en-US" sz="1400" b="0" i="0" u="none" strike="noStrike" noProof="0" dirty="0">
                          <a:solidFill>
                            <a:srgbClr val="000000"/>
                          </a:solidFill>
                          <a:latin typeface="+mn-lt"/>
                        </a:rPr>
                        <a:t>10/07/2026</a:t>
                      </a:r>
                    </a:p>
                  </a:txBody>
                  <a:tcPr/>
                </a:tc>
                <a:extLst>
                  <a:ext uri="{0D108BD9-81ED-4DB2-BD59-A6C34878D82A}">
                    <a16:rowId xmlns:a16="http://schemas.microsoft.com/office/drawing/2014/main" val="2133575364"/>
                  </a:ext>
                </a:extLst>
              </a:tr>
            </a:tbl>
          </a:graphicData>
        </a:graphic>
      </p:graphicFrame>
    </p:spTree>
    <p:extLst>
      <p:ext uri="{BB962C8B-B14F-4D97-AF65-F5344CB8AC3E}">
        <p14:creationId xmlns:p14="http://schemas.microsoft.com/office/powerpoint/2010/main" val="2385457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AF1A-FC27-0888-BC43-57A50311C6E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8C72CE94-590D-ADF4-80E6-31E13319BFE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885E088B-C73F-E82F-721A-20F494109D4A}"/>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107F6937-E592-6896-75FA-BAFD885B4D4A}"/>
              </a:ext>
            </a:extLst>
          </p:cNvPr>
          <p:cNvPicPr>
            <a:picLocks noChangeAspect="1"/>
          </p:cNvPicPr>
          <p:nvPr/>
        </p:nvPicPr>
        <p:blipFill>
          <a:blip r:embed="rId4"/>
          <a:stretch>
            <a:fillRect/>
          </a:stretch>
        </p:blipFill>
        <p:spPr>
          <a:xfrm>
            <a:off x="373811" y="936483"/>
            <a:ext cx="11550770" cy="52733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5171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4F68-A4FC-455C-5820-E584C4ACE82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2008B2B8-432B-1D93-965D-2E9B52CA5952}"/>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75594A3-07E6-1E84-388D-DE8B4223C3F0}"/>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718A97C6-4DDF-4389-03F9-1720BA7E3305}"/>
              </a:ext>
            </a:extLst>
          </p:cNvPr>
          <p:cNvSpPr txBox="1"/>
          <p:nvPr/>
        </p:nvSpPr>
        <p:spPr>
          <a:xfrm>
            <a:off x="630878" y="1080890"/>
            <a:ext cx="10936184" cy="42780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t>Lead Time Rounding:</a:t>
            </a:r>
          </a:p>
          <a:p>
            <a:endParaRPr lang="en-US" dirty="0"/>
          </a:p>
          <a:p>
            <a:r>
              <a:rPr lang="en-US" sz="1600" dirty="0"/>
              <a:t>When a lead time value contains a fractional portion, the effective number of intervals to use in</a:t>
            </a:r>
          </a:p>
          <a:p>
            <a:r>
              <a:rPr lang="en-US" sz="1600" dirty="0"/>
              <a:t>lead time calculations is determined by rounding as follows:</a:t>
            </a:r>
          </a:p>
          <a:p>
            <a:endParaRPr lang="en-US" sz="1600" dirty="0"/>
          </a:p>
          <a:p>
            <a:pPr marL="285750" indent="-285750">
              <a:buFont typeface="Arial"/>
              <a:buChar char="•"/>
            </a:pPr>
            <a:r>
              <a:rPr lang="en-US" sz="1600" dirty="0"/>
              <a:t>If the fractional portion is less than .001, the fractional portion is ignored.</a:t>
            </a:r>
          </a:p>
          <a:p>
            <a:pPr marL="285750" indent="-285750">
              <a:buFont typeface="Arial"/>
              <a:buChar char="•"/>
            </a:pPr>
            <a:r>
              <a:rPr lang="en-US" sz="1600" dirty="0"/>
              <a:t>Otherwise, if the fractional portion is greater than .001, round up to the next integer.</a:t>
            </a:r>
          </a:p>
          <a:p>
            <a:endParaRPr lang="en-US" sz="1600" dirty="0"/>
          </a:p>
          <a:p>
            <a:endParaRPr lang="en-US" sz="1600" dirty="0"/>
          </a:p>
          <a:p>
            <a:r>
              <a:rPr lang="en-US" sz="1600" dirty="0"/>
              <a:t>Assuming an order for 2001 units, the number of days lead time required to build the order is calculated as:</a:t>
            </a:r>
          </a:p>
          <a:p>
            <a:endParaRPr lang="en-US" sz="1600" dirty="0"/>
          </a:p>
          <a:p>
            <a:pPr marL="285750" indent="-285750">
              <a:buFont typeface="Arial"/>
              <a:buChar char="•"/>
            </a:pPr>
            <a:r>
              <a:rPr lang="en-US" sz="1600" dirty="0"/>
              <a:t>(</a:t>
            </a:r>
            <a:r>
              <a:rPr lang="en-US" sz="1600" dirty="0" err="1"/>
              <a:t>FixedLeadTime</a:t>
            </a:r>
            <a:r>
              <a:rPr lang="en-US" sz="1600" dirty="0"/>
              <a:t> + (quantity * VarLeadTime)) </a:t>
            </a:r>
          </a:p>
          <a:p>
            <a:pPr marL="285750" indent="-285750">
              <a:buFont typeface="Arial"/>
              <a:buChar char="•"/>
            </a:pPr>
            <a:r>
              <a:rPr lang="en-US" sz="1600" dirty="0"/>
              <a:t>(10 + (2001 * .0005)) </a:t>
            </a:r>
          </a:p>
          <a:p>
            <a:pPr marL="285750" indent="-285750">
              <a:buFont typeface="Arial"/>
              <a:buChar char="•"/>
            </a:pPr>
            <a:r>
              <a:rPr lang="en-US" sz="1600" dirty="0"/>
              <a:t>(10 + 1.0005) </a:t>
            </a:r>
          </a:p>
          <a:p>
            <a:pPr marL="285750" indent="-285750">
              <a:buFont typeface="Arial"/>
              <a:buChar char="•"/>
            </a:pPr>
            <a:r>
              <a:rPr lang="en-US" sz="1600" dirty="0"/>
              <a:t>11.0005 which by rule is rounded down to 11.</a:t>
            </a:r>
          </a:p>
          <a:p>
            <a:pPr algn="ctr"/>
            <a:endParaRPr lang="en-US" dirty="0"/>
          </a:p>
        </p:txBody>
      </p:sp>
    </p:spTree>
    <p:extLst>
      <p:ext uri="{BB962C8B-B14F-4D97-AF65-F5344CB8AC3E}">
        <p14:creationId xmlns:p14="http://schemas.microsoft.com/office/powerpoint/2010/main" val="18424848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E4BC7-66B0-9E3C-F0E2-94813689B6E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4B9F9140-ECE1-4331-13A7-2F6892E6B0F6}"/>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22D44D28-0DC1-D50B-CF2C-75D070F5C46A}"/>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3C4E0B9A-3A30-5444-DCEA-4920955ADD87}"/>
              </a:ext>
            </a:extLst>
          </p:cNvPr>
          <p:cNvPicPr>
            <a:picLocks noChangeAspect="1"/>
          </p:cNvPicPr>
          <p:nvPr/>
        </p:nvPicPr>
        <p:blipFill>
          <a:blip r:embed="rId4"/>
          <a:stretch>
            <a:fillRect/>
          </a:stretch>
        </p:blipFill>
        <p:spPr>
          <a:xfrm>
            <a:off x="345057" y="1450254"/>
            <a:ext cx="11487510" cy="39574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499849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5DDC9-FB37-FB4E-EBEA-616752414BAC}"/>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C0866E7-78B4-0F81-0F48-751BCB5AED3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E38AA904-00CD-E64B-6CFE-4CA5A2ADB396}"/>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7EE659D9-C236-931B-05BC-D5FF9D90A1CD}"/>
              </a:ext>
            </a:extLst>
          </p:cNvPr>
          <p:cNvPicPr>
            <a:picLocks noChangeAspect="1"/>
          </p:cNvPicPr>
          <p:nvPr/>
        </p:nvPicPr>
        <p:blipFill>
          <a:blip r:embed="rId4"/>
          <a:stretch>
            <a:fillRect/>
          </a:stretch>
        </p:blipFill>
        <p:spPr>
          <a:xfrm>
            <a:off x="287547" y="1987828"/>
            <a:ext cx="11631284" cy="39318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043A0D0B-7A82-FB4A-43D6-089C22A8C7E2}"/>
              </a:ext>
            </a:extLst>
          </p:cNvPr>
          <p:cNvSpPr txBox="1"/>
          <p:nvPr/>
        </p:nvSpPr>
        <p:spPr>
          <a:xfrm>
            <a:off x="287547" y="428308"/>
            <a:ext cx="60960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Arial,Sans-Serif"/>
              <a:buChar char="•"/>
            </a:pPr>
            <a:r>
              <a:rPr lang="en-US" sz="1600" b="0" i="0" u="none" strike="noStrike" baseline="0" dirty="0">
                <a:solidFill>
                  <a:srgbClr val="000000"/>
                </a:solidFill>
                <a:latin typeface="Aptos"/>
                <a:ea typeface="Arial"/>
                <a:cs typeface="Arial"/>
              </a:rPr>
              <a:t>(</a:t>
            </a:r>
            <a:r>
              <a:rPr lang="en-US" sz="1600" b="0" i="0" u="none" strike="noStrike" baseline="0" dirty="0" err="1">
                <a:solidFill>
                  <a:srgbClr val="000000"/>
                </a:solidFill>
                <a:latin typeface="Aptos"/>
                <a:ea typeface="Arial"/>
                <a:cs typeface="Arial"/>
              </a:rPr>
              <a:t>FixedLeadTime</a:t>
            </a:r>
            <a:r>
              <a:rPr lang="en-US" sz="1600" b="0" i="0" u="none" strike="noStrike" baseline="0" dirty="0">
                <a:solidFill>
                  <a:srgbClr val="000000"/>
                </a:solidFill>
                <a:latin typeface="Aptos"/>
                <a:ea typeface="Arial"/>
                <a:cs typeface="Arial"/>
              </a:rPr>
              <a:t> + (quantity * VarLeadTime)) </a:t>
            </a:r>
            <a:r>
              <a:rPr lang="en-US" sz="1600" b="0" i="0" dirty="0">
                <a:solidFill>
                  <a:srgbClr val="000000"/>
                </a:solidFill>
                <a:latin typeface="Aptos"/>
                <a:ea typeface="Arial"/>
                <a:cs typeface="Arial"/>
              </a:rPr>
              <a:t>​</a:t>
            </a:r>
          </a:p>
          <a:p>
            <a:pPr marL="285750" lvl="0" indent="-285750" algn="l" rtl="0">
              <a:buFont typeface="Arial,Sans-Serif"/>
              <a:buChar char="•"/>
            </a:pPr>
            <a:r>
              <a:rPr lang="en-US" sz="1600" b="0" i="0" u="none" strike="noStrike" baseline="0" dirty="0">
                <a:solidFill>
                  <a:srgbClr val="000000"/>
                </a:solidFill>
                <a:latin typeface="Aptos"/>
                <a:ea typeface="Arial"/>
                <a:cs typeface="Arial"/>
              </a:rPr>
              <a:t>(10 + (</a:t>
            </a:r>
            <a:r>
              <a:rPr lang="en-US" sz="1600" dirty="0">
                <a:solidFill>
                  <a:srgbClr val="000000"/>
                </a:solidFill>
                <a:latin typeface="Aptos"/>
                <a:ea typeface="Arial"/>
                <a:cs typeface="Arial"/>
              </a:rPr>
              <a:t>2002</a:t>
            </a:r>
            <a:r>
              <a:rPr lang="en-US" sz="1600" b="0" i="0" u="none" strike="noStrike" baseline="0" dirty="0">
                <a:solidFill>
                  <a:srgbClr val="000000"/>
                </a:solidFill>
                <a:latin typeface="Aptos"/>
                <a:ea typeface="Arial"/>
                <a:cs typeface="Arial"/>
              </a:rPr>
              <a:t> * .0005)) </a:t>
            </a:r>
            <a:r>
              <a:rPr lang="en-US" sz="1600" b="0" i="0" dirty="0">
                <a:solidFill>
                  <a:srgbClr val="000000"/>
                </a:solidFill>
                <a:latin typeface="Aptos"/>
                <a:ea typeface="Arial"/>
                <a:cs typeface="Arial"/>
              </a:rPr>
              <a:t>​</a:t>
            </a:r>
          </a:p>
          <a:p>
            <a:pPr marL="285750" lvl="0" indent="-285750" algn="l" rtl="0">
              <a:buFont typeface="Arial,Sans-Serif"/>
              <a:buChar char="•"/>
            </a:pPr>
            <a:r>
              <a:rPr lang="en-US" sz="1600" b="0" i="0" u="none" strike="noStrike" baseline="0" dirty="0">
                <a:solidFill>
                  <a:srgbClr val="000000"/>
                </a:solidFill>
                <a:latin typeface="Aptos"/>
                <a:ea typeface="Arial"/>
                <a:cs typeface="Arial"/>
              </a:rPr>
              <a:t>(10 + </a:t>
            </a:r>
            <a:r>
              <a:rPr lang="en-US" sz="1600" dirty="0">
                <a:solidFill>
                  <a:srgbClr val="000000"/>
                </a:solidFill>
                <a:latin typeface="Aptos"/>
                <a:ea typeface="Arial"/>
                <a:cs typeface="Arial"/>
              </a:rPr>
              <a:t>1.001</a:t>
            </a:r>
            <a:r>
              <a:rPr lang="en-US" sz="1600" b="0" i="0" u="none" strike="noStrike" baseline="0" dirty="0">
                <a:solidFill>
                  <a:srgbClr val="000000"/>
                </a:solidFill>
                <a:latin typeface="Aptos"/>
                <a:ea typeface="Arial"/>
                <a:cs typeface="Arial"/>
              </a:rPr>
              <a:t>) </a:t>
            </a:r>
            <a:r>
              <a:rPr lang="en-US" sz="1600" b="0" i="0" dirty="0">
                <a:solidFill>
                  <a:srgbClr val="000000"/>
                </a:solidFill>
                <a:latin typeface="Aptos"/>
                <a:ea typeface="Arial"/>
                <a:cs typeface="Arial"/>
              </a:rPr>
              <a:t>​</a:t>
            </a:r>
          </a:p>
          <a:p>
            <a:pPr marL="285750" lvl="0" indent="-285750" algn="l" rtl="0">
              <a:buFont typeface="Arial,Sans-Serif"/>
              <a:buChar char="•"/>
            </a:pPr>
            <a:r>
              <a:rPr lang="en-US" sz="1600" dirty="0">
                <a:solidFill>
                  <a:srgbClr val="000000"/>
                </a:solidFill>
                <a:latin typeface="Aptos"/>
                <a:ea typeface="Arial"/>
                <a:cs typeface="Arial"/>
              </a:rPr>
              <a:t>11.001</a:t>
            </a:r>
            <a:r>
              <a:rPr lang="en-US" sz="1600" b="0" i="0" u="none" strike="noStrike" baseline="0" dirty="0">
                <a:solidFill>
                  <a:srgbClr val="000000"/>
                </a:solidFill>
                <a:latin typeface="Aptos"/>
                <a:ea typeface="Arial"/>
                <a:cs typeface="Arial"/>
              </a:rPr>
              <a:t> which by rule is rounded down to </a:t>
            </a:r>
            <a:r>
              <a:rPr lang="en-US" sz="1600" dirty="0">
                <a:solidFill>
                  <a:srgbClr val="000000"/>
                </a:solidFill>
                <a:latin typeface="Aptos"/>
                <a:ea typeface="Arial"/>
                <a:cs typeface="Arial"/>
              </a:rPr>
              <a:t>12</a:t>
            </a:r>
            <a:r>
              <a:rPr lang="en-US" sz="1600" b="0" i="0" u="none" strike="noStrike" baseline="0" dirty="0">
                <a:solidFill>
                  <a:srgbClr val="000000"/>
                </a:solidFill>
                <a:latin typeface="Aptos"/>
                <a:ea typeface="Arial"/>
                <a:cs typeface="Arial"/>
              </a:rPr>
              <a:t>.</a:t>
            </a:r>
            <a:r>
              <a:rPr lang="en-US" sz="1600" b="0" i="0" dirty="0">
                <a:solidFill>
                  <a:srgbClr val="000000"/>
                </a:solidFill>
                <a:latin typeface="Aptos"/>
                <a:ea typeface="Arial"/>
                <a:cs typeface="Arial"/>
              </a:rPr>
              <a:t>​</a:t>
            </a:r>
          </a:p>
          <a:p>
            <a:pPr algn="ctr"/>
            <a:endParaRPr lang="en-US" sz="1600" dirty="0"/>
          </a:p>
        </p:txBody>
      </p:sp>
    </p:spTree>
    <p:extLst>
      <p:ext uri="{BB962C8B-B14F-4D97-AF65-F5344CB8AC3E}">
        <p14:creationId xmlns:p14="http://schemas.microsoft.com/office/powerpoint/2010/main" val="9223247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5AC94-793B-AAD9-DD92-2C5770CD9BA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0660602D-8C1E-B3ED-D372-DE26818D1A4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5CC0BA7F-53F8-926A-CC0D-B37FCFD9B069}"/>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04C74A5F-736E-C4D1-59D8-34C203D7247B}"/>
              </a:ext>
            </a:extLst>
          </p:cNvPr>
          <p:cNvSpPr txBox="1"/>
          <p:nvPr/>
        </p:nvSpPr>
        <p:spPr>
          <a:xfrm>
            <a:off x="504555" y="841593"/>
            <a:ext cx="11013056"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t>Lead time overrides from scheduled receipts</a:t>
            </a:r>
          </a:p>
          <a:p>
            <a:pPr algn="ctr"/>
            <a:endParaRPr lang="en-US" sz="1600" dirty="0"/>
          </a:p>
          <a:p>
            <a:r>
              <a:rPr lang="en-US" sz="1600" dirty="0"/>
              <a:t>If necessary, various values stored on the Source and </a:t>
            </a:r>
            <a:r>
              <a:rPr lang="en-US" sz="1600" dirty="0" err="1"/>
              <a:t>PartSource</a:t>
            </a:r>
            <a:r>
              <a:rPr lang="en-US" sz="1600" dirty="0"/>
              <a:t> table used in lead time calculations can be overridden with values stored on a ScheduledReceipt record.</a:t>
            </a:r>
          </a:p>
        </p:txBody>
      </p:sp>
      <p:pic>
        <p:nvPicPr>
          <p:cNvPr id="7" name="Picture 6" descr="A screenshot of a computer&#10;&#10;AI-generated content may be incorrect.">
            <a:extLst>
              <a:ext uri="{FF2B5EF4-FFF2-40B4-BE49-F238E27FC236}">
                <a16:creationId xmlns:a16="http://schemas.microsoft.com/office/drawing/2014/main" id="{EFF930F9-6728-CEC8-CD88-573D41F40152}"/>
              </a:ext>
            </a:extLst>
          </p:cNvPr>
          <p:cNvPicPr>
            <a:picLocks noChangeAspect="1"/>
          </p:cNvPicPr>
          <p:nvPr/>
        </p:nvPicPr>
        <p:blipFill>
          <a:blip r:embed="rId4"/>
          <a:stretch>
            <a:fillRect/>
          </a:stretch>
        </p:blipFill>
        <p:spPr>
          <a:xfrm>
            <a:off x="504555" y="2417733"/>
            <a:ext cx="8048625" cy="30289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599006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C8B48-8692-059D-3777-25912108DE6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CA1072B-1533-38BF-9DD3-189C90065B36}"/>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69596D5-13A2-6C6E-98EC-6F62BED5FF41}"/>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6" name="Picture 5" descr="A screenshot of a list of items&#10;&#10;AI-generated content may be incorrect.">
            <a:extLst>
              <a:ext uri="{FF2B5EF4-FFF2-40B4-BE49-F238E27FC236}">
                <a16:creationId xmlns:a16="http://schemas.microsoft.com/office/drawing/2014/main" id="{AE87CAC4-BC3D-54FD-6603-4A2345F522E9}"/>
              </a:ext>
            </a:extLst>
          </p:cNvPr>
          <p:cNvPicPr>
            <a:picLocks noChangeAspect="1"/>
          </p:cNvPicPr>
          <p:nvPr/>
        </p:nvPicPr>
        <p:blipFill>
          <a:blip r:embed="rId4"/>
          <a:stretch>
            <a:fillRect/>
          </a:stretch>
        </p:blipFill>
        <p:spPr>
          <a:xfrm>
            <a:off x="500603" y="3275253"/>
            <a:ext cx="5267325" cy="2924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3D795D2E-F1BF-7522-E85D-04EB640EAE10}"/>
              </a:ext>
            </a:extLst>
          </p:cNvPr>
          <p:cNvSpPr txBox="1"/>
          <p:nvPr/>
        </p:nvSpPr>
        <p:spPr>
          <a:xfrm>
            <a:off x="503208" y="625414"/>
            <a:ext cx="8913961"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t>Lead time overrides from scheduled receipts</a:t>
            </a:r>
          </a:p>
          <a:p>
            <a:pPr algn="ctr"/>
            <a:endParaRPr lang="en-US" dirty="0"/>
          </a:p>
          <a:p>
            <a:r>
              <a:rPr lang="en-US" dirty="0"/>
              <a:t>To use Scheduled Receipt Fields, create a copy of planning sheet and in the private workbook, inside the Supply Order worksheet. </a:t>
            </a:r>
          </a:p>
          <a:p>
            <a:endParaRPr lang="en-US" dirty="0"/>
          </a:p>
          <a:p>
            <a:r>
              <a:rPr lang="en-US" dirty="0"/>
              <a:t>Add additional columns from the table 14.12. Inside a private scenario we can add values to the Scheduled Receipt Fields and see how calculations works.</a:t>
            </a:r>
          </a:p>
        </p:txBody>
      </p:sp>
    </p:spTree>
    <p:extLst>
      <p:ext uri="{BB962C8B-B14F-4D97-AF65-F5344CB8AC3E}">
        <p14:creationId xmlns:p14="http://schemas.microsoft.com/office/powerpoint/2010/main" val="37268119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2BA51-C35E-6737-7A30-41F3B49CA54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C1DCCA86-B1A4-C077-921A-D41FEC94A764}"/>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28747928-2F4D-7EFD-F237-36E8F7484EDD}"/>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4495B96E-A2EC-44AF-3C24-9B4109922F2B}"/>
              </a:ext>
            </a:extLst>
          </p:cNvPr>
          <p:cNvPicPr>
            <a:picLocks noChangeAspect="1"/>
          </p:cNvPicPr>
          <p:nvPr/>
        </p:nvPicPr>
        <p:blipFill>
          <a:blip r:embed="rId4"/>
          <a:stretch>
            <a:fillRect/>
          </a:stretch>
        </p:blipFill>
        <p:spPr>
          <a:xfrm>
            <a:off x="546340" y="922165"/>
            <a:ext cx="11099321" cy="2310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descr="A screenshot of a computer&#10;&#10;AI-generated content may be incorrect.">
            <a:extLst>
              <a:ext uri="{FF2B5EF4-FFF2-40B4-BE49-F238E27FC236}">
                <a16:creationId xmlns:a16="http://schemas.microsoft.com/office/drawing/2014/main" id="{462F7DEA-1605-9612-BD51-343754DB1891}"/>
              </a:ext>
            </a:extLst>
          </p:cNvPr>
          <p:cNvPicPr>
            <a:picLocks noChangeAspect="1"/>
          </p:cNvPicPr>
          <p:nvPr/>
        </p:nvPicPr>
        <p:blipFill>
          <a:blip r:embed="rId5"/>
          <a:stretch>
            <a:fillRect/>
          </a:stretch>
        </p:blipFill>
        <p:spPr>
          <a:xfrm>
            <a:off x="547898" y="3997310"/>
            <a:ext cx="11096202" cy="21989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1F4AA7A6-0010-5309-DAFF-D0F88968395B}"/>
              </a:ext>
            </a:extLst>
          </p:cNvPr>
          <p:cNvSpPr txBox="1"/>
          <p:nvPr/>
        </p:nvSpPr>
        <p:spPr>
          <a:xfrm>
            <a:off x="546339" y="342900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err="1"/>
              <a:t>SupplyType.LeadTimeRule</a:t>
            </a:r>
            <a:endParaRPr lang="en-US" sz="2000" b="1"/>
          </a:p>
          <a:p>
            <a:pPr algn="ctr"/>
            <a:endParaRPr lang="en-US"/>
          </a:p>
        </p:txBody>
      </p:sp>
      <p:sp>
        <p:nvSpPr>
          <p:cNvPr id="11" name="TextBox 10">
            <a:extLst>
              <a:ext uri="{FF2B5EF4-FFF2-40B4-BE49-F238E27FC236}">
                <a16:creationId xmlns:a16="http://schemas.microsoft.com/office/drawing/2014/main" id="{FC426F63-7507-18AF-6D29-171671BF5772}"/>
              </a:ext>
            </a:extLst>
          </p:cNvPr>
          <p:cNvSpPr txBox="1"/>
          <p:nvPr/>
        </p:nvSpPr>
        <p:spPr>
          <a:xfrm>
            <a:off x="546338" y="23722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err="1"/>
              <a:t>SupplyStatus.LeadTimeOverride</a:t>
            </a:r>
          </a:p>
          <a:p>
            <a:pPr algn="ctr"/>
            <a:endParaRPr lang="en-US" dirty="0"/>
          </a:p>
        </p:txBody>
      </p:sp>
    </p:spTree>
    <p:extLst>
      <p:ext uri="{BB962C8B-B14F-4D97-AF65-F5344CB8AC3E}">
        <p14:creationId xmlns:p14="http://schemas.microsoft.com/office/powerpoint/2010/main" val="22827828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7AD-3BBE-F924-E165-E1316C3BA46D}"/>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292BD9D1-CA04-8052-0700-DFD271DE3518}"/>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74F9934-44A8-3B8A-DF77-9839E04B987C}"/>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2E2DAD44-CFC2-D8CE-90BB-B2BE07CD62E0}"/>
              </a:ext>
            </a:extLst>
          </p:cNvPr>
          <p:cNvGraphicFramePr>
            <a:graphicFrameLocks noGrp="1"/>
          </p:cNvGraphicFramePr>
          <p:nvPr>
            <p:extLst>
              <p:ext uri="{D42A27DB-BD31-4B8C-83A1-F6EECF244321}">
                <p14:modId xmlns:p14="http://schemas.microsoft.com/office/powerpoint/2010/main" val="1697751760"/>
              </p:ext>
            </p:extLst>
          </p:nvPr>
        </p:nvGraphicFramePr>
        <p:xfrm>
          <a:off x="285877" y="3340286"/>
          <a:ext cx="11417292" cy="185419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sz="1400"/>
                        <a:t>Demand Date</a:t>
                      </a:r>
                    </a:p>
                  </a:txBody>
                  <a:tcPr/>
                </a:tc>
                <a:tc>
                  <a:txBody>
                    <a:bodyPr/>
                    <a:lstStyle/>
                    <a:p>
                      <a:r>
                        <a:rPr lang="en-US" sz="1400"/>
                        <a:t>Due Date</a:t>
                      </a:r>
                    </a:p>
                  </a:txBody>
                  <a:tcPr/>
                </a:tc>
                <a:tc>
                  <a:txBody>
                    <a:bodyPr/>
                    <a:lstStyle/>
                    <a:p>
                      <a:r>
                        <a:rPr lang="en-US" sz="1400"/>
                        <a:t>Dock Date</a:t>
                      </a:r>
                    </a:p>
                  </a:txBody>
                  <a:tcPr/>
                </a:tc>
                <a:tc>
                  <a:txBody>
                    <a:bodyPr/>
                    <a:lstStyle/>
                    <a:p>
                      <a:r>
                        <a:rPr lang="en-US" sz="1400"/>
                        <a:t>Ship Date</a:t>
                      </a:r>
                    </a:p>
                  </a:txBody>
                  <a:tcPr/>
                </a:tc>
                <a:tc>
                  <a:txBody>
                    <a:bodyPr/>
                    <a:lstStyle/>
                    <a:p>
                      <a:r>
                        <a:rPr lang="en-US" sz="1400"/>
                        <a:t>Build Date</a:t>
                      </a:r>
                    </a:p>
                  </a:txBody>
                  <a:tcPr/>
                </a:tc>
                <a:tc>
                  <a:txBody>
                    <a:bodyPr/>
                    <a:lstStyle/>
                    <a:p>
                      <a:r>
                        <a:rPr lang="en-US" sz="1400"/>
                        <a:t>Start Date</a:t>
                      </a:r>
                    </a:p>
                  </a:txBody>
                  <a:tcPr/>
                </a:tc>
                <a:extLst>
                  <a:ext uri="{0D108BD9-81ED-4DB2-BD59-A6C34878D82A}">
                    <a16:rowId xmlns:a16="http://schemas.microsoft.com/office/drawing/2014/main" val="3434628265"/>
                  </a:ext>
                </a:extLst>
              </a:tr>
              <a:tr h="370840">
                <a:tc>
                  <a:txBody>
                    <a:bodyPr/>
                    <a:lstStyle/>
                    <a:p>
                      <a:r>
                        <a:rPr lang="en-US" sz="1400"/>
                        <a:t>Safety Time (1)</a:t>
                      </a:r>
                    </a:p>
                  </a:txBody>
                  <a:tcPr/>
                </a:tc>
                <a:tc>
                  <a:txBody>
                    <a:bodyPr/>
                    <a:lstStyle/>
                    <a:p>
                      <a:r>
                        <a:rPr lang="en-US" sz="1400"/>
                        <a:t>Dock To Stock (2)</a:t>
                      </a:r>
                    </a:p>
                  </a:txBody>
                  <a:tcPr/>
                </a:tc>
                <a:tc>
                  <a:txBody>
                    <a:bodyPr/>
                    <a:lstStyle/>
                    <a:p>
                      <a:r>
                        <a:rPr lang="en-US" sz="1400" dirty="0"/>
                        <a:t>Transit Time (3)</a:t>
                      </a:r>
                    </a:p>
                  </a:txBody>
                  <a:tcPr/>
                </a:tc>
                <a:tc>
                  <a:txBody>
                    <a:bodyPr/>
                    <a:lstStyle/>
                    <a:p>
                      <a:r>
                        <a:rPr lang="en-US" sz="1400"/>
                        <a:t>Pre-Ship Time (1)</a:t>
                      </a:r>
                      <a:endParaRPr lang="en-US" sz="1400" dirty="0"/>
                    </a:p>
                  </a:txBody>
                  <a:tcPr/>
                </a:tc>
                <a:tc>
                  <a:txBody>
                    <a:bodyPr/>
                    <a:lstStyle/>
                    <a:p>
                      <a:r>
                        <a:rPr lang="en-US" sz="1400"/>
                        <a:t>Lead Time Adjust (1)</a:t>
                      </a:r>
                    </a:p>
                  </a:txBody>
                  <a:tcPr/>
                </a:tc>
                <a:tc>
                  <a:txBody>
                    <a:bodyPr/>
                    <a:lstStyle/>
                    <a:p>
                      <a:endParaRPr lang="en-US" sz="1400"/>
                    </a:p>
                  </a:txBody>
                  <a:tcPr/>
                </a:tc>
                <a:extLst>
                  <a:ext uri="{0D108BD9-81ED-4DB2-BD59-A6C34878D82A}">
                    <a16:rowId xmlns:a16="http://schemas.microsoft.com/office/drawing/2014/main" val="169593582"/>
                  </a:ext>
                </a:extLst>
              </a:tr>
              <a:tr h="370840">
                <a:tc>
                  <a:txBody>
                    <a:bodyPr/>
                    <a:lstStyle/>
                    <a:p>
                      <a:endParaRPr lang="en-US" sz="1400"/>
                    </a:p>
                  </a:txBody>
                  <a:tcPr/>
                </a:tc>
                <a:tc>
                  <a:txBody>
                    <a:bodyPr/>
                    <a:lstStyle/>
                    <a:p>
                      <a:endParaRPr lang="en-US" sz="1400"/>
                    </a:p>
                  </a:txBody>
                  <a:tcPr/>
                </a:tc>
                <a:tc>
                  <a:txBody>
                    <a:bodyPr/>
                    <a:lstStyle/>
                    <a:p>
                      <a:endParaRPr lang="en-US" sz="1400" dirty="0"/>
                    </a:p>
                  </a:txBody>
                  <a:tcPr/>
                </a:tc>
                <a:tc>
                  <a:txBody>
                    <a:bodyPr/>
                    <a:lstStyle/>
                    <a:p>
                      <a:endParaRPr lang="en-US" sz="1400"/>
                    </a:p>
                  </a:txBody>
                  <a:tcPr/>
                </a:tc>
                <a:tc>
                  <a:txBody>
                    <a:bodyPr/>
                    <a:lstStyle/>
                    <a:p>
                      <a:r>
                        <a:rPr lang="en-US" sz="1400"/>
                        <a:t>Fixed (2)</a:t>
                      </a:r>
                    </a:p>
                  </a:txBody>
                  <a:tcPr/>
                </a:tc>
                <a:tc>
                  <a:txBody>
                    <a:bodyPr/>
                    <a:lstStyle/>
                    <a:p>
                      <a:endParaRPr lang="en-US" sz="1400"/>
                    </a:p>
                  </a:txBody>
                  <a:tcPr/>
                </a:tc>
                <a:extLst>
                  <a:ext uri="{0D108BD9-81ED-4DB2-BD59-A6C34878D82A}">
                    <a16:rowId xmlns:a16="http://schemas.microsoft.com/office/drawing/2014/main" val="3769563568"/>
                  </a:ext>
                </a:extLst>
              </a:tr>
              <a:tr h="370839">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r>
                        <a:rPr lang="en-US" sz="1400"/>
                        <a:t>Variable (1*2)</a:t>
                      </a:r>
                      <a:endParaRPr lang="en-US" sz="1400" dirty="0"/>
                    </a:p>
                  </a:txBody>
                  <a:tcPr/>
                </a:tc>
                <a:tc>
                  <a:txBody>
                    <a:bodyPr/>
                    <a:lstStyle/>
                    <a:p>
                      <a:pPr lvl="0">
                        <a:buNone/>
                      </a:pPr>
                      <a:endParaRPr lang="en-US" sz="1400" dirty="0"/>
                    </a:p>
                  </a:txBody>
                  <a:tcPr/>
                </a:tc>
                <a:extLst>
                  <a:ext uri="{0D108BD9-81ED-4DB2-BD59-A6C34878D82A}">
                    <a16:rowId xmlns:a16="http://schemas.microsoft.com/office/drawing/2014/main" val="496422798"/>
                  </a:ext>
                </a:extLst>
              </a:tr>
              <a:tr h="370838">
                <a:tc>
                  <a:txBody>
                    <a:bodyPr/>
                    <a:lstStyle/>
                    <a:p>
                      <a:pPr lvl="0">
                        <a:buNone/>
                      </a:pP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10/11/2026</a:t>
                      </a:r>
                      <a:endParaRPr lang="en-US" sz="1400" dirty="0"/>
                    </a:p>
                  </a:txBody>
                  <a:tcPr/>
                </a:tc>
                <a:tc>
                  <a:txBody>
                    <a:bodyPr/>
                    <a:lstStyle/>
                    <a:p>
                      <a:pPr lvl="0">
                        <a:buNone/>
                      </a:pPr>
                      <a:r>
                        <a:rPr lang="en-US" sz="1400"/>
                        <a:t>10/08/11</a:t>
                      </a:r>
                      <a:endParaRPr lang="en-US" sz="1400" dirty="0"/>
                    </a:p>
                  </a:txBody>
                  <a:tcPr/>
                </a:tc>
                <a:tc>
                  <a:txBody>
                    <a:bodyPr/>
                    <a:lstStyle/>
                    <a:p>
                      <a:pPr lvl="0">
                        <a:buNone/>
                      </a:pPr>
                      <a:r>
                        <a:rPr lang="en-US" sz="1400"/>
                        <a:t>10/07/2026</a:t>
                      </a:r>
                      <a:endParaRPr lang="en-US" sz="1400" dirty="0"/>
                    </a:p>
                  </a:txBody>
                  <a:tcPr/>
                </a:tc>
                <a:tc>
                  <a:txBody>
                    <a:bodyPr/>
                    <a:lstStyle/>
                    <a:p>
                      <a:pPr lvl="0">
                        <a:buNone/>
                      </a:pPr>
                      <a:r>
                        <a:rPr lang="en-US" sz="1400" dirty="0"/>
                        <a:t>10/02/2026</a:t>
                      </a:r>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D98E6406-466C-8EB5-0D08-21B0B2CDB435}"/>
              </a:ext>
            </a:extLst>
          </p:cNvPr>
          <p:cNvSpPr txBox="1"/>
          <p:nvPr/>
        </p:nvSpPr>
        <p:spPr>
          <a:xfrm>
            <a:off x="287547" y="1160298"/>
            <a:ext cx="11415622"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Lead Time Override Simulation 1:</a:t>
            </a:r>
          </a:p>
          <a:p>
            <a:endParaRPr lang="en-US" dirty="0">
              <a:cs typeface="Arial"/>
            </a:endParaRPr>
          </a:p>
          <a:p>
            <a:pPr marL="285750" indent="-285750">
              <a:buFont typeface="Arial"/>
              <a:buChar char="•"/>
            </a:pPr>
            <a:r>
              <a:rPr lang="en-US" sz="1600" dirty="0" err="1">
                <a:cs typeface="Arial"/>
              </a:rPr>
              <a:t>SupplyType.LeadTimeRule</a:t>
            </a:r>
            <a:r>
              <a:rPr lang="en-US" sz="1600" dirty="0">
                <a:cs typeface="Arial"/>
              </a:rPr>
              <a:t> = Override/Ignore</a:t>
            </a:r>
          </a:p>
          <a:p>
            <a:pPr marL="285750" indent="-285750">
              <a:buFont typeface="Arial"/>
              <a:buChar char="•"/>
            </a:pPr>
            <a:r>
              <a:rPr lang="en-US" sz="1600" dirty="0" err="1">
                <a:cs typeface="Arial"/>
              </a:rPr>
              <a:t>SupplyStatus.LeadTimeOverride</a:t>
            </a:r>
            <a:r>
              <a:rPr lang="en-US" sz="1600" dirty="0">
                <a:cs typeface="Arial"/>
              </a:rPr>
              <a:t> = Yes</a:t>
            </a:r>
          </a:p>
          <a:p>
            <a:pPr marL="285750" indent="-285750">
              <a:buFont typeface="Arial,Sans-Serif"/>
              <a:buChar char="•"/>
            </a:pPr>
            <a:r>
              <a:rPr lang="en-US" sz="1600" dirty="0">
                <a:cs typeface="Arial"/>
              </a:rPr>
              <a:t>Transit Rule = Cumulative</a:t>
            </a:r>
          </a:p>
          <a:p>
            <a:pPr marL="285750" indent="-285750">
              <a:buFont typeface="Arial"/>
              <a:buChar char="•"/>
            </a:pPr>
            <a:r>
              <a:rPr lang="en-US" sz="1600" dirty="0">
                <a:cs typeface="Arial"/>
              </a:rPr>
              <a:t>Scheduled Receipt for Qtd (2).</a:t>
            </a:r>
          </a:p>
          <a:p>
            <a:pPr marL="285750" indent="-285750">
              <a:buFont typeface="Arial,Sans-Serif"/>
              <a:buChar char="•"/>
            </a:pPr>
            <a:r>
              <a:rPr lang="en-US" sz="1600" dirty="0">
                <a:cs typeface="Arial"/>
              </a:rPr>
              <a:t>Lead Time Value come from Scheduled Receipt Table. All the Lead time elements are involved in Calculations.</a:t>
            </a:r>
          </a:p>
        </p:txBody>
      </p:sp>
    </p:spTree>
    <p:extLst>
      <p:ext uri="{BB962C8B-B14F-4D97-AF65-F5344CB8AC3E}">
        <p14:creationId xmlns:p14="http://schemas.microsoft.com/office/powerpoint/2010/main" val="3084159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5F0E-2362-5D6A-8569-53A90888361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87F48164-C193-F958-C1C5-1E4E919F5E0E}"/>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3A63E35-2791-6ABF-4DBF-5600DA4FEBD2}"/>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75357EE5-C473-D483-6824-723B5DCE139F}"/>
              </a:ext>
            </a:extLst>
          </p:cNvPr>
          <p:cNvPicPr>
            <a:picLocks noChangeAspect="1"/>
          </p:cNvPicPr>
          <p:nvPr/>
        </p:nvPicPr>
        <p:blipFill>
          <a:blip r:embed="rId4"/>
          <a:stretch>
            <a:fillRect/>
          </a:stretch>
        </p:blipFill>
        <p:spPr>
          <a:xfrm>
            <a:off x="467262" y="926912"/>
            <a:ext cx="11257473" cy="53209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883725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516D3-B868-9F7A-77F0-D2F5FBDF960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6235B1EC-3E1A-2D70-63CA-1090FE044077}"/>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CB33DFEA-4BB5-07ED-8BBE-4568D4145BD3}"/>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1543F42F-2876-F9BE-BB2D-F8E3990E744B}"/>
              </a:ext>
            </a:extLst>
          </p:cNvPr>
          <p:cNvGraphicFramePr>
            <a:graphicFrameLocks noGrp="1"/>
          </p:cNvGraphicFramePr>
          <p:nvPr>
            <p:extLst>
              <p:ext uri="{D42A27DB-BD31-4B8C-83A1-F6EECF244321}">
                <p14:modId xmlns:p14="http://schemas.microsoft.com/office/powerpoint/2010/main" val="4204150955"/>
              </p:ext>
            </p:extLst>
          </p:nvPr>
        </p:nvGraphicFramePr>
        <p:xfrm>
          <a:off x="287547" y="3076755"/>
          <a:ext cx="11417292" cy="185419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sz="1400"/>
                        <a:t>Demand Date</a:t>
                      </a:r>
                    </a:p>
                  </a:txBody>
                  <a:tcPr/>
                </a:tc>
                <a:tc>
                  <a:txBody>
                    <a:bodyPr/>
                    <a:lstStyle/>
                    <a:p>
                      <a:r>
                        <a:rPr lang="en-US" sz="1400"/>
                        <a:t>Due Date</a:t>
                      </a:r>
                    </a:p>
                  </a:txBody>
                  <a:tcPr/>
                </a:tc>
                <a:tc>
                  <a:txBody>
                    <a:bodyPr/>
                    <a:lstStyle/>
                    <a:p>
                      <a:r>
                        <a:rPr lang="en-US" sz="1400"/>
                        <a:t>Dock Date</a:t>
                      </a:r>
                    </a:p>
                  </a:txBody>
                  <a:tcPr/>
                </a:tc>
                <a:tc>
                  <a:txBody>
                    <a:bodyPr/>
                    <a:lstStyle/>
                    <a:p>
                      <a:r>
                        <a:rPr lang="en-US" sz="1400"/>
                        <a:t>Ship Date</a:t>
                      </a:r>
                    </a:p>
                  </a:txBody>
                  <a:tcPr/>
                </a:tc>
                <a:tc>
                  <a:txBody>
                    <a:bodyPr/>
                    <a:lstStyle/>
                    <a:p>
                      <a:r>
                        <a:rPr lang="en-US" sz="1400"/>
                        <a:t>Build Date</a:t>
                      </a:r>
                    </a:p>
                  </a:txBody>
                  <a:tcPr/>
                </a:tc>
                <a:tc>
                  <a:txBody>
                    <a:bodyPr/>
                    <a:lstStyle/>
                    <a:p>
                      <a:r>
                        <a:rPr lang="en-US" sz="1400"/>
                        <a:t>Start Date</a:t>
                      </a:r>
                    </a:p>
                  </a:txBody>
                  <a:tcPr/>
                </a:tc>
                <a:extLst>
                  <a:ext uri="{0D108BD9-81ED-4DB2-BD59-A6C34878D82A}">
                    <a16:rowId xmlns:a16="http://schemas.microsoft.com/office/drawing/2014/main" val="3434628265"/>
                  </a:ext>
                </a:extLst>
              </a:tr>
              <a:tr h="370840">
                <a:tc>
                  <a:txBody>
                    <a:bodyPr/>
                    <a:lstStyle/>
                    <a:p>
                      <a:r>
                        <a:rPr lang="en-US" sz="1400"/>
                        <a:t>Safety Time (1)</a:t>
                      </a:r>
                    </a:p>
                  </a:txBody>
                  <a:tcPr/>
                </a:tc>
                <a:tc>
                  <a:txBody>
                    <a:bodyPr/>
                    <a:lstStyle/>
                    <a:p>
                      <a:r>
                        <a:rPr lang="en-US" sz="1400" dirty="0"/>
                        <a:t>Dock To Stock (1)</a:t>
                      </a:r>
                    </a:p>
                  </a:txBody>
                  <a:tcPr/>
                </a:tc>
                <a:tc>
                  <a:txBody>
                    <a:bodyPr/>
                    <a:lstStyle/>
                    <a:p>
                      <a:r>
                        <a:rPr lang="en-US" sz="1400"/>
                        <a:t>Transit Time (2)</a:t>
                      </a:r>
                    </a:p>
                  </a:txBody>
                  <a:tcPr/>
                </a:tc>
                <a:tc>
                  <a:txBody>
                    <a:bodyPr/>
                    <a:lstStyle/>
                    <a:p>
                      <a:r>
                        <a:rPr lang="en-US" sz="1400"/>
                        <a:t>Pre-Ship Time (0)</a:t>
                      </a:r>
                      <a:endParaRPr lang="en-US" sz="1400" dirty="0"/>
                    </a:p>
                  </a:txBody>
                  <a:tcPr/>
                </a:tc>
                <a:tc>
                  <a:txBody>
                    <a:bodyPr/>
                    <a:lstStyle/>
                    <a:p>
                      <a:r>
                        <a:rPr lang="en-US" sz="1400"/>
                        <a:t>Lead Time Adjust (1)</a:t>
                      </a:r>
                    </a:p>
                  </a:txBody>
                  <a:tcPr/>
                </a:tc>
                <a:tc>
                  <a:txBody>
                    <a:bodyPr/>
                    <a:lstStyle/>
                    <a:p>
                      <a:endParaRPr lang="en-US" sz="1400"/>
                    </a:p>
                  </a:txBody>
                  <a:tcPr/>
                </a:tc>
                <a:extLst>
                  <a:ext uri="{0D108BD9-81ED-4DB2-BD59-A6C34878D82A}">
                    <a16:rowId xmlns:a16="http://schemas.microsoft.com/office/drawing/2014/main" val="169593582"/>
                  </a:ext>
                </a:extLst>
              </a:tr>
              <a:tr h="37084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r>
                        <a:rPr lang="en-US" sz="1400"/>
                        <a:t>Fixed (1)</a:t>
                      </a:r>
                    </a:p>
                  </a:txBody>
                  <a:tcPr/>
                </a:tc>
                <a:tc>
                  <a:txBody>
                    <a:bodyPr/>
                    <a:lstStyle/>
                    <a:p>
                      <a:endParaRPr lang="en-US" sz="1400"/>
                    </a:p>
                  </a:txBody>
                  <a:tcPr/>
                </a:tc>
                <a:extLst>
                  <a:ext uri="{0D108BD9-81ED-4DB2-BD59-A6C34878D82A}">
                    <a16:rowId xmlns:a16="http://schemas.microsoft.com/office/drawing/2014/main" val="3769563568"/>
                  </a:ext>
                </a:extLst>
              </a:tr>
              <a:tr h="370839">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r>
                        <a:rPr lang="en-US" sz="1400"/>
                        <a:t>Variable (0*2)</a:t>
                      </a:r>
                      <a:endParaRPr lang="en-US" sz="1400" dirty="0"/>
                    </a:p>
                  </a:txBody>
                  <a:tcPr/>
                </a:tc>
                <a:tc>
                  <a:txBody>
                    <a:bodyPr/>
                    <a:lstStyle/>
                    <a:p>
                      <a:pPr lvl="0">
                        <a:buNone/>
                      </a:pPr>
                      <a:endParaRPr lang="en-US" sz="1400" dirty="0"/>
                    </a:p>
                  </a:txBody>
                  <a:tcPr/>
                </a:tc>
                <a:extLst>
                  <a:ext uri="{0D108BD9-81ED-4DB2-BD59-A6C34878D82A}">
                    <a16:rowId xmlns:a16="http://schemas.microsoft.com/office/drawing/2014/main" val="496422798"/>
                  </a:ext>
                </a:extLst>
              </a:tr>
              <a:tr h="370838">
                <a:tc>
                  <a:txBody>
                    <a:bodyPr/>
                    <a:lstStyle/>
                    <a:p>
                      <a:pPr lvl="0">
                        <a:buNone/>
                      </a:pP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10/12/2026</a:t>
                      </a:r>
                      <a:endParaRPr lang="en-US" sz="1400" dirty="0"/>
                    </a:p>
                  </a:txBody>
                  <a:tcPr/>
                </a:tc>
                <a:tc>
                  <a:txBody>
                    <a:bodyPr/>
                    <a:lstStyle/>
                    <a:p>
                      <a:pPr lvl="0">
                        <a:buNone/>
                      </a:pPr>
                      <a:r>
                        <a:rPr lang="en-US" sz="1400"/>
                        <a:t>10/10/2026</a:t>
                      </a:r>
                      <a:endParaRPr lang="en-US" sz="1400" dirty="0"/>
                    </a:p>
                  </a:txBody>
                  <a:tcPr/>
                </a:tc>
                <a:tc>
                  <a:txBody>
                    <a:bodyPr/>
                    <a:lstStyle/>
                    <a:p>
                      <a:pPr lvl="0">
                        <a:buNone/>
                      </a:pPr>
                      <a:r>
                        <a:rPr lang="en-US" sz="1400"/>
                        <a:t>10/10/2026</a:t>
                      </a:r>
                      <a:endParaRPr lang="en-US" sz="1400" dirty="0"/>
                    </a:p>
                  </a:txBody>
                  <a:tcPr/>
                </a:tc>
                <a:tc>
                  <a:txBody>
                    <a:bodyPr/>
                    <a:lstStyle/>
                    <a:p>
                      <a:pPr lvl="0">
                        <a:buNone/>
                      </a:pPr>
                      <a:r>
                        <a:rPr lang="en-US" sz="1400" dirty="0"/>
                        <a:t>10/08/2026</a:t>
                      </a:r>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FAA9B7B3-CE88-7736-15BD-1F837B3CDA50}"/>
              </a:ext>
            </a:extLst>
          </p:cNvPr>
          <p:cNvSpPr txBox="1"/>
          <p:nvPr/>
        </p:nvSpPr>
        <p:spPr>
          <a:xfrm>
            <a:off x="287547" y="829986"/>
            <a:ext cx="114156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Lead Time Override Simulation 2:</a:t>
            </a:r>
          </a:p>
          <a:p>
            <a:endParaRPr lang="en-US" dirty="0">
              <a:cs typeface="Arial"/>
            </a:endParaRPr>
          </a:p>
          <a:p>
            <a:pPr marL="285750" indent="-285750">
              <a:buFont typeface="Arial"/>
              <a:buChar char="•"/>
            </a:pPr>
            <a:r>
              <a:rPr lang="en-US" sz="1600" dirty="0" err="1">
                <a:cs typeface="Arial"/>
              </a:rPr>
              <a:t>SupplyType.LeadTimeRule</a:t>
            </a:r>
            <a:r>
              <a:rPr lang="en-US" sz="1600" dirty="0">
                <a:cs typeface="Arial"/>
              </a:rPr>
              <a:t> = Ignore</a:t>
            </a:r>
          </a:p>
          <a:p>
            <a:pPr marL="285750" indent="-285750">
              <a:buFont typeface="Arial"/>
              <a:buChar char="•"/>
            </a:pPr>
            <a:r>
              <a:rPr lang="en-US" sz="1600" dirty="0" err="1">
                <a:cs typeface="Arial"/>
              </a:rPr>
              <a:t>SupplyStatus.LeadTimeOverride</a:t>
            </a:r>
            <a:r>
              <a:rPr lang="en-US" sz="1600" dirty="0">
                <a:cs typeface="Arial"/>
              </a:rPr>
              <a:t> = FromOrder</a:t>
            </a:r>
          </a:p>
          <a:p>
            <a:pPr marL="285750" indent="-285750">
              <a:buFont typeface="Arial,Sans-Serif"/>
              <a:buChar char="•"/>
            </a:pPr>
            <a:r>
              <a:rPr lang="en-US" sz="1600" dirty="0">
                <a:cs typeface="Arial"/>
              </a:rPr>
              <a:t>Transit Rule = Cumulative</a:t>
            </a:r>
          </a:p>
          <a:p>
            <a:pPr marL="285750" indent="-285750">
              <a:buFont typeface="Arial"/>
              <a:buChar char="•"/>
            </a:pPr>
            <a:r>
              <a:rPr lang="en-US" sz="1600" dirty="0">
                <a:cs typeface="Arial"/>
              </a:rPr>
              <a:t>Scheduled Receipt for Qtd (2).</a:t>
            </a:r>
          </a:p>
          <a:p>
            <a:pPr marL="285750" indent="-285750">
              <a:buFont typeface="Arial,Sans-Serif"/>
              <a:buChar char="•"/>
            </a:pPr>
            <a:r>
              <a:rPr lang="en-US" sz="1600" dirty="0">
                <a:cs typeface="Arial"/>
              </a:rPr>
              <a:t>Lead Time Value come from Part Source Table. All the Lead time elements are involved in Calculations.</a:t>
            </a:r>
          </a:p>
          <a:p>
            <a:pPr marL="285750" indent="-285750">
              <a:buFont typeface="Arial"/>
              <a:buChar char="•"/>
            </a:pPr>
            <a:endParaRPr lang="en-US" dirty="0">
              <a:cs typeface="Arial"/>
            </a:endParaRPr>
          </a:p>
        </p:txBody>
      </p:sp>
    </p:spTree>
    <p:extLst>
      <p:ext uri="{BB962C8B-B14F-4D97-AF65-F5344CB8AC3E}">
        <p14:creationId xmlns:p14="http://schemas.microsoft.com/office/powerpoint/2010/main" val="31158731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B8C11-28C5-CE3F-8C88-5674FAF763F4}"/>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892A1F6A-D09C-B788-7A26-2704A3B3473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C6A9D9A-6EA3-4C55-1DD9-C81F1D64E706}"/>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4452CC53-107A-4420-9D7A-36C426986BA3}"/>
              </a:ext>
            </a:extLst>
          </p:cNvPr>
          <p:cNvGraphicFramePr>
            <a:graphicFrameLocks noGrp="1"/>
          </p:cNvGraphicFramePr>
          <p:nvPr>
            <p:extLst>
              <p:ext uri="{D42A27DB-BD31-4B8C-83A1-F6EECF244321}">
                <p14:modId xmlns:p14="http://schemas.microsoft.com/office/powerpoint/2010/main" val="3439311171"/>
              </p:ext>
            </p:extLst>
          </p:nvPr>
        </p:nvGraphicFramePr>
        <p:xfrm>
          <a:off x="287547" y="3076755"/>
          <a:ext cx="11417292" cy="185419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sz="1400"/>
                        <a:t>Demand Date</a:t>
                      </a:r>
                    </a:p>
                  </a:txBody>
                  <a:tcPr/>
                </a:tc>
                <a:tc>
                  <a:txBody>
                    <a:bodyPr/>
                    <a:lstStyle/>
                    <a:p>
                      <a:r>
                        <a:rPr lang="en-US" sz="1400" dirty="0"/>
                        <a:t>Due Date</a:t>
                      </a:r>
                    </a:p>
                  </a:txBody>
                  <a:tcPr/>
                </a:tc>
                <a:tc>
                  <a:txBody>
                    <a:bodyPr/>
                    <a:lstStyle/>
                    <a:p>
                      <a:r>
                        <a:rPr lang="en-US" sz="1400"/>
                        <a:t>Dock Date</a:t>
                      </a:r>
                    </a:p>
                  </a:txBody>
                  <a:tcPr/>
                </a:tc>
                <a:tc>
                  <a:txBody>
                    <a:bodyPr/>
                    <a:lstStyle/>
                    <a:p>
                      <a:r>
                        <a:rPr lang="en-US" sz="1400"/>
                        <a:t>Ship Date</a:t>
                      </a:r>
                    </a:p>
                  </a:txBody>
                  <a:tcPr/>
                </a:tc>
                <a:tc>
                  <a:txBody>
                    <a:bodyPr/>
                    <a:lstStyle/>
                    <a:p>
                      <a:r>
                        <a:rPr lang="en-US" sz="1400"/>
                        <a:t>Build Date</a:t>
                      </a:r>
                    </a:p>
                  </a:txBody>
                  <a:tcPr/>
                </a:tc>
                <a:tc>
                  <a:txBody>
                    <a:bodyPr/>
                    <a:lstStyle/>
                    <a:p>
                      <a:r>
                        <a:rPr lang="en-US" sz="1400"/>
                        <a:t>Start Date</a:t>
                      </a:r>
                    </a:p>
                  </a:txBody>
                  <a:tcPr/>
                </a:tc>
                <a:extLst>
                  <a:ext uri="{0D108BD9-81ED-4DB2-BD59-A6C34878D82A}">
                    <a16:rowId xmlns:a16="http://schemas.microsoft.com/office/drawing/2014/main" val="3434628265"/>
                  </a:ext>
                </a:extLst>
              </a:tr>
              <a:tr h="370840">
                <a:tc>
                  <a:txBody>
                    <a:bodyPr/>
                    <a:lstStyle/>
                    <a:p>
                      <a:r>
                        <a:rPr lang="en-US" sz="1400"/>
                        <a:t>Safety Time (1)</a:t>
                      </a:r>
                    </a:p>
                  </a:txBody>
                  <a:tcPr/>
                </a:tc>
                <a:tc>
                  <a:txBody>
                    <a:bodyPr/>
                    <a:lstStyle/>
                    <a:p>
                      <a:r>
                        <a:rPr lang="en-US" sz="1400"/>
                        <a:t>Dock To Stock (2)</a:t>
                      </a:r>
                    </a:p>
                  </a:txBody>
                  <a:tcPr/>
                </a:tc>
                <a:tc>
                  <a:txBody>
                    <a:bodyPr/>
                    <a:lstStyle/>
                    <a:p>
                      <a:r>
                        <a:rPr lang="en-US" sz="1400"/>
                        <a:t>Transit Time (3)</a:t>
                      </a:r>
                    </a:p>
                  </a:txBody>
                  <a:tcPr/>
                </a:tc>
                <a:tc>
                  <a:txBody>
                    <a:bodyPr/>
                    <a:lstStyle/>
                    <a:p>
                      <a:r>
                        <a:rPr lang="en-US" sz="1400"/>
                        <a:t>Pre-Ship Time (1)</a:t>
                      </a:r>
                      <a:endParaRPr lang="en-US" sz="1400" dirty="0"/>
                    </a:p>
                  </a:txBody>
                  <a:tcPr/>
                </a:tc>
                <a:tc>
                  <a:txBody>
                    <a:bodyPr/>
                    <a:lstStyle/>
                    <a:p>
                      <a:r>
                        <a:rPr lang="en-US" sz="1400"/>
                        <a:t>Lead Time Adjust (1)</a:t>
                      </a:r>
                    </a:p>
                  </a:txBody>
                  <a:tcPr/>
                </a:tc>
                <a:tc>
                  <a:txBody>
                    <a:bodyPr/>
                    <a:lstStyle/>
                    <a:p>
                      <a:endParaRPr lang="en-US" sz="1400"/>
                    </a:p>
                  </a:txBody>
                  <a:tcPr/>
                </a:tc>
                <a:extLst>
                  <a:ext uri="{0D108BD9-81ED-4DB2-BD59-A6C34878D82A}">
                    <a16:rowId xmlns:a16="http://schemas.microsoft.com/office/drawing/2014/main" val="169593582"/>
                  </a:ext>
                </a:extLst>
              </a:tr>
              <a:tr h="37084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r>
                        <a:rPr lang="en-US" sz="1400"/>
                        <a:t>Fixed (2)</a:t>
                      </a:r>
                    </a:p>
                  </a:txBody>
                  <a:tcPr/>
                </a:tc>
                <a:tc>
                  <a:txBody>
                    <a:bodyPr/>
                    <a:lstStyle/>
                    <a:p>
                      <a:endParaRPr lang="en-US" sz="1400"/>
                    </a:p>
                  </a:txBody>
                  <a:tcPr/>
                </a:tc>
                <a:extLst>
                  <a:ext uri="{0D108BD9-81ED-4DB2-BD59-A6C34878D82A}">
                    <a16:rowId xmlns:a16="http://schemas.microsoft.com/office/drawing/2014/main" val="3769563568"/>
                  </a:ext>
                </a:extLst>
              </a:tr>
              <a:tr h="370839">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r>
                        <a:rPr lang="en-US" sz="1400"/>
                        <a:t>Variable (1*2)</a:t>
                      </a:r>
                      <a:endParaRPr lang="en-US" sz="1400" dirty="0"/>
                    </a:p>
                  </a:txBody>
                  <a:tcPr/>
                </a:tc>
                <a:tc>
                  <a:txBody>
                    <a:bodyPr/>
                    <a:lstStyle/>
                    <a:p>
                      <a:pPr lvl="0">
                        <a:buNone/>
                      </a:pPr>
                      <a:endParaRPr lang="en-US" sz="1400" dirty="0"/>
                    </a:p>
                  </a:txBody>
                  <a:tcPr/>
                </a:tc>
                <a:extLst>
                  <a:ext uri="{0D108BD9-81ED-4DB2-BD59-A6C34878D82A}">
                    <a16:rowId xmlns:a16="http://schemas.microsoft.com/office/drawing/2014/main" val="496422798"/>
                  </a:ext>
                </a:extLst>
              </a:tr>
              <a:tr h="370838">
                <a:tc>
                  <a:txBody>
                    <a:bodyPr/>
                    <a:lstStyle/>
                    <a:p>
                      <a:pPr lvl="0">
                        <a:buNone/>
                      </a:pP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10/11/2026</a:t>
                      </a:r>
                      <a:endParaRPr lang="en-US" sz="1400" dirty="0"/>
                    </a:p>
                  </a:txBody>
                  <a:tcPr/>
                </a:tc>
                <a:tc>
                  <a:txBody>
                    <a:bodyPr/>
                    <a:lstStyle/>
                    <a:p>
                      <a:pPr lvl="0">
                        <a:buNone/>
                      </a:pPr>
                      <a:r>
                        <a:rPr lang="en-US" sz="1400"/>
                        <a:t>10/08/11</a:t>
                      </a:r>
                      <a:endParaRPr lang="en-US" sz="1400" dirty="0"/>
                    </a:p>
                  </a:txBody>
                  <a:tcPr/>
                </a:tc>
                <a:tc>
                  <a:txBody>
                    <a:bodyPr/>
                    <a:lstStyle/>
                    <a:p>
                      <a:pPr lvl="0">
                        <a:buNone/>
                      </a:pPr>
                      <a:r>
                        <a:rPr lang="en-US" sz="1400"/>
                        <a:t>10/07/2026</a:t>
                      </a:r>
                      <a:endParaRPr lang="en-US" sz="1400" dirty="0"/>
                    </a:p>
                  </a:txBody>
                  <a:tcPr/>
                </a:tc>
                <a:tc>
                  <a:txBody>
                    <a:bodyPr/>
                    <a:lstStyle/>
                    <a:p>
                      <a:pPr lvl="0">
                        <a:buNone/>
                      </a:pPr>
                      <a:r>
                        <a:rPr lang="en-US" sz="1400" dirty="0"/>
                        <a:t>10/02/2026</a:t>
                      </a:r>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2CAFDCCF-3718-8F63-A8D5-224AE0018BE8}"/>
              </a:ext>
            </a:extLst>
          </p:cNvPr>
          <p:cNvSpPr txBox="1"/>
          <p:nvPr/>
        </p:nvSpPr>
        <p:spPr>
          <a:xfrm>
            <a:off x="289217" y="900181"/>
            <a:ext cx="11415622"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Lead Time Override Simulation 3:</a:t>
            </a:r>
          </a:p>
          <a:p>
            <a:endParaRPr lang="en-US" dirty="0">
              <a:cs typeface="Arial"/>
            </a:endParaRPr>
          </a:p>
          <a:p>
            <a:pPr marL="285750" indent="-285750">
              <a:buFont typeface="Arial"/>
              <a:buChar char="•"/>
            </a:pPr>
            <a:r>
              <a:rPr lang="en-US" sz="1600" dirty="0" err="1">
                <a:cs typeface="Arial"/>
              </a:rPr>
              <a:t>SupplyType.LeadTimeRule</a:t>
            </a:r>
            <a:r>
              <a:rPr lang="en-US" sz="1600" dirty="0">
                <a:cs typeface="Arial"/>
              </a:rPr>
              <a:t> = Override</a:t>
            </a:r>
          </a:p>
          <a:p>
            <a:pPr marL="285750" indent="-285750">
              <a:buFont typeface="Arial"/>
              <a:buChar char="•"/>
            </a:pPr>
            <a:r>
              <a:rPr lang="en-US" sz="1600" dirty="0" err="1">
                <a:cs typeface="Arial"/>
              </a:rPr>
              <a:t>SupplyStatus.LeadTimeOverride</a:t>
            </a:r>
            <a:r>
              <a:rPr lang="en-US" sz="1600" dirty="0">
                <a:cs typeface="Arial"/>
              </a:rPr>
              <a:t> = </a:t>
            </a:r>
            <a:r>
              <a:rPr lang="en-US" sz="1600" dirty="0" err="1">
                <a:cs typeface="Arial"/>
              </a:rPr>
              <a:t>FromOrder</a:t>
            </a:r>
          </a:p>
          <a:p>
            <a:pPr marL="285750" indent="-285750">
              <a:buFont typeface="Arial,Sans-Serif"/>
              <a:buChar char="•"/>
            </a:pPr>
            <a:r>
              <a:rPr lang="en-US" sz="1600" dirty="0">
                <a:cs typeface="Arial"/>
              </a:rPr>
              <a:t>Transit Rule = Cumulative</a:t>
            </a:r>
          </a:p>
          <a:p>
            <a:pPr marL="285750" indent="-285750">
              <a:buFont typeface="Arial"/>
              <a:buChar char="•"/>
            </a:pPr>
            <a:r>
              <a:rPr lang="en-US" sz="1600" dirty="0">
                <a:cs typeface="Arial"/>
              </a:rPr>
              <a:t>Scheduled Receipt for Qtd (2).</a:t>
            </a:r>
          </a:p>
          <a:p>
            <a:pPr marL="285750" indent="-285750">
              <a:buFont typeface="Arial,Sans-Serif"/>
              <a:buChar char="•"/>
            </a:pPr>
            <a:r>
              <a:rPr lang="en-US" sz="1600" dirty="0">
                <a:cs typeface="Arial"/>
              </a:rPr>
              <a:t>Lead Time Value come from Scheduled Receipt Table. All the Lead time elements are involved in Calculations.</a:t>
            </a:r>
          </a:p>
        </p:txBody>
      </p:sp>
    </p:spTree>
    <p:extLst>
      <p:ext uri="{BB962C8B-B14F-4D97-AF65-F5344CB8AC3E}">
        <p14:creationId xmlns:p14="http://schemas.microsoft.com/office/powerpoint/2010/main" val="23322926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4B940-AA5A-B3A0-A122-38DC650E1F6A}"/>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56EC11E4-DC0D-ADFB-9A92-80184E3F56AA}"/>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25C4D48A-EDB4-AF39-1D21-317B104CFFA6}"/>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2E5F126F-23B2-9D5D-4622-4AE782966218}"/>
              </a:ext>
            </a:extLst>
          </p:cNvPr>
          <p:cNvPicPr>
            <a:picLocks noChangeAspect="1"/>
          </p:cNvPicPr>
          <p:nvPr/>
        </p:nvPicPr>
        <p:blipFill>
          <a:blip r:embed="rId4"/>
          <a:stretch>
            <a:fillRect/>
          </a:stretch>
        </p:blipFill>
        <p:spPr>
          <a:xfrm>
            <a:off x="416943" y="956997"/>
            <a:ext cx="11358114" cy="51740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538261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780E4-19C6-5CBF-8710-CF9FB9F00A6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76519E90-400F-F22A-5E1E-FFFA118645D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825892D3-3983-E4C0-786A-924E3C29C90D}"/>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1BD620C0-2C1E-997C-5CCB-C91BDF85BD80}"/>
              </a:ext>
            </a:extLst>
          </p:cNvPr>
          <p:cNvGraphicFramePr>
            <a:graphicFrameLocks noGrp="1"/>
          </p:cNvGraphicFramePr>
          <p:nvPr>
            <p:extLst>
              <p:ext uri="{D42A27DB-BD31-4B8C-83A1-F6EECF244321}">
                <p14:modId xmlns:p14="http://schemas.microsoft.com/office/powerpoint/2010/main" val="2891254537"/>
              </p:ext>
            </p:extLst>
          </p:nvPr>
        </p:nvGraphicFramePr>
        <p:xfrm>
          <a:off x="287547" y="3076755"/>
          <a:ext cx="11417292" cy="185419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sz="1400"/>
                        <a:t>Demand Date</a:t>
                      </a:r>
                    </a:p>
                  </a:txBody>
                  <a:tcPr/>
                </a:tc>
                <a:tc>
                  <a:txBody>
                    <a:bodyPr/>
                    <a:lstStyle/>
                    <a:p>
                      <a:r>
                        <a:rPr lang="en-US" sz="1400"/>
                        <a:t>Due Date</a:t>
                      </a:r>
                    </a:p>
                  </a:txBody>
                  <a:tcPr/>
                </a:tc>
                <a:tc>
                  <a:txBody>
                    <a:bodyPr/>
                    <a:lstStyle/>
                    <a:p>
                      <a:r>
                        <a:rPr lang="en-US" sz="1400"/>
                        <a:t>Dock Date</a:t>
                      </a:r>
                    </a:p>
                  </a:txBody>
                  <a:tcPr/>
                </a:tc>
                <a:tc>
                  <a:txBody>
                    <a:bodyPr/>
                    <a:lstStyle/>
                    <a:p>
                      <a:r>
                        <a:rPr lang="en-US" sz="1400"/>
                        <a:t>Ship Date</a:t>
                      </a:r>
                    </a:p>
                  </a:txBody>
                  <a:tcPr/>
                </a:tc>
                <a:tc>
                  <a:txBody>
                    <a:bodyPr/>
                    <a:lstStyle/>
                    <a:p>
                      <a:r>
                        <a:rPr lang="en-US" sz="1400"/>
                        <a:t>Build Date</a:t>
                      </a:r>
                    </a:p>
                  </a:txBody>
                  <a:tcPr/>
                </a:tc>
                <a:tc>
                  <a:txBody>
                    <a:bodyPr/>
                    <a:lstStyle/>
                    <a:p>
                      <a:r>
                        <a:rPr lang="en-US" sz="1400"/>
                        <a:t>Start Date</a:t>
                      </a:r>
                    </a:p>
                  </a:txBody>
                  <a:tcPr/>
                </a:tc>
                <a:extLst>
                  <a:ext uri="{0D108BD9-81ED-4DB2-BD59-A6C34878D82A}">
                    <a16:rowId xmlns:a16="http://schemas.microsoft.com/office/drawing/2014/main" val="3434628265"/>
                  </a:ext>
                </a:extLst>
              </a:tr>
              <a:tr h="370840">
                <a:tc>
                  <a:txBody>
                    <a:bodyPr/>
                    <a:lstStyle/>
                    <a:p>
                      <a:r>
                        <a:rPr lang="en-US" sz="1400"/>
                        <a:t>Safety Time (1)</a:t>
                      </a:r>
                    </a:p>
                  </a:txBody>
                  <a:tcPr/>
                </a:tc>
                <a:tc>
                  <a:txBody>
                    <a:bodyPr/>
                    <a:lstStyle/>
                    <a:p>
                      <a:r>
                        <a:rPr lang="en-US" sz="1400" dirty="0">
                          <a:solidFill>
                            <a:srgbClr val="FF0000"/>
                          </a:solidFill>
                        </a:rPr>
                        <a:t>Dock To Stock (2)</a:t>
                      </a:r>
                    </a:p>
                  </a:txBody>
                  <a:tcPr/>
                </a:tc>
                <a:tc>
                  <a:txBody>
                    <a:bodyPr/>
                    <a:lstStyle/>
                    <a:p>
                      <a:r>
                        <a:rPr lang="en-US" sz="1400">
                          <a:solidFill>
                            <a:srgbClr val="FF0000"/>
                          </a:solidFill>
                        </a:rPr>
                        <a:t>Transit Time (3)</a:t>
                      </a:r>
                    </a:p>
                  </a:txBody>
                  <a:tcPr/>
                </a:tc>
                <a:tc>
                  <a:txBody>
                    <a:bodyPr/>
                    <a:lstStyle/>
                    <a:p>
                      <a:r>
                        <a:rPr lang="en-US" sz="1400">
                          <a:solidFill>
                            <a:srgbClr val="FF0000"/>
                          </a:solidFill>
                        </a:rPr>
                        <a:t>Pre-Ship Time (1)</a:t>
                      </a:r>
                    </a:p>
                  </a:txBody>
                  <a:tcPr/>
                </a:tc>
                <a:tc>
                  <a:txBody>
                    <a:bodyPr/>
                    <a:lstStyle/>
                    <a:p>
                      <a:r>
                        <a:rPr lang="en-US" sz="1400"/>
                        <a:t>Lead Time Adjust (1)</a:t>
                      </a:r>
                    </a:p>
                  </a:txBody>
                  <a:tcPr/>
                </a:tc>
                <a:tc>
                  <a:txBody>
                    <a:bodyPr/>
                    <a:lstStyle/>
                    <a:p>
                      <a:endParaRPr lang="en-US" sz="1400"/>
                    </a:p>
                  </a:txBody>
                  <a:tcPr/>
                </a:tc>
                <a:extLst>
                  <a:ext uri="{0D108BD9-81ED-4DB2-BD59-A6C34878D82A}">
                    <a16:rowId xmlns:a16="http://schemas.microsoft.com/office/drawing/2014/main" val="169593582"/>
                  </a:ext>
                </a:extLst>
              </a:tr>
              <a:tr h="37084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r>
                        <a:rPr lang="en-US" sz="1400"/>
                        <a:t>Fixed (2)</a:t>
                      </a:r>
                    </a:p>
                  </a:txBody>
                  <a:tcPr/>
                </a:tc>
                <a:tc>
                  <a:txBody>
                    <a:bodyPr/>
                    <a:lstStyle/>
                    <a:p>
                      <a:endParaRPr lang="en-US" sz="1400"/>
                    </a:p>
                  </a:txBody>
                  <a:tcPr/>
                </a:tc>
                <a:extLst>
                  <a:ext uri="{0D108BD9-81ED-4DB2-BD59-A6C34878D82A}">
                    <a16:rowId xmlns:a16="http://schemas.microsoft.com/office/drawing/2014/main" val="3769563568"/>
                  </a:ext>
                </a:extLst>
              </a:tr>
              <a:tr h="370839">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r>
                        <a:rPr lang="en-US" sz="1400"/>
                        <a:t>Variable (1*2)</a:t>
                      </a:r>
                      <a:endParaRPr lang="en-US" sz="1400" dirty="0"/>
                    </a:p>
                  </a:txBody>
                  <a:tcPr/>
                </a:tc>
                <a:tc>
                  <a:txBody>
                    <a:bodyPr/>
                    <a:lstStyle/>
                    <a:p>
                      <a:pPr lvl="0">
                        <a:buNone/>
                      </a:pPr>
                      <a:endParaRPr lang="en-US" sz="1400" dirty="0"/>
                    </a:p>
                  </a:txBody>
                  <a:tcPr/>
                </a:tc>
                <a:extLst>
                  <a:ext uri="{0D108BD9-81ED-4DB2-BD59-A6C34878D82A}">
                    <a16:rowId xmlns:a16="http://schemas.microsoft.com/office/drawing/2014/main" val="496422798"/>
                  </a:ext>
                </a:extLst>
              </a:tr>
              <a:tr h="370838">
                <a:tc>
                  <a:txBody>
                    <a:bodyPr/>
                    <a:lstStyle/>
                    <a:p>
                      <a:pPr lvl="0">
                        <a:buNone/>
                      </a:pP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10/13/11</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dirty="0"/>
                        <a:t>10/08/2026</a:t>
                      </a:r>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A65C655B-DC22-718D-E0CF-81538047B1FB}"/>
              </a:ext>
            </a:extLst>
          </p:cNvPr>
          <p:cNvSpPr txBox="1"/>
          <p:nvPr/>
        </p:nvSpPr>
        <p:spPr>
          <a:xfrm>
            <a:off x="287547" y="683312"/>
            <a:ext cx="11415622"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Lead Time Override Simulation 4:</a:t>
            </a:r>
          </a:p>
          <a:p>
            <a:endParaRPr lang="en-US" dirty="0">
              <a:cs typeface="Arial"/>
            </a:endParaRPr>
          </a:p>
          <a:p>
            <a:pPr marL="285750" indent="-285750">
              <a:buFont typeface="Arial"/>
              <a:buChar char="•"/>
            </a:pPr>
            <a:r>
              <a:rPr lang="en-US" sz="1600" dirty="0" err="1">
                <a:cs typeface="Arial"/>
              </a:rPr>
              <a:t>SupplyType.LeadTimeRule</a:t>
            </a:r>
            <a:r>
              <a:rPr lang="en-US" sz="1600" dirty="0">
                <a:cs typeface="Arial"/>
              </a:rPr>
              <a:t> = Override</a:t>
            </a:r>
          </a:p>
          <a:p>
            <a:pPr marL="285750" indent="-285750">
              <a:buFont typeface="Arial"/>
              <a:buChar char="•"/>
            </a:pPr>
            <a:r>
              <a:rPr lang="en-US" sz="1600" dirty="0" err="1">
                <a:cs typeface="Arial"/>
              </a:rPr>
              <a:t>SupplyStatus.LeadTimeOverride</a:t>
            </a:r>
            <a:r>
              <a:rPr lang="en-US" sz="1600" dirty="0">
                <a:cs typeface="Arial"/>
              </a:rPr>
              <a:t> = </a:t>
            </a:r>
            <a:r>
              <a:rPr lang="en-US" sz="1600" dirty="0" err="1">
                <a:cs typeface="Arial"/>
              </a:rPr>
              <a:t>FromOrder</a:t>
            </a:r>
          </a:p>
          <a:p>
            <a:pPr marL="285750" indent="-285750">
              <a:buFont typeface="Arial"/>
              <a:buChar char="•"/>
            </a:pPr>
            <a:r>
              <a:rPr lang="en-US" sz="1600" dirty="0">
                <a:cs typeface="Arial"/>
              </a:rPr>
              <a:t>Transit Rule = Inclusive</a:t>
            </a:r>
          </a:p>
          <a:p>
            <a:pPr marL="285750" indent="-285750">
              <a:buFont typeface="Arial"/>
              <a:buChar char="•"/>
            </a:pPr>
            <a:r>
              <a:rPr lang="en-US" sz="1600" dirty="0">
                <a:cs typeface="Arial"/>
              </a:rPr>
              <a:t>Scheduled Receipt for Qtd (2).</a:t>
            </a:r>
          </a:p>
          <a:p>
            <a:pPr marL="285750" indent="-285750">
              <a:buFont typeface="Arial,Sans-Serif"/>
              <a:buChar char="•"/>
            </a:pPr>
            <a:r>
              <a:rPr lang="en-US" sz="1600" dirty="0">
                <a:cs typeface="Arial"/>
              </a:rPr>
              <a:t>Lead Time Value come from Scheduled Receipt Table, without considering lead time elements DTS, Transit and Pre-Ship Time into calculations.</a:t>
            </a:r>
          </a:p>
        </p:txBody>
      </p:sp>
    </p:spTree>
    <p:extLst>
      <p:ext uri="{BB962C8B-B14F-4D97-AF65-F5344CB8AC3E}">
        <p14:creationId xmlns:p14="http://schemas.microsoft.com/office/powerpoint/2010/main" val="7730962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7C5F2-C3E9-B076-472E-8640CF9BDE0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EAAE44BF-C6F5-039E-5F64-99AB1B0E000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2F2593D-7B77-B809-FFFB-D993A7020E71}"/>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79D0018E-0B8F-DEE7-EBAA-303D03EE2460}"/>
              </a:ext>
            </a:extLst>
          </p:cNvPr>
          <p:cNvPicPr>
            <a:picLocks noChangeAspect="1"/>
          </p:cNvPicPr>
          <p:nvPr/>
        </p:nvPicPr>
        <p:blipFill>
          <a:blip r:embed="rId4"/>
          <a:stretch>
            <a:fillRect/>
          </a:stretch>
        </p:blipFill>
        <p:spPr>
          <a:xfrm>
            <a:off x="416943" y="966174"/>
            <a:ext cx="11343737" cy="51844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956880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F7CE3-2A2C-C1AA-4B05-7F7ADD8CCA0A}"/>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8CF3EE9C-6EBD-3A8B-2822-5980492DC52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B86A440-5626-A761-B6B3-32473E60CEBE}"/>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92F68854-2FB5-4CE1-47E8-41F4F73DECC2}"/>
              </a:ext>
            </a:extLst>
          </p:cNvPr>
          <p:cNvGraphicFramePr>
            <a:graphicFrameLocks noGrp="1"/>
          </p:cNvGraphicFramePr>
          <p:nvPr>
            <p:extLst>
              <p:ext uri="{D42A27DB-BD31-4B8C-83A1-F6EECF244321}">
                <p14:modId xmlns:p14="http://schemas.microsoft.com/office/powerpoint/2010/main" val="2252076226"/>
              </p:ext>
            </p:extLst>
          </p:nvPr>
        </p:nvGraphicFramePr>
        <p:xfrm>
          <a:off x="287547" y="3076755"/>
          <a:ext cx="11417292" cy="185419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sz="1400"/>
                        <a:t>Demand Date</a:t>
                      </a:r>
                    </a:p>
                  </a:txBody>
                  <a:tcPr/>
                </a:tc>
                <a:tc>
                  <a:txBody>
                    <a:bodyPr/>
                    <a:lstStyle/>
                    <a:p>
                      <a:r>
                        <a:rPr lang="en-US" sz="1400"/>
                        <a:t>Due Date</a:t>
                      </a:r>
                    </a:p>
                  </a:txBody>
                  <a:tcPr/>
                </a:tc>
                <a:tc>
                  <a:txBody>
                    <a:bodyPr/>
                    <a:lstStyle/>
                    <a:p>
                      <a:r>
                        <a:rPr lang="en-US" sz="1400"/>
                        <a:t>Dock Date</a:t>
                      </a:r>
                    </a:p>
                  </a:txBody>
                  <a:tcPr/>
                </a:tc>
                <a:tc>
                  <a:txBody>
                    <a:bodyPr/>
                    <a:lstStyle/>
                    <a:p>
                      <a:r>
                        <a:rPr lang="en-US" sz="1400"/>
                        <a:t>Ship Date</a:t>
                      </a:r>
                    </a:p>
                  </a:txBody>
                  <a:tcPr/>
                </a:tc>
                <a:tc>
                  <a:txBody>
                    <a:bodyPr/>
                    <a:lstStyle/>
                    <a:p>
                      <a:r>
                        <a:rPr lang="en-US" sz="1400"/>
                        <a:t>Build Date</a:t>
                      </a:r>
                    </a:p>
                  </a:txBody>
                  <a:tcPr/>
                </a:tc>
                <a:tc>
                  <a:txBody>
                    <a:bodyPr/>
                    <a:lstStyle/>
                    <a:p>
                      <a:r>
                        <a:rPr lang="en-US" sz="1400"/>
                        <a:t>Start Date</a:t>
                      </a:r>
                    </a:p>
                  </a:txBody>
                  <a:tcPr/>
                </a:tc>
                <a:extLst>
                  <a:ext uri="{0D108BD9-81ED-4DB2-BD59-A6C34878D82A}">
                    <a16:rowId xmlns:a16="http://schemas.microsoft.com/office/drawing/2014/main" val="3434628265"/>
                  </a:ext>
                </a:extLst>
              </a:tr>
              <a:tr h="370840">
                <a:tc>
                  <a:txBody>
                    <a:bodyPr/>
                    <a:lstStyle/>
                    <a:p>
                      <a:r>
                        <a:rPr lang="en-US" sz="1400"/>
                        <a:t>Safety Time (1)</a:t>
                      </a:r>
                    </a:p>
                  </a:txBody>
                  <a:tcPr/>
                </a:tc>
                <a:tc>
                  <a:txBody>
                    <a:bodyPr/>
                    <a:lstStyle/>
                    <a:p>
                      <a:r>
                        <a:rPr lang="en-US" sz="1400" dirty="0">
                          <a:solidFill>
                            <a:srgbClr val="FF0000"/>
                          </a:solidFill>
                        </a:rPr>
                        <a:t>Dock To Stock (1)</a:t>
                      </a:r>
                    </a:p>
                  </a:txBody>
                  <a:tcPr/>
                </a:tc>
                <a:tc>
                  <a:txBody>
                    <a:bodyPr/>
                    <a:lstStyle/>
                    <a:p>
                      <a:r>
                        <a:rPr lang="en-US" sz="1400" dirty="0">
                          <a:solidFill>
                            <a:srgbClr val="FF0000"/>
                          </a:solidFill>
                        </a:rPr>
                        <a:t>Transit Time (2)</a:t>
                      </a:r>
                    </a:p>
                  </a:txBody>
                  <a:tcPr/>
                </a:tc>
                <a:tc>
                  <a:txBody>
                    <a:bodyPr/>
                    <a:lstStyle/>
                    <a:p>
                      <a:r>
                        <a:rPr lang="en-US" sz="1400">
                          <a:solidFill>
                            <a:srgbClr val="FF0000"/>
                          </a:solidFill>
                        </a:rPr>
                        <a:t>Pre-Ship Time (0)</a:t>
                      </a:r>
                    </a:p>
                  </a:txBody>
                  <a:tcPr/>
                </a:tc>
                <a:tc>
                  <a:txBody>
                    <a:bodyPr/>
                    <a:lstStyle/>
                    <a:p>
                      <a:r>
                        <a:rPr lang="en-US" sz="1400"/>
                        <a:t>Lead Time Adjust (1)</a:t>
                      </a:r>
                    </a:p>
                  </a:txBody>
                  <a:tcPr/>
                </a:tc>
                <a:tc>
                  <a:txBody>
                    <a:bodyPr/>
                    <a:lstStyle/>
                    <a:p>
                      <a:endParaRPr lang="en-US" sz="1400"/>
                    </a:p>
                  </a:txBody>
                  <a:tcPr/>
                </a:tc>
                <a:extLst>
                  <a:ext uri="{0D108BD9-81ED-4DB2-BD59-A6C34878D82A}">
                    <a16:rowId xmlns:a16="http://schemas.microsoft.com/office/drawing/2014/main" val="169593582"/>
                  </a:ext>
                </a:extLst>
              </a:tr>
              <a:tr h="37084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r>
                        <a:rPr lang="en-US" sz="1400"/>
                        <a:t>Fixed (1)</a:t>
                      </a:r>
                    </a:p>
                  </a:txBody>
                  <a:tcPr/>
                </a:tc>
                <a:tc>
                  <a:txBody>
                    <a:bodyPr/>
                    <a:lstStyle/>
                    <a:p>
                      <a:endParaRPr lang="en-US" sz="1400"/>
                    </a:p>
                  </a:txBody>
                  <a:tcPr/>
                </a:tc>
                <a:extLst>
                  <a:ext uri="{0D108BD9-81ED-4DB2-BD59-A6C34878D82A}">
                    <a16:rowId xmlns:a16="http://schemas.microsoft.com/office/drawing/2014/main" val="3769563568"/>
                  </a:ext>
                </a:extLst>
              </a:tr>
              <a:tr h="370839">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r>
                        <a:rPr lang="en-US" sz="1400"/>
                        <a:t>Variable (0*2)</a:t>
                      </a:r>
                      <a:endParaRPr lang="en-US" sz="1400" dirty="0"/>
                    </a:p>
                  </a:txBody>
                  <a:tcPr/>
                </a:tc>
                <a:tc>
                  <a:txBody>
                    <a:bodyPr/>
                    <a:lstStyle/>
                    <a:p>
                      <a:pPr lvl="0">
                        <a:buNone/>
                      </a:pPr>
                      <a:endParaRPr lang="en-US" sz="1400" dirty="0"/>
                    </a:p>
                  </a:txBody>
                  <a:tcPr/>
                </a:tc>
                <a:extLst>
                  <a:ext uri="{0D108BD9-81ED-4DB2-BD59-A6C34878D82A}">
                    <a16:rowId xmlns:a16="http://schemas.microsoft.com/office/drawing/2014/main" val="496422798"/>
                  </a:ext>
                </a:extLst>
              </a:tr>
              <a:tr h="370838">
                <a:tc>
                  <a:txBody>
                    <a:bodyPr/>
                    <a:lstStyle/>
                    <a:p>
                      <a:pPr lvl="0">
                        <a:buNone/>
                      </a:pP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dirty="0"/>
                        <a:t>10/11/2026</a:t>
                      </a:r>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632C4902-3759-2F05-BF49-92F7D034774C}"/>
              </a:ext>
            </a:extLst>
          </p:cNvPr>
          <p:cNvSpPr txBox="1"/>
          <p:nvPr/>
        </p:nvSpPr>
        <p:spPr>
          <a:xfrm>
            <a:off x="287547" y="782858"/>
            <a:ext cx="11415622"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Lead Time Override Simulation 5:</a:t>
            </a:r>
          </a:p>
          <a:p>
            <a:endParaRPr lang="en-US" dirty="0">
              <a:cs typeface="Arial"/>
            </a:endParaRPr>
          </a:p>
          <a:p>
            <a:pPr marL="285750" indent="-285750">
              <a:buFont typeface="Arial"/>
              <a:buChar char="•"/>
            </a:pPr>
            <a:r>
              <a:rPr lang="en-US" sz="1600" dirty="0" err="1">
                <a:cs typeface="Arial"/>
              </a:rPr>
              <a:t>SupplyType.LeadTimeRule</a:t>
            </a:r>
            <a:r>
              <a:rPr lang="en-US" sz="1600" dirty="0">
                <a:cs typeface="Arial"/>
              </a:rPr>
              <a:t> = Ignore</a:t>
            </a:r>
          </a:p>
          <a:p>
            <a:pPr marL="285750" indent="-285750">
              <a:buFont typeface="Arial"/>
              <a:buChar char="•"/>
            </a:pPr>
            <a:r>
              <a:rPr lang="en-US" sz="1600" dirty="0" err="1">
                <a:cs typeface="Arial"/>
              </a:rPr>
              <a:t>SupplyStatus.LeadTimeOverride</a:t>
            </a:r>
            <a:r>
              <a:rPr lang="en-US" sz="1600" dirty="0">
                <a:cs typeface="Arial"/>
              </a:rPr>
              <a:t> = </a:t>
            </a:r>
            <a:r>
              <a:rPr lang="en-US" sz="1600" dirty="0" err="1">
                <a:cs typeface="Arial"/>
              </a:rPr>
              <a:t>FromOrder</a:t>
            </a:r>
            <a:endParaRPr lang="en-US" sz="1600" dirty="0">
              <a:cs typeface="Arial"/>
            </a:endParaRPr>
          </a:p>
          <a:p>
            <a:pPr marL="285750" indent="-285750">
              <a:buFont typeface="Arial,Sans-Serif"/>
              <a:buChar char="•"/>
            </a:pPr>
            <a:r>
              <a:rPr lang="en-US" sz="1600" dirty="0">
                <a:cs typeface="Arial"/>
              </a:rPr>
              <a:t>Transit Rule = Inclusive</a:t>
            </a:r>
          </a:p>
          <a:p>
            <a:pPr marL="285750" indent="-285750">
              <a:buFont typeface="Arial"/>
              <a:buChar char="•"/>
            </a:pPr>
            <a:r>
              <a:rPr lang="en-US" sz="1600" dirty="0">
                <a:cs typeface="Arial"/>
              </a:rPr>
              <a:t>Scheduled Receipt for Qtd (2).</a:t>
            </a:r>
          </a:p>
          <a:p>
            <a:pPr marL="285750" indent="-285750">
              <a:buFont typeface="Arial,Sans-Serif"/>
              <a:buChar char="•"/>
            </a:pPr>
            <a:r>
              <a:rPr lang="en-US" sz="1600" dirty="0">
                <a:cs typeface="Arial"/>
              </a:rPr>
              <a:t>Lead Time Value come from Part Source Table, without considering lead time elements DTS, Transit and Pre-Ship Time into calculations.</a:t>
            </a:r>
          </a:p>
        </p:txBody>
      </p:sp>
    </p:spTree>
    <p:extLst>
      <p:ext uri="{BB962C8B-B14F-4D97-AF65-F5344CB8AC3E}">
        <p14:creationId xmlns:p14="http://schemas.microsoft.com/office/powerpoint/2010/main" val="30318583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FE4EF-3818-E108-7A5D-151FDD438B39}"/>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0DEAD941-C1C4-940C-1D43-F76369F3D4B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1704AFF8-AE03-1204-37B2-34CABB8D22E9}"/>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972B2638-6750-D761-8539-D3FB58319527}"/>
              </a:ext>
            </a:extLst>
          </p:cNvPr>
          <p:cNvPicPr>
            <a:picLocks noChangeAspect="1"/>
          </p:cNvPicPr>
          <p:nvPr/>
        </p:nvPicPr>
        <p:blipFill>
          <a:blip r:embed="rId4"/>
          <a:stretch>
            <a:fillRect/>
          </a:stretch>
        </p:blipFill>
        <p:spPr>
          <a:xfrm>
            <a:off x="460074" y="978333"/>
            <a:ext cx="11271851" cy="52176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988384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2814B-F294-94B9-E7E2-DAA5ECA59AE1}"/>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4101E137-B451-16FC-837E-0F572A18F346}"/>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003B3A6-D31D-0A30-558E-7A6F30DDAA54}"/>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9A97A6C7-F23E-4096-2E95-8F833F42D779}"/>
              </a:ext>
            </a:extLst>
          </p:cNvPr>
          <p:cNvGraphicFramePr>
            <a:graphicFrameLocks noGrp="1"/>
          </p:cNvGraphicFramePr>
          <p:nvPr>
            <p:extLst>
              <p:ext uri="{D42A27DB-BD31-4B8C-83A1-F6EECF244321}">
                <p14:modId xmlns:p14="http://schemas.microsoft.com/office/powerpoint/2010/main" val="4151532225"/>
              </p:ext>
            </p:extLst>
          </p:nvPr>
        </p:nvGraphicFramePr>
        <p:xfrm>
          <a:off x="287547" y="3076755"/>
          <a:ext cx="11417292" cy="185419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sz="1400"/>
                        <a:t>Demand Date</a:t>
                      </a:r>
                    </a:p>
                  </a:txBody>
                  <a:tcPr/>
                </a:tc>
                <a:tc>
                  <a:txBody>
                    <a:bodyPr/>
                    <a:lstStyle/>
                    <a:p>
                      <a:r>
                        <a:rPr lang="en-US" sz="1400"/>
                        <a:t>Due Date</a:t>
                      </a:r>
                    </a:p>
                  </a:txBody>
                  <a:tcPr/>
                </a:tc>
                <a:tc>
                  <a:txBody>
                    <a:bodyPr/>
                    <a:lstStyle/>
                    <a:p>
                      <a:r>
                        <a:rPr lang="en-US" sz="1400"/>
                        <a:t>Dock Date</a:t>
                      </a:r>
                    </a:p>
                  </a:txBody>
                  <a:tcPr/>
                </a:tc>
                <a:tc>
                  <a:txBody>
                    <a:bodyPr/>
                    <a:lstStyle/>
                    <a:p>
                      <a:r>
                        <a:rPr lang="en-US" sz="1400"/>
                        <a:t>Ship Date</a:t>
                      </a:r>
                    </a:p>
                  </a:txBody>
                  <a:tcPr/>
                </a:tc>
                <a:tc>
                  <a:txBody>
                    <a:bodyPr/>
                    <a:lstStyle/>
                    <a:p>
                      <a:r>
                        <a:rPr lang="en-US" sz="1400"/>
                        <a:t>Build Date</a:t>
                      </a:r>
                    </a:p>
                  </a:txBody>
                  <a:tcPr/>
                </a:tc>
                <a:tc>
                  <a:txBody>
                    <a:bodyPr/>
                    <a:lstStyle/>
                    <a:p>
                      <a:r>
                        <a:rPr lang="en-US" sz="1400"/>
                        <a:t>Start Date</a:t>
                      </a:r>
                    </a:p>
                  </a:txBody>
                  <a:tcPr/>
                </a:tc>
                <a:extLst>
                  <a:ext uri="{0D108BD9-81ED-4DB2-BD59-A6C34878D82A}">
                    <a16:rowId xmlns:a16="http://schemas.microsoft.com/office/drawing/2014/main" val="3434628265"/>
                  </a:ext>
                </a:extLst>
              </a:tr>
              <a:tr h="370840">
                <a:tc>
                  <a:txBody>
                    <a:bodyPr/>
                    <a:lstStyle/>
                    <a:p>
                      <a:r>
                        <a:rPr lang="en-US" sz="1400" dirty="0"/>
                        <a:t>Safety Time (1)</a:t>
                      </a:r>
                    </a:p>
                  </a:txBody>
                  <a:tcPr/>
                </a:tc>
                <a:tc>
                  <a:txBody>
                    <a:bodyPr/>
                    <a:lstStyle/>
                    <a:p>
                      <a:r>
                        <a:rPr lang="en-US" sz="1400">
                          <a:solidFill>
                            <a:srgbClr val="FF0000"/>
                          </a:solidFill>
                        </a:rPr>
                        <a:t>Dock To Stock (2)</a:t>
                      </a:r>
                    </a:p>
                  </a:txBody>
                  <a:tcPr/>
                </a:tc>
                <a:tc>
                  <a:txBody>
                    <a:bodyPr/>
                    <a:lstStyle/>
                    <a:p>
                      <a:r>
                        <a:rPr lang="en-US" sz="1400">
                          <a:solidFill>
                            <a:srgbClr val="FF0000"/>
                          </a:solidFill>
                        </a:rPr>
                        <a:t>Transit Time (3)</a:t>
                      </a:r>
                    </a:p>
                  </a:txBody>
                  <a:tcPr/>
                </a:tc>
                <a:tc>
                  <a:txBody>
                    <a:bodyPr/>
                    <a:lstStyle/>
                    <a:p>
                      <a:r>
                        <a:rPr lang="en-US" sz="1400">
                          <a:solidFill>
                            <a:srgbClr val="FF0000"/>
                          </a:solidFill>
                        </a:rPr>
                        <a:t>Pre-Ship Time (1)</a:t>
                      </a:r>
                    </a:p>
                  </a:txBody>
                  <a:tcPr/>
                </a:tc>
                <a:tc>
                  <a:txBody>
                    <a:bodyPr/>
                    <a:lstStyle/>
                    <a:p>
                      <a:r>
                        <a:rPr lang="en-US" sz="1400"/>
                        <a:t>Lead Time Adjust (1)</a:t>
                      </a:r>
                    </a:p>
                  </a:txBody>
                  <a:tcPr/>
                </a:tc>
                <a:tc>
                  <a:txBody>
                    <a:bodyPr/>
                    <a:lstStyle/>
                    <a:p>
                      <a:endParaRPr lang="en-US" sz="1400"/>
                    </a:p>
                  </a:txBody>
                  <a:tcPr/>
                </a:tc>
                <a:extLst>
                  <a:ext uri="{0D108BD9-81ED-4DB2-BD59-A6C34878D82A}">
                    <a16:rowId xmlns:a16="http://schemas.microsoft.com/office/drawing/2014/main" val="169593582"/>
                  </a:ext>
                </a:extLst>
              </a:tr>
              <a:tr h="37084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r>
                        <a:rPr lang="en-US" sz="1400"/>
                        <a:t>Fixed (2)</a:t>
                      </a:r>
                    </a:p>
                  </a:txBody>
                  <a:tcPr/>
                </a:tc>
                <a:tc>
                  <a:txBody>
                    <a:bodyPr/>
                    <a:lstStyle/>
                    <a:p>
                      <a:endParaRPr lang="en-US" sz="1400"/>
                    </a:p>
                  </a:txBody>
                  <a:tcPr/>
                </a:tc>
                <a:extLst>
                  <a:ext uri="{0D108BD9-81ED-4DB2-BD59-A6C34878D82A}">
                    <a16:rowId xmlns:a16="http://schemas.microsoft.com/office/drawing/2014/main" val="3769563568"/>
                  </a:ext>
                </a:extLst>
              </a:tr>
              <a:tr h="370839">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r>
                        <a:rPr lang="en-US" sz="1400"/>
                        <a:t>Variable (1*2)</a:t>
                      </a:r>
                      <a:endParaRPr lang="en-US" sz="1400" dirty="0"/>
                    </a:p>
                  </a:txBody>
                  <a:tcPr/>
                </a:tc>
                <a:tc>
                  <a:txBody>
                    <a:bodyPr/>
                    <a:lstStyle/>
                    <a:p>
                      <a:pPr lvl="0">
                        <a:buNone/>
                      </a:pPr>
                      <a:endParaRPr lang="en-US" sz="1400" dirty="0"/>
                    </a:p>
                  </a:txBody>
                  <a:tcPr/>
                </a:tc>
                <a:extLst>
                  <a:ext uri="{0D108BD9-81ED-4DB2-BD59-A6C34878D82A}">
                    <a16:rowId xmlns:a16="http://schemas.microsoft.com/office/drawing/2014/main" val="496422798"/>
                  </a:ext>
                </a:extLst>
              </a:tr>
              <a:tr h="370838">
                <a:tc>
                  <a:txBody>
                    <a:bodyPr/>
                    <a:lstStyle/>
                    <a:p>
                      <a:pPr lvl="0">
                        <a:buNone/>
                      </a:pP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10/13/11</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dirty="0"/>
                        <a:t>10/08/2026</a:t>
                      </a:r>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6845BA58-AD94-041F-26CB-6411E66A60FD}"/>
              </a:ext>
            </a:extLst>
          </p:cNvPr>
          <p:cNvSpPr txBox="1"/>
          <p:nvPr/>
        </p:nvSpPr>
        <p:spPr>
          <a:xfrm>
            <a:off x="287547" y="782858"/>
            <a:ext cx="11415622"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Lead Time Override Simulation 6:</a:t>
            </a:r>
          </a:p>
          <a:p>
            <a:endParaRPr lang="en-US" dirty="0">
              <a:cs typeface="Arial"/>
            </a:endParaRPr>
          </a:p>
          <a:p>
            <a:pPr marL="285750" indent="-285750">
              <a:buFont typeface="Arial"/>
              <a:buChar char="•"/>
            </a:pPr>
            <a:r>
              <a:rPr lang="en-US" sz="1600" dirty="0" err="1">
                <a:cs typeface="Arial"/>
              </a:rPr>
              <a:t>SupplyType.LeadTimeRule</a:t>
            </a:r>
            <a:r>
              <a:rPr lang="en-US" sz="1600" dirty="0">
                <a:cs typeface="Arial"/>
              </a:rPr>
              <a:t> = Override/Ignore</a:t>
            </a:r>
          </a:p>
          <a:p>
            <a:pPr marL="285750" indent="-285750">
              <a:buFont typeface="Arial"/>
              <a:buChar char="•"/>
            </a:pPr>
            <a:r>
              <a:rPr lang="en-US" sz="1600" dirty="0" err="1">
                <a:cs typeface="Arial"/>
              </a:rPr>
              <a:t>SupplyStatus.LeadTimeOverride</a:t>
            </a:r>
            <a:r>
              <a:rPr lang="en-US" sz="1600" dirty="0">
                <a:cs typeface="Arial"/>
              </a:rPr>
              <a:t> = Yes</a:t>
            </a:r>
          </a:p>
          <a:p>
            <a:pPr marL="285750" indent="-285750">
              <a:buFont typeface="Arial,Sans-Serif"/>
              <a:buChar char="•"/>
            </a:pPr>
            <a:r>
              <a:rPr lang="en-US" sz="1600" dirty="0">
                <a:cs typeface="Arial"/>
              </a:rPr>
              <a:t>Transit Rule = Inclusive</a:t>
            </a:r>
          </a:p>
          <a:p>
            <a:pPr marL="285750" indent="-285750">
              <a:buFont typeface="Arial"/>
              <a:buChar char="•"/>
            </a:pPr>
            <a:r>
              <a:rPr lang="en-US" sz="1600" dirty="0">
                <a:cs typeface="Arial"/>
              </a:rPr>
              <a:t>Scheduled Receipt for Qtd (2).</a:t>
            </a:r>
          </a:p>
          <a:p>
            <a:pPr marL="285750" indent="-285750">
              <a:buFont typeface="Arial"/>
              <a:buChar char="•"/>
            </a:pPr>
            <a:r>
              <a:rPr lang="en-US" sz="1600" dirty="0">
                <a:cs typeface="Arial"/>
              </a:rPr>
              <a:t>Lead Time Value come from Scheduled Receipt Table, without considering lead time elements DTS, Transit and Pre-Ship Time into calculations.</a:t>
            </a:r>
          </a:p>
        </p:txBody>
      </p:sp>
    </p:spTree>
    <p:extLst>
      <p:ext uri="{BB962C8B-B14F-4D97-AF65-F5344CB8AC3E}">
        <p14:creationId xmlns:p14="http://schemas.microsoft.com/office/powerpoint/2010/main" val="835480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D760D-AA19-3EDE-E914-710B103314E2}"/>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B375CFA5-F29B-2F0D-8EAC-2833590CDB7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811F6A37-86ED-02E4-6130-B9A6A655313C}"/>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289941C4-8B4F-9DA1-AE51-53D2B55BB802}"/>
              </a:ext>
            </a:extLst>
          </p:cNvPr>
          <p:cNvPicPr>
            <a:picLocks noChangeAspect="1"/>
          </p:cNvPicPr>
          <p:nvPr/>
        </p:nvPicPr>
        <p:blipFill>
          <a:blip r:embed="rId4"/>
          <a:stretch>
            <a:fillRect/>
          </a:stretch>
        </p:blipFill>
        <p:spPr>
          <a:xfrm>
            <a:off x="392502" y="969637"/>
            <a:ext cx="11406996" cy="52312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043600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12865-AE64-8481-CE2A-50BEBA1F226C}"/>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0C63AAAF-633B-7068-68F2-ECAC42CAC8F9}"/>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308DE5B-3483-FDAD-BAE0-044D5F5E6467}"/>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121D88DD-4A70-67A0-AC42-E02D1A4D13C3}"/>
              </a:ext>
            </a:extLst>
          </p:cNvPr>
          <p:cNvGraphicFramePr>
            <a:graphicFrameLocks noGrp="1"/>
          </p:cNvGraphicFramePr>
          <p:nvPr>
            <p:extLst>
              <p:ext uri="{D42A27DB-BD31-4B8C-83A1-F6EECF244321}">
                <p14:modId xmlns:p14="http://schemas.microsoft.com/office/powerpoint/2010/main" val="222546020"/>
              </p:ext>
            </p:extLst>
          </p:nvPr>
        </p:nvGraphicFramePr>
        <p:xfrm>
          <a:off x="287547" y="3076755"/>
          <a:ext cx="11417292" cy="185419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sz="1400"/>
                        <a:t>Demand Date</a:t>
                      </a:r>
                    </a:p>
                  </a:txBody>
                  <a:tcPr/>
                </a:tc>
                <a:tc>
                  <a:txBody>
                    <a:bodyPr/>
                    <a:lstStyle/>
                    <a:p>
                      <a:r>
                        <a:rPr lang="en-US" sz="1400"/>
                        <a:t>Due Date</a:t>
                      </a:r>
                    </a:p>
                  </a:txBody>
                  <a:tcPr/>
                </a:tc>
                <a:tc>
                  <a:txBody>
                    <a:bodyPr/>
                    <a:lstStyle/>
                    <a:p>
                      <a:r>
                        <a:rPr lang="en-US" sz="1400"/>
                        <a:t>Dock Date</a:t>
                      </a:r>
                    </a:p>
                  </a:txBody>
                  <a:tcPr/>
                </a:tc>
                <a:tc>
                  <a:txBody>
                    <a:bodyPr/>
                    <a:lstStyle/>
                    <a:p>
                      <a:r>
                        <a:rPr lang="en-US" sz="1400"/>
                        <a:t>Ship Date</a:t>
                      </a:r>
                    </a:p>
                  </a:txBody>
                  <a:tcPr/>
                </a:tc>
                <a:tc>
                  <a:txBody>
                    <a:bodyPr/>
                    <a:lstStyle/>
                    <a:p>
                      <a:r>
                        <a:rPr lang="en-US" sz="1400"/>
                        <a:t>Build Date</a:t>
                      </a:r>
                    </a:p>
                  </a:txBody>
                  <a:tcPr/>
                </a:tc>
                <a:tc>
                  <a:txBody>
                    <a:bodyPr/>
                    <a:lstStyle/>
                    <a:p>
                      <a:r>
                        <a:rPr lang="en-US" sz="1400"/>
                        <a:t>Start Date</a:t>
                      </a:r>
                    </a:p>
                  </a:txBody>
                  <a:tcPr/>
                </a:tc>
                <a:extLst>
                  <a:ext uri="{0D108BD9-81ED-4DB2-BD59-A6C34878D82A}">
                    <a16:rowId xmlns:a16="http://schemas.microsoft.com/office/drawing/2014/main" val="3434628265"/>
                  </a:ext>
                </a:extLst>
              </a:tr>
              <a:tr h="370840">
                <a:tc>
                  <a:txBody>
                    <a:bodyPr/>
                    <a:lstStyle/>
                    <a:p>
                      <a:r>
                        <a:rPr lang="en-US" sz="1400"/>
                        <a:t>Safety Time (1)</a:t>
                      </a:r>
                    </a:p>
                  </a:txBody>
                  <a:tcPr/>
                </a:tc>
                <a:tc>
                  <a:txBody>
                    <a:bodyPr/>
                    <a:lstStyle/>
                    <a:p>
                      <a:r>
                        <a:rPr lang="en-US" sz="1400"/>
                        <a:t>Dock To Stock (1)</a:t>
                      </a:r>
                    </a:p>
                  </a:txBody>
                  <a:tcPr/>
                </a:tc>
                <a:tc>
                  <a:txBody>
                    <a:bodyPr/>
                    <a:lstStyle/>
                    <a:p>
                      <a:r>
                        <a:rPr lang="en-US" sz="1400"/>
                        <a:t>Transit Time (2)</a:t>
                      </a:r>
                    </a:p>
                  </a:txBody>
                  <a:tcPr/>
                </a:tc>
                <a:tc>
                  <a:txBody>
                    <a:bodyPr/>
                    <a:lstStyle/>
                    <a:p>
                      <a:r>
                        <a:rPr lang="en-US" sz="1400"/>
                        <a:t>Pre-Ship Time (0)</a:t>
                      </a:r>
                      <a:endParaRPr lang="en-US" sz="1400" dirty="0"/>
                    </a:p>
                  </a:txBody>
                  <a:tcPr/>
                </a:tc>
                <a:tc>
                  <a:txBody>
                    <a:bodyPr/>
                    <a:lstStyle/>
                    <a:p>
                      <a:r>
                        <a:rPr lang="en-US" sz="1400"/>
                        <a:t>Lead Time Adjust (1)</a:t>
                      </a:r>
                    </a:p>
                  </a:txBody>
                  <a:tcPr/>
                </a:tc>
                <a:tc>
                  <a:txBody>
                    <a:bodyPr/>
                    <a:lstStyle/>
                    <a:p>
                      <a:endParaRPr lang="en-US" sz="1400"/>
                    </a:p>
                  </a:txBody>
                  <a:tcPr/>
                </a:tc>
                <a:extLst>
                  <a:ext uri="{0D108BD9-81ED-4DB2-BD59-A6C34878D82A}">
                    <a16:rowId xmlns:a16="http://schemas.microsoft.com/office/drawing/2014/main" val="169593582"/>
                  </a:ext>
                </a:extLst>
              </a:tr>
              <a:tr h="37084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r>
                        <a:rPr lang="en-US" sz="1400"/>
                        <a:t>Fixed (1)</a:t>
                      </a:r>
                    </a:p>
                  </a:txBody>
                  <a:tcPr/>
                </a:tc>
                <a:tc>
                  <a:txBody>
                    <a:bodyPr/>
                    <a:lstStyle/>
                    <a:p>
                      <a:endParaRPr lang="en-US" sz="1400"/>
                    </a:p>
                  </a:txBody>
                  <a:tcPr/>
                </a:tc>
                <a:extLst>
                  <a:ext uri="{0D108BD9-81ED-4DB2-BD59-A6C34878D82A}">
                    <a16:rowId xmlns:a16="http://schemas.microsoft.com/office/drawing/2014/main" val="3769563568"/>
                  </a:ext>
                </a:extLst>
              </a:tr>
              <a:tr h="370839">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r>
                        <a:rPr lang="en-US" sz="1400"/>
                        <a:t>Variable (0*2)</a:t>
                      </a:r>
                      <a:endParaRPr lang="en-US" sz="1400" dirty="0"/>
                    </a:p>
                  </a:txBody>
                  <a:tcPr/>
                </a:tc>
                <a:tc>
                  <a:txBody>
                    <a:bodyPr/>
                    <a:lstStyle/>
                    <a:p>
                      <a:pPr lvl="0">
                        <a:buNone/>
                      </a:pPr>
                      <a:endParaRPr lang="en-US" sz="1400" dirty="0"/>
                    </a:p>
                  </a:txBody>
                  <a:tcPr/>
                </a:tc>
                <a:extLst>
                  <a:ext uri="{0D108BD9-81ED-4DB2-BD59-A6C34878D82A}">
                    <a16:rowId xmlns:a16="http://schemas.microsoft.com/office/drawing/2014/main" val="496422798"/>
                  </a:ext>
                </a:extLst>
              </a:tr>
              <a:tr h="370838">
                <a:tc>
                  <a:txBody>
                    <a:bodyPr/>
                    <a:lstStyle/>
                    <a:p>
                      <a:pPr lvl="0">
                        <a:buNone/>
                      </a:pP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10/12/2026</a:t>
                      </a:r>
                      <a:endParaRPr lang="en-US" sz="1400" dirty="0"/>
                    </a:p>
                  </a:txBody>
                  <a:tcPr/>
                </a:tc>
                <a:tc>
                  <a:txBody>
                    <a:bodyPr/>
                    <a:lstStyle/>
                    <a:p>
                      <a:pPr lvl="0">
                        <a:buNone/>
                      </a:pPr>
                      <a:r>
                        <a:rPr lang="en-US" sz="1400"/>
                        <a:t>10/10/2026</a:t>
                      </a:r>
                      <a:endParaRPr lang="en-US" sz="1400" dirty="0"/>
                    </a:p>
                  </a:txBody>
                  <a:tcPr/>
                </a:tc>
                <a:tc>
                  <a:txBody>
                    <a:bodyPr/>
                    <a:lstStyle/>
                    <a:p>
                      <a:pPr lvl="0">
                        <a:buNone/>
                      </a:pPr>
                      <a:r>
                        <a:rPr lang="en-US" sz="1400"/>
                        <a:t>10/10/2026</a:t>
                      </a:r>
                      <a:endParaRPr lang="en-US" sz="1400" dirty="0"/>
                    </a:p>
                  </a:txBody>
                  <a:tcPr/>
                </a:tc>
                <a:tc>
                  <a:txBody>
                    <a:bodyPr/>
                    <a:lstStyle/>
                    <a:p>
                      <a:pPr lvl="0">
                        <a:buNone/>
                      </a:pPr>
                      <a:r>
                        <a:rPr lang="en-US" sz="1400" dirty="0"/>
                        <a:t>10/08/2026</a:t>
                      </a:r>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15E792C1-293C-F1B9-A957-C084288971A3}"/>
              </a:ext>
            </a:extLst>
          </p:cNvPr>
          <p:cNvSpPr txBox="1"/>
          <p:nvPr/>
        </p:nvSpPr>
        <p:spPr>
          <a:xfrm>
            <a:off x="287547" y="917189"/>
            <a:ext cx="114156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Lead Time Override Simulation 7:</a:t>
            </a:r>
          </a:p>
          <a:p>
            <a:endParaRPr lang="en-US" dirty="0">
              <a:cs typeface="Arial"/>
            </a:endParaRPr>
          </a:p>
          <a:p>
            <a:pPr marL="285750" indent="-285750">
              <a:buFont typeface="Arial"/>
              <a:buChar char="•"/>
            </a:pPr>
            <a:r>
              <a:rPr lang="en-US" sz="1600" dirty="0" err="1">
                <a:cs typeface="Arial"/>
              </a:rPr>
              <a:t>SupplyType.LeadTimeRule</a:t>
            </a:r>
            <a:r>
              <a:rPr lang="en-US" sz="1600" dirty="0">
                <a:cs typeface="Arial"/>
              </a:rPr>
              <a:t> = Ignore/Override</a:t>
            </a:r>
          </a:p>
          <a:p>
            <a:pPr marL="285750" indent="-285750">
              <a:buFont typeface="Arial"/>
              <a:buChar char="•"/>
            </a:pPr>
            <a:r>
              <a:rPr lang="en-US" sz="1600" dirty="0" err="1">
                <a:cs typeface="Arial"/>
              </a:rPr>
              <a:t>SupplyStatus.LeadTimeOverride</a:t>
            </a:r>
            <a:r>
              <a:rPr lang="en-US" sz="1600" dirty="0">
                <a:cs typeface="Arial"/>
              </a:rPr>
              <a:t> = No</a:t>
            </a:r>
          </a:p>
          <a:p>
            <a:pPr marL="285750" indent="-285750">
              <a:buFont typeface="Arial,Sans-Serif"/>
              <a:buChar char="•"/>
            </a:pPr>
            <a:r>
              <a:rPr lang="en-US" sz="1600" dirty="0">
                <a:cs typeface="Arial"/>
              </a:rPr>
              <a:t>Transit Rule = Cumulative</a:t>
            </a:r>
          </a:p>
          <a:p>
            <a:pPr marL="285750" indent="-285750">
              <a:buFont typeface="Arial"/>
              <a:buChar char="•"/>
            </a:pPr>
            <a:r>
              <a:rPr lang="en-US" sz="1600" dirty="0">
                <a:cs typeface="Arial"/>
              </a:rPr>
              <a:t>Scheduled Receipt for Qtd (2).</a:t>
            </a:r>
          </a:p>
          <a:p>
            <a:pPr marL="285750" indent="-285750">
              <a:buFont typeface="Arial,Sans-Serif"/>
              <a:buChar char="•"/>
            </a:pPr>
            <a:r>
              <a:rPr lang="en-US" sz="1600" dirty="0">
                <a:cs typeface="Arial"/>
              </a:rPr>
              <a:t>Lead Time Value come from Part Source Table. All the Lead time elements are involved in Calculations.</a:t>
            </a:r>
          </a:p>
          <a:p>
            <a:pPr marL="285750" indent="-285750">
              <a:buFont typeface="Arial"/>
              <a:buChar char="•"/>
            </a:pPr>
            <a:endParaRPr lang="en-US" dirty="0">
              <a:cs typeface="Arial"/>
            </a:endParaRPr>
          </a:p>
        </p:txBody>
      </p:sp>
    </p:spTree>
    <p:extLst>
      <p:ext uri="{BB962C8B-B14F-4D97-AF65-F5344CB8AC3E}">
        <p14:creationId xmlns:p14="http://schemas.microsoft.com/office/powerpoint/2010/main" val="1909890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55A1E-992B-B83B-8EDB-F86253811B0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0B96A4DB-F05B-8F80-C93D-E6133068D6A6}"/>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7D318E66-55B3-D10A-6F6C-B3E09C5F426D}"/>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FB8908EE-03C6-14EA-13BB-4463C0B15E26}"/>
              </a:ext>
            </a:extLst>
          </p:cNvPr>
          <p:cNvPicPr>
            <a:picLocks noChangeAspect="1"/>
          </p:cNvPicPr>
          <p:nvPr/>
        </p:nvPicPr>
        <p:blipFill>
          <a:blip r:embed="rId4"/>
          <a:stretch>
            <a:fillRect/>
          </a:stretch>
        </p:blipFill>
        <p:spPr>
          <a:xfrm>
            <a:off x="287547" y="899498"/>
            <a:ext cx="11616906" cy="53609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327388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DA3C-FAE8-AFB9-7EE2-B4AFD903F508}"/>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B88FD9CD-8A0E-E80A-B9F7-65F1E9A688F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374DC4C6-2831-7BA2-D9F4-478151413706}"/>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65943A26-396E-5AF4-C49F-942A1D8C2F0E}"/>
              </a:ext>
            </a:extLst>
          </p:cNvPr>
          <p:cNvGraphicFramePr>
            <a:graphicFrameLocks noGrp="1"/>
          </p:cNvGraphicFramePr>
          <p:nvPr>
            <p:extLst>
              <p:ext uri="{D42A27DB-BD31-4B8C-83A1-F6EECF244321}">
                <p14:modId xmlns:p14="http://schemas.microsoft.com/office/powerpoint/2010/main" val="2021328996"/>
              </p:ext>
            </p:extLst>
          </p:nvPr>
        </p:nvGraphicFramePr>
        <p:xfrm>
          <a:off x="287547" y="3076755"/>
          <a:ext cx="11417292" cy="185419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sz="1400"/>
                        <a:t>Demand Date</a:t>
                      </a:r>
                    </a:p>
                  </a:txBody>
                  <a:tcPr/>
                </a:tc>
                <a:tc>
                  <a:txBody>
                    <a:bodyPr/>
                    <a:lstStyle/>
                    <a:p>
                      <a:r>
                        <a:rPr lang="en-US" sz="1400"/>
                        <a:t>Due Date</a:t>
                      </a:r>
                    </a:p>
                  </a:txBody>
                  <a:tcPr/>
                </a:tc>
                <a:tc>
                  <a:txBody>
                    <a:bodyPr/>
                    <a:lstStyle/>
                    <a:p>
                      <a:r>
                        <a:rPr lang="en-US" sz="1400"/>
                        <a:t>Dock Date</a:t>
                      </a:r>
                    </a:p>
                  </a:txBody>
                  <a:tcPr/>
                </a:tc>
                <a:tc>
                  <a:txBody>
                    <a:bodyPr/>
                    <a:lstStyle/>
                    <a:p>
                      <a:r>
                        <a:rPr lang="en-US" sz="1400"/>
                        <a:t>Ship Date</a:t>
                      </a:r>
                    </a:p>
                  </a:txBody>
                  <a:tcPr/>
                </a:tc>
                <a:tc>
                  <a:txBody>
                    <a:bodyPr/>
                    <a:lstStyle/>
                    <a:p>
                      <a:r>
                        <a:rPr lang="en-US" sz="1400"/>
                        <a:t>Build Date</a:t>
                      </a:r>
                    </a:p>
                  </a:txBody>
                  <a:tcPr/>
                </a:tc>
                <a:tc>
                  <a:txBody>
                    <a:bodyPr/>
                    <a:lstStyle/>
                    <a:p>
                      <a:r>
                        <a:rPr lang="en-US" sz="1400"/>
                        <a:t>Start Date</a:t>
                      </a:r>
                    </a:p>
                  </a:txBody>
                  <a:tcPr/>
                </a:tc>
                <a:extLst>
                  <a:ext uri="{0D108BD9-81ED-4DB2-BD59-A6C34878D82A}">
                    <a16:rowId xmlns:a16="http://schemas.microsoft.com/office/drawing/2014/main" val="3434628265"/>
                  </a:ext>
                </a:extLst>
              </a:tr>
              <a:tr h="370840">
                <a:tc>
                  <a:txBody>
                    <a:bodyPr/>
                    <a:lstStyle/>
                    <a:p>
                      <a:r>
                        <a:rPr lang="en-US" sz="1400"/>
                        <a:t>Safety Time (1)</a:t>
                      </a:r>
                    </a:p>
                  </a:txBody>
                  <a:tcPr/>
                </a:tc>
                <a:tc>
                  <a:txBody>
                    <a:bodyPr/>
                    <a:lstStyle/>
                    <a:p>
                      <a:r>
                        <a:rPr lang="en-US" sz="1400">
                          <a:solidFill>
                            <a:srgbClr val="FF0000"/>
                          </a:solidFill>
                        </a:rPr>
                        <a:t>Dock To Stock (1)</a:t>
                      </a:r>
                    </a:p>
                  </a:txBody>
                  <a:tcPr/>
                </a:tc>
                <a:tc>
                  <a:txBody>
                    <a:bodyPr/>
                    <a:lstStyle/>
                    <a:p>
                      <a:r>
                        <a:rPr lang="en-US" sz="1400">
                          <a:solidFill>
                            <a:srgbClr val="FF0000"/>
                          </a:solidFill>
                        </a:rPr>
                        <a:t>Transit Time (2)</a:t>
                      </a:r>
                    </a:p>
                  </a:txBody>
                  <a:tcPr/>
                </a:tc>
                <a:tc>
                  <a:txBody>
                    <a:bodyPr/>
                    <a:lstStyle/>
                    <a:p>
                      <a:r>
                        <a:rPr lang="en-US" sz="1400">
                          <a:solidFill>
                            <a:srgbClr val="FF0000"/>
                          </a:solidFill>
                        </a:rPr>
                        <a:t>Pre-Ship Time (0)</a:t>
                      </a:r>
                    </a:p>
                  </a:txBody>
                  <a:tcPr/>
                </a:tc>
                <a:tc>
                  <a:txBody>
                    <a:bodyPr/>
                    <a:lstStyle/>
                    <a:p>
                      <a:r>
                        <a:rPr lang="en-US" sz="1400"/>
                        <a:t>Lead Time Adjust (1)</a:t>
                      </a:r>
                    </a:p>
                  </a:txBody>
                  <a:tcPr/>
                </a:tc>
                <a:tc>
                  <a:txBody>
                    <a:bodyPr/>
                    <a:lstStyle/>
                    <a:p>
                      <a:endParaRPr lang="en-US" sz="1400"/>
                    </a:p>
                  </a:txBody>
                  <a:tcPr/>
                </a:tc>
                <a:extLst>
                  <a:ext uri="{0D108BD9-81ED-4DB2-BD59-A6C34878D82A}">
                    <a16:rowId xmlns:a16="http://schemas.microsoft.com/office/drawing/2014/main" val="169593582"/>
                  </a:ext>
                </a:extLst>
              </a:tr>
              <a:tr h="370840">
                <a:tc>
                  <a:txBody>
                    <a:bodyPr/>
                    <a:lstStyle/>
                    <a:p>
                      <a:endParaRPr lang="en-US" sz="1400"/>
                    </a:p>
                  </a:txBody>
                  <a:tcPr/>
                </a:tc>
                <a:tc>
                  <a:txBody>
                    <a:bodyPr/>
                    <a:lstStyle/>
                    <a:p>
                      <a:endParaRPr lang="en-US" sz="1400" dirty="0"/>
                    </a:p>
                  </a:txBody>
                  <a:tcPr/>
                </a:tc>
                <a:tc>
                  <a:txBody>
                    <a:bodyPr/>
                    <a:lstStyle/>
                    <a:p>
                      <a:endParaRPr lang="en-US" sz="1400"/>
                    </a:p>
                  </a:txBody>
                  <a:tcPr/>
                </a:tc>
                <a:tc>
                  <a:txBody>
                    <a:bodyPr/>
                    <a:lstStyle/>
                    <a:p>
                      <a:endParaRPr lang="en-US" sz="1400"/>
                    </a:p>
                  </a:txBody>
                  <a:tcPr/>
                </a:tc>
                <a:tc>
                  <a:txBody>
                    <a:bodyPr/>
                    <a:lstStyle/>
                    <a:p>
                      <a:r>
                        <a:rPr lang="en-US" sz="1400"/>
                        <a:t>Fixed (1)</a:t>
                      </a:r>
                    </a:p>
                  </a:txBody>
                  <a:tcPr/>
                </a:tc>
                <a:tc>
                  <a:txBody>
                    <a:bodyPr/>
                    <a:lstStyle/>
                    <a:p>
                      <a:endParaRPr lang="en-US" sz="1400"/>
                    </a:p>
                  </a:txBody>
                  <a:tcPr/>
                </a:tc>
                <a:extLst>
                  <a:ext uri="{0D108BD9-81ED-4DB2-BD59-A6C34878D82A}">
                    <a16:rowId xmlns:a16="http://schemas.microsoft.com/office/drawing/2014/main" val="3769563568"/>
                  </a:ext>
                </a:extLst>
              </a:tr>
              <a:tr h="370839">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endParaRPr lang="en-US" sz="1400" dirty="0"/>
                    </a:p>
                  </a:txBody>
                  <a:tcPr/>
                </a:tc>
                <a:tc>
                  <a:txBody>
                    <a:bodyPr/>
                    <a:lstStyle/>
                    <a:p>
                      <a:pPr lvl="0">
                        <a:buNone/>
                      </a:pPr>
                      <a:r>
                        <a:rPr lang="en-US" sz="1400"/>
                        <a:t>Variable (0*2)</a:t>
                      </a:r>
                      <a:endParaRPr lang="en-US" sz="1400" dirty="0"/>
                    </a:p>
                  </a:txBody>
                  <a:tcPr/>
                </a:tc>
                <a:tc>
                  <a:txBody>
                    <a:bodyPr/>
                    <a:lstStyle/>
                    <a:p>
                      <a:pPr lvl="0">
                        <a:buNone/>
                      </a:pPr>
                      <a:endParaRPr lang="en-US" sz="1400" dirty="0"/>
                    </a:p>
                  </a:txBody>
                  <a:tcPr/>
                </a:tc>
                <a:extLst>
                  <a:ext uri="{0D108BD9-81ED-4DB2-BD59-A6C34878D82A}">
                    <a16:rowId xmlns:a16="http://schemas.microsoft.com/office/drawing/2014/main" val="496422798"/>
                  </a:ext>
                </a:extLst>
              </a:tr>
              <a:tr h="370838">
                <a:tc>
                  <a:txBody>
                    <a:bodyPr/>
                    <a:lstStyle/>
                    <a:p>
                      <a:pPr lvl="0">
                        <a:buNone/>
                      </a:pP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a:t>10/13/2026</a:t>
                      </a:r>
                      <a:endParaRPr lang="en-US" sz="1400" dirty="0"/>
                    </a:p>
                  </a:txBody>
                  <a:tcPr/>
                </a:tc>
                <a:tc>
                  <a:txBody>
                    <a:bodyPr/>
                    <a:lstStyle/>
                    <a:p>
                      <a:pPr lvl="0">
                        <a:buNone/>
                      </a:pPr>
                      <a:r>
                        <a:rPr lang="en-US" sz="1400" dirty="0"/>
                        <a:t>10/11/2026</a:t>
                      </a:r>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6E3C919C-DAEA-D036-27D9-0E61E11E347D}"/>
              </a:ext>
            </a:extLst>
          </p:cNvPr>
          <p:cNvSpPr txBox="1"/>
          <p:nvPr/>
        </p:nvSpPr>
        <p:spPr>
          <a:xfrm>
            <a:off x="289217" y="821811"/>
            <a:ext cx="11415622"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Lead Time Override Simulation 8:</a:t>
            </a:r>
          </a:p>
          <a:p>
            <a:endParaRPr lang="en-US" dirty="0">
              <a:cs typeface="Arial"/>
            </a:endParaRPr>
          </a:p>
          <a:p>
            <a:pPr marL="285750" indent="-285750">
              <a:buFont typeface="Arial"/>
              <a:buChar char="•"/>
            </a:pPr>
            <a:r>
              <a:rPr lang="en-US" sz="1600" dirty="0" err="1">
                <a:cs typeface="Arial"/>
              </a:rPr>
              <a:t>SupplyType.LeadTimeRule</a:t>
            </a:r>
            <a:r>
              <a:rPr lang="en-US" sz="1600" dirty="0">
                <a:cs typeface="Arial"/>
              </a:rPr>
              <a:t> = Ignore/Override</a:t>
            </a:r>
          </a:p>
          <a:p>
            <a:pPr marL="285750" indent="-285750">
              <a:buFont typeface="Arial"/>
              <a:buChar char="•"/>
            </a:pPr>
            <a:r>
              <a:rPr lang="en-US" sz="1600" dirty="0" err="1">
                <a:cs typeface="Arial"/>
              </a:rPr>
              <a:t>SupplyStatus.LeadTimeOverride</a:t>
            </a:r>
            <a:r>
              <a:rPr lang="en-US" sz="1600" dirty="0">
                <a:cs typeface="Arial"/>
              </a:rPr>
              <a:t> = No</a:t>
            </a:r>
          </a:p>
          <a:p>
            <a:pPr marL="285750" indent="-285750">
              <a:buFont typeface="Arial,Sans-Serif"/>
              <a:buChar char="•"/>
            </a:pPr>
            <a:r>
              <a:rPr lang="en-US" sz="1600" dirty="0">
                <a:cs typeface="Arial"/>
              </a:rPr>
              <a:t>Transit Rule = Inclusive</a:t>
            </a:r>
          </a:p>
          <a:p>
            <a:pPr marL="285750" indent="-285750">
              <a:buFont typeface="Arial"/>
              <a:buChar char="•"/>
            </a:pPr>
            <a:r>
              <a:rPr lang="en-US" sz="1600" dirty="0">
                <a:cs typeface="Arial"/>
              </a:rPr>
              <a:t>Scheduled Receipt for Qtd (2).</a:t>
            </a:r>
          </a:p>
          <a:p>
            <a:pPr marL="285750" indent="-285750">
              <a:buFont typeface="Arial,Sans-Serif"/>
              <a:buChar char="•"/>
            </a:pPr>
            <a:r>
              <a:rPr lang="en-US" sz="1600" dirty="0">
                <a:cs typeface="Arial"/>
              </a:rPr>
              <a:t>Lead Time Value come from Part Source Table, without considering lead time elements DTS, Transit and Pre-Ship Time into calculations.</a:t>
            </a:r>
          </a:p>
        </p:txBody>
      </p:sp>
    </p:spTree>
    <p:extLst>
      <p:ext uri="{BB962C8B-B14F-4D97-AF65-F5344CB8AC3E}">
        <p14:creationId xmlns:p14="http://schemas.microsoft.com/office/powerpoint/2010/main" val="33814670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42A49-10DA-1D05-467F-39D37F1F4DB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E74E6B9C-AA03-DD96-8539-EDA970C0BA4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655099DC-961E-C170-C4BF-FCD6C84873F4}"/>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9A86A193-4392-3F7C-95DD-563B18202A5E}"/>
              </a:ext>
            </a:extLst>
          </p:cNvPr>
          <p:cNvPicPr>
            <a:picLocks noChangeAspect="1"/>
          </p:cNvPicPr>
          <p:nvPr/>
        </p:nvPicPr>
        <p:blipFill>
          <a:blip r:embed="rId4"/>
          <a:stretch>
            <a:fillRect/>
          </a:stretch>
        </p:blipFill>
        <p:spPr>
          <a:xfrm>
            <a:off x="359433" y="942630"/>
            <a:ext cx="11415624" cy="53177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514895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01078-25F1-2A8B-EBFA-16C58D8BC3F1}"/>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9C0EF72C-BD6D-4FA4-D37F-004958DBB1F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861DFAA-9DAA-A8BA-2792-50F6EC6D1F41}"/>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1">
            <a:extLst>
              <a:ext uri="{FF2B5EF4-FFF2-40B4-BE49-F238E27FC236}">
                <a16:creationId xmlns:a16="http://schemas.microsoft.com/office/drawing/2014/main" id="{AB09FA78-63A5-228F-ABB1-597C53209035}"/>
              </a:ext>
            </a:extLst>
          </p:cNvPr>
          <p:cNvSpPr txBox="1"/>
          <p:nvPr/>
        </p:nvSpPr>
        <p:spPr>
          <a:xfrm>
            <a:off x="2916162" y="2345267"/>
            <a:ext cx="5978977" cy="14452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8800" b="1" dirty="0">
                <a:solidFill>
                  <a:srgbClr val="1E4E79"/>
                </a:solidFill>
                <a:cs typeface="Calibri" panose="020F0502020204030204"/>
              </a:rPr>
              <a:t>Thank You</a:t>
            </a:r>
          </a:p>
        </p:txBody>
      </p:sp>
    </p:spTree>
    <p:extLst>
      <p:ext uri="{BB962C8B-B14F-4D97-AF65-F5344CB8AC3E}">
        <p14:creationId xmlns:p14="http://schemas.microsoft.com/office/powerpoint/2010/main" val="442817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70&quot;:[3321480,3322080,3321686,332303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239</TotalTime>
  <Words>4141</Words>
  <Application>Microsoft Office PowerPoint</Application>
  <PresentationFormat>Widescreen</PresentationFormat>
  <Paragraphs>1008</Paragraphs>
  <Slides>62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Aptos</vt:lpstr>
      <vt:lpstr>Aptos Display</vt:lpstr>
      <vt:lpstr>Arial</vt:lpstr>
      <vt:lpstr>Arial,Sans-Serif</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Anush kundu</cp:lastModifiedBy>
  <cp:revision>1046</cp:revision>
  <dcterms:created xsi:type="dcterms:W3CDTF">2025-03-18T11:16:00Z</dcterms:created>
  <dcterms:modified xsi:type="dcterms:W3CDTF">2026-10-19T18:19:37Z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3593189EF8544E67B78418572E7958D7_12</vt:lpwstr>
  </property>
  <property fmtid="{D5CDD505-2E9C-101B-9397-08002B2CF9AE}" pid="3" name="KSOProductBuildVer">
    <vt:lpwstr>1033-12.1.0.27458</vt:lpwstr>
  </property>
</Properties>
</file>